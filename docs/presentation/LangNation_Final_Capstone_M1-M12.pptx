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AAAA6BB-ADB5-7ABD-1C85-443C37C1553F}">
          <p14:sldIdLst>
            <p14:sldId id="256"/>
            <p14:sldId id="257"/>
            <p14:sldId id="258"/>
            <p14:sldId id="259"/>
            <p14:sldId id="260"/>
          </p14:sldIdLst>
        </p14:section>
        <p14:section name="Milestones" id="{C0F4BF76-77A3-B2A3-9AF3-8FF0369B82E7}">
          <p14:sldIdLst>
            <p14:sldId id="261"/>
            <p14:sldId id="262"/>
            <p14:sldId id="263"/>
            <p14:sldId id="264"/>
            <p14:sldId id="265"/>
            <p14:sldId id="266"/>
            <p14:sldId id="267"/>
            <p14:sldId id="268"/>
            <p14:sldId id="269"/>
            <p14:sldId id="270"/>
            <p14:sldId id="271"/>
          </p14:sldIdLst>
        </p14:section>
        <p14:section name="Operations &amp; proof" id="{0B1B5A57-3706-15B8-0501-5FFF4C471E38}">
          <p14:sldIdLst>
            <p14:sldId id="272"/>
            <p14:sldId id="273"/>
            <p14:sldId id="274"/>
            <p14:sldId id="275"/>
            <p14:sldId id="276"/>
          </p14:sldIdLst>
        </p14:section>
        <p14:section name="Close" id="{202CA5D5-A941-2F1E-B8BC-E1D9857F9978}">
          <p14:sldIdLst>
            <p14:sldId id="277"/>
            <p14:sldId id="278"/>
            <p14:sldId id="279"/>
          </p14:sldIdLst>
        </p14:section>
        <p14:section name="Backup" id="{3EAE2463-B1D5-63E7-9653-D1D69B5AC09E}">
          <p14:sldIdLst>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803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(30 seconds): “My capstone is the LangNation Cloud Platform. Over twelve milestones I turned a simple container into a secure, highly available, observable and AI-enabled platform on AWS.”
The two rows show the two main paths: every user request goes Route 53 → CloudFront → WAF → ALB → ECS → MariaDB, and Lina, the AI assistant, answers from LangNation knowledge through Titan embeddings, S3 Vectors and Claude Haiku.
Tell the audience the structure: the challenge, the architecture, milestone by milestone, then proof, cost and lessons.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six real constraints that shaped the design.
The first three — disposable sandbox, security and availability — drove Milestones 1 to 6. The last three — AI grounding, release quality and cost awareness — drove Milestones 7 to 12.
Key line: “I wanted a platform that can be rebuilt from code, defended at the edge, and proven with evidence — not a collection of services I clicked together.”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about 60–90 seconds here. Don’t read every box — follow the flows.
Top: the public edge. Users resolve the domain in Route 53, which persists outside the sandbox, then reach CloudFront with ACM TLS and WAF. Cognito issues the JWTs.
Middle: the VPC across two Availability Zones — public subnets with two NAT gateways and the ALB, private app subnets with the ECS service and Auto Scaling, private DB subnets with Multi-AZ MariaDB over TLS.
Bottom: document processing and RAG — S3 documents flow through EventBridge, SQS and Lambda into Titan embeddings and S3 Vectors; at runtime Lina retrieves relevant knowledge and Claude Haiku writes a grounded answer.
Right: operations — quality-gated deployments, CloudWatch and CloudTrail, the morning recovery and cost analysis.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often ask “why this service and not another?” — this slide answers it. Go row by row instead of reading all sixteen.
Row 1: network and edge. Row 2: compute and data. Row 3: data, security and the event pipeline. Row 4: AI and operations.
Good comparisons if asked: Fargate vs EC2 (no servers to patch); RDS vs MariaDB on EC2 (managed backups and Multi-AZ failover); Cognito vs building login yourself; Bedrock vs hosting a model (no GPU servers); S3 Vectors vs a vector database (nothing to run or patch).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journey in one view: all twelve milestones are implemented and validated.
M1–M4 built the foundation: network, containers, availability and automated deployment. M5–M6 added the private data layer and the secure public edge. M7–M9 added event processing, the RAG pipeline and the real LangNation application with Lina. M10–M12 added operations, quality gates, and resilience and cost evidence.
Key line: “Each milestone added one capability without breaking the previous architecture.”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1 is the foundation: one VPC, 10.0.0.0/16, across two Availability Zones and three tiers — six subnets.
Public subnets hold the ALB and a NAT gateway; private app subnets hold the ECS Fargate tasks with no public IP; private DB subnets hold only RDS with a local route table.
Why two NAT gateways? Each private app subnet leaves through the NAT in its own AZ, so one AZ failing doesn’t cut off the other.
Security groups form a chain: ALB → ECS → DB. Everything is defined in Terraform and applied through HCP Terraform.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Milestones 2 and 3: the application runs as Docker images stored in ECR and tagged by Git SHA. ECS Fargate runs two tasks, one in each AZ, with no servers to manage.
Requests come from CloudFront to the ALB, which checks /health on port 3000 and only sends traffic to healthy tasks.
Auto Scaling keeps 2 to 4 tasks at a 50% CPU target. I proved it: I temporarily lowered the target to 1%, generated load, and the service scaled from 2 to 4 — then I restored 50%.
Ownership lesson: Terraform defines the scaling config, but Auto Scaling owns the live desired count — so Terraform must not fight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4 automates delivery. A push to main starts GitHub Actions, which proves its identity with OIDC and receives temporary STS credentials — no AWS keys are stored in GitHub.
The Docker image is tagged with the Git commit SHA, pushed to ECR, a new task-definition revision is registered and ECS rolls it out.
The pipeline doesn’t trust “deploy succeeded” — it checks the final state: service stable, exact SHA running, desired equals running, nothing pending, and /health OK through the public endpoint.
Clear ownership avoids drift: Terraform owns infrastructure, GitHub Actions owns the live task definition, Auto Scaling owns the live task count.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5 adds the private data layer: RDS MariaDB 11.8.9 in Multi-AZ mode, reachable only from ECS over TLS on 3306. The master password is managed by Secrets Manager. S3 is private, versioned, AES256-encrypted and HTTPS-only.
Milestone 6 adds the secure public edge: Route 53 → CloudFront with an ACM certificate → WAF → ALB. The ALB only accepts CloudFront’s origin-facing addresses, so nobody can bypass the firewall.
Authentication: Cognito issues access tokens; /protected verifies the JWT.
The four results prove it: /health 200, no token 401, valid token 200, controlled WAF test 403.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7 makes processing event-driven. When a file lands in S3, EventBridge routes the Object Created event to an SQS queue, and a Python 3.12 Lambda processes it, logging to CloudWatch.
I tested both paths. Normal: the event reached Lambda and produced logs. Failure: an intentional fail/ object was retried three times and then moved to the Dead Letter Queue, which keeps messages for 14 days.
Key lesson: serverless still needs explicit retry, queue and failure semantics — that’s why SQS sits between EventBridge and Lambda.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8 builds Lina’s knowledge base. A knowledge file in S3 goes through the same event pipeline into a Lambda that splits it into chunks of 200 words with a 40-word overlap.
Amazon Titan Embeddings V2 turns each chunk into a 1024-dimension vector, stored in S3 Vectors with cosine distance and source metadata.
At question time, the same Titan model embeds the question and S3 Vectors finds the closest chunks.
Proof: relevant LangNation knowledge ranked ahead of an unrelated document. Lesson: RAG quality starts with retrieval — ingest correctly, embed consistently, prove the ranking.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9 replaced the demo API with the real LangNation application and data.
Database recovery: a dedicated restore image in ECR runs as a one-off Fargate task, reads credentials from Secrets Manager and restores sanitized MariaDB data — 58 tables, verified. /api/health reports database = true over verified TLS.
Lina runtime: the question is embedded with Titan, S3 Vectors returns the top matches, and Claude Haiku on Bedrock writes the answer — with grounded = true and the source.
Key fix: RDS required secure transport. The right fix was to make the app use verified TLS — not to weaken the database.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10 adds visibility and governance around the whole platform.
CloudWatch: one operations dashboard and nine custom alarms covering health, performance and failures — including the Dead Letter Queue from Milestone 7.
Real proof: old DLQ test messages triggered a genuine ALARM; after I purged the queue, it returned to OK.
CloudTrail: a multi-Region trail with global service events, management events and log-file validation, delivered to a private, AES256-encrypted, versioned S3 bucket with a 30-day lifecycle — a real .json.gz log arrived.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11 adds quality gates in front of every release. quality-gates.yml runs three gates and all must pass.
Application: Node.js 24, npm ci with locked dependencies, the app checks and a production dependency audit. Infrastructure: Terraform 1.16.2 fmt, init without backend, and validate. Container: build on node:24-alpine, run it and smoke-test /health, then a Trivy scan for CRITICAL vulnerabilities.
deploy.yml calls the gates first and only then builds, pushes and deploys.
Real outcome: Trivy blocked a CRITICAL tar vulnerability. I fixed the root cause — upgraded the base image to Node 24 — instead of weakening the gate.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12: resilience tested through real failure, not just configured.
Baseline: 2 desired, 2 running, 0 pending, tasks in both AZs, endpoint HTTP 200.
I stopped one running task on purpose. ECS showed 2 desired, 1 running, 1 pending — and the public endpoint still returned HTTP 200, because the other AZ’s task kept serving.
ECS started a replacement task, it became healthy, and the service was back at 2/2/0 in about 44 seconds.
The screenshots are the real terminal evidence from that test.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measured real cost in Cost Explorer instead of quoting list prices. For October 2026: $23.78 usage plus $4.29 tax, $28.07 in total.
The biggest item, “EC2 – Other”, looked confusing — drilling into the usage type showed it was mainly NAT Gateway hours. So the driver is hourly runtime, not traffic.
I deliberately kept two NAT gateways, Multi-AZ RDS and two ECS tasks, because they carry the resilience story. Cheaper options — single NAT, Single-AZ RDS, scheduled runtime — are documented as development-only choices.
Decision: document cheaper dev options; don’t weaken the final production-style architecture.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OP01 exists because the training sandbox is cleaned every night. After I activate the sandbox, the recovery runs at 07:37 Berlin time, with a fallback at 08:17.
Phase 1: GitHub Actions calls the HCP Terraform API, which runs a dedicated plan and auto-apply on the langnation-capstone-dev workspace and recreates the infrastructure.
Phase 2: the reusable deploy workflow builds the image with OIDC credentials, restores the sanitized MariaDB with a one-off task and validates 58 tables, deploys the new task revision, reads the new CloudFront domain from Terraform outputs, updates Route 53, waits for INSYNC, and checks /health.
Design decisions: normal Terraform runs stay manually approved; only recovery auto-applies; no long-lived keys; DNS is synced dynamically.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summarises the trust boundaries and owners.
Public edge: Route 53 persists outside the sandbox; CloudFront terminates HTTPS; WAF filters; the ALB only accepts CloudFront.
Private runtime: no public IPs, private DB subnets, ECS to DB only on 3306, credentials from Secrets Manager.
Identity: GitHub OIDC with temporary credentials, no static keys, Cognito tokens and JWT-protected routes.
Ownership: HCP Terraform owns infrastructure, GitHub Actions owns releases, Auto Scaling owns task count, and the recovery workflow owns rebuild, data and DNS.
One sentence: Internet → CloudFront/WAF → ALB → ECS → MariaDB — nothing skips a layer.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evidence slide — nine results across the stack, each tested on purpose.
Edge: /health 200, WAF 403 for a malicious-style request, direct ALB access blocked.
App and data: JWT 401 without a token and 200 with one; a controlled Lambda failure reached the DLQ; relevant knowledge ranked first in RAG retrieval.
Operations: the DLQ alarm went ALARM → OK; Trivy blocked a CRITICAL vulnerability; ECS self-healed from 2/1/1 back to 2/2/0 while the endpoint stayed up.
If there’s time for a live demo: /health, then /protected without and with a token.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3–4 of these depending on time. For each: symptom, root cause, permanent fix.
Strongest stories: the OIDC trust policy (tightened to the immutable identity), the database health check (fixed TLS in the app instead of weakening RDS), Trivy (fixed the image, kept the gate), and the cost investigation (“EC2 – Other” was really NAT Gateway hours).
Key message: every problem led to a better design, not a workaround.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decisions I would defend in front of a reviewer.
Each one costs something — NAT hours, database runtime, Fargate cost, an extra recovery step, or a blocked deployment — and each one buys availability, security or reliability.
Key line: “I optimized for a defensible production-style design. The cheaper options are documented, but only for development.”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30 seconds: “The final result is not a collection of AWS services. It is one platform that can be rebuilt, deployed, secured, observed, grounded with RAG, tested through failure — and explained with evidence.”
Point at the five cards briefly, then say the closing line: built from code, protected at the edge, grounded by knowledge, proven through failure.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public on GitHub — invite people to scan the QR code.
The repository mirrors the architecture: the real application with Lina, database restore assets, knowledge documents, the Lambda processor, Terraform modules for every layer, the three GitHub workflows, and docs for all twelve milestones, evidence and the OP01 runbook.
The infrastructure is rebuilt from this code, so the repository is the single source of truth.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teaching team and classmates by name, then open the floor for questions.
The two backup slides after this hold exact configuration values and short answers to likely questions.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Use only when someone asks for exact CIDRs, sizes, scaling, database, event, RAG or monitoring values.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Q&amp;A checklist — don’t read it to the audience. Two more likely questions:
Why not cut cost by removing redundancy? That would weaken the production-style resilience evidence; dev-only options are documented separately.
How was resilience proven? I stopped one ECS task; the endpoint stayed at HTTP 200 and ECS restored 2/2/0 in about 44 seconds.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backup: if someone asks to see the core platform in motion, open the animated walkthrough. It covers Milestones 1–6.
The HTML file must sit in the same folder as this PowerPoint for the link to work.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7863840" cy="86868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7772400" cy="68580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9AD1D4"/>
                </a:solidFill>
              </a:rPr>
              <a:t>LangNation Cloud Platform  ·  Final Capstone M1–M12</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D1D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rtlCol="0"/>
          <a:lstStyle>
            <a:lvl1pPr marL="0" indent="0">
              <a:buNone/>
              <a:defRPr lang="en-US" sz="1400" dirty="0">
                <a:solidFill>
                  <a:schemeClr val="tx2"/>
                </a:solidFill>
              </a:defRPr>
            </a:lvl1pPr>
          </a:lstStyle>
          <a:p>
            <a:pPr marL="0" indent="0">
              <a:buNone/>
            </a:pPr>
            <a:endParaRPr lang="en-US" sz="14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6B7C7F"/>
                </a:solidFill>
              </a:rPr>
              <a:t>LangNation Cloud Platform  ·  Final Capstone M1–M12  ·  Seraj Ahmad Siddiqui</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CKU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rtlCol="0"/>
          <a:lstStyle>
            <a:lvl1pPr marL="0" indent="0">
              <a:buNone/>
              <a:defRPr lang="en-US" sz="1400" dirty="0">
                <a:solidFill>
                  <a:schemeClr val="tx2"/>
                </a:solidFill>
              </a:defRPr>
            </a:lvl1pPr>
          </a:lstStyle>
          <a:p>
            <a:pPr marL="0" indent="0">
              <a:buNone/>
            </a:pPr>
            <a:endParaRPr lang="en-US" sz="14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6B7C7F"/>
                </a:solidFill>
              </a:rPr>
              <a:t>Backup  ·  for Q&amp;A only  ·  LangNation Cloud Platform</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D1D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2.png"/><Relationship Id="rId2" Type="http://schemas.openxmlformats.org/officeDocument/2006/relationships/notesSlide" Target="../notesSlides/notesSlide4.xml"/><Relationship Id="rId16"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17.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7.png"/><Relationship Id="rId7"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42.png"/><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47.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28.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sheikhseraj/langnation-cloud-platform" TargetMode="External"/><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hyperlink" Target="LangNation_Interactive_Architecture_M1-M6_Final_Presentation.html" TargetMode="External"/><Relationship Id="rId2" Type="http://schemas.openxmlformats.org/officeDocument/2006/relationships/notesSlide" Target="../notesSlides/notesSlide27.xml"/><Relationship Id="rId1" Type="http://schemas.openxmlformats.org/officeDocument/2006/relationships/slideLayout" Target="../slideLayouts/slideLayout5.xml"/><Relationship Id="rId5" Type="http://schemas.openxmlformats.org/officeDocument/2006/relationships/image" Target="../media/image62.png"/><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7863840" cy="320040"/>
          </a:xfrm>
          <a:prstGeom prst="rect">
            <a:avLst/>
          </a:prstGeom>
          <a:noFill/>
          <a:ln/>
        </p:spPr>
        <p:txBody>
          <a:bodyPr wrap="square" lIns="0" tIns="0" rIns="0" bIns="0" rtlCol="0" anchor="t"/>
          <a:lstStyle/>
          <a:p>
            <a:pPr marL="0" indent="0">
              <a:buNone/>
            </a:pPr>
            <a:r>
              <a:rPr lang="en-US" sz="1200" b="1" kern="0" spc="300" dirty="0">
                <a:solidFill>
                  <a:srgbClr val="F2A541"/>
                </a:solidFill>
              </a:rPr>
              <a:t>FINAL CAPSTONE PRESENTATION  ·  OCTOBER 2026</a:t>
            </a:r>
            <a:endParaRPr lang="en-US" sz="1200" dirty="0"/>
          </a:p>
        </p:txBody>
      </p:sp>
      <p:sp>
        <p:nvSpPr>
          <p:cNvPr id="3" name="Text 0"/>
          <p:cNvSpPr>
            <a:spLocks noGrp="1"/>
          </p:cNvSpPr>
          <p:nvPr>
            <p:ph type="title" idx="100" hasCustomPrompt="1"/>
          </p:nvPr>
        </p:nvSpPr>
        <p:spPr>
          <a:xfrm>
            <a:off x="548640" y="1097280"/>
            <a:ext cx="7863840" cy="868680"/>
          </a:xfrm>
          <a:prstGeom prst="rect">
            <a:avLst/>
          </a:prstGeom>
          <a:noFill/>
          <a:ln/>
        </p:spPr>
        <p:txBody>
          <a:bodyPr wrap="square" lIns="0" tIns="0" rIns="0" bIns="0" rtlCol="0" anchor="ctr"/>
          <a:lstStyle/>
          <a:p>
            <a:pPr marL="0" indent="0" algn="l">
              <a:buNone/>
            </a:pPr>
            <a:r>
              <a:rPr lang="en-US" sz="4600" b="1" dirty="0">
                <a:solidFill>
                  <a:schemeClr val="bg1"/>
                </a:solidFill>
              </a:rPr>
              <a:t>LangNation Cloud Platform</a:t>
            </a:r>
            <a:endParaRPr lang="en-US" sz="4600" dirty="0"/>
          </a:p>
        </p:txBody>
      </p:sp>
      <p:sp>
        <p:nvSpPr>
          <p:cNvPr id="5" name="Text 3"/>
          <p:cNvSpPr txBox="1"/>
          <p:nvPr/>
        </p:nvSpPr>
        <p:spPr>
          <a:xfrm>
            <a:off x="532618" y="2007108"/>
            <a:ext cx="7863840" cy="365760"/>
          </a:xfrm>
          <a:prstGeom prst="rect">
            <a:avLst/>
          </a:prstGeom>
          <a:noFill/>
          <a:ln/>
        </p:spPr>
        <p:txBody>
          <a:bodyPr wrap="square" lIns="0" tIns="0" rIns="0" bIns="0" rtlCol="0" anchor="t"/>
          <a:lstStyle/>
          <a:p>
            <a:pPr marL="0" indent="0">
              <a:buNone/>
            </a:pPr>
            <a:r>
              <a:rPr lang="en-US" sz="1600" dirty="0">
                <a:solidFill>
                  <a:srgbClr val="D5E7E8"/>
                </a:solidFill>
              </a:rPr>
              <a:t>Secure, highly available, containerized learning platform with AI/RAG on AWS</a:t>
            </a:r>
            <a:endParaRPr lang="en-US" sz="1600" dirty="0"/>
          </a:p>
        </p:txBody>
      </p:sp>
      <p:sp>
        <p:nvSpPr>
          <p:cNvPr id="7" name="Text 5"/>
          <p:cNvSpPr txBox="1"/>
          <p:nvPr/>
        </p:nvSpPr>
        <p:spPr>
          <a:xfrm>
            <a:off x="457200" y="2921078"/>
            <a:ext cx="1234440" cy="384048"/>
          </a:xfrm>
          <a:prstGeom prst="rect">
            <a:avLst/>
          </a:prstGeom>
          <a:noFill/>
          <a:ln/>
        </p:spPr>
        <p:txBody>
          <a:bodyPr wrap="square" lIns="0" tIns="0" rIns="0" bIns="0" rtlCol="0" anchor="ctr"/>
          <a:lstStyle/>
          <a:p>
            <a:pPr marL="0" indent="0">
              <a:buNone/>
            </a:pPr>
            <a:r>
              <a:rPr lang="en-US" sz="1100" b="1" dirty="0">
                <a:solidFill>
                  <a:srgbClr val="9AD1D4"/>
                </a:solidFill>
              </a:rPr>
              <a:t>Request path</a:t>
            </a:r>
            <a:endParaRPr lang="en-US" sz="1100" dirty="0"/>
          </a:p>
        </p:txBody>
      </p:sp>
      <p:sp>
        <p:nvSpPr>
          <p:cNvPr id="8" name="path chip Route 53"/>
          <p:cNvSpPr/>
          <p:nvPr/>
        </p:nvSpPr>
        <p:spPr>
          <a:xfrm>
            <a:off x="1691640" y="2921078"/>
            <a:ext cx="914400" cy="384048"/>
          </a:xfrm>
          <a:prstGeom prst="roundRect">
            <a:avLst>
              <a:gd name="adj" fmla="val 50000"/>
            </a:avLst>
          </a:prstGeom>
          <a:solidFill>
            <a:srgbClr val="FFFFFF">
              <a:alpha val="12000"/>
            </a:srgbClr>
          </a:solidFill>
          <a:ln w="12700">
            <a:solidFill>
              <a:srgbClr val="9AD1D4"/>
            </a:solidFill>
            <a:prstDash val="solid"/>
          </a:ln>
        </p:spPr>
      </p:sp>
      <p:sp>
        <p:nvSpPr>
          <p:cNvPr id="9" name="Text 7"/>
          <p:cNvSpPr txBox="1"/>
          <p:nvPr/>
        </p:nvSpPr>
        <p:spPr>
          <a:xfrm>
            <a:off x="1691640" y="2921078"/>
            <a:ext cx="914400" cy="384048"/>
          </a:xfrm>
          <a:prstGeom prst="rect">
            <a:avLst/>
          </a:prstGeom>
          <a:noFill/>
          <a:ln/>
        </p:spPr>
        <p:txBody>
          <a:bodyPr wrap="square" lIns="0" tIns="0" rIns="0" bIns="0" rtlCol="0" anchor="ctr"/>
          <a:lstStyle/>
          <a:p>
            <a:pPr marL="0" indent="0" algn="ctr">
              <a:buNone/>
            </a:pPr>
            <a:r>
              <a:rPr lang="en-US" sz="1200" b="1" dirty="0">
                <a:solidFill>
                  <a:srgbClr val="FFFFFF"/>
                </a:solidFill>
              </a:rPr>
              <a:t>Route 53</a:t>
            </a:r>
            <a:endParaRPr lang="en-US" sz="1200" dirty="0"/>
          </a:p>
        </p:txBody>
      </p:sp>
      <p:sp>
        <p:nvSpPr>
          <p:cNvPr id="10" name="connector"/>
          <p:cNvSpPr/>
          <p:nvPr/>
        </p:nvSpPr>
        <p:spPr>
          <a:xfrm>
            <a:off x="2633472" y="3113102"/>
            <a:ext cx="173736" cy="0"/>
          </a:xfrm>
          <a:prstGeom prst="line">
            <a:avLst/>
          </a:prstGeom>
          <a:noFill/>
          <a:ln w="19050">
            <a:solidFill>
              <a:srgbClr val="F2A541"/>
            </a:solidFill>
            <a:prstDash val="solid"/>
            <a:tailEnd type="triangle"/>
          </a:ln>
        </p:spPr>
      </p:sp>
      <p:sp>
        <p:nvSpPr>
          <p:cNvPr id="11" name="path chip CloudFront"/>
          <p:cNvSpPr/>
          <p:nvPr/>
        </p:nvSpPr>
        <p:spPr>
          <a:xfrm>
            <a:off x="2834640" y="2921078"/>
            <a:ext cx="1024128" cy="384048"/>
          </a:xfrm>
          <a:prstGeom prst="roundRect">
            <a:avLst>
              <a:gd name="adj" fmla="val 50000"/>
            </a:avLst>
          </a:prstGeom>
          <a:solidFill>
            <a:srgbClr val="FFFFFF">
              <a:alpha val="12000"/>
            </a:srgbClr>
          </a:solidFill>
          <a:ln w="12700">
            <a:solidFill>
              <a:srgbClr val="9AD1D4"/>
            </a:solidFill>
            <a:prstDash val="solid"/>
          </a:ln>
        </p:spPr>
      </p:sp>
      <p:sp>
        <p:nvSpPr>
          <p:cNvPr id="12" name="Text 10"/>
          <p:cNvSpPr txBox="1"/>
          <p:nvPr/>
        </p:nvSpPr>
        <p:spPr>
          <a:xfrm>
            <a:off x="2834640" y="2921078"/>
            <a:ext cx="1024128" cy="384048"/>
          </a:xfrm>
          <a:prstGeom prst="rect">
            <a:avLst/>
          </a:prstGeom>
          <a:noFill/>
          <a:ln/>
        </p:spPr>
        <p:txBody>
          <a:bodyPr wrap="square" lIns="0" tIns="0" rIns="0" bIns="0" rtlCol="0" anchor="ctr"/>
          <a:lstStyle/>
          <a:p>
            <a:pPr marL="0" indent="0" algn="ctr">
              <a:buNone/>
            </a:pPr>
            <a:r>
              <a:rPr lang="en-US" sz="1200" b="1" dirty="0">
                <a:solidFill>
                  <a:srgbClr val="FFFFFF"/>
                </a:solidFill>
              </a:rPr>
              <a:t>CloudFront</a:t>
            </a:r>
            <a:endParaRPr lang="en-US" sz="1200" dirty="0"/>
          </a:p>
        </p:txBody>
      </p:sp>
      <p:sp>
        <p:nvSpPr>
          <p:cNvPr id="13" name="connector"/>
          <p:cNvSpPr/>
          <p:nvPr/>
        </p:nvSpPr>
        <p:spPr>
          <a:xfrm>
            <a:off x="3886200" y="3113102"/>
            <a:ext cx="173736" cy="0"/>
          </a:xfrm>
          <a:prstGeom prst="line">
            <a:avLst/>
          </a:prstGeom>
          <a:noFill/>
          <a:ln w="19050">
            <a:solidFill>
              <a:srgbClr val="F2A541"/>
            </a:solidFill>
            <a:prstDash val="solid"/>
            <a:tailEnd type="triangle"/>
          </a:ln>
        </p:spPr>
      </p:sp>
      <p:sp>
        <p:nvSpPr>
          <p:cNvPr id="14" name="path chip WAF"/>
          <p:cNvSpPr/>
          <p:nvPr/>
        </p:nvSpPr>
        <p:spPr>
          <a:xfrm>
            <a:off x="4087368" y="2921078"/>
            <a:ext cx="731520" cy="384048"/>
          </a:xfrm>
          <a:prstGeom prst="roundRect">
            <a:avLst>
              <a:gd name="adj" fmla="val 50000"/>
            </a:avLst>
          </a:prstGeom>
          <a:solidFill>
            <a:srgbClr val="FFFFFF">
              <a:alpha val="12000"/>
            </a:srgbClr>
          </a:solidFill>
          <a:ln w="12700">
            <a:solidFill>
              <a:srgbClr val="9AD1D4"/>
            </a:solidFill>
            <a:prstDash val="solid"/>
          </a:ln>
        </p:spPr>
      </p:sp>
      <p:sp>
        <p:nvSpPr>
          <p:cNvPr id="15" name="Text 13"/>
          <p:cNvSpPr txBox="1"/>
          <p:nvPr/>
        </p:nvSpPr>
        <p:spPr>
          <a:xfrm>
            <a:off x="4087368" y="2921078"/>
            <a:ext cx="731520" cy="384048"/>
          </a:xfrm>
          <a:prstGeom prst="rect">
            <a:avLst/>
          </a:prstGeom>
          <a:noFill/>
          <a:ln/>
        </p:spPr>
        <p:txBody>
          <a:bodyPr wrap="square" lIns="0" tIns="0" rIns="0" bIns="0" rtlCol="0" anchor="ctr"/>
          <a:lstStyle/>
          <a:p>
            <a:pPr marL="0" indent="0" algn="ctr">
              <a:buNone/>
            </a:pPr>
            <a:r>
              <a:rPr lang="en-US" sz="1200" b="1" dirty="0">
                <a:solidFill>
                  <a:srgbClr val="FFFFFF"/>
                </a:solidFill>
              </a:rPr>
              <a:t>WAF</a:t>
            </a:r>
            <a:endParaRPr lang="en-US" sz="1200" dirty="0"/>
          </a:p>
        </p:txBody>
      </p:sp>
      <p:sp>
        <p:nvSpPr>
          <p:cNvPr id="16" name="connector"/>
          <p:cNvSpPr/>
          <p:nvPr/>
        </p:nvSpPr>
        <p:spPr>
          <a:xfrm>
            <a:off x="4846320" y="3113102"/>
            <a:ext cx="173736" cy="0"/>
          </a:xfrm>
          <a:prstGeom prst="line">
            <a:avLst/>
          </a:prstGeom>
          <a:noFill/>
          <a:ln w="19050">
            <a:solidFill>
              <a:srgbClr val="F2A541"/>
            </a:solidFill>
            <a:prstDash val="solid"/>
            <a:tailEnd type="triangle"/>
          </a:ln>
        </p:spPr>
      </p:sp>
      <p:sp>
        <p:nvSpPr>
          <p:cNvPr id="17" name="path chip ALB"/>
          <p:cNvSpPr/>
          <p:nvPr/>
        </p:nvSpPr>
        <p:spPr>
          <a:xfrm>
            <a:off x="5047488" y="2921078"/>
            <a:ext cx="731520" cy="384048"/>
          </a:xfrm>
          <a:prstGeom prst="roundRect">
            <a:avLst>
              <a:gd name="adj" fmla="val 50000"/>
            </a:avLst>
          </a:prstGeom>
          <a:solidFill>
            <a:srgbClr val="FFFFFF">
              <a:alpha val="12000"/>
            </a:srgbClr>
          </a:solidFill>
          <a:ln w="12700">
            <a:solidFill>
              <a:srgbClr val="9AD1D4"/>
            </a:solidFill>
            <a:prstDash val="solid"/>
          </a:ln>
        </p:spPr>
      </p:sp>
      <p:sp>
        <p:nvSpPr>
          <p:cNvPr id="18" name="Text 16"/>
          <p:cNvSpPr txBox="1"/>
          <p:nvPr/>
        </p:nvSpPr>
        <p:spPr>
          <a:xfrm>
            <a:off x="5047488" y="2921078"/>
            <a:ext cx="731520" cy="384048"/>
          </a:xfrm>
          <a:prstGeom prst="rect">
            <a:avLst/>
          </a:prstGeom>
          <a:noFill/>
          <a:ln/>
        </p:spPr>
        <p:txBody>
          <a:bodyPr wrap="square" lIns="0" tIns="0" rIns="0" bIns="0" rtlCol="0" anchor="ctr"/>
          <a:lstStyle/>
          <a:p>
            <a:pPr marL="0" indent="0" algn="ctr">
              <a:buNone/>
            </a:pPr>
            <a:r>
              <a:rPr lang="en-US" sz="1200" b="1" dirty="0">
                <a:solidFill>
                  <a:srgbClr val="FFFFFF"/>
                </a:solidFill>
              </a:rPr>
              <a:t>ALB</a:t>
            </a:r>
            <a:endParaRPr lang="en-US" sz="1200" dirty="0"/>
          </a:p>
        </p:txBody>
      </p:sp>
      <p:sp>
        <p:nvSpPr>
          <p:cNvPr id="19" name="connector"/>
          <p:cNvSpPr/>
          <p:nvPr/>
        </p:nvSpPr>
        <p:spPr>
          <a:xfrm>
            <a:off x="5806440" y="3113102"/>
            <a:ext cx="173736" cy="0"/>
          </a:xfrm>
          <a:prstGeom prst="line">
            <a:avLst/>
          </a:prstGeom>
          <a:noFill/>
          <a:ln w="19050">
            <a:solidFill>
              <a:srgbClr val="F2A541"/>
            </a:solidFill>
            <a:prstDash val="solid"/>
            <a:tailEnd type="triangle"/>
          </a:ln>
        </p:spPr>
      </p:sp>
      <p:sp>
        <p:nvSpPr>
          <p:cNvPr id="20" name="path chip ECS Fargate"/>
          <p:cNvSpPr/>
          <p:nvPr/>
        </p:nvSpPr>
        <p:spPr>
          <a:xfrm>
            <a:off x="6007608" y="2921078"/>
            <a:ext cx="1143000" cy="384048"/>
          </a:xfrm>
          <a:prstGeom prst="roundRect">
            <a:avLst>
              <a:gd name="adj" fmla="val 50000"/>
            </a:avLst>
          </a:prstGeom>
          <a:solidFill>
            <a:srgbClr val="FFFFFF">
              <a:alpha val="12000"/>
            </a:srgbClr>
          </a:solidFill>
          <a:ln w="12700">
            <a:solidFill>
              <a:srgbClr val="9AD1D4"/>
            </a:solidFill>
            <a:prstDash val="solid"/>
          </a:ln>
        </p:spPr>
      </p:sp>
      <p:sp>
        <p:nvSpPr>
          <p:cNvPr id="21" name="Text 19"/>
          <p:cNvSpPr txBox="1"/>
          <p:nvPr/>
        </p:nvSpPr>
        <p:spPr>
          <a:xfrm>
            <a:off x="6007608" y="2921078"/>
            <a:ext cx="1143000" cy="384048"/>
          </a:xfrm>
          <a:prstGeom prst="rect">
            <a:avLst/>
          </a:prstGeom>
          <a:noFill/>
          <a:ln/>
        </p:spPr>
        <p:txBody>
          <a:bodyPr wrap="square" lIns="0" tIns="0" rIns="0" bIns="0" rtlCol="0" anchor="ctr"/>
          <a:lstStyle/>
          <a:p>
            <a:pPr marL="0" indent="0" algn="ctr">
              <a:buNone/>
            </a:pPr>
            <a:r>
              <a:rPr lang="en-US" sz="1200" b="1" dirty="0">
                <a:solidFill>
                  <a:srgbClr val="FFFFFF"/>
                </a:solidFill>
              </a:rPr>
              <a:t>ECS Fargate</a:t>
            </a:r>
            <a:endParaRPr lang="en-US" sz="1200" dirty="0"/>
          </a:p>
        </p:txBody>
      </p:sp>
      <p:sp>
        <p:nvSpPr>
          <p:cNvPr id="22" name="connector"/>
          <p:cNvSpPr/>
          <p:nvPr/>
        </p:nvSpPr>
        <p:spPr>
          <a:xfrm>
            <a:off x="7178040" y="3113102"/>
            <a:ext cx="173736" cy="0"/>
          </a:xfrm>
          <a:prstGeom prst="line">
            <a:avLst/>
          </a:prstGeom>
          <a:noFill/>
          <a:ln w="19050">
            <a:solidFill>
              <a:srgbClr val="F2A541"/>
            </a:solidFill>
            <a:prstDash val="solid"/>
            <a:tailEnd type="triangle"/>
          </a:ln>
        </p:spPr>
      </p:sp>
      <p:sp>
        <p:nvSpPr>
          <p:cNvPr id="23" name="path chip MariaDB"/>
          <p:cNvSpPr/>
          <p:nvPr/>
        </p:nvSpPr>
        <p:spPr>
          <a:xfrm>
            <a:off x="7379208" y="2921078"/>
            <a:ext cx="960120" cy="384048"/>
          </a:xfrm>
          <a:prstGeom prst="roundRect">
            <a:avLst>
              <a:gd name="adj" fmla="val 50000"/>
            </a:avLst>
          </a:prstGeom>
          <a:solidFill>
            <a:srgbClr val="FFFFFF">
              <a:alpha val="12000"/>
            </a:srgbClr>
          </a:solidFill>
          <a:ln w="12700">
            <a:solidFill>
              <a:srgbClr val="9AD1D4"/>
            </a:solidFill>
            <a:prstDash val="solid"/>
          </a:ln>
        </p:spPr>
      </p:sp>
      <p:sp>
        <p:nvSpPr>
          <p:cNvPr id="24" name="Text 22"/>
          <p:cNvSpPr txBox="1"/>
          <p:nvPr/>
        </p:nvSpPr>
        <p:spPr>
          <a:xfrm>
            <a:off x="7379208" y="2921078"/>
            <a:ext cx="960120" cy="384048"/>
          </a:xfrm>
          <a:prstGeom prst="rect">
            <a:avLst/>
          </a:prstGeom>
          <a:noFill/>
          <a:ln/>
        </p:spPr>
        <p:txBody>
          <a:bodyPr wrap="square" lIns="0" tIns="0" rIns="0" bIns="0" rtlCol="0" anchor="ctr"/>
          <a:lstStyle/>
          <a:p>
            <a:pPr marL="0" indent="0" algn="ctr">
              <a:buNone/>
            </a:pPr>
            <a:r>
              <a:rPr lang="en-US" sz="1200" b="1" dirty="0">
                <a:solidFill>
                  <a:srgbClr val="FFFFFF"/>
                </a:solidFill>
              </a:rPr>
              <a:t>MariaDB</a:t>
            </a:r>
            <a:endParaRPr lang="en-US" sz="1200" dirty="0"/>
          </a:p>
        </p:txBody>
      </p:sp>
      <p:sp>
        <p:nvSpPr>
          <p:cNvPr id="25" name="Text 23"/>
          <p:cNvSpPr txBox="1"/>
          <p:nvPr/>
        </p:nvSpPr>
        <p:spPr>
          <a:xfrm>
            <a:off x="457200" y="3606878"/>
            <a:ext cx="1234440" cy="384048"/>
          </a:xfrm>
          <a:prstGeom prst="rect">
            <a:avLst/>
          </a:prstGeom>
          <a:noFill/>
          <a:ln/>
        </p:spPr>
        <p:txBody>
          <a:bodyPr wrap="square" lIns="0" tIns="0" rIns="0" bIns="0" rtlCol="0" anchor="ctr"/>
          <a:lstStyle/>
          <a:p>
            <a:pPr marL="0" indent="0">
              <a:buNone/>
            </a:pPr>
            <a:r>
              <a:rPr lang="en-US" sz="1100" b="1" dirty="0">
                <a:solidFill>
                  <a:srgbClr val="F2A541"/>
                </a:solidFill>
              </a:rPr>
              <a:t>Lina AI (RAG)</a:t>
            </a:r>
            <a:endParaRPr lang="en-US" sz="1100" dirty="0"/>
          </a:p>
        </p:txBody>
      </p:sp>
      <p:sp>
        <p:nvSpPr>
          <p:cNvPr id="26" name="path chip S3 docs"/>
          <p:cNvSpPr/>
          <p:nvPr/>
        </p:nvSpPr>
        <p:spPr>
          <a:xfrm>
            <a:off x="1691640" y="3606878"/>
            <a:ext cx="868680" cy="384048"/>
          </a:xfrm>
          <a:prstGeom prst="roundRect">
            <a:avLst>
              <a:gd name="adj" fmla="val 50000"/>
            </a:avLst>
          </a:prstGeom>
          <a:solidFill>
            <a:srgbClr val="FFFFFF">
              <a:alpha val="12000"/>
            </a:srgbClr>
          </a:solidFill>
          <a:ln w="12700">
            <a:solidFill>
              <a:srgbClr val="F2A541"/>
            </a:solidFill>
            <a:prstDash val="solid"/>
          </a:ln>
        </p:spPr>
      </p:sp>
      <p:sp>
        <p:nvSpPr>
          <p:cNvPr id="27" name="Text 25"/>
          <p:cNvSpPr txBox="1"/>
          <p:nvPr/>
        </p:nvSpPr>
        <p:spPr>
          <a:xfrm>
            <a:off x="1691640" y="3606878"/>
            <a:ext cx="868680" cy="384048"/>
          </a:xfrm>
          <a:prstGeom prst="rect">
            <a:avLst/>
          </a:prstGeom>
          <a:noFill/>
          <a:ln/>
        </p:spPr>
        <p:txBody>
          <a:bodyPr wrap="square" lIns="0" tIns="0" rIns="0" bIns="0" rtlCol="0" anchor="ctr"/>
          <a:lstStyle/>
          <a:p>
            <a:pPr marL="0" indent="0" algn="ctr">
              <a:buNone/>
            </a:pPr>
            <a:r>
              <a:rPr lang="en-US" sz="1200" b="1" dirty="0">
                <a:solidFill>
                  <a:srgbClr val="FFFFFF"/>
                </a:solidFill>
              </a:rPr>
              <a:t>S3 docs</a:t>
            </a:r>
            <a:endParaRPr lang="en-US" sz="1200" dirty="0"/>
          </a:p>
        </p:txBody>
      </p:sp>
      <p:sp>
        <p:nvSpPr>
          <p:cNvPr id="28" name="connector"/>
          <p:cNvSpPr/>
          <p:nvPr/>
        </p:nvSpPr>
        <p:spPr>
          <a:xfrm>
            <a:off x="2587752" y="3798902"/>
            <a:ext cx="173736" cy="0"/>
          </a:xfrm>
          <a:prstGeom prst="line">
            <a:avLst/>
          </a:prstGeom>
          <a:noFill/>
          <a:ln w="19050">
            <a:solidFill>
              <a:srgbClr val="F2A541"/>
            </a:solidFill>
            <a:prstDash val="solid"/>
            <a:tailEnd type="triangle"/>
          </a:ln>
        </p:spPr>
      </p:sp>
      <p:sp>
        <p:nvSpPr>
          <p:cNvPr id="29" name="path chip Titan"/>
          <p:cNvSpPr/>
          <p:nvPr/>
        </p:nvSpPr>
        <p:spPr>
          <a:xfrm>
            <a:off x="2788920" y="3606878"/>
            <a:ext cx="777240" cy="384048"/>
          </a:xfrm>
          <a:prstGeom prst="roundRect">
            <a:avLst>
              <a:gd name="adj" fmla="val 50000"/>
            </a:avLst>
          </a:prstGeom>
          <a:solidFill>
            <a:srgbClr val="FFFFFF">
              <a:alpha val="12000"/>
            </a:srgbClr>
          </a:solidFill>
          <a:ln w="12700">
            <a:solidFill>
              <a:srgbClr val="F2A541"/>
            </a:solidFill>
            <a:prstDash val="solid"/>
          </a:ln>
        </p:spPr>
      </p:sp>
      <p:sp>
        <p:nvSpPr>
          <p:cNvPr id="30" name="Text 28"/>
          <p:cNvSpPr txBox="1"/>
          <p:nvPr/>
        </p:nvSpPr>
        <p:spPr>
          <a:xfrm>
            <a:off x="2788920" y="3606878"/>
            <a:ext cx="777240" cy="384048"/>
          </a:xfrm>
          <a:prstGeom prst="rect">
            <a:avLst/>
          </a:prstGeom>
          <a:noFill/>
          <a:ln/>
        </p:spPr>
        <p:txBody>
          <a:bodyPr wrap="square" lIns="0" tIns="0" rIns="0" bIns="0" rtlCol="0" anchor="ctr"/>
          <a:lstStyle/>
          <a:p>
            <a:pPr marL="0" indent="0" algn="ctr">
              <a:buNone/>
            </a:pPr>
            <a:r>
              <a:rPr lang="en-US" sz="1200" b="1" dirty="0">
                <a:solidFill>
                  <a:srgbClr val="FFFFFF"/>
                </a:solidFill>
              </a:rPr>
              <a:t>Titan</a:t>
            </a:r>
            <a:endParaRPr lang="en-US" sz="1200" dirty="0"/>
          </a:p>
        </p:txBody>
      </p:sp>
      <p:sp>
        <p:nvSpPr>
          <p:cNvPr id="31" name="connector"/>
          <p:cNvSpPr/>
          <p:nvPr/>
        </p:nvSpPr>
        <p:spPr>
          <a:xfrm>
            <a:off x="3593592" y="3798902"/>
            <a:ext cx="173736" cy="0"/>
          </a:xfrm>
          <a:prstGeom prst="line">
            <a:avLst/>
          </a:prstGeom>
          <a:noFill/>
          <a:ln w="19050">
            <a:solidFill>
              <a:srgbClr val="F2A541"/>
            </a:solidFill>
            <a:prstDash val="solid"/>
            <a:tailEnd type="triangle"/>
          </a:ln>
        </p:spPr>
      </p:sp>
      <p:sp>
        <p:nvSpPr>
          <p:cNvPr id="32" name="path chip S3 Vectors"/>
          <p:cNvSpPr/>
          <p:nvPr/>
        </p:nvSpPr>
        <p:spPr>
          <a:xfrm>
            <a:off x="3794760" y="3606878"/>
            <a:ext cx="1051560" cy="384048"/>
          </a:xfrm>
          <a:prstGeom prst="roundRect">
            <a:avLst>
              <a:gd name="adj" fmla="val 50000"/>
            </a:avLst>
          </a:prstGeom>
          <a:solidFill>
            <a:srgbClr val="FFFFFF">
              <a:alpha val="12000"/>
            </a:srgbClr>
          </a:solidFill>
          <a:ln w="12700">
            <a:solidFill>
              <a:srgbClr val="F2A541"/>
            </a:solidFill>
            <a:prstDash val="solid"/>
          </a:ln>
        </p:spPr>
      </p:sp>
      <p:sp>
        <p:nvSpPr>
          <p:cNvPr id="33" name="Text 31"/>
          <p:cNvSpPr txBox="1"/>
          <p:nvPr/>
        </p:nvSpPr>
        <p:spPr>
          <a:xfrm>
            <a:off x="3794760" y="3606878"/>
            <a:ext cx="1051560" cy="384048"/>
          </a:xfrm>
          <a:prstGeom prst="rect">
            <a:avLst/>
          </a:prstGeom>
          <a:noFill/>
          <a:ln/>
        </p:spPr>
        <p:txBody>
          <a:bodyPr wrap="square" lIns="0" tIns="0" rIns="0" bIns="0" rtlCol="0" anchor="ctr"/>
          <a:lstStyle/>
          <a:p>
            <a:pPr marL="0" indent="0" algn="ctr">
              <a:buNone/>
            </a:pPr>
            <a:r>
              <a:rPr lang="en-US" sz="1200" b="1" dirty="0">
                <a:solidFill>
                  <a:srgbClr val="FFFFFF"/>
                </a:solidFill>
              </a:rPr>
              <a:t>S3 Vectors</a:t>
            </a:r>
            <a:endParaRPr lang="en-US" sz="1200" dirty="0"/>
          </a:p>
        </p:txBody>
      </p:sp>
      <p:sp>
        <p:nvSpPr>
          <p:cNvPr id="34" name="connector"/>
          <p:cNvSpPr/>
          <p:nvPr/>
        </p:nvSpPr>
        <p:spPr>
          <a:xfrm>
            <a:off x="4873752" y="3798902"/>
            <a:ext cx="173736" cy="0"/>
          </a:xfrm>
          <a:prstGeom prst="line">
            <a:avLst/>
          </a:prstGeom>
          <a:noFill/>
          <a:ln w="19050">
            <a:solidFill>
              <a:srgbClr val="F2A541"/>
            </a:solidFill>
            <a:prstDash val="solid"/>
            <a:tailEnd type="triangle"/>
          </a:ln>
        </p:spPr>
      </p:sp>
      <p:sp>
        <p:nvSpPr>
          <p:cNvPr id="35" name="path chip Claude Haiku"/>
          <p:cNvSpPr/>
          <p:nvPr/>
        </p:nvSpPr>
        <p:spPr>
          <a:xfrm>
            <a:off x="5074920" y="3606878"/>
            <a:ext cx="1188720" cy="384048"/>
          </a:xfrm>
          <a:prstGeom prst="roundRect">
            <a:avLst>
              <a:gd name="adj" fmla="val 50000"/>
            </a:avLst>
          </a:prstGeom>
          <a:solidFill>
            <a:srgbClr val="FFFFFF">
              <a:alpha val="12000"/>
            </a:srgbClr>
          </a:solidFill>
          <a:ln w="12700">
            <a:solidFill>
              <a:srgbClr val="F2A541"/>
            </a:solidFill>
            <a:prstDash val="solid"/>
          </a:ln>
        </p:spPr>
      </p:sp>
      <p:sp>
        <p:nvSpPr>
          <p:cNvPr id="36" name="Text 34"/>
          <p:cNvSpPr txBox="1"/>
          <p:nvPr/>
        </p:nvSpPr>
        <p:spPr>
          <a:xfrm>
            <a:off x="5074920" y="3606878"/>
            <a:ext cx="1188720" cy="384048"/>
          </a:xfrm>
          <a:prstGeom prst="rect">
            <a:avLst/>
          </a:prstGeom>
          <a:noFill/>
          <a:ln/>
        </p:spPr>
        <p:txBody>
          <a:bodyPr wrap="square" lIns="0" tIns="0" rIns="0" bIns="0" rtlCol="0" anchor="ctr"/>
          <a:lstStyle/>
          <a:p>
            <a:pPr marL="0" indent="0" algn="ctr">
              <a:buNone/>
            </a:pPr>
            <a:r>
              <a:rPr lang="en-US" sz="1200" b="1" dirty="0">
                <a:solidFill>
                  <a:srgbClr val="FFFFFF"/>
                </a:solidFill>
              </a:rPr>
              <a:t>Claude Haiku</a:t>
            </a:r>
            <a:endParaRPr lang="en-US" sz="1200" dirty="0"/>
          </a:p>
        </p:txBody>
      </p:sp>
      <p:sp>
        <p:nvSpPr>
          <p:cNvPr id="38" name="Text 36"/>
          <p:cNvSpPr txBox="1"/>
          <p:nvPr/>
        </p:nvSpPr>
        <p:spPr>
          <a:xfrm>
            <a:off x="457200" y="4662733"/>
            <a:ext cx="7863840" cy="1072349"/>
          </a:xfrm>
          <a:prstGeom prst="rect">
            <a:avLst/>
          </a:prstGeom>
          <a:noFill/>
          <a:ln/>
        </p:spPr>
        <p:txBody>
          <a:bodyPr wrap="square" lIns="0" tIns="0" rIns="0" bIns="0" rtlCol="0" anchor="t"/>
          <a:lstStyle/>
          <a:p>
            <a:pPr marL="0" indent="0">
              <a:buNone/>
            </a:pPr>
            <a:r>
              <a:rPr lang="en-US" sz="1200" b="1" dirty="0">
                <a:solidFill>
                  <a:srgbClr val="FFFFFF"/>
                </a:solidFill>
              </a:rPr>
              <a:t>Presented by </a:t>
            </a:r>
          </a:p>
          <a:p>
            <a:pPr marL="0" indent="0">
              <a:buNone/>
            </a:pPr>
            <a:r>
              <a:rPr lang="en-US" b="1" spc="300" dirty="0">
                <a:solidFill>
                  <a:srgbClr val="FFFFFF"/>
                </a:solidFill>
              </a:rPr>
              <a:t>SERAJ AHMAD SIDDIQUI </a:t>
            </a:r>
          </a:p>
          <a:p>
            <a:pPr marL="0" indent="0">
              <a:buNone/>
            </a:pPr>
            <a:r>
              <a:rPr lang="en-US" sz="1200" b="1" dirty="0">
                <a:solidFill>
                  <a:srgbClr val="FFFFFF"/>
                </a:solidFill>
              </a:rPr>
              <a:t>AWS Cloud Computing with AI Bootcamp</a:t>
            </a:r>
            <a:endParaRPr lang="en-US" sz="1200" dirty="0"/>
          </a:p>
        </p:txBody>
      </p:sp>
      <p:sp>
        <p:nvSpPr>
          <p:cNvPr id="39" name="Text 37"/>
          <p:cNvSpPr txBox="1"/>
          <p:nvPr/>
        </p:nvSpPr>
        <p:spPr>
          <a:xfrm>
            <a:off x="457200" y="6217920"/>
            <a:ext cx="7863840" cy="320040"/>
          </a:xfrm>
          <a:prstGeom prst="rect">
            <a:avLst/>
          </a:prstGeom>
          <a:noFill/>
          <a:ln/>
        </p:spPr>
        <p:txBody>
          <a:bodyPr wrap="square" lIns="0" tIns="0" rIns="0" bIns="0" rtlCol="0" anchor="t"/>
          <a:lstStyle/>
          <a:p>
            <a:pPr marL="0" indent="0">
              <a:buNone/>
            </a:pPr>
            <a:r>
              <a:rPr lang="en-US" sz="1300" dirty="0">
                <a:solidFill>
                  <a:srgbClr val="D5E7E8"/>
                </a:solidFill>
              </a:rPr>
              <a:t>Guidance: Micheal (Theory Teacher)  ·  Rahul Patel (Practical Teacher)  ·  Dominic Singaraj (HoD)</a:t>
            </a:r>
            <a:endParaRPr lang="en-US" sz="1300" dirty="0"/>
          </a:p>
        </p:txBody>
      </p:sp>
      <p:sp>
        <p:nvSpPr>
          <p:cNvPr id="40" name="stat card"/>
          <p:cNvSpPr/>
          <p:nvPr/>
        </p:nvSpPr>
        <p:spPr>
          <a:xfrm>
            <a:off x="8732520" y="640080"/>
            <a:ext cx="2907792" cy="1143000"/>
          </a:xfrm>
          <a:prstGeom prst="roundRect">
            <a:avLst>
              <a:gd name="adj" fmla="val 8000"/>
            </a:avLst>
          </a:prstGeom>
          <a:solidFill>
            <a:srgbClr val="0E3B43">
              <a:alpha val="85000"/>
            </a:srgbClr>
          </a:solidFill>
          <a:ln w="12700">
            <a:solidFill>
              <a:srgbClr val="2E6A72"/>
            </a:solidFill>
            <a:prstDash val="solid"/>
          </a:ln>
        </p:spPr>
      </p:sp>
      <p:sp>
        <p:nvSpPr>
          <p:cNvPr id="41" name="Text 39"/>
          <p:cNvSpPr txBox="1"/>
          <p:nvPr/>
        </p:nvSpPr>
        <p:spPr>
          <a:xfrm>
            <a:off x="8961120" y="777240"/>
            <a:ext cx="2560320" cy="457200"/>
          </a:xfrm>
          <a:prstGeom prst="rect">
            <a:avLst/>
          </a:prstGeom>
          <a:noFill/>
          <a:ln/>
        </p:spPr>
        <p:txBody>
          <a:bodyPr wrap="square" lIns="0" tIns="0" rIns="0" bIns="0" rtlCol="0" anchor="ctr"/>
          <a:lstStyle/>
          <a:p>
            <a:pPr marL="0" indent="0">
              <a:buNone/>
            </a:pPr>
            <a:r>
              <a:rPr lang="en-US" sz="2400" b="1" dirty="0">
                <a:solidFill>
                  <a:srgbClr val="F2A541"/>
                </a:solidFill>
                <a:latin typeface="+mj-lt" pitchFamily="34" charset="0"/>
                <a:ea typeface="+mj-lt" pitchFamily="34" charset="-122"/>
                <a:cs typeface="+mj-lt" pitchFamily="34" charset="-120"/>
              </a:rPr>
              <a:t>12 milestones</a:t>
            </a:r>
            <a:endParaRPr lang="en-US" sz="2400" dirty="0"/>
          </a:p>
        </p:txBody>
      </p:sp>
      <p:sp>
        <p:nvSpPr>
          <p:cNvPr id="42" name="Text 40"/>
          <p:cNvSpPr txBox="1"/>
          <p:nvPr/>
        </p:nvSpPr>
        <p:spPr>
          <a:xfrm>
            <a:off x="8961120" y="1261872"/>
            <a:ext cx="2560320" cy="411480"/>
          </a:xfrm>
          <a:prstGeom prst="rect">
            <a:avLst/>
          </a:prstGeom>
          <a:noFill/>
          <a:ln/>
        </p:spPr>
        <p:txBody>
          <a:bodyPr wrap="square" lIns="0" tIns="0" rIns="0" bIns="0" rtlCol="0" anchor="t"/>
          <a:lstStyle/>
          <a:p>
            <a:pPr marL="0" indent="0">
              <a:buNone/>
            </a:pPr>
            <a:r>
              <a:rPr lang="en-US" sz="1200" dirty="0">
                <a:solidFill>
                  <a:srgbClr val="D5E7E8"/>
                </a:solidFill>
              </a:rPr>
              <a:t>implemented, validated and documented</a:t>
            </a:r>
            <a:endParaRPr lang="en-US" sz="1200" dirty="0"/>
          </a:p>
        </p:txBody>
      </p:sp>
      <p:sp>
        <p:nvSpPr>
          <p:cNvPr id="43" name="stat card"/>
          <p:cNvSpPr/>
          <p:nvPr/>
        </p:nvSpPr>
        <p:spPr>
          <a:xfrm>
            <a:off x="8732520" y="1965960"/>
            <a:ext cx="2907792" cy="1143000"/>
          </a:xfrm>
          <a:prstGeom prst="roundRect">
            <a:avLst>
              <a:gd name="adj" fmla="val 8000"/>
            </a:avLst>
          </a:prstGeom>
          <a:solidFill>
            <a:srgbClr val="0E3B43">
              <a:alpha val="85000"/>
            </a:srgbClr>
          </a:solidFill>
          <a:ln w="12700">
            <a:solidFill>
              <a:srgbClr val="2E6A72"/>
            </a:solidFill>
            <a:prstDash val="solid"/>
          </a:ln>
        </p:spPr>
      </p:sp>
      <p:sp>
        <p:nvSpPr>
          <p:cNvPr id="44" name="Text 42"/>
          <p:cNvSpPr txBox="1"/>
          <p:nvPr/>
        </p:nvSpPr>
        <p:spPr>
          <a:xfrm>
            <a:off x="8961120" y="2103120"/>
            <a:ext cx="2560320" cy="457200"/>
          </a:xfrm>
          <a:prstGeom prst="rect">
            <a:avLst/>
          </a:prstGeom>
          <a:noFill/>
          <a:ln/>
        </p:spPr>
        <p:txBody>
          <a:bodyPr wrap="square" lIns="0" tIns="0" rIns="0" bIns="0" rtlCol="0" anchor="ctr"/>
          <a:lstStyle/>
          <a:p>
            <a:pPr marL="0" indent="0">
              <a:buNone/>
            </a:pPr>
            <a:r>
              <a:rPr lang="en-US" sz="2400" b="1" dirty="0">
                <a:solidFill>
                  <a:srgbClr val="F2A541"/>
                </a:solidFill>
                <a:latin typeface="+mj-lt" pitchFamily="34" charset="0"/>
                <a:ea typeface="+mj-lt" pitchFamily="34" charset="-122"/>
                <a:cs typeface="+mj-lt" pitchFamily="34" charset="-120"/>
              </a:rPr>
              <a:t>2 AZs</a:t>
            </a:r>
            <a:endParaRPr lang="en-US" sz="2400" dirty="0"/>
          </a:p>
        </p:txBody>
      </p:sp>
      <p:sp>
        <p:nvSpPr>
          <p:cNvPr id="45" name="Text 43"/>
          <p:cNvSpPr txBox="1"/>
          <p:nvPr/>
        </p:nvSpPr>
        <p:spPr>
          <a:xfrm>
            <a:off x="8961120" y="2587752"/>
            <a:ext cx="2560320" cy="411480"/>
          </a:xfrm>
          <a:prstGeom prst="rect">
            <a:avLst/>
          </a:prstGeom>
          <a:noFill/>
          <a:ln/>
        </p:spPr>
        <p:txBody>
          <a:bodyPr wrap="square" lIns="0" tIns="0" rIns="0" bIns="0" rtlCol="0" anchor="t"/>
          <a:lstStyle/>
          <a:p>
            <a:pPr marL="0" indent="0">
              <a:buNone/>
            </a:pPr>
            <a:r>
              <a:rPr lang="en-US" sz="1200" dirty="0">
                <a:solidFill>
                  <a:srgbClr val="D5E7E8"/>
                </a:solidFill>
              </a:rPr>
              <a:t>multi-AZ app tier + MariaDB database</a:t>
            </a:r>
            <a:endParaRPr lang="en-US" sz="1200" dirty="0"/>
          </a:p>
        </p:txBody>
      </p:sp>
      <p:sp>
        <p:nvSpPr>
          <p:cNvPr id="46" name="stat card"/>
          <p:cNvSpPr/>
          <p:nvPr/>
        </p:nvSpPr>
        <p:spPr>
          <a:xfrm>
            <a:off x="8732520" y="3291840"/>
            <a:ext cx="2907792" cy="1143000"/>
          </a:xfrm>
          <a:prstGeom prst="roundRect">
            <a:avLst>
              <a:gd name="adj" fmla="val 8000"/>
            </a:avLst>
          </a:prstGeom>
          <a:solidFill>
            <a:srgbClr val="0E3B43">
              <a:alpha val="85000"/>
            </a:srgbClr>
          </a:solidFill>
          <a:ln w="12700">
            <a:solidFill>
              <a:srgbClr val="2E6A72"/>
            </a:solidFill>
            <a:prstDash val="solid"/>
          </a:ln>
        </p:spPr>
      </p:sp>
      <p:sp>
        <p:nvSpPr>
          <p:cNvPr id="47" name="Text 45"/>
          <p:cNvSpPr txBox="1"/>
          <p:nvPr/>
        </p:nvSpPr>
        <p:spPr>
          <a:xfrm>
            <a:off x="8961120" y="3429000"/>
            <a:ext cx="2560320" cy="457200"/>
          </a:xfrm>
          <a:prstGeom prst="rect">
            <a:avLst/>
          </a:prstGeom>
          <a:noFill/>
          <a:ln/>
        </p:spPr>
        <p:txBody>
          <a:bodyPr wrap="square" lIns="0" tIns="0" rIns="0" bIns="0" rtlCol="0" anchor="ctr"/>
          <a:lstStyle/>
          <a:p>
            <a:pPr marL="0" indent="0">
              <a:buNone/>
            </a:pPr>
            <a:r>
              <a:rPr lang="en-US" sz="2400" b="1" dirty="0">
                <a:solidFill>
                  <a:srgbClr val="F2A541"/>
                </a:solidFill>
                <a:latin typeface="+mj-lt" pitchFamily="34" charset="0"/>
                <a:ea typeface="+mj-lt" pitchFamily="34" charset="-122"/>
                <a:cs typeface="+mj-lt" pitchFamily="34" charset="-120"/>
              </a:rPr>
              <a:t>Grounded AI</a:t>
            </a:r>
            <a:endParaRPr lang="en-US" sz="2400" dirty="0"/>
          </a:p>
        </p:txBody>
      </p:sp>
      <p:sp>
        <p:nvSpPr>
          <p:cNvPr id="48" name="Text 46"/>
          <p:cNvSpPr txBox="1"/>
          <p:nvPr/>
        </p:nvSpPr>
        <p:spPr>
          <a:xfrm>
            <a:off x="8961120" y="3913632"/>
            <a:ext cx="2560320" cy="411480"/>
          </a:xfrm>
          <a:prstGeom prst="rect">
            <a:avLst/>
          </a:prstGeom>
          <a:noFill/>
          <a:ln/>
        </p:spPr>
        <p:txBody>
          <a:bodyPr wrap="square" lIns="0" tIns="0" rIns="0" bIns="0" rtlCol="0" anchor="t"/>
          <a:lstStyle/>
          <a:p>
            <a:pPr marL="0" indent="0">
              <a:buNone/>
            </a:pPr>
            <a:r>
              <a:rPr lang="en-US" sz="1200" dirty="0">
                <a:solidFill>
                  <a:srgbClr val="D5E7E8"/>
                </a:solidFill>
              </a:rPr>
              <a:t>Lina answers from LangNation knowledge</a:t>
            </a:r>
            <a:endParaRPr lang="en-US" sz="1200" dirty="0"/>
          </a:p>
        </p:txBody>
      </p:sp>
      <p:sp>
        <p:nvSpPr>
          <p:cNvPr id="49" name="stat card"/>
          <p:cNvSpPr/>
          <p:nvPr/>
        </p:nvSpPr>
        <p:spPr>
          <a:xfrm>
            <a:off x="8732520" y="4617720"/>
            <a:ext cx="2907792" cy="1143000"/>
          </a:xfrm>
          <a:prstGeom prst="roundRect">
            <a:avLst>
              <a:gd name="adj" fmla="val 8000"/>
            </a:avLst>
          </a:prstGeom>
          <a:solidFill>
            <a:srgbClr val="0E3B43">
              <a:alpha val="85000"/>
            </a:srgbClr>
          </a:solidFill>
          <a:ln w="12700">
            <a:solidFill>
              <a:srgbClr val="2E6A72"/>
            </a:solidFill>
            <a:prstDash val="solid"/>
          </a:ln>
        </p:spPr>
      </p:sp>
      <p:sp>
        <p:nvSpPr>
          <p:cNvPr id="50" name="Text 48"/>
          <p:cNvSpPr txBox="1"/>
          <p:nvPr/>
        </p:nvSpPr>
        <p:spPr>
          <a:xfrm>
            <a:off x="8961120" y="4754880"/>
            <a:ext cx="2560320" cy="457200"/>
          </a:xfrm>
          <a:prstGeom prst="rect">
            <a:avLst/>
          </a:prstGeom>
          <a:noFill/>
          <a:ln/>
        </p:spPr>
        <p:txBody>
          <a:bodyPr wrap="square" lIns="0" tIns="0" rIns="0" bIns="0" rtlCol="0" anchor="ctr"/>
          <a:lstStyle/>
          <a:p>
            <a:pPr marL="0" indent="0">
              <a:buNone/>
            </a:pPr>
            <a:r>
              <a:rPr lang="en-US" sz="2400" b="1" dirty="0">
                <a:solidFill>
                  <a:srgbClr val="FFFFFF"/>
                </a:solidFill>
                <a:latin typeface="+mj-lt" pitchFamily="34" charset="0"/>
                <a:ea typeface="+mj-lt" pitchFamily="34" charset="-122"/>
                <a:cs typeface="+mj-lt" pitchFamily="34" charset="-120"/>
              </a:rPr>
              <a:t>Live endpoint</a:t>
            </a:r>
            <a:endParaRPr lang="en-US" sz="2400" dirty="0"/>
          </a:p>
        </p:txBody>
      </p:sp>
      <p:sp>
        <p:nvSpPr>
          <p:cNvPr id="51" name="Text 49"/>
          <p:cNvSpPr txBox="1"/>
          <p:nvPr/>
        </p:nvSpPr>
        <p:spPr>
          <a:xfrm>
            <a:off x="8961120" y="5239512"/>
            <a:ext cx="2560320" cy="411480"/>
          </a:xfrm>
          <a:prstGeom prst="rect">
            <a:avLst/>
          </a:prstGeom>
          <a:noFill/>
          <a:ln/>
        </p:spPr>
        <p:txBody>
          <a:bodyPr wrap="square" lIns="0" tIns="0" rIns="0" bIns="0" rtlCol="0" anchor="t"/>
          <a:lstStyle/>
          <a:p>
            <a:pPr marL="0" indent="0">
              <a:buNone/>
            </a:pPr>
            <a:r>
              <a:rPr lang="de-DE" sz="1200" b="1" dirty="0">
                <a:solidFill>
                  <a:srgbClr val="F2A541"/>
                </a:solidFill>
              </a:rPr>
              <a:t>www.langnation.com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The challenge and the final design goal</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The capstone grew from a simple container into a recoverable, observable and AI-enabled platform.</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Overview</a:t>
            </a:r>
            <a:endParaRPr lang="en-US" sz="1200" dirty="0"/>
          </a:p>
        </p:txBody>
      </p:sp>
      <p:sp>
        <p:nvSpPr>
          <p:cNvPr id="6" name="card"/>
          <p:cNvSpPr/>
          <p:nvPr/>
        </p:nvSpPr>
        <p:spPr>
          <a:xfrm>
            <a:off x="548640" y="1508760"/>
            <a:ext cx="3575304" cy="2148840"/>
          </a:xfrm>
          <a:prstGeom prst="roundRect">
            <a:avLst>
              <a:gd name="adj" fmla="val 4255"/>
            </a:avLst>
          </a:prstGeom>
          <a:solidFill>
            <a:srgbClr val="FFFFFF"/>
          </a:solidFill>
          <a:ln/>
          <a:effectLst>
            <a:outerShdw blurRad="114300" dist="25400" dir="5400000" algn="bl" rotWithShape="0">
              <a:srgbClr val="0E3B43">
                <a:alpha val="13000"/>
              </a:srgbClr>
            </a:outerShdw>
          </a:effectLst>
        </p:spPr>
      </p:sp>
      <p:sp>
        <p:nvSpPr>
          <p:cNvPr id="7" name="Disposable sandbox circle"/>
          <p:cNvSpPr/>
          <p:nvPr/>
        </p:nvSpPr>
        <p:spPr>
          <a:xfrm>
            <a:off x="777240" y="1737360"/>
            <a:ext cx="640080" cy="640080"/>
          </a:xfrm>
          <a:prstGeom prst="ellipse">
            <a:avLst/>
          </a:prstGeom>
          <a:solidFill>
            <a:schemeClr val="accent2"/>
          </a:solidFill>
          <a:ln/>
        </p:spPr>
      </p:sp>
      <p:pic>
        <p:nvPicPr>
          <p:cNvPr id="8" name="Disposable sandbox" descr="preencoded.png"/>
          <p:cNvPicPr>
            <a:picLocks noChangeAspect="1"/>
          </p:cNvPicPr>
          <p:nvPr/>
        </p:nvPicPr>
        <p:blipFill>
          <a:blip r:embed="rId3"/>
          <a:stretch>
            <a:fillRect/>
          </a:stretch>
        </p:blipFill>
        <p:spPr>
          <a:xfrm>
            <a:off x="930859" y="1890979"/>
            <a:ext cx="332842" cy="332842"/>
          </a:xfrm>
          <a:prstGeom prst="rect">
            <a:avLst/>
          </a:prstGeom>
        </p:spPr>
      </p:pic>
      <p:sp>
        <p:nvSpPr>
          <p:cNvPr id="9" name="Text 6"/>
          <p:cNvSpPr txBox="1"/>
          <p:nvPr/>
        </p:nvSpPr>
        <p:spPr>
          <a:xfrm>
            <a:off x="1600200" y="1783080"/>
            <a:ext cx="2377440" cy="228600"/>
          </a:xfrm>
          <a:prstGeom prst="rect">
            <a:avLst/>
          </a:prstGeom>
          <a:noFill/>
          <a:ln/>
        </p:spPr>
        <p:txBody>
          <a:bodyPr wrap="square" lIns="0" tIns="0" rIns="0" bIns="0" rtlCol="0" anchor="t"/>
          <a:lstStyle/>
          <a:p>
            <a:pPr marL="0" indent="0">
              <a:buNone/>
            </a:pPr>
            <a:r>
              <a:rPr lang="en-US" sz="1100" b="1" kern="0" spc="200" dirty="0">
                <a:solidFill>
                  <a:srgbClr val="6B7C7F"/>
                </a:solidFill>
              </a:rPr>
              <a:t>CHALLENGE 01</a:t>
            </a:r>
            <a:endParaRPr lang="en-US" sz="1100" dirty="0"/>
          </a:p>
        </p:txBody>
      </p:sp>
      <p:sp>
        <p:nvSpPr>
          <p:cNvPr id="10" name="Text 7"/>
          <p:cNvSpPr txBox="1"/>
          <p:nvPr/>
        </p:nvSpPr>
        <p:spPr>
          <a:xfrm>
            <a:off x="1600200" y="2011680"/>
            <a:ext cx="2423160" cy="347472"/>
          </a:xfrm>
          <a:prstGeom prst="rect">
            <a:avLst/>
          </a:prstGeom>
          <a:noFill/>
          <a:ln/>
        </p:spPr>
        <p:txBody>
          <a:bodyPr wrap="square" lIns="0" tIns="0" rIns="0" bIns="0" rtlCol="0" anchor="t"/>
          <a:lstStyle/>
          <a:p>
            <a:pPr marL="0" indent="0">
              <a:buNone/>
            </a:pPr>
            <a:r>
              <a:rPr lang="en-US" sz="1800" b="1" dirty="0">
                <a:solidFill>
                  <a:srgbClr val="132226"/>
                </a:solidFill>
                <a:latin typeface="+mj-lt" pitchFamily="34" charset="0"/>
                <a:ea typeface="+mj-lt" pitchFamily="34" charset="-122"/>
                <a:cs typeface="+mj-lt" pitchFamily="34" charset="-120"/>
              </a:rPr>
              <a:t>Disposable sandbox</a:t>
            </a:r>
            <a:endParaRPr lang="en-US" sz="1800" dirty="0"/>
          </a:p>
        </p:txBody>
      </p:sp>
      <p:sp>
        <p:nvSpPr>
          <p:cNvPr id="11" name="Text 8"/>
          <p:cNvSpPr txBox="1"/>
          <p:nvPr/>
        </p:nvSpPr>
        <p:spPr>
          <a:xfrm>
            <a:off x="777240" y="2560320"/>
            <a:ext cx="3154680" cy="960120"/>
          </a:xfrm>
          <a:prstGeom prst="rect">
            <a:avLst/>
          </a:prstGeom>
          <a:noFill/>
          <a:ln/>
        </p:spPr>
        <p:txBody>
          <a:bodyPr wrap="square" lIns="0" tIns="0" rIns="0" bIns="0" rtlCol="0" anchor="t"/>
          <a:lstStyle/>
          <a:p>
            <a:pPr marL="0" indent="0">
              <a:buNone/>
            </a:pPr>
            <a:r>
              <a:rPr lang="en-US" sz="1500" dirty="0">
                <a:solidFill>
                  <a:srgbClr val="4A5B5E"/>
                </a:solidFill>
              </a:rPr>
              <a:t>AWS resources are cleaned overnight, so reproducibility is a real requirement.</a:t>
            </a:r>
            <a:endParaRPr lang="en-US" sz="1500" dirty="0"/>
          </a:p>
        </p:txBody>
      </p:sp>
      <p:sp>
        <p:nvSpPr>
          <p:cNvPr id="12" name="card"/>
          <p:cNvSpPr/>
          <p:nvPr/>
        </p:nvSpPr>
        <p:spPr>
          <a:xfrm>
            <a:off x="4306824" y="1508760"/>
            <a:ext cx="3575304" cy="2148840"/>
          </a:xfrm>
          <a:prstGeom prst="roundRect">
            <a:avLst>
              <a:gd name="adj" fmla="val 4255"/>
            </a:avLst>
          </a:prstGeom>
          <a:solidFill>
            <a:srgbClr val="FFFFFF"/>
          </a:solidFill>
          <a:ln/>
          <a:effectLst>
            <a:outerShdw blurRad="114300" dist="25400" dir="5400000" algn="bl" rotWithShape="0">
              <a:srgbClr val="0E3B43">
                <a:alpha val="13000"/>
              </a:srgbClr>
            </a:outerShdw>
          </a:effectLst>
        </p:spPr>
      </p:sp>
      <p:sp>
        <p:nvSpPr>
          <p:cNvPr id="13" name="Security circle"/>
          <p:cNvSpPr/>
          <p:nvPr/>
        </p:nvSpPr>
        <p:spPr>
          <a:xfrm>
            <a:off x="4535424" y="1737360"/>
            <a:ext cx="640080" cy="640080"/>
          </a:xfrm>
          <a:prstGeom prst="ellipse">
            <a:avLst/>
          </a:prstGeom>
          <a:solidFill>
            <a:schemeClr val="accent4"/>
          </a:solidFill>
          <a:ln/>
        </p:spPr>
      </p:sp>
      <p:pic>
        <p:nvPicPr>
          <p:cNvPr id="14" name="Security" descr="preencoded.png"/>
          <p:cNvPicPr>
            <a:picLocks noChangeAspect="1"/>
          </p:cNvPicPr>
          <p:nvPr/>
        </p:nvPicPr>
        <p:blipFill>
          <a:blip r:embed="rId4"/>
          <a:stretch>
            <a:fillRect/>
          </a:stretch>
        </p:blipFill>
        <p:spPr>
          <a:xfrm>
            <a:off x="4689043" y="1890979"/>
            <a:ext cx="332842" cy="332842"/>
          </a:xfrm>
          <a:prstGeom prst="rect">
            <a:avLst/>
          </a:prstGeom>
        </p:spPr>
      </p:pic>
      <p:sp>
        <p:nvSpPr>
          <p:cNvPr id="15" name="Text 11"/>
          <p:cNvSpPr txBox="1"/>
          <p:nvPr/>
        </p:nvSpPr>
        <p:spPr>
          <a:xfrm>
            <a:off x="5358384" y="1783080"/>
            <a:ext cx="2377440" cy="228600"/>
          </a:xfrm>
          <a:prstGeom prst="rect">
            <a:avLst/>
          </a:prstGeom>
          <a:noFill/>
          <a:ln/>
        </p:spPr>
        <p:txBody>
          <a:bodyPr wrap="square" lIns="0" tIns="0" rIns="0" bIns="0" rtlCol="0" anchor="t"/>
          <a:lstStyle/>
          <a:p>
            <a:pPr marL="0" indent="0">
              <a:buNone/>
            </a:pPr>
            <a:r>
              <a:rPr lang="en-US" sz="1100" b="1" kern="0" spc="200" dirty="0">
                <a:solidFill>
                  <a:srgbClr val="6B7C7F"/>
                </a:solidFill>
              </a:rPr>
              <a:t>CHALLENGE 02</a:t>
            </a:r>
            <a:endParaRPr lang="en-US" sz="1100" dirty="0"/>
          </a:p>
        </p:txBody>
      </p:sp>
      <p:sp>
        <p:nvSpPr>
          <p:cNvPr id="16" name="Text 12"/>
          <p:cNvSpPr txBox="1"/>
          <p:nvPr/>
        </p:nvSpPr>
        <p:spPr>
          <a:xfrm>
            <a:off x="5358384" y="2011680"/>
            <a:ext cx="2423160" cy="347472"/>
          </a:xfrm>
          <a:prstGeom prst="rect">
            <a:avLst/>
          </a:prstGeom>
          <a:noFill/>
          <a:ln/>
        </p:spPr>
        <p:txBody>
          <a:bodyPr wrap="square" lIns="0" tIns="0" rIns="0" bIns="0" rtlCol="0" anchor="t"/>
          <a:lstStyle/>
          <a:p>
            <a:pPr marL="0" indent="0">
              <a:buNone/>
            </a:pPr>
            <a:r>
              <a:rPr lang="en-US" sz="1800" b="1" dirty="0">
                <a:solidFill>
                  <a:srgbClr val="132226"/>
                </a:solidFill>
                <a:latin typeface="+mj-lt" pitchFamily="34" charset="0"/>
                <a:ea typeface="+mj-lt" pitchFamily="34" charset="-122"/>
                <a:cs typeface="+mj-lt" pitchFamily="34" charset="-120"/>
              </a:rPr>
              <a:t>Security</a:t>
            </a:r>
            <a:endParaRPr lang="en-US" sz="1800" dirty="0"/>
          </a:p>
        </p:txBody>
      </p:sp>
      <p:sp>
        <p:nvSpPr>
          <p:cNvPr id="17" name="Text 13"/>
          <p:cNvSpPr txBox="1"/>
          <p:nvPr/>
        </p:nvSpPr>
        <p:spPr>
          <a:xfrm>
            <a:off x="4535424" y="2560320"/>
            <a:ext cx="3154680" cy="960120"/>
          </a:xfrm>
          <a:prstGeom prst="rect">
            <a:avLst/>
          </a:prstGeom>
          <a:noFill/>
          <a:ln/>
        </p:spPr>
        <p:txBody>
          <a:bodyPr wrap="square" lIns="0" tIns="0" rIns="0" bIns="0" rtlCol="0" anchor="t"/>
          <a:lstStyle/>
          <a:p>
            <a:pPr marL="0" indent="0">
              <a:buNone/>
            </a:pPr>
            <a:r>
              <a:rPr lang="en-US" sz="1500" dirty="0">
                <a:solidFill>
                  <a:srgbClr val="4A5B5E"/>
                </a:solidFill>
              </a:rPr>
              <a:t>No direct ECS or RDS exposure; CloudFront + WAF + JWT authentication.</a:t>
            </a:r>
            <a:endParaRPr lang="en-US" sz="1500" dirty="0"/>
          </a:p>
        </p:txBody>
      </p:sp>
      <p:sp>
        <p:nvSpPr>
          <p:cNvPr id="18" name="card"/>
          <p:cNvSpPr/>
          <p:nvPr/>
        </p:nvSpPr>
        <p:spPr>
          <a:xfrm>
            <a:off x="8065008" y="1508760"/>
            <a:ext cx="3575304" cy="2148840"/>
          </a:xfrm>
          <a:prstGeom prst="roundRect">
            <a:avLst>
              <a:gd name="adj" fmla="val 4255"/>
            </a:avLst>
          </a:prstGeom>
          <a:solidFill>
            <a:srgbClr val="FFFFFF"/>
          </a:solidFill>
          <a:ln/>
          <a:effectLst>
            <a:outerShdw blurRad="114300" dist="25400" dir="5400000" algn="bl" rotWithShape="0">
              <a:srgbClr val="0E3B43">
                <a:alpha val="13000"/>
              </a:srgbClr>
            </a:outerShdw>
          </a:effectLst>
        </p:spPr>
      </p:sp>
      <p:sp>
        <p:nvSpPr>
          <p:cNvPr id="19" name="Availability circle"/>
          <p:cNvSpPr/>
          <p:nvPr/>
        </p:nvSpPr>
        <p:spPr>
          <a:xfrm>
            <a:off x="8293608" y="1737360"/>
            <a:ext cx="640080" cy="640080"/>
          </a:xfrm>
          <a:prstGeom prst="ellipse">
            <a:avLst/>
          </a:prstGeom>
          <a:solidFill>
            <a:schemeClr val="accent1"/>
          </a:solidFill>
          <a:ln/>
        </p:spPr>
      </p:sp>
      <p:pic>
        <p:nvPicPr>
          <p:cNvPr id="20" name="Availability" descr="preencoded.png"/>
          <p:cNvPicPr>
            <a:picLocks noChangeAspect="1"/>
          </p:cNvPicPr>
          <p:nvPr/>
        </p:nvPicPr>
        <p:blipFill>
          <a:blip r:embed="rId5"/>
          <a:stretch>
            <a:fillRect/>
          </a:stretch>
        </p:blipFill>
        <p:spPr>
          <a:xfrm>
            <a:off x="8447227" y="1890979"/>
            <a:ext cx="332842" cy="332842"/>
          </a:xfrm>
          <a:prstGeom prst="rect">
            <a:avLst/>
          </a:prstGeom>
        </p:spPr>
      </p:pic>
      <p:sp>
        <p:nvSpPr>
          <p:cNvPr id="21" name="Text 16"/>
          <p:cNvSpPr txBox="1"/>
          <p:nvPr/>
        </p:nvSpPr>
        <p:spPr>
          <a:xfrm>
            <a:off x="9116568" y="1783080"/>
            <a:ext cx="2377440" cy="228600"/>
          </a:xfrm>
          <a:prstGeom prst="rect">
            <a:avLst/>
          </a:prstGeom>
          <a:noFill/>
          <a:ln/>
        </p:spPr>
        <p:txBody>
          <a:bodyPr wrap="square" lIns="0" tIns="0" rIns="0" bIns="0" rtlCol="0" anchor="t"/>
          <a:lstStyle/>
          <a:p>
            <a:pPr marL="0" indent="0">
              <a:buNone/>
            </a:pPr>
            <a:r>
              <a:rPr lang="en-US" sz="1100" b="1" kern="0" spc="200" dirty="0">
                <a:solidFill>
                  <a:srgbClr val="6B7C7F"/>
                </a:solidFill>
              </a:rPr>
              <a:t>CHALLENGE 03</a:t>
            </a:r>
            <a:endParaRPr lang="en-US" sz="1100" dirty="0"/>
          </a:p>
        </p:txBody>
      </p:sp>
      <p:sp>
        <p:nvSpPr>
          <p:cNvPr id="22" name="Text 17"/>
          <p:cNvSpPr txBox="1"/>
          <p:nvPr/>
        </p:nvSpPr>
        <p:spPr>
          <a:xfrm>
            <a:off x="9116568" y="2011680"/>
            <a:ext cx="2423160" cy="347472"/>
          </a:xfrm>
          <a:prstGeom prst="rect">
            <a:avLst/>
          </a:prstGeom>
          <a:noFill/>
          <a:ln/>
        </p:spPr>
        <p:txBody>
          <a:bodyPr wrap="square" lIns="0" tIns="0" rIns="0" bIns="0" rtlCol="0" anchor="t"/>
          <a:lstStyle/>
          <a:p>
            <a:pPr marL="0" indent="0">
              <a:buNone/>
            </a:pPr>
            <a:r>
              <a:rPr lang="en-US" sz="1800" b="1" dirty="0">
                <a:solidFill>
                  <a:srgbClr val="132226"/>
                </a:solidFill>
                <a:latin typeface="+mj-lt" pitchFamily="34" charset="0"/>
                <a:ea typeface="+mj-lt" pitchFamily="34" charset="-122"/>
                <a:cs typeface="+mj-lt" pitchFamily="34" charset="-120"/>
              </a:rPr>
              <a:t>Availability</a:t>
            </a:r>
            <a:endParaRPr lang="en-US" sz="1800" dirty="0"/>
          </a:p>
        </p:txBody>
      </p:sp>
      <p:sp>
        <p:nvSpPr>
          <p:cNvPr id="23" name="Text 18"/>
          <p:cNvSpPr txBox="1"/>
          <p:nvPr/>
        </p:nvSpPr>
        <p:spPr>
          <a:xfrm>
            <a:off x="8293608" y="2560320"/>
            <a:ext cx="3154680" cy="960120"/>
          </a:xfrm>
          <a:prstGeom prst="rect">
            <a:avLst/>
          </a:prstGeom>
          <a:noFill/>
          <a:ln/>
        </p:spPr>
        <p:txBody>
          <a:bodyPr wrap="square" lIns="0" tIns="0" rIns="0" bIns="0" rtlCol="0" anchor="t"/>
          <a:lstStyle/>
          <a:p>
            <a:pPr marL="0" indent="0">
              <a:buNone/>
            </a:pPr>
            <a:r>
              <a:rPr lang="en-US" sz="1500" dirty="0">
                <a:solidFill>
                  <a:srgbClr val="4A5B5E"/>
                </a:solidFill>
              </a:rPr>
              <a:t>Two AZs, two baseline ECS tasks, Auto Scaling and a Multi-AZ database.</a:t>
            </a:r>
            <a:endParaRPr lang="en-US" sz="1500" dirty="0"/>
          </a:p>
        </p:txBody>
      </p:sp>
      <p:sp>
        <p:nvSpPr>
          <p:cNvPr id="24" name="card"/>
          <p:cNvSpPr/>
          <p:nvPr/>
        </p:nvSpPr>
        <p:spPr>
          <a:xfrm>
            <a:off x="548640" y="3840480"/>
            <a:ext cx="3575304" cy="2148840"/>
          </a:xfrm>
          <a:prstGeom prst="roundRect">
            <a:avLst>
              <a:gd name="adj" fmla="val 4255"/>
            </a:avLst>
          </a:prstGeom>
          <a:solidFill>
            <a:srgbClr val="FFFFFF"/>
          </a:solidFill>
          <a:ln/>
          <a:effectLst>
            <a:outerShdw blurRad="114300" dist="25400" dir="5400000" algn="bl" rotWithShape="0">
              <a:srgbClr val="0E3B43">
                <a:alpha val="13000"/>
              </a:srgbClr>
            </a:outerShdw>
          </a:effectLst>
        </p:spPr>
      </p:sp>
      <p:sp>
        <p:nvSpPr>
          <p:cNvPr id="25" name="AI grounding circle"/>
          <p:cNvSpPr/>
          <p:nvPr/>
        </p:nvSpPr>
        <p:spPr>
          <a:xfrm>
            <a:off x="777240" y="4069080"/>
            <a:ext cx="640080" cy="640080"/>
          </a:xfrm>
          <a:prstGeom prst="ellipse">
            <a:avLst/>
          </a:prstGeom>
          <a:solidFill>
            <a:schemeClr val="accent5"/>
          </a:solidFill>
          <a:ln/>
        </p:spPr>
      </p:sp>
      <p:pic>
        <p:nvPicPr>
          <p:cNvPr id="26" name="AI grounding" descr="preencoded.png"/>
          <p:cNvPicPr>
            <a:picLocks noChangeAspect="1"/>
          </p:cNvPicPr>
          <p:nvPr/>
        </p:nvPicPr>
        <p:blipFill>
          <a:blip r:embed="rId6"/>
          <a:stretch>
            <a:fillRect/>
          </a:stretch>
        </p:blipFill>
        <p:spPr>
          <a:xfrm>
            <a:off x="930859" y="4222699"/>
            <a:ext cx="332842" cy="332842"/>
          </a:xfrm>
          <a:prstGeom prst="rect">
            <a:avLst/>
          </a:prstGeom>
        </p:spPr>
      </p:pic>
      <p:sp>
        <p:nvSpPr>
          <p:cNvPr id="27" name="Text 21"/>
          <p:cNvSpPr txBox="1"/>
          <p:nvPr/>
        </p:nvSpPr>
        <p:spPr>
          <a:xfrm>
            <a:off x="1600200" y="4114800"/>
            <a:ext cx="2377440" cy="228600"/>
          </a:xfrm>
          <a:prstGeom prst="rect">
            <a:avLst/>
          </a:prstGeom>
          <a:noFill/>
          <a:ln/>
        </p:spPr>
        <p:txBody>
          <a:bodyPr wrap="square" lIns="0" tIns="0" rIns="0" bIns="0" rtlCol="0" anchor="t"/>
          <a:lstStyle/>
          <a:p>
            <a:pPr marL="0" indent="0">
              <a:buNone/>
            </a:pPr>
            <a:r>
              <a:rPr lang="en-US" sz="1100" b="1" kern="0" spc="200" dirty="0">
                <a:solidFill>
                  <a:srgbClr val="6B7C7F"/>
                </a:solidFill>
              </a:rPr>
              <a:t>CHALLENGE 04</a:t>
            </a:r>
            <a:endParaRPr lang="en-US" sz="1100" dirty="0"/>
          </a:p>
        </p:txBody>
      </p:sp>
      <p:sp>
        <p:nvSpPr>
          <p:cNvPr id="28" name="Text 22"/>
          <p:cNvSpPr txBox="1"/>
          <p:nvPr/>
        </p:nvSpPr>
        <p:spPr>
          <a:xfrm>
            <a:off x="1600200" y="4343400"/>
            <a:ext cx="2423160" cy="347472"/>
          </a:xfrm>
          <a:prstGeom prst="rect">
            <a:avLst/>
          </a:prstGeom>
          <a:noFill/>
          <a:ln/>
        </p:spPr>
        <p:txBody>
          <a:bodyPr wrap="square" lIns="0" tIns="0" rIns="0" bIns="0" rtlCol="0" anchor="t"/>
          <a:lstStyle/>
          <a:p>
            <a:pPr marL="0" indent="0">
              <a:buNone/>
            </a:pPr>
            <a:r>
              <a:rPr lang="en-US" sz="1800" b="1" dirty="0">
                <a:solidFill>
                  <a:srgbClr val="132226"/>
                </a:solidFill>
                <a:latin typeface="+mj-lt" pitchFamily="34" charset="0"/>
                <a:ea typeface="+mj-lt" pitchFamily="34" charset="-122"/>
                <a:cs typeface="+mj-lt" pitchFamily="34" charset="-120"/>
              </a:rPr>
              <a:t>AI grounding</a:t>
            </a:r>
            <a:endParaRPr lang="en-US" sz="1800" dirty="0"/>
          </a:p>
        </p:txBody>
      </p:sp>
      <p:sp>
        <p:nvSpPr>
          <p:cNvPr id="29" name="Text 23"/>
          <p:cNvSpPr txBox="1"/>
          <p:nvPr/>
        </p:nvSpPr>
        <p:spPr>
          <a:xfrm>
            <a:off x="777240" y="4892040"/>
            <a:ext cx="3154680" cy="960120"/>
          </a:xfrm>
          <a:prstGeom prst="rect">
            <a:avLst/>
          </a:prstGeom>
          <a:noFill/>
          <a:ln/>
        </p:spPr>
        <p:txBody>
          <a:bodyPr wrap="square" lIns="0" tIns="0" rIns="0" bIns="0" rtlCol="0" anchor="t"/>
          <a:lstStyle/>
          <a:p>
            <a:pPr marL="0" indent="0">
              <a:buNone/>
            </a:pPr>
            <a:r>
              <a:rPr lang="en-US" sz="1500" dirty="0">
                <a:solidFill>
                  <a:srgbClr val="4A5B5E"/>
                </a:solidFill>
              </a:rPr>
              <a:t>Lina must answer from LangNation knowledge, not generic model memory.</a:t>
            </a:r>
            <a:endParaRPr lang="en-US" sz="1500" dirty="0"/>
          </a:p>
        </p:txBody>
      </p:sp>
      <p:sp>
        <p:nvSpPr>
          <p:cNvPr id="30" name="card"/>
          <p:cNvSpPr/>
          <p:nvPr/>
        </p:nvSpPr>
        <p:spPr>
          <a:xfrm>
            <a:off x="4306824" y="3840480"/>
            <a:ext cx="3575304" cy="2148840"/>
          </a:xfrm>
          <a:prstGeom prst="roundRect">
            <a:avLst>
              <a:gd name="adj" fmla="val 4255"/>
            </a:avLst>
          </a:prstGeom>
          <a:solidFill>
            <a:srgbClr val="FFFFFF"/>
          </a:solidFill>
          <a:ln/>
          <a:effectLst>
            <a:outerShdw blurRad="114300" dist="25400" dir="5400000" algn="bl" rotWithShape="0">
              <a:srgbClr val="0E3B43">
                <a:alpha val="13000"/>
              </a:srgbClr>
            </a:outerShdw>
          </a:effectLst>
        </p:spPr>
      </p:sp>
      <p:sp>
        <p:nvSpPr>
          <p:cNvPr id="31" name="Release quality circle"/>
          <p:cNvSpPr/>
          <p:nvPr/>
        </p:nvSpPr>
        <p:spPr>
          <a:xfrm>
            <a:off x="4535424" y="4069080"/>
            <a:ext cx="640080" cy="640080"/>
          </a:xfrm>
          <a:prstGeom prst="ellipse">
            <a:avLst/>
          </a:prstGeom>
          <a:solidFill>
            <a:schemeClr val="accent3"/>
          </a:solidFill>
          <a:ln/>
        </p:spPr>
      </p:sp>
      <p:pic>
        <p:nvPicPr>
          <p:cNvPr id="32" name="Release quality" descr="preencoded.png"/>
          <p:cNvPicPr>
            <a:picLocks noChangeAspect="1"/>
          </p:cNvPicPr>
          <p:nvPr/>
        </p:nvPicPr>
        <p:blipFill>
          <a:blip r:embed="rId7"/>
          <a:stretch>
            <a:fillRect/>
          </a:stretch>
        </p:blipFill>
        <p:spPr>
          <a:xfrm>
            <a:off x="4689043" y="4222699"/>
            <a:ext cx="332842" cy="332842"/>
          </a:xfrm>
          <a:prstGeom prst="rect">
            <a:avLst/>
          </a:prstGeom>
        </p:spPr>
      </p:pic>
      <p:sp>
        <p:nvSpPr>
          <p:cNvPr id="33" name="Text 26"/>
          <p:cNvSpPr txBox="1"/>
          <p:nvPr/>
        </p:nvSpPr>
        <p:spPr>
          <a:xfrm>
            <a:off x="5358384" y="4114800"/>
            <a:ext cx="2377440" cy="228600"/>
          </a:xfrm>
          <a:prstGeom prst="rect">
            <a:avLst/>
          </a:prstGeom>
          <a:noFill/>
          <a:ln/>
        </p:spPr>
        <p:txBody>
          <a:bodyPr wrap="square" lIns="0" tIns="0" rIns="0" bIns="0" rtlCol="0" anchor="t"/>
          <a:lstStyle/>
          <a:p>
            <a:pPr marL="0" indent="0">
              <a:buNone/>
            </a:pPr>
            <a:r>
              <a:rPr lang="en-US" sz="1100" b="1" kern="0" spc="200" dirty="0">
                <a:solidFill>
                  <a:srgbClr val="6B7C7F"/>
                </a:solidFill>
              </a:rPr>
              <a:t>CHALLENGE 05</a:t>
            </a:r>
            <a:endParaRPr lang="en-US" sz="1100" dirty="0"/>
          </a:p>
        </p:txBody>
      </p:sp>
      <p:sp>
        <p:nvSpPr>
          <p:cNvPr id="34" name="Text 27"/>
          <p:cNvSpPr txBox="1"/>
          <p:nvPr/>
        </p:nvSpPr>
        <p:spPr>
          <a:xfrm>
            <a:off x="5358384" y="4343400"/>
            <a:ext cx="2423160" cy="347472"/>
          </a:xfrm>
          <a:prstGeom prst="rect">
            <a:avLst/>
          </a:prstGeom>
          <a:noFill/>
          <a:ln/>
        </p:spPr>
        <p:txBody>
          <a:bodyPr wrap="square" lIns="0" tIns="0" rIns="0" bIns="0" rtlCol="0" anchor="t"/>
          <a:lstStyle/>
          <a:p>
            <a:pPr marL="0" indent="0">
              <a:buNone/>
            </a:pPr>
            <a:r>
              <a:rPr lang="en-US" sz="1800" b="1" dirty="0">
                <a:solidFill>
                  <a:srgbClr val="132226"/>
                </a:solidFill>
                <a:latin typeface="+mj-lt" pitchFamily="34" charset="0"/>
                <a:ea typeface="+mj-lt" pitchFamily="34" charset="-122"/>
                <a:cs typeface="+mj-lt" pitchFamily="34" charset="-120"/>
              </a:rPr>
              <a:t>Release quality</a:t>
            </a:r>
            <a:endParaRPr lang="en-US" sz="1800" dirty="0"/>
          </a:p>
        </p:txBody>
      </p:sp>
      <p:sp>
        <p:nvSpPr>
          <p:cNvPr id="35" name="Text 28"/>
          <p:cNvSpPr txBox="1"/>
          <p:nvPr/>
        </p:nvSpPr>
        <p:spPr>
          <a:xfrm>
            <a:off x="4535424" y="4892040"/>
            <a:ext cx="3154680" cy="960120"/>
          </a:xfrm>
          <a:prstGeom prst="rect">
            <a:avLst/>
          </a:prstGeom>
          <a:noFill/>
          <a:ln/>
        </p:spPr>
        <p:txBody>
          <a:bodyPr wrap="square" lIns="0" tIns="0" rIns="0" bIns="0" rtlCol="0" anchor="t"/>
          <a:lstStyle/>
          <a:p>
            <a:pPr marL="0" indent="0">
              <a:buNone/>
            </a:pPr>
            <a:r>
              <a:rPr lang="en-US" sz="1500" dirty="0">
                <a:solidFill>
                  <a:srgbClr val="4A5B5E"/>
                </a:solidFill>
              </a:rPr>
              <a:t>Bad code or vulnerable images must be blocked before ECS deployment.</a:t>
            </a:r>
            <a:endParaRPr lang="en-US" sz="1500" dirty="0"/>
          </a:p>
        </p:txBody>
      </p:sp>
      <p:sp>
        <p:nvSpPr>
          <p:cNvPr id="36" name="card"/>
          <p:cNvSpPr/>
          <p:nvPr/>
        </p:nvSpPr>
        <p:spPr>
          <a:xfrm>
            <a:off x="8065008" y="3840480"/>
            <a:ext cx="3575304" cy="2148840"/>
          </a:xfrm>
          <a:prstGeom prst="roundRect">
            <a:avLst>
              <a:gd name="adj" fmla="val 4255"/>
            </a:avLst>
          </a:prstGeom>
          <a:solidFill>
            <a:srgbClr val="FFFFFF"/>
          </a:solidFill>
          <a:ln/>
          <a:effectLst>
            <a:outerShdw blurRad="114300" dist="25400" dir="5400000" algn="bl" rotWithShape="0">
              <a:srgbClr val="0E3B43">
                <a:alpha val="13000"/>
              </a:srgbClr>
            </a:outerShdw>
          </a:effectLst>
        </p:spPr>
      </p:sp>
      <p:sp>
        <p:nvSpPr>
          <p:cNvPr id="37" name="Cost awareness circle"/>
          <p:cNvSpPr/>
          <p:nvPr/>
        </p:nvSpPr>
        <p:spPr>
          <a:xfrm>
            <a:off x="8293608" y="4069080"/>
            <a:ext cx="640080" cy="640080"/>
          </a:xfrm>
          <a:prstGeom prst="ellipse">
            <a:avLst/>
          </a:prstGeom>
          <a:solidFill>
            <a:schemeClr val="tx2"/>
          </a:solidFill>
          <a:ln/>
        </p:spPr>
      </p:sp>
      <p:pic>
        <p:nvPicPr>
          <p:cNvPr id="38" name="Cost awareness" descr="preencoded.png"/>
          <p:cNvPicPr>
            <a:picLocks noChangeAspect="1"/>
          </p:cNvPicPr>
          <p:nvPr/>
        </p:nvPicPr>
        <p:blipFill>
          <a:blip r:embed="rId8"/>
          <a:stretch>
            <a:fillRect/>
          </a:stretch>
        </p:blipFill>
        <p:spPr>
          <a:xfrm>
            <a:off x="8447227" y="4222699"/>
            <a:ext cx="332842" cy="332842"/>
          </a:xfrm>
          <a:prstGeom prst="rect">
            <a:avLst/>
          </a:prstGeom>
        </p:spPr>
      </p:pic>
      <p:sp>
        <p:nvSpPr>
          <p:cNvPr id="39" name="Text 31"/>
          <p:cNvSpPr txBox="1"/>
          <p:nvPr/>
        </p:nvSpPr>
        <p:spPr>
          <a:xfrm>
            <a:off x="9116568" y="4114800"/>
            <a:ext cx="2377440" cy="228600"/>
          </a:xfrm>
          <a:prstGeom prst="rect">
            <a:avLst/>
          </a:prstGeom>
          <a:noFill/>
          <a:ln/>
        </p:spPr>
        <p:txBody>
          <a:bodyPr wrap="square" lIns="0" tIns="0" rIns="0" bIns="0" rtlCol="0" anchor="t"/>
          <a:lstStyle/>
          <a:p>
            <a:pPr marL="0" indent="0">
              <a:buNone/>
            </a:pPr>
            <a:r>
              <a:rPr lang="en-US" sz="1100" b="1" kern="0" spc="200" dirty="0">
                <a:solidFill>
                  <a:srgbClr val="6B7C7F"/>
                </a:solidFill>
              </a:rPr>
              <a:t>CHALLENGE 06</a:t>
            </a:r>
            <a:endParaRPr lang="en-US" sz="1100" dirty="0"/>
          </a:p>
        </p:txBody>
      </p:sp>
      <p:sp>
        <p:nvSpPr>
          <p:cNvPr id="40" name="Text 32"/>
          <p:cNvSpPr txBox="1"/>
          <p:nvPr/>
        </p:nvSpPr>
        <p:spPr>
          <a:xfrm>
            <a:off x="9116568" y="4343400"/>
            <a:ext cx="2423160" cy="347472"/>
          </a:xfrm>
          <a:prstGeom prst="rect">
            <a:avLst/>
          </a:prstGeom>
          <a:noFill/>
          <a:ln/>
        </p:spPr>
        <p:txBody>
          <a:bodyPr wrap="square" lIns="0" tIns="0" rIns="0" bIns="0" rtlCol="0" anchor="t"/>
          <a:lstStyle/>
          <a:p>
            <a:pPr marL="0" indent="0">
              <a:buNone/>
            </a:pPr>
            <a:r>
              <a:rPr lang="en-US" sz="1800" b="1" dirty="0">
                <a:solidFill>
                  <a:srgbClr val="132226"/>
                </a:solidFill>
                <a:latin typeface="+mj-lt" pitchFamily="34" charset="0"/>
                <a:ea typeface="+mj-lt" pitchFamily="34" charset="-122"/>
                <a:cs typeface="+mj-lt" pitchFamily="34" charset="-120"/>
              </a:rPr>
              <a:t>Cost awareness</a:t>
            </a:r>
            <a:endParaRPr lang="en-US" sz="1800" dirty="0"/>
          </a:p>
        </p:txBody>
      </p:sp>
      <p:sp>
        <p:nvSpPr>
          <p:cNvPr id="41" name="Text 33"/>
          <p:cNvSpPr txBox="1"/>
          <p:nvPr/>
        </p:nvSpPr>
        <p:spPr>
          <a:xfrm>
            <a:off x="8293608" y="4892040"/>
            <a:ext cx="3154680" cy="960120"/>
          </a:xfrm>
          <a:prstGeom prst="rect">
            <a:avLst/>
          </a:prstGeom>
          <a:noFill/>
          <a:ln/>
        </p:spPr>
        <p:txBody>
          <a:bodyPr wrap="square" lIns="0" tIns="0" rIns="0" bIns="0" rtlCol="0" anchor="t"/>
          <a:lstStyle/>
          <a:p>
            <a:pPr marL="0" indent="0">
              <a:buNone/>
            </a:pPr>
            <a:r>
              <a:rPr lang="en-US" sz="1500" dirty="0">
                <a:solidFill>
                  <a:srgbClr val="4A5B5E"/>
                </a:solidFill>
              </a:rPr>
              <a:t>Production-like resilience has a real fixed cost; trade-offs must be explicit.</a:t>
            </a:r>
            <a:endParaRPr lang="en-US" sz="1500" dirty="0"/>
          </a:p>
        </p:txBody>
      </p:sp>
      <p:sp>
        <p:nvSpPr>
          <p:cNvPr id="42"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Final master architecture — Milestones 1–12</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One connected view of public edge, private runtime, data, event processing, RAG, automation and governance.</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M1–M12</a:t>
            </a:r>
            <a:endParaRPr lang="en-US" sz="1200" dirty="0"/>
          </a:p>
        </p:txBody>
      </p:sp>
      <p:sp>
        <p:nvSpPr>
          <p:cNvPr id="6" name="Text 4"/>
          <p:cNvSpPr txBox="1"/>
          <p:nvPr/>
        </p:nvSpPr>
        <p:spPr>
          <a:xfrm>
            <a:off x="548640" y="1444752"/>
            <a:ext cx="914400" cy="502920"/>
          </a:xfrm>
          <a:prstGeom prst="rect">
            <a:avLst/>
          </a:prstGeom>
          <a:noFill/>
          <a:ln/>
        </p:spPr>
        <p:txBody>
          <a:bodyPr wrap="square" lIns="0" tIns="0" rIns="0" bIns="0" rtlCol="0" anchor="ctr"/>
          <a:lstStyle/>
          <a:p>
            <a:pPr marL="0" indent="0">
              <a:buNone/>
            </a:pPr>
            <a:r>
              <a:rPr lang="en-US" sz="1000" b="1" kern="0" spc="100" dirty="0">
                <a:solidFill>
                  <a:srgbClr val="0E7C7B"/>
                </a:solidFill>
              </a:rPr>
              <a:t>PUBLIC EDGE</a:t>
            </a:r>
            <a:endParaRPr lang="en-US" sz="1000" dirty="0"/>
          </a:p>
        </p:txBody>
      </p:sp>
      <p:sp>
        <p:nvSpPr>
          <p:cNvPr id="7" name="chip Users"/>
          <p:cNvSpPr/>
          <p:nvPr/>
        </p:nvSpPr>
        <p:spPr>
          <a:xfrm>
            <a:off x="1508760" y="1444752"/>
            <a:ext cx="868680" cy="502920"/>
          </a:xfrm>
          <a:prstGeom prst="roundRect">
            <a:avLst>
              <a:gd name="adj" fmla="val 12727"/>
            </a:avLst>
          </a:prstGeom>
          <a:solidFill>
            <a:srgbClr val="E7EAF2"/>
          </a:solidFill>
          <a:ln/>
        </p:spPr>
      </p:sp>
      <p:sp>
        <p:nvSpPr>
          <p:cNvPr id="8" name="Text 6"/>
          <p:cNvSpPr txBox="1"/>
          <p:nvPr/>
        </p:nvSpPr>
        <p:spPr>
          <a:xfrm>
            <a:off x="1563624" y="1444752"/>
            <a:ext cx="758952" cy="502920"/>
          </a:xfrm>
          <a:prstGeom prst="rect">
            <a:avLst/>
          </a:prstGeom>
          <a:noFill/>
          <a:ln/>
        </p:spPr>
        <p:txBody>
          <a:bodyPr wrap="square" lIns="0" tIns="0" rIns="0" bIns="0" rtlCol="0" anchor="ctr"/>
          <a:lstStyle/>
          <a:p>
            <a:pPr marL="0" indent="0" algn="ctr">
              <a:buNone/>
            </a:pPr>
            <a:r>
              <a:rPr lang="en-US" sz="1200" b="1" dirty="0">
                <a:solidFill>
                  <a:srgbClr val="132226"/>
                </a:solidFill>
              </a:rPr>
              <a:t>Users</a:t>
            </a:r>
            <a:endParaRPr lang="en-US" sz="1400" dirty="0"/>
          </a:p>
        </p:txBody>
      </p:sp>
      <p:sp>
        <p:nvSpPr>
          <p:cNvPr id="9" name="connector"/>
          <p:cNvSpPr/>
          <p:nvPr/>
        </p:nvSpPr>
        <p:spPr>
          <a:xfrm>
            <a:off x="2404872" y="1696212"/>
            <a:ext cx="173736" cy="0"/>
          </a:xfrm>
          <a:prstGeom prst="line">
            <a:avLst/>
          </a:prstGeom>
          <a:noFill/>
          <a:ln w="19050">
            <a:solidFill>
              <a:srgbClr val="0E7C7B"/>
            </a:solidFill>
            <a:prstDash val="solid"/>
            <a:tailEnd type="triangle"/>
          </a:ln>
        </p:spPr>
      </p:sp>
      <p:sp>
        <p:nvSpPr>
          <p:cNvPr id="10" name="chip Route 53"/>
          <p:cNvSpPr/>
          <p:nvPr/>
        </p:nvSpPr>
        <p:spPr>
          <a:xfrm>
            <a:off x="2606040" y="1444752"/>
            <a:ext cx="1325880" cy="502920"/>
          </a:xfrm>
          <a:prstGeom prst="roundRect">
            <a:avLst>
              <a:gd name="adj" fmla="val 12727"/>
            </a:avLst>
          </a:prstGeom>
          <a:solidFill>
            <a:srgbClr val="FDF0DC"/>
          </a:solidFill>
          <a:ln/>
        </p:spPr>
      </p:sp>
      <p:sp>
        <p:nvSpPr>
          <p:cNvPr id="11" name="Text 9"/>
          <p:cNvSpPr txBox="1"/>
          <p:nvPr/>
        </p:nvSpPr>
        <p:spPr>
          <a:xfrm>
            <a:off x="2660904" y="1444752"/>
            <a:ext cx="1216152" cy="502920"/>
          </a:xfrm>
          <a:prstGeom prst="rect">
            <a:avLst/>
          </a:prstGeom>
          <a:noFill/>
          <a:ln/>
        </p:spPr>
        <p:txBody>
          <a:bodyPr wrap="square" lIns="0" tIns="0" rIns="0" bIns="0" rtlCol="0" anchor="ctr"/>
          <a:lstStyle/>
          <a:p>
            <a:pPr marL="0" indent="0" algn="ctr">
              <a:buNone/>
            </a:pPr>
            <a:r>
              <a:rPr lang="en-US" sz="1200" b="1" dirty="0">
                <a:solidFill>
                  <a:srgbClr val="132226"/>
                </a:solidFill>
              </a:rPr>
              <a:t>Route 53</a:t>
            </a:r>
            <a:endParaRPr lang="en-US" sz="1400" dirty="0"/>
          </a:p>
          <a:p>
            <a:pPr marL="0" indent="0" algn="ctr">
              <a:buNone/>
            </a:pPr>
            <a:r>
              <a:rPr lang="en-US" sz="1000" dirty="0">
                <a:solidFill>
                  <a:srgbClr val="4A5B5E"/>
                </a:solidFill>
              </a:rPr>
              <a:t>persistent DNS</a:t>
            </a:r>
            <a:endParaRPr lang="en-US" sz="1400" dirty="0"/>
          </a:p>
        </p:txBody>
      </p:sp>
      <p:sp>
        <p:nvSpPr>
          <p:cNvPr id="12" name="connector"/>
          <p:cNvSpPr/>
          <p:nvPr/>
        </p:nvSpPr>
        <p:spPr>
          <a:xfrm>
            <a:off x="3959352" y="1696212"/>
            <a:ext cx="173736" cy="0"/>
          </a:xfrm>
          <a:prstGeom prst="line">
            <a:avLst/>
          </a:prstGeom>
          <a:noFill/>
          <a:ln w="19050">
            <a:solidFill>
              <a:srgbClr val="0E7C7B"/>
            </a:solidFill>
            <a:prstDash val="solid"/>
            <a:tailEnd type="triangle"/>
          </a:ln>
        </p:spPr>
      </p:sp>
      <p:sp>
        <p:nvSpPr>
          <p:cNvPr id="13" name="chip CloudFront"/>
          <p:cNvSpPr/>
          <p:nvPr/>
        </p:nvSpPr>
        <p:spPr>
          <a:xfrm>
            <a:off x="4160520" y="1444752"/>
            <a:ext cx="1417320" cy="502920"/>
          </a:xfrm>
          <a:prstGeom prst="roundRect">
            <a:avLst>
              <a:gd name="adj" fmla="val 12727"/>
            </a:avLst>
          </a:prstGeom>
          <a:solidFill>
            <a:srgbClr val="FBE4DE"/>
          </a:solidFill>
          <a:ln/>
        </p:spPr>
      </p:sp>
      <p:sp>
        <p:nvSpPr>
          <p:cNvPr id="14" name="Text 12"/>
          <p:cNvSpPr txBox="1"/>
          <p:nvPr/>
        </p:nvSpPr>
        <p:spPr>
          <a:xfrm>
            <a:off x="4215384" y="1444752"/>
            <a:ext cx="1307592" cy="502920"/>
          </a:xfrm>
          <a:prstGeom prst="rect">
            <a:avLst/>
          </a:prstGeom>
          <a:noFill/>
          <a:ln/>
        </p:spPr>
        <p:txBody>
          <a:bodyPr wrap="square" lIns="0" tIns="0" rIns="0" bIns="0" rtlCol="0" anchor="ctr"/>
          <a:lstStyle/>
          <a:p>
            <a:pPr marL="0" indent="0" algn="ctr">
              <a:buNone/>
            </a:pPr>
            <a:r>
              <a:rPr lang="en-US" sz="1200" b="1" dirty="0">
                <a:solidFill>
                  <a:srgbClr val="132226"/>
                </a:solidFill>
              </a:rPr>
              <a:t>CloudFront</a:t>
            </a:r>
            <a:endParaRPr lang="en-US" sz="1400" dirty="0"/>
          </a:p>
          <a:p>
            <a:pPr marL="0" indent="0" algn="ctr">
              <a:buNone/>
            </a:pPr>
            <a:r>
              <a:rPr lang="en-US" sz="1000" dirty="0">
                <a:solidFill>
                  <a:srgbClr val="4A5B5E"/>
                </a:solidFill>
              </a:rPr>
              <a:t>ACM TLS · HTTPS</a:t>
            </a:r>
            <a:endParaRPr lang="en-US" sz="1400" dirty="0"/>
          </a:p>
        </p:txBody>
      </p:sp>
      <p:sp>
        <p:nvSpPr>
          <p:cNvPr id="15" name="connector"/>
          <p:cNvSpPr/>
          <p:nvPr/>
        </p:nvSpPr>
        <p:spPr>
          <a:xfrm>
            <a:off x="5605272" y="1696212"/>
            <a:ext cx="173736" cy="0"/>
          </a:xfrm>
          <a:prstGeom prst="line">
            <a:avLst/>
          </a:prstGeom>
          <a:noFill/>
          <a:ln w="19050">
            <a:solidFill>
              <a:srgbClr val="0E7C7B"/>
            </a:solidFill>
            <a:prstDash val="solid"/>
            <a:tailEnd type="triangle"/>
          </a:ln>
        </p:spPr>
      </p:sp>
      <p:sp>
        <p:nvSpPr>
          <p:cNvPr id="16" name="chip WAF"/>
          <p:cNvSpPr/>
          <p:nvPr/>
        </p:nvSpPr>
        <p:spPr>
          <a:xfrm>
            <a:off x="5806440" y="1444752"/>
            <a:ext cx="1051560" cy="502920"/>
          </a:xfrm>
          <a:prstGeom prst="roundRect">
            <a:avLst>
              <a:gd name="adj" fmla="val 12727"/>
            </a:avLst>
          </a:prstGeom>
          <a:solidFill>
            <a:srgbClr val="FBE4DE"/>
          </a:solidFill>
          <a:ln/>
        </p:spPr>
      </p:sp>
      <p:sp>
        <p:nvSpPr>
          <p:cNvPr id="17" name="Text 15"/>
          <p:cNvSpPr txBox="1"/>
          <p:nvPr/>
        </p:nvSpPr>
        <p:spPr>
          <a:xfrm>
            <a:off x="5861304" y="1444752"/>
            <a:ext cx="941832" cy="502920"/>
          </a:xfrm>
          <a:prstGeom prst="rect">
            <a:avLst/>
          </a:prstGeom>
          <a:noFill/>
          <a:ln/>
        </p:spPr>
        <p:txBody>
          <a:bodyPr wrap="square" lIns="0" tIns="0" rIns="0" bIns="0" rtlCol="0" anchor="ctr"/>
          <a:lstStyle/>
          <a:p>
            <a:pPr marL="0" indent="0" algn="ctr">
              <a:buNone/>
            </a:pPr>
            <a:r>
              <a:rPr lang="en-US" sz="1200" b="1" dirty="0">
                <a:solidFill>
                  <a:srgbClr val="132226"/>
                </a:solidFill>
              </a:rPr>
              <a:t>WAF</a:t>
            </a:r>
            <a:endParaRPr lang="en-US" sz="1400" dirty="0"/>
          </a:p>
          <a:p>
            <a:pPr marL="0" indent="0" algn="ctr">
              <a:buNone/>
            </a:pPr>
            <a:r>
              <a:rPr lang="en-US" sz="1000" dirty="0">
                <a:solidFill>
                  <a:srgbClr val="4A5B5E"/>
                </a:solidFill>
              </a:rPr>
              <a:t>filters</a:t>
            </a:r>
            <a:endParaRPr lang="en-US" sz="1400" dirty="0"/>
          </a:p>
        </p:txBody>
      </p:sp>
      <p:sp>
        <p:nvSpPr>
          <p:cNvPr id="18" name="chip Cognito User Pool"/>
          <p:cNvSpPr/>
          <p:nvPr/>
        </p:nvSpPr>
        <p:spPr>
          <a:xfrm>
            <a:off x="9555480" y="1444752"/>
            <a:ext cx="2084832" cy="502920"/>
          </a:xfrm>
          <a:prstGeom prst="roundRect">
            <a:avLst>
              <a:gd name="adj" fmla="val 12727"/>
            </a:avLst>
          </a:prstGeom>
          <a:solidFill>
            <a:srgbClr val="E7EAF2"/>
          </a:solidFill>
          <a:ln/>
        </p:spPr>
      </p:sp>
      <p:sp>
        <p:nvSpPr>
          <p:cNvPr id="19" name="Text 17"/>
          <p:cNvSpPr txBox="1"/>
          <p:nvPr/>
        </p:nvSpPr>
        <p:spPr>
          <a:xfrm>
            <a:off x="9610344" y="1444752"/>
            <a:ext cx="1975104" cy="502920"/>
          </a:xfrm>
          <a:prstGeom prst="rect">
            <a:avLst/>
          </a:prstGeom>
          <a:noFill/>
          <a:ln/>
        </p:spPr>
        <p:txBody>
          <a:bodyPr wrap="square" lIns="0" tIns="0" rIns="0" bIns="0" rtlCol="0" anchor="ctr"/>
          <a:lstStyle/>
          <a:p>
            <a:pPr marL="0" indent="0" algn="ctr">
              <a:buNone/>
            </a:pPr>
            <a:r>
              <a:rPr lang="en-US" sz="1200" b="1" dirty="0">
                <a:solidFill>
                  <a:srgbClr val="132226"/>
                </a:solidFill>
              </a:rPr>
              <a:t>Cognito User Pool</a:t>
            </a:r>
            <a:endParaRPr lang="en-US" sz="1400" dirty="0"/>
          </a:p>
          <a:p>
            <a:pPr marL="0" indent="0" algn="ctr">
              <a:buNone/>
            </a:pPr>
            <a:r>
              <a:rPr lang="en-US" sz="1000" dirty="0">
                <a:solidFill>
                  <a:srgbClr val="4A5B5E"/>
                </a:solidFill>
              </a:rPr>
              <a:t>issues JWT</a:t>
            </a:r>
            <a:endParaRPr lang="en-US" sz="1400" dirty="0"/>
          </a:p>
        </p:txBody>
      </p:sp>
      <p:sp>
        <p:nvSpPr>
          <p:cNvPr id="20" name="connector"/>
          <p:cNvSpPr/>
          <p:nvPr/>
        </p:nvSpPr>
        <p:spPr>
          <a:xfrm>
            <a:off x="6332220" y="1956816"/>
            <a:ext cx="0" cy="630936"/>
          </a:xfrm>
          <a:prstGeom prst="line">
            <a:avLst/>
          </a:prstGeom>
          <a:noFill/>
          <a:ln w="19050">
            <a:solidFill>
              <a:srgbClr val="0E7C7B"/>
            </a:solidFill>
            <a:prstDash val="solid"/>
            <a:tailEnd type="triangle"/>
          </a:ln>
        </p:spPr>
      </p:sp>
      <p:sp>
        <p:nvSpPr>
          <p:cNvPr id="21" name="card"/>
          <p:cNvSpPr/>
          <p:nvPr/>
        </p:nvSpPr>
        <p:spPr>
          <a:xfrm>
            <a:off x="548640" y="2103120"/>
            <a:ext cx="2103120" cy="1234440"/>
          </a:xfrm>
          <a:prstGeom prst="roundRect">
            <a:avLst>
              <a:gd name="adj" fmla="val 4444"/>
            </a:avLst>
          </a:prstGeom>
          <a:solidFill>
            <a:srgbClr val="FFFFFF"/>
          </a:solidFill>
          <a:ln/>
          <a:effectLst>
            <a:outerShdw blurRad="114300" dist="25400" dir="5400000" algn="bl" rotWithShape="0">
              <a:srgbClr val="0E3B43">
                <a:alpha val="13000"/>
              </a:srgbClr>
            </a:outerShdw>
          </a:effectLst>
        </p:spPr>
      </p:sp>
      <p:sp>
        <p:nvSpPr>
          <p:cNvPr id="22" name="Text 20"/>
          <p:cNvSpPr txBox="1"/>
          <p:nvPr/>
        </p:nvSpPr>
        <p:spPr>
          <a:xfrm>
            <a:off x="685800" y="2176272"/>
            <a:ext cx="1920240" cy="228600"/>
          </a:xfrm>
          <a:prstGeom prst="rect">
            <a:avLst/>
          </a:prstGeom>
          <a:noFill/>
          <a:ln/>
        </p:spPr>
        <p:txBody>
          <a:bodyPr wrap="square" lIns="0" tIns="0" rIns="0" bIns="0" rtlCol="0" anchor="t"/>
          <a:lstStyle/>
          <a:p>
            <a:pPr marL="0" indent="0">
              <a:buNone/>
            </a:pPr>
            <a:r>
              <a:rPr lang="en-US" sz="950" b="1" kern="0" spc="100" dirty="0">
                <a:solidFill>
                  <a:srgbClr val="A8620A"/>
                </a:solidFill>
              </a:rPr>
              <a:t>PERSISTENT / EXTERNAL</a:t>
            </a:r>
            <a:endParaRPr lang="en-US" sz="950" dirty="0"/>
          </a:p>
        </p:txBody>
      </p:sp>
      <p:sp>
        <p:nvSpPr>
          <p:cNvPr id="23" name="Text 21"/>
          <p:cNvSpPr txBox="1"/>
          <p:nvPr/>
        </p:nvSpPr>
        <p:spPr>
          <a:xfrm>
            <a:off x="685800" y="2423160"/>
            <a:ext cx="1920240" cy="841248"/>
          </a:xfrm>
          <a:prstGeom prst="rect">
            <a:avLst/>
          </a:prstGeom>
          <a:noFill/>
          <a:ln/>
        </p:spPr>
        <p:txBody>
          <a:bodyPr wrap="square" lIns="0" tIns="0" rIns="0" bIns="0" rtlCol="0" anchor="t"/>
          <a:lstStyle/>
          <a:p>
            <a:pPr marL="0" indent="0">
              <a:spcAft>
                <a:spcPts val="300"/>
              </a:spcAft>
              <a:buNone/>
            </a:pPr>
            <a:r>
              <a:rPr lang="en-US" sz="1200" dirty="0">
                <a:solidFill>
                  <a:srgbClr val="132226"/>
                </a:solidFill>
              </a:rPr>
              <a:t>GitHub repository</a:t>
            </a:r>
            <a:endParaRPr lang="en-US" sz="1200" dirty="0"/>
          </a:p>
          <a:p>
            <a:pPr marL="0" indent="0">
              <a:spcAft>
                <a:spcPts val="300"/>
              </a:spcAft>
              <a:buNone/>
            </a:pPr>
            <a:r>
              <a:rPr lang="en-US" sz="1200" dirty="0">
                <a:solidFill>
                  <a:srgbClr val="132226"/>
                </a:solidFill>
              </a:rPr>
              <a:t>HCP Terraform state</a:t>
            </a:r>
            <a:endParaRPr lang="en-US" sz="1200" dirty="0"/>
          </a:p>
          <a:p>
            <a:pPr marL="0" indent="0">
              <a:spcAft>
                <a:spcPts val="300"/>
              </a:spcAft>
              <a:buNone/>
            </a:pPr>
            <a:r>
              <a:rPr lang="en-US" sz="1200" dirty="0">
                <a:solidFill>
                  <a:srgbClr val="132226"/>
                </a:solidFill>
              </a:rPr>
              <a:t>Route 53 hosted zone</a:t>
            </a:r>
            <a:endParaRPr lang="en-US" sz="1200" dirty="0"/>
          </a:p>
        </p:txBody>
      </p:sp>
      <p:sp>
        <p:nvSpPr>
          <p:cNvPr id="24" name="card"/>
          <p:cNvSpPr/>
          <p:nvPr/>
        </p:nvSpPr>
        <p:spPr>
          <a:xfrm>
            <a:off x="548640" y="3474720"/>
            <a:ext cx="2103120" cy="1234440"/>
          </a:xfrm>
          <a:prstGeom prst="roundRect">
            <a:avLst>
              <a:gd name="adj" fmla="val 4444"/>
            </a:avLst>
          </a:prstGeom>
          <a:solidFill>
            <a:srgbClr val="FFFFFF"/>
          </a:solidFill>
          <a:ln/>
          <a:effectLst>
            <a:outerShdw blurRad="114300" dist="25400" dir="5400000" algn="bl" rotWithShape="0">
              <a:srgbClr val="0E3B43">
                <a:alpha val="13000"/>
              </a:srgbClr>
            </a:outerShdw>
          </a:effectLst>
        </p:spPr>
      </p:sp>
      <p:sp>
        <p:nvSpPr>
          <p:cNvPr id="25" name="Text 23"/>
          <p:cNvSpPr txBox="1"/>
          <p:nvPr/>
        </p:nvSpPr>
        <p:spPr>
          <a:xfrm>
            <a:off x="685800" y="3547872"/>
            <a:ext cx="1920240" cy="228600"/>
          </a:xfrm>
          <a:prstGeom prst="rect">
            <a:avLst/>
          </a:prstGeom>
          <a:noFill/>
          <a:ln/>
        </p:spPr>
        <p:txBody>
          <a:bodyPr wrap="square" lIns="0" tIns="0" rIns="0" bIns="0" rtlCol="0" anchor="t"/>
          <a:lstStyle/>
          <a:p>
            <a:pPr marL="0" indent="0">
              <a:buNone/>
            </a:pPr>
            <a:r>
              <a:rPr lang="en-US" sz="950" b="1" kern="0" spc="100" dirty="0">
                <a:solidFill>
                  <a:srgbClr val="0E7C7B"/>
                </a:solidFill>
              </a:rPr>
              <a:t>AWS MANAGED SERVICES</a:t>
            </a:r>
            <a:endParaRPr lang="en-US" sz="950" dirty="0"/>
          </a:p>
        </p:txBody>
      </p:sp>
      <p:sp>
        <p:nvSpPr>
          <p:cNvPr id="26" name="Text 24"/>
          <p:cNvSpPr txBox="1"/>
          <p:nvPr/>
        </p:nvSpPr>
        <p:spPr>
          <a:xfrm>
            <a:off x="685800" y="3794760"/>
            <a:ext cx="1920240" cy="841248"/>
          </a:xfrm>
          <a:prstGeom prst="rect">
            <a:avLst/>
          </a:prstGeom>
          <a:noFill/>
          <a:ln/>
        </p:spPr>
        <p:txBody>
          <a:bodyPr wrap="square" lIns="0" tIns="0" rIns="0" bIns="0" rtlCol="0" anchor="t"/>
          <a:lstStyle/>
          <a:p>
            <a:pPr marL="0" indent="0">
              <a:spcAft>
                <a:spcPts val="300"/>
              </a:spcAft>
              <a:buNone/>
            </a:pPr>
            <a:r>
              <a:rPr lang="en-US" sz="1200" dirty="0">
                <a:solidFill>
                  <a:srgbClr val="132226"/>
                </a:solidFill>
              </a:rPr>
              <a:t>ECR · app images</a:t>
            </a:r>
            <a:endParaRPr lang="en-US" sz="1200" dirty="0"/>
          </a:p>
          <a:p>
            <a:pPr marL="0" indent="0">
              <a:spcAft>
                <a:spcPts val="300"/>
              </a:spcAft>
              <a:buNone/>
            </a:pPr>
            <a:r>
              <a:rPr lang="en-US" sz="1200" dirty="0">
                <a:solidFill>
                  <a:srgbClr val="132226"/>
                </a:solidFill>
              </a:rPr>
              <a:t>S3 · app storage</a:t>
            </a:r>
            <a:endParaRPr lang="en-US" sz="1200" dirty="0"/>
          </a:p>
          <a:p>
            <a:pPr marL="0" indent="0">
              <a:spcAft>
                <a:spcPts val="300"/>
              </a:spcAft>
              <a:buNone/>
            </a:pPr>
            <a:r>
              <a:rPr lang="en-US" sz="1200" dirty="0">
                <a:solidFill>
                  <a:srgbClr val="132226"/>
                </a:solidFill>
              </a:rPr>
              <a:t>Secrets Manager · credentials</a:t>
            </a:r>
            <a:endParaRPr lang="en-US" sz="1200" dirty="0"/>
          </a:p>
        </p:txBody>
      </p:sp>
      <p:sp>
        <p:nvSpPr>
          <p:cNvPr id="27" name="card"/>
          <p:cNvSpPr/>
          <p:nvPr/>
        </p:nvSpPr>
        <p:spPr>
          <a:xfrm>
            <a:off x="2788920" y="2103120"/>
            <a:ext cx="6629400" cy="2606040"/>
          </a:xfrm>
          <a:prstGeom prst="roundRect">
            <a:avLst>
              <a:gd name="adj" fmla="val 2105"/>
            </a:avLst>
          </a:prstGeom>
          <a:solidFill>
            <a:srgbClr val="EEF4F3"/>
          </a:solidFill>
          <a:ln w="9525">
            <a:solidFill>
              <a:srgbClr val="0E7C7B"/>
            </a:solidFill>
            <a:prstDash val="dash"/>
          </a:ln>
        </p:spPr>
      </p:sp>
      <p:sp>
        <p:nvSpPr>
          <p:cNvPr id="28" name="Text 26"/>
          <p:cNvSpPr txBox="1"/>
          <p:nvPr/>
        </p:nvSpPr>
        <p:spPr>
          <a:xfrm>
            <a:off x="2926080" y="2148840"/>
            <a:ext cx="6400800" cy="256032"/>
          </a:xfrm>
          <a:prstGeom prst="rect">
            <a:avLst/>
          </a:prstGeom>
          <a:noFill/>
          <a:ln/>
        </p:spPr>
        <p:txBody>
          <a:bodyPr wrap="square" lIns="0" tIns="0" rIns="0" bIns="0" rtlCol="0" anchor="t"/>
          <a:lstStyle/>
          <a:p>
            <a:pPr marL="0" indent="0">
              <a:buNone/>
            </a:pPr>
            <a:r>
              <a:rPr lang="en-US" sz="1150" b="1" dirty="0">
                <a:solidFill>
                  <a:srgbClr val="0E3B43"/>
                </a:solidFill>
              </a:rPr>
              <a:t>VPC 10.0.0.0/16  ·  us-east-1  ·  2 Availability Zones</a:t>
            </a:r>
            <a:endParaRPr lang="en-US" sz="1150" dirty="0"/>
          </a:p>
        </p:txBody>
      </p:sp>
      <p:sp>
        <p:nvSpPr>
          <p:cNvPr id="29" name="tier PUBLIC"/>
          <p:cNvSpPr/>
          <p:nvPr/>
        </p:nvSpPr>
        <p:spPr>
          <a:xfrm>
            <a:off x="2926080" y="2450592"/>
            <a:ext cx="6355080" cy="548640"/>
          </a:xfrm>
          <a:prstGeom prst="roundRect">
            <a:avLst>
              <a:gd name="adj" fmla="val 8333"/>
            </a:avLst>
          </a:prstGeom>
          <a:solidFill>
            <a:srgbClr val="E8F5F6"/>
          </a:solidFill>
          <a:ln/>
        </p:spPr>
      </p:sp>
      <p:sp>
        <p:nvSpPr>
          <p:cNvPr id="30" name="Text 28"/>
          <p:cNvSpPr txBox="1"/>
          <p:nvPr/>
        </p:nvSpPr>
        <p:spPr>
          <a:xfrm>
            <a:off x="2999232" y="2450592"/>
            <a:ext cx="731520" cy="548640"/>
          </a:xfrm>
          <a:prstGeom prst="rect">
            <a:avLst/>
          </a:prstGeom>
          <a:noFill/>
          <a:ln/>
        </p:spPr>
        <p:txBody>
          <a:bodyPr wrap="square" lIns="0" tIns="0" rIns="0" bIns="0" rtlCol="0" anchor="ctr"/>
          <a:lstStyle/>
          <a:p>
            <a:pPr marL="0" indent="0">
              <a:buNone/>
            </a:pPr>
            <a:r>
              <a:rPr lang="en-US" sz="900" b="1" dirty="0">
                <a:solidFill>
                  <a:srgbClr val="0E3B43"/>
                </a:solidFill>
              </a:rPr>
              <a:t>PUBLIC</a:t>
            </a:r>
            <a:endParaRPr lang="en-US" sz="900" dirty="0"/>
          </a:p>
        </p:txBody>
      </p:sp>
      <p:sp>
        <p:nvSpPr>
          <p:cNvPr id="31" name="tier PRIVATE APP"/>
          <p:cNvSpPr/>
          <p:nvPr/>
        </p:nvSpPr>
        <p:spPr>
          <a:xfrm>
            <a:off x="2926080" y="3072384"/>
            <a:ext cx="6355080" cy="914400"/>
          </a:xfrm>
          <a:prstGeom prst="roundRect">
            <a:avLst>
              <a:gd name="adj" fmla="val 5000"/>
            </a:avLst>
          </a:prstGeom>
          <a:solidFill>
            <a:srgbClr val="E1F0EF"/>
          </a:solidFill>
          <a:ln/>
        </p:spPr>
      </p:sp>
      <p:sp>
        <p:nvSpPr>
          <p:cNvPr id="32" name="Text 30"/>
          <p:cNvSpPr txBox="1"/>
          <p:nvPr/>
        </p:nvSpPr>
        <p:spPr>
          <a:xfrm>
            <a:off x="2999232" y="3072384"/>
            <a:ext cx="731520" cy="914400"/>
          </a:xfrm>
          <a:prstGeom prst="rect">
            <a:avLst/>
          </a:prstGeom>
          <a:noFill/>
          <a:ln/>
        </p:spPr>
        <p:txBody>
          <a:bodyPr wrap="square" lIns="0" tIns="0" rIns="0" bIns="0" rtlCol="0" anchor="ctr"/>
          <a:lstStyle/>
          <a:p>
            <a:pPr marL="0" indent="0">
              <a:buNone/>
            </a:pPr>
            <a:r>
              <a:rPr lang="en-US" sz="900" b="1" dirty="0">
                <a:solidFill>
                  <a:srgbClr val="0E3B43"/>
                </a:solidFill>
              </a:rPr>
              <a:t>PRIVATE APP</a:t>
            </a:r>
            <a:endParaRPr lang="en-US" sz="900" dirty="0"/>
          </a:p>
        </p:txBody>
      </p:sp>
      <p:sp>
        <p:nvSpPr>
          <p:cNvPr id="33" name="tier PRIVATE DB"/>
          <p:cNvSpPr/>
          <p:nvPr/>
        </p:nvSpPr>
        <p:spPr>
          <a:xfrm>
            <a:off x="2926080" y="4059936"/>
            <a:ext cx="6355080" cy="548640"/>
          </a:xfrm>
          <a:prstGeom prst="roundRect">
            <a:avLst>
              <a:gd name="adj" fmla="val 8333"/>
            </a:avLst>
          </a:prstGeom>
          <a:solidFill>
            <a:srgbClr val="E7EAF2"/>
          </a:solidFill>
          <a:ln/>
        </p:spPr>
      </p:sp>
      <p:sp>
        <p:nvSpPr>
          <p:cNvPr id="34" name="Text 32"/>
          <p:cNvSpPr txBox="1"/>
          <p:nvPr/>
        </p:nvSpPr>
        <p:spPr>
          <a:xfrm>
            <a:off x="2999232" y="4059936"/>
            <a:ext cx="731520" cy="548640"/>
          </a:xfrm>
          <a:prstGeom prst="rect">
            <a:avLst/>
          </a:prstGeom>
          <a:noFill/>
          <a:ln/>
        </p:spPr>
        <p:txBody>
          <a:bodyPr wrap="square" lIns="0" tIns="0" rIns="0" bIns="0" rtlCol="0" anchor="ctr"/>
          <a:lstStyle/>
          <a:p>
            <a:pPr marL="0" indent="0">
              <a:buNone/>
            </a:pPr>
            <a:r>
              <a:rPr lang="en-US" sz="900" b="1" dirty="0">
                <a:solidFill>
                  <a:srgbClr val="0E3B43"/>
                </a:solidFill>
              </a:rPr>
              <a:t>PRIVATE DB</a:t>
            </a:r>
            <a:endParaRPr lang="en-US" sz="900" dirty="0"/>
          </a:p>
        </p:txBody>
      </p:sp>
      <p:sp>
        <p:nvSpPr>
          <p:cNvPr id="35" name="chip NAT GW A"/>
          <p:cNvSpPr/>
          <p:nvPr/>
        </p:nvSpPr>
        <p:spPr>
          <a:xfrm>
            <a:off x="3794760" y="2532888"/>
            <a:ext cx="1188720" cy="384048"/>
          </a:xfrm>
          <a:prstGeom prst="roundRect">
            <a:avLst>
              <a:gd name="adj" fmla="val 16667"/>
            </a:avLst>
          </a:prstGeom>
          <a:solidFill>
            <a:srgbClr val="FFFFFF"/>
          </a:solidFill>
          <a:ln/>
        </p:spPr>
      </p:sp>
      <p:sp>
        <p:nvSpPr>
          <p:cNvPr id="36" name="Text 34"/>
          <p:cNvSpPr txBox="1"/>
          <p:nvPr/>
        </p:nvSpPr>
        <p:spPr>
          <a:xfrm>
            <a:off x="3849624" y="2532888"/>
            <a:ext cx="1078992" cy="384048"/>
          </a:xfrm>
          <a:prstGeom prst="rect">
            <a:avLst/>
          </a:prstGeom>
          <a:noFill/>
          <a:ln/>
        </p:spPr>
        <p:txBody>
          <a:bodyPr wrap="square" lIns="0" tIns="0" rIns="0" bIns="0" rtlCol="0" anchor="ctr"/>
          <a:lstStyle/>
          <a:p>
            <a:pPr marL="0" indent="0" algn="ctr">
              <a:buNone/>
            </a:pPr>
            <a:r>
              <a:rPr lang="en-US" sz="1150" b="1" dirty="0">
                <a:solidFill>
                  <a:srgbClr val="132226"/>
                </a:solidFill>
              </a:rPr>
              <a:t>NAT GW A</a:t>
            </a:r>
            <a:endParaRPr lang="en-US" sz="1400" dirty="0"/>
          </a:p>
        </p:txBody>
      </p:sp>
      <p:sp>
        <p:nvSpPr>
          <p:cNvPr id="37" name="chip Application Load Balancer"/>
          <p:cNvSpPr/>
          <p:nvPr/>
        </p:nvSpPr>
        <p:spPr>
          <a:xfrm>
            <a:off x="5166360" y="2532888"/>
            <a:ext cx="2331720" cy="384048"/>
          </a:xfrm>
          <a:prstGeom prst="roundRect">
            <a:avLst>
              <a:gd name="adj" fmla="val 16667"/>
            </a:avLst>
          </a:prstGeom>
          <a:solidFill>
            <a:srgbClr val="FFFFFF"/>
          </a:solidFill>
          <a:ln w="12700">
            <a:solidFill>
              <a:srgbClr val="9FCBC6"/>
            </a:solidFill>
            <a:prstDash val="solid"/>
          </a:ln>
        </p:spPr>
      </p:sp>
      <p:sp>
        <p:nvSpPr>
          <p:cNvPr id="38" name="Text 36"/>
          <p:cNvSpPr txBox="1"/>
          <p:nvPr/>
        </p:nvSpPr>
        <p:spPr>
          <a:xfrm>
            <a:off x="5221224" y="2532888"/>
            <a:ext cx="2221992" cy="384048"/>
          </a:xfrm>
          <a:prstGeom prst="rect">
            <a:avLst/>
          </a:prstGeom>
          <a:noFill/>
          <a:ln/>
        </p:spPr>
        <p:txBody>
          <a:bodyPr wrap="square" lIns="0" tIns="0" rIns="0" bIns="0" rtlCol="0" anchor="ctr"/>
          <a:lstStyle/>
          <a:p>
            <a:pPr marL="0" indent="0" algn="ctr">
              <a:buNone/>
            </a:pPr>
            <a:r>
              <a:rPr lang="en-US" sz="1150" b="1" dirty="0">
                <a:solidFill>
                  <a:srgbClr val="132226"/>
                </a:solidFill>
              </a:rPr>
              <a:t>Application Load Balancer</a:t>
            </a:r>
            <a:endParaRPr lang="en-US" sz="1400" dirty="0"/>
          </a:p>
        </p:txBody>
      </p:sp>
      <p:sp>
        <p:nvSpPr>
          <p:cNvPr id="39" name="chip NAT GW B"/>
          <p:cNvSpPr/>
          <p:nvPr/>
        </p:nvSpPr>
        <p:spPr>
          <a:xfrm>
            <a:off x="7726680" y="2532888"/>
            <a:ext cx="1188720" cy="384048"/>
          </a:xfrm>
          <a:prstGeom prst="roundRect">
            <a:avLst>
              <a:gd name="adj" fmla="val 16667"/>
            </a:avLst>
          </a:prstGeom>
          <a:solidFill>
            <a:srgbClr val="FFFFFF"/>
          </a:solidFill>
          <a:ln/>
        </p:spPr>
      </p:sp>
      <p:sp>
        <p:nvSpPr>
          <p:cNvPr id="40" name="Text 38"/>
          <p:cNvSpPr txBox="1"/>
          <p:nvPr/>
        </p:nvSpPr>
        <p:spPr>
          <a:xfrm>
            <a:off x="7781544" y="2532888"/>
            <a:ext cx="1078992" cy="384048"/>
          </a:xfrm>
          <a:prstGeom prst="rect">
            <a:avLst/>
          </a:prstGeom>
          <a:noFill/>
          <a:ln/>
        </p:spPr>
        <p:txBody>
          <a:bodyPr wrap="square" lIns="0" tIns="0" rIns="0" bIns="0" rtlCol="0" anchor="ctr"/>
          <a:lstStyle/>
          <a:p>
            <a:pPr marL="0" indent="0" algn="ctr">
              <a:buNone/>
            </a:pPr>
            <a:r>
              <a:rPr lang="en-US" sz="1150" b="1" dirty="0">
                <a:solidFill>
                  <a:srgbClr val="132226"/>
                </a:solidFill>
              </a:rPr>
              <a:t>NAT GW B</a:t>
            </a:r>
            <a:endParaRPr lang="en-US" sz="1400" dirty="0"/>
          </a:p>
        </p:txBody>
      </p:sp>
      <p:sp>
        <p:nvSpPr>
          <p:cNvPr id="41" name="ECS service"/>
          <p:cNvSpPr/>
          <p:nvPr/>
        </p:nvSpPr>
        <p:spPr>
          <a:xfrm>
            <a:off x="3794760" y="3127248"/>
            <a:ext cx="5394960" cy="804672"/>
          </a:xfrm>
          <a:prstGeom prst="roundRect">
            <a:avLst>
              <a:gd name="adj" fmla="val 6818"/>
            </a:avLst>
          </a:prstGeom>
          <a:solidFill>
            <a:srgbClr val="FFFFFF"/>
          </a:solidFill>
          <a:ln w="12700">
            <a:solidFill>
              <a:srgbClr val="9FCBC6"/>
            </a:solidFill>
            <a:prstDash val="solid"/>
          </a:ln>
        </p:spPr>
      </p:sp>
      <p:sp>
        <p:nvSpPr>
          <p:cNvPr id="42" name="Text 40"/>
          <p:cNvSpPr txBox="1"/>
          <p:nvPr/>
        </p:nvSpPr>
        <p:spPr>
          <a:xfrm>
            <a:off x="3886200" y="3154680"/>
            <a:ext cx="5212080" cy="274320"/>
          </a:xfrm>
          <a:prstGeom prst="rect">
            <a:avLst/>
          </a:prstGeom>
          <a:noFill/>
          <a:ln/>
        </p:spPr>
        <p:txBody>
          <a:bodyPr wrap="square" lIns="0" tIns="0" rIns="0" bIns="0" rtlCol="0" anchor="ctr"/>
          <a:lstStyle/>
          <a:p>
            <a:pPr marL="0" indent="0" algn="ctr">
              <a:buNone/>
            </a:pPr>
            <a:r>
              <a:rPr lang="en-US" sz="1150" b="1" dirty="0">
                <a:solidFill>
                  <a:srgbClr val="132226"/>
                </a:solidFill>
              </a:rPr>
              <a:t>ECS Service: LangNation + Lina API  ·  Auto Scaling 2 → 4 tasks</a:t>
            </a:r>
            <a:endParaRPr lang="en-US" sz="1150" dirty="0"/>
          </a:p>
        </p:txBody>
      </p:sp>
      <p:sp>
        <p:nvSpPr>
          <p:cNvPr id="43" name="chip ECS Task A"/>
          <p:cNvSpPr/>
          <p:nvPr/>
        </p:nvSpPr>
        <p:spPr>
          <a:xfrm>
            <a:off x="4023360" y="3474720"/>
            <a:ext cx="2286000" cy="347472"/>
          </a:xfrm>
          <a:prstGeom prst="roundRect">
            <a:avLst>
              <a:gd name="adj" fmla="val 18421"/>
            </a:avLst>
          </a:prstGeom>
          <a:solidFill>
            <a:srgbClr val="E1F0EF"/>
          </a:solidFill>
          <a:ln/>
        </p:spPr>
      </p:sp>
      <p:sp>
        <p:nvSpPr>
          <p:cNvPr id="44" name="Text 42"/>
          <p:cNvSpPr txBox="1"/>
          <p:nvPr/>
        </p:nvSpPr>
        <p:spPr>
          <a:xfrm>
            <a:off x="4078224" y="3474720"/>
            <a:ext cx="2176272" cy="347472"/>
          </a:xfrm>
          <a:prstGeom prst="rect">
            <a:avLst/>
          </a:prstGeom>
          <a:noFill/>
          <a:ln/>
        </p:spPr>
        <p:txBody>
          <a:bodyPr wrap="square" lIns="0" tIns="0" rIns="0" bIns="0" rtlCol="0" anchor="ctr"/>
          <a:lstStyle/>
          <a:p>
            <a:pPr marL="0" indent="0" algn="ctr">
              <a:buNone/>
            </a:pPr>
            <a:r>
              <a:rPr lang="en-US" sz="1100" b="1" dirty="0">
                <a:solidFill>
                  <a:srgbClr val="132226"/>
                </a:solidFill>
              </a:rPr>
              <a:t>ECS Task A</a:t>
            </a:r>
            <a:endParaRPr lang="en-US" sz="1400" dirty="0"/>
          </a:p>
          <a:p>
            <a:pPr marL="0" indent="0" algn="ctr">
              <a:buNone/>
            </a:pPr>
            <a:r>
              <a:rPr lang="en-US" sz="1000" dirty="0">
                <a:solidFill>
                  <a:srgbClr val="4A5B5E"/>
                </a:solidFill>
              </a:rPr>
              <a:t>AZ-a</a:t>
            </a:r>
            <a:endParaRPr lang="en-US" sz="1400" dirty="0"/>
          </a:p>
        </p:txBody>
      </p:sp>
      <p:sp>
        <p:nvSpPr>
          <p:cNvPr id="45" name="chip ECS Task B"/>
          <p:cNvSpPr/>
          <p:nvPr/>
        </p:nvSpPr>
        <p:spPr>
          <a:xfrm>
            <a:off x="6675120" y="3474720"/>
            <a:ext cx="2286000" cy="347472"/>
          </a:xfrm>
          <a:prstGeom prst="roundRect">
            <a:avLst>
              <a:gd name="adj" fmla="val 18421"/>
            </a:avLst>
          </a:prstGeom>
          <a:solidFill>
            <a:srgbClr val="E1F0EF"/>
          </a:solidFill>
          <a:ln/>
        </p:spPr>
      </p:sp>
      <p:sp>
        <p:nvSpPr>
          <p:cNvPr id="46" name="Text 44"/>
          <p:cNvSpPr txBox="1"/>
          <p:nvPr/>
        </p:nvSpPr>
        <p:spPr>
          <a:xfrm>
            <a:off x="6729984" y="3474720"/>
            <a:ext cx="2176272" cy="347472"/>
          </a:xfrm>
          <a:prstGeom prst="rect">
            <a:avLst/>
          </a:prstGeom>
          <a:noFill/>
          <a:ln/>
        </p:spPr>
        <p:txBody>
          <a:bodyPr wrap="square" lIns="0" tIns="0" rIns="0" bIns="0" rtlCol="0" anchor="ctr"/>
          <a:lstStyle/>
          <a:p>
            <a:pPr marL="0" indent="0" algn="ctr">
              <a:buNone/>
            </a:pPr>
            <a:r>
              <a:rPr lang="en-US" sz="1100" b="1" dirty="0">
                <a:solidFill>
                  <a:srgbClr val="132226"/>
                </a:solidFill>
              </a:rPr>
              <a:t>ECS Task B</a:t>
            </a:r>
            <a:endParaRPr lang="en-US" sz="1400" dirty="0"/>
          </a:p>
          <a:p>
            <a:pPr marL="0" indent="0" algn="ctr">
              <a:buNone/>
            </a:pPr>
            <a:r>
              <a:rPr lang="en-US" sz="1000" dirty="0">
                <a:solidFill>
                  <a:srgbClr val="4A5B5E"/>
                </a:solidFill>
              </a:rPr>
              <a:t>AZ-b</a:t>
            </a:r>
            <a:endParaRPr lang="en-US" sz="1400" dirty="0"/>
          </a:p>
        </p:txBody>
      </p:sp>
      <p:sp>
        <p:nvSpPr>
          <p:cNvPr id="47" name="connector"/>
          <p:cNvSpPr/>
          <p:nvPr/>
        </p:nvSpPr>
        <p:spPr>
          <a:xfrm>
            <a:off x="6332220" y="2926080"/>
            <a:ext cx="0" cy="192024"/>
          </a:xfrm>
          <a:prstGeom prst="line">
            <a:avLst/>
          </a:prstGeom>
          <a:noFill/>
          <a:ln w="19050">
            <a:solidFill>
              <a:srgbClr val="0E7C7B"/>
            </a:solidFill>
            <a:prstDash val="solid"/>
            <a:tailEnd type="triangle"/>
          </a:ln>
        </p:spPr>
      </p:sp>
      <p:sp>
        <p:nvSpPr>
          <p:cNvPr id="48" name="chip RDS MariaDB Multi-AZ  ·  TLS :3306"/>
          <p:cNvSpPr/>
          <p:nvPr/>
        </p:nvSpPr>
        <p:spPr>
          <a:xfrm>
            <a:off x="3794760" y="4142232"/>
            <a:ext cx="5394960" cy="384048"/>
          </a:xfrm>
          <a:prstGeom prst="roundRect">
            <a:avLst>
              <a:gd name="adj" fmla="val 16667"/>
            </a:avLst>
          </a:prstGeom>
          <a:solidFill>
            <a:srgbClr val="FFFFFF"/>
          </a:solidFill>
          <a:ln/>
        </p:spPr>
      </p:sp>
      <p:sp>
        <p:nvSpPr>
          <p:cNvPr id="49" name="Text 47"/>
          <p:cNvSpPr txBox="1"/>
          <p:nvPr/>
        </p:nvSpPr>
        <p:spPr>
          <a:xfrm>
            <a:off x="3849624" y="4142232"/>
            <a:ext cx="5285232" cy="384048"/>
          </a:xfrm>
          <a:prstGeom prst="rect">
            <a:avLst/>
          </a:prstGeom>
          <a:noFill/>
          <a:ln/>
        </p:spPr>
        <p:txBody>
          <a:bodyPr wrap="square" lIns="0" tIns="0" rIns="0" bIns="0" rtlCol="0" anchor="ctr"/>
          <a:lstStyle/>
          <a:p>
            <a:pPr marL="0" indent="0" algn="ctr">
              <a:buNone/>
            </a:pPr>
            <a:r>
              <a:rPr lang="en-US" sz="1150" b="1" dirty="0">
                <a:solidFill>
                  <a:srgbClr val="132226"/>
                </a:solidFill>
              </a:rPr>
              <a:t>RDS MariaDB Multi-AZ  ·  TLS :3306</a:t>
            </a:r>
            <a:endParaRPr lang="en-US" sz="1400" dirty="0"/>
          </a:p>
        </p:txBody>
      </p:sp>
      <p:sp>
        <p:nvSpPr>
          <p:cNvPr id="50" name="connector"/>
          <p:cNvSpPr/>
          <p:nvPr/>
        </p:nvSpPr>
        <p:spPr>
          <a:xfrm>
            <a:off x="6492240" y="3941064"/>
            <a:ext cx="0" cy="192024"/>
          </a:xfrm>
          <a:prstGeom prst="line">
            <a:avLst/>
          </a:prstGeom>
          <a:noFill/>
          <a:ln w="19050">
            <a:solidFill>
              <a:srgbClr val="5B6C8F"/>
            </a:solidFill>
            <a:prstDash val="solid"/>
            <a:tailEnd type="triangle"/>
          </a:ln>
        </p:spPr>
      </p:sp>
      <p:sp>
        <p:nvSpPr>
          <p:cNvPr id="51" name="card"/>
          <p:cNvSpPr/>
          <p:nvPr/>
        </p:nvSpPr>
        <p:spPr>
          <a:xfrm>
            <a:off x="9555480" y="2103120"/>
            <a:ext cx="2084832" cy="2606040"/>
          </a:xfrm>
          <a:prstGeom prst="roundRect">
            <a:avLst>
              <a:gd name="adj" fmla="val 2632"/>
            </a:avLst>
          </a:prstGeom>
          <a:solidFill>
            <a:srgbClr val="FFFFFF"/>
          </a:solidFill>
          <a:ln/>
          <a:effectLst>
            <a:outerShdw blurRad="114300" dist="25400" dir="5400000" algn="bl" rotWithShape="0">
              <a:srgbClr val="0E3B43">
                <a:alpha val="13000"/>
              </a:srgbClr>
            </a:outerShdw>
          </a:effectLst>
        </p:spPr>
      </p:sp>
      <p:sp>
        <p:nvSpPr>
          <p:cNvPr id="52" name="Text 50"/>
          <p:cNvSpPr txBox="1"/>
          <p:nvPr/>
        </p:nvSpPr>
        <p:spPr>
          <a:xfrm>
            <a:off x="9692640" y="2176272"/>
            <a:ext cx="1828800" cy="228600"/>
          </a:xfrm>
          <a:prstGeom prst="rect">
            <a:avLst/>
          </a:prstGeom>
          <a:noFill/>
          <a:ln/>
        </p:spPr>
        <p:txBody>
          <a:bodyPr wrap="square" lIns="0" tIns="0" rIns="0" bIns="0" rtlCol="0" anchor="t"/>
          <a:lstStyle/>
          <a:p>
            <a:pPr marL="0" indent="0">
              <a:buNone/>
            </a:pPr>
            <a:r>
              <a:rPr lang="en-US" sz="950" b="1" kern="0" spc="100" dirty="0">
                <a:solidFill>
                  <a:srgbClr val="0E7C7B"/>
                </a:solidFill>
              </a:rPr>
              <a:t>OPERATIONS</a:t>
            </a:r>
            <a:endParaRPr lang="en-US" sz="950" dirty="0"/>
          </a:p>
        </p:txBody>
      </p:sp>
      <p:sp>
        <p:nvSpPr>
          <p:cNvPr id="53" name="Text 51"/>
          <p:cNvSpPr txBox="1"/>
          <p:nvPr/>
        </p:nvSpPr>
        <p:spPr>
          <a:xfrm>
            <a:off x="9692640" y="2432304"/>
            <a:ext cx="1874520" cy="420624"/>
          </a:xfrm>
          <a:prstGeom prst="rect">
            <a:avLst/>
          </a:prstGeom>
          <a:noFill/>
          <a:ln/>
        </p:spPr>
        <p:txBody>
          <a:bodyPr wrap="square" lIns="0" tIns="0" rIns="0" bIns="0" rtlCol="0" anchor="t"/>
          <a:lstStyle/>
          <a:p>
            <a:pPr marL="0" indent="0">
              <a:buNone/>
            </a:pPr>
            <a:r>
              <a:rPr lang="en-US" sz="1200" b="1" dirty="0">
                <a:solidFill>
                  <a:srgbClr val="132226"/>
                </a:solidFill>
              </a:rPr>
              <a:t>GitHub Actions</a:t>
            </a:r>
            <a:endParaRPr lang="en-US" sz="1200" dirty="0"/>
          </a:p>
          <a:p>
            <a:pPr marL="0" indent="0">
              <a:buNone/>
            </a:pPr>
            <a:r>
              <a:rPr lang="en-US" sz="1050" dirty="0">
                <a:solidFill>
                  <a:srgbClr val="4A5B5E"/>
                </a:solidFill>
              </a:rPr>
              <a:t>quality gates + deploy</a:t>
            </a:r>
            <a:endParaRPr lang="en-US" sz="1200" dirty="0"/>
          </a:p>
        </p:txBody>
      </p:sp>
      <p:sp>
        <p:nvSpPr>
          <p:cNvPr id="54" name="Text 52"/>
          <p:cNvSpPr txBox="1"/>
          <p:nvPr/>
        </p:nvSpPr>
        <p:spPr>
          <a:xfrm>
            <a:off x="9692640" y="2880360"/>
            <a:ext cx="1874520" cy="420624"/>
          </a:xfrm>
          <a:prstGeom prst="rect">
            <a:avLst/>
          </a:prstGeom>
          <a:noFill/>
          <a:ln/>
        </p:spPr>
        <p:txBody>
          <a:bodyPr wrap="square" lIns="0" tIns="0" rIns="0" bIns="0" rtlCol="0" anchor="t"/>
          <a:lstStyle/>
          <a:p>
            <a:pPr marL="0" indent="0">
              <a:buNone/>
            </a:pPr>
            <a:r>
              <a:rPr lang="en-US" sz="1200" b="1" dirty="0">
                <a:solidFill>
                  <a:srgbClr val="132226"/>
                </a:solidFill>
              </a:rPr>
              <a:t>CloudWatch</a:t>
            </a:r>
            <a:endParaRPr lang="en-US" sz="1200" dirty="0"/>
          </a:p>
          <a:p>
            <a:pPr marL="0" indent="0">
              <a:buNone/>
            </a:pPr>
            <a:r>
              <a:rPr lang="en-US" sz="1050" dirty="0">
                <a:solidFill>
                  <a:srgbClr val="4A5B5E"/>
                </a:solidFill>
              </a:rPr>
              <a:t>dashboard + 9 alarms</a:t>
            </a:r>
            <a:endParaRPr lang="en-US" sz="1200" dirty="0"/>
          </a:p>
        </p:txBody>
      </p:sp>
      <p:sp>
        <p:nvSpPr>
          <p:cNvPr id="55" name="Text 53"/>
          <p:cNvSpPr txBox="1"/>
          <p:nvPr/>
        </p:nvSpPr>
        <p:spPr>
          <a:xfrm>
            <a:off x="9692640" y="3328416"/>
            <a:ext cx="1874520" cy="420624"/>
          </a:xfrm>
          <a:prstGeom prst="rect">
            <a:avLst/>
          </a:prstGeom>
          <a:noFill/>
          <a:ln/>
        </p:spPr>
        <p:txBody>
          <a:bodyPr wrap="square" lIns="0" tIns="0" rIns="0" bIns="0" rtlCol="0" anchor="t"/>
          <a:lstStyle/>
          <a:p>
            <a:pPr marL="0" indent="0">
              <a:buNone/>
            </a:pPr>
            <a:r>
              <a:rPr lang="en-US" sz="1200" b="1" dirty="0">
                <a:solidFill>
                  <a:srgbClr val="132226"/>
                </a:solidFill>
              </a:rPr>
              <a:t>CloudTrail</a:t>
            </a:r>
            <a:endParaRPr lang="en-US" sz="1200" dirty="0"/>
          </a:p>
          <a:p>
            <a:pPr marL="0" indent="0">
              <a:buNone/>
            </a:pPr>
            <a:r>
              <a:rPr lang="en-US" sz="1050" dirty="0">
                <a:solidFill>
                  <a:srgbClr val="4A5B5E"/>
                </a:solidFill>
              </a:rPr>
              <a:t>→ audit S3</a:t>
            </a:r>
            <a:endParaRPr lang="en-US" sz="1200" dirty="0"/>
          </a:p>
        </p:txBody>
      </p:sp>
      <p:sp>
        <p:nvSpPr>
          <p:cNvPr id="56" name="Text 54"/>
          <p:cNvSpPr txBox="1"/>
          <p:nvPr/>
        </p:nvSpPr>
        <p:spPr>
          <a:xfrm>
            <a:off x="9692640" y="3776472"/>
            <a:ext cx="1874520" cy="420624"/>
          </a:xfrm>
          <a:prstGeom prst="rect">
            <a:avLst/>
          </a:prstGeom>
          <a:noFill/>
          <a:ln/>
        </p:spPr>
        <p:txBody>
          <a:bodyPr wrap="square" lIns="0" tIns="0" rIns="0" bIns="0" rtlCol="0" anchor="t"/>
          <a:lstStyle/>
          <a:p>
            <a:pPr marL="0" indent="0">
              <a:buNone/>
            </a:pPr>
            <a:r>
              <a:rPr lang="en-US" sz="1200" b="1" dirty="0">
                <a:solidFill>
                  <a:srgbClr val="132226"/>
                </a:solidFill>
              </a:rPr>
              <a:t>Morning recovery</a:t>
            </a:r>
            <a:endParaRPr lang="en-US" sz="1200" dirty="0"/>
          </a:p>
          <a:p>
            <a:pPr marL="0" indent="0">
              <a:buNone/>
            </a:pPr>
            <a:r>
              <a:rPr lang="en-US" sz="1050" dirty="0">
                <a:solidFill>
                  <a:srgbClr val="4A5B5E"/>
                </a:solidFill>
              </a:rPr>
              <a:t>DB + app + DNS</a:t>
            </a:r>
            <a:endParaRPr lang="en-US" sz="1200" dirty="0"/>
          </a:p>
        </p:txBody>
      </p:sp>
      <p:sp>
        <p:nvSpPr>
          <p:cNvPr id="57" name="Text 55"/>
          <p:cNvSpPr txBox="1"/>
          <p:nvPr/>
        </p:nvSpPr>
        <p:spPr>
          <a:xfrm>
            <a:off x="9692640" y="4224528"/>
            <a:ext cx="1874520" cy="420624"/>
          </a:xfrm>
          <a:prstGeom prst="rect">
            <a:avLst/>
          </a:prstGeom>
          <a:noFill/>
          <a:ln/>
        </p:spPr>
        <p:txBody>
          <a:bodyPr wrap="square" lIns="0" tIns="0" rIns="0" bIns="0" rtlCol="0" anchor="t"/>
          <a:lstStyle/>
          <a:p>
            <a:pPr marL="0" indent="0">
              <a:buNone/>
            </a:pPr>
            <a:r>
              <a:rPr lang="en-US" sz="1200" b="1" dirty="0">
                <a:solidFill>
                  <a:srgbClr val="132226"/>
                </a:solidFill>
              </a:rPr>
              <a:t>Cost Explorer</a:t>
            </a:r>
            <a:endParaRPr lang="en-US" sz="1200" dirty="0"/>
          </a:p>
          <a:p>
            <a:pPr marL="0" indent="0">
              <a:buNone/>
            </a:pPr>
            <a:r>
              <a:rPr lang="en-US" sz="1050" dirty="0">
                <a:solidFill>
                  <a:srgbClr val="4A5B5E"/>
                </a:solidFill>
              </a:rPr>
              <a:t>trade-offs</a:t>
            </a:r>
            <a:endParaRPr lang="en-US" sz="1200" dirty="0"/>
          </a:p>
        </p:txBody>
      </p:sp>
      <p:sp>
        <p:nvSpPr>
          <p:cNvPr id="58" name="card"/>
          <p:cNvSpPr/>
          <p:nvPr/>
        </p:nvSpPr>
        <p:spPr>
          <a:xfrm>
            <a:off x="548640" y="4892040"/>
            <a:ext cx="11091672" cy="1298448"/>
          </a:xfrm>
          <a:prstGeom prst="roundRect">
            <a:avLst>
              <a:gd name="adj" fmla="val 4225"/>
            </a:avLst>
          </a:prstGeom>
          <a:solidFill>
            <a:srgbClr val="FDF0DC"/>
          </a:solidFill>
          <a:ln/>
        </p:spPr>
      </p:sp>
      <p:sp>
        <p:nvSpPr>
          <p:cNvPr id="59" name="Text 57"/>
          <p:cNvSpPr txBox="1"/>
          <p:nvPr/>
        </p:nvSpPr>
        <p:spPr>
          <a:xfrm>
            <a:off x="731520" y="4956048"/>
            <a:ext cx="4572000" cy="228600"/>
          </a:xfrm>
          <a:prstGeom prst="rect">
            <a:avLst/>
          </a:prstGeom>
          <a:noFill/>
          <a:ln/>
        </p:spPr>
        <p:txBody>
          <a:bodyPr wrap="square" lIns="0" tIns="0" rIns="0" bIns="0" rtlCol="0" anchor="t"/>
          <a:lstStyle/>
          <a:p>
            <a:pPr marL="0" indent="0">
              <a:buNone/>
            </a:pPr>
            <a:r>
              <a:rPr lang="en-US" sz="950" b="1" kern="0" spc="100" dirty="0">
                <a:solidFill>
                  <a:srgbClr val="A8620A"/>
                </a:solidFill>
              </a:rPr>
              <a:t>DOCUMENT PROCESSING + RAG</a:t>
            </a:r>
            <a:endParaRPr lang="en-US" sz="950" dirty="0"/>
          </a:p>
        </p:txBody>
      </p:sp>
      <p:sp>
        <p:nvSpPr>
          <p:cNvPr id="60" name="chip S3 docs"/>
          <p:cNvSpPr/>
          <p:nvPr/>
        </p:nvSpPr>
        <p:spPr>
          <a:xfrm>
            <a:off x="777240" y="5257800"/>
            <a:ext cx="960120" cy="384048"/>
          </a:xfrm>
          <a:prstGeom prst="roundRect">
            <a:avLst>
              <a:gd name="adj" fmla="val 16667"/>
            </a:avLst>
          </a:prstGeom>
          <a:solidFill>
            <a:srgbClr val="FFFFFF"/>
          </a:solidFill>
          <a:ln/>
        </p:spPr>
      </p:sp>
      <p:sp>
        <p:nvSpPr>
          <p:cNvPr id="61" name="Text 59"/>
          <p:cNvSpPr txBox="1"/>
          <p:nvPr/>
        </p:nvSpPr>
        <p:spPr>
          <a:xfrm>
            <a:off x="832104" y="5257800"/>
            <a:ext cx="850392" cy="384048"/>
          </a:xfrm>
          <a:prstGeom prst="rect">
            <a:avLst/>
          </a:prstGeom>
          <a:noFill/>
          <a:ln/>
        </p:spPr>
        <p:txBody>
          <a:bodyPr wrap="square" lIns="0" tIns="0" rIns="0" bIns="0" rtlCol="0" anchor="ctr"/>
          <a:lstStyle/>
          <a:p>
            <a:pPr marL="0" indent="0" algn="ctr">
              <a:buNone/>
            </a:pPr>
            <a:r>
              <a:rPr lang="en-US" sz="1150" b="1" dirty="0">
                <a:solidFill>
                  <a:srgbClr val="132226"/>
                </a:solidFill>
              </a:rPr>
              <a:t>S3 docs</a:t>
            </a:r>
            <a:endParaRPr lang="en-US" sz="1400" dirty="0"/>
          </a:p>
        </p:txBody>
      </p:sp>
      <p:sp>
        <p:nvSpPr>
          <p:cNvPr id="62" name="connector"/>
          <p:cNvSpPr/>
          <p:nvPr/>
        </p:nvSpPr>
        <p:spPr>
          <a:xfrm>
            <a:off x="1764792" y="5449824"/>
            <a:ext cx="219456" cy="0"/>
          </a:xfrm>
          <a:prstGeom prst="line">
            <a:avLst/>
          </a:prstGeom>
          <a:noFill/>
          <a:ln w="19050">
            <a:solidFill>
              <a:srgbClr val="A8620A"/>
            </a:solidFill>
            <a:prstDash val="solid"/>
            <a:tailEnd type="triangle"/>
          </a:ln>
        </p:spPr>
      </p:sp>
      <p:sp>
        <p:nvSpPr>
          <p:cNvPr id="63" name="chip EventBridge"/>
          <p:cNvSpPr/>
          <p:nvPr/>
        </p:nvSpPr>
        <p:spPr>
          <a:xfrm>
            <a:off x="2011680" y="5257800"/>
            <a:ext cx="1188720" cy="384048"/>
          </a:xfrm>
          <a:prstGeom prst="roundRect">
            <a:avLst>
              <a:gd name="adj" fmla="val 16667"/>
            </a:avLst>
          </a:prstGeom>
          <a:solidFill>
            <a:srgbClr val="FFFFFF"/>
          </a:solidFill>
          <a:ln/>
        </p:spPr>
      </p:sp>
      <p:sp>
        <p:nvSpPr>
          <p:cNvPr id="64" name="Text 62"/>
          <p:cNvSpPr txBox="1"/>
          <p:nvPr/>
        </p:nvSpPr>
        <p:spPr>
          <a:xfrm>
            <a:off x="2066544" y="5257800"/>
            <a:ext cx="1078992" cy="384048"/>
          </a:xfrm>
          <a:prstGeom prst="rect">
            <a:avLst/>
          </a:prstGeom>
          <a:noFill/>
          <a:ln/>
        </p:spPr>
        <p:txBody>
          <a:bodyPr wrap="square" lIns="0" tIns="0" rIns="0" bIns="0" rtlCol="0" anchor="ctr"/>
          <a:lstStyle/>
          <a:p>
            <a:pPr marL="0" indent="0" algn="ctr">
              <a:buNone/>
            </a:pPr>
            <a:r>
              <a:rPr lang="en-US" sz="1150" b="1" dirty="0">
                <a:solidFill>
                  <a:srgbClr val="132226"/>
                </a:solidFill>
              </a:rPr>
              <a:t>EventBridge</a:t>
            </a:r>
            <a:endParaRPr lang="en-US" sz="1400" dirty="0"/>
          </a:p>
        </p:txBody>
      </p:sp>
      <p:sp>
        <p:nvSpPr>
          <p:cNvPr id="65" name="connector"/>
          <p:cNvSpPr/>
          <p:nvPr/>
        </p:nvSpPr>
        <p:spPr>
          <a:xfrm>
            <a:off x="3227832" y="5449824"/>
            <a:ext cx="219456" cy="0"/>
          </a:xfrm>
          <a:prstGeom prst="line">
            <a:avLst/>
          </a:prstGeom>
          <a:noFill/>
          <a:ln w="19050">
            <a:solidFill>
              <a:srgbClr val="A8620A"/>
            </a:solidFill>
            <a:prstDash val="solid"/>
            <a:tailEnd type="triangle"/>
          </a:ln>
        </p:spPr>
      </p:sp>
      <p:sp>
        <p:nvSpPr>
          <p:cNvPr id="66" name="chip SQS + DLQ"/>
          <p:cNvSpPr/>
          <p:nvPr/>
        </p:nvSpPr>
        <p:spPr>
          <a:xfrm>
            <a:off x="3474720" y="5257800"/>
            <a:ext cx="1143000" cy="384048"/>
          </a:xfrm>
          <a:prstGeom prst="roundRect">
            <a:avLst>
              <a:gd name="adj" fmla="val 16667"/>
            </a:avLst>
          </a:prstGeom>
          <a:solidFill>
            <a:srgbClr val="FFFFFF"/>
          </a:solidFill>
          <a:ln/>
        </p:spPr>
      </p:sp>
      <p:sp>
        <p:nvSpPr>
          <p:cNvPr id="67" name="Text 65"/>
          <p:cNvSpPr txBox="1"/>
          <p:nvPr/>
        </p:nvSpPr>
        <p:spPr>
          <a:xfrm>
            <a:off x="3529584" y="5257800"/>
            <a:ext cx="1033272" cy="384048"/>
          </a:xfrm>
          <a:prstGeom prst="rect">
            <a:avLst/>
          </a:prstGeom>
          <a:noFill/>
          <a:ln/>
        </p:spPr>
        <p:txBody>
          <a:bodyPr wrap="square" lIns="0" tIns="0" rIns="0" bIns="0" rtlCol="0" anchor="ctr"/>
          <a:lstStyle/>
          <a:p>
            <a:pPr marL="0" indent="0" algn="ctr">
              <a:buNone/>
            </a:pPr>
            <a:r>
              <a:rPr lang="en-US" sz="1150" b="1" dirty="0">
                <a:solidFill>
                  <a:srgbClr val="132226"/>
                </a:solidFill>
              </a:rPr>
              <a:t>SQS + DLQ</a:t>
            </a:r>
            <a:endParaRPr lang="en-US" sz="1400" dirty="0"/>
          </a:p>
        </p:txBody>
      </p:sp>
      <p:sp>
        <p:nvSpPr>
          <p:cNvPr id="68" name="connector"/>
          <p:cNvSpPr/>
          <p:nvPr/>
        </p:nvSpPr>
        <p:spPr>
          <a:xfrm>
            <a:off x="4645152" y="5449824"/>
            <a:ext cx="219456" cy="0"/>
          </a:xfrm>
          <a:prstGeom prst="line">
            <a:avLst/>
          </a:prstGeom>
          <a:noFill/>
          <a:ln w="19050">
            <a:solidFill>
              <a:srgbClr val="A8620A"/>
            </a:solidFill>
            <a:prstDash val="solid"/>
            <a:tailEnd type="triangle"/>
          </a:ln>
        </p:spPr>
      </p:sp>
      <p:sp>
        <p:nvSpPr>
          <p:cNvPr id="69" name="chip Lambda"/>
          <p:cNvSpPr/>
          <p:nvPr/>
        </p:nvSpPr>
        <p:spPr>
          <a:xfrm>
            <a:off x="4892040" y="5257800"/>
            <a:ext cx="914400" cy="384048"/>
          </a:xfrm>
          <a:prstGeom prst="roundRect">
            <a:avLst>
              <a:gd name="adj" fmla="val 16667"/>
            </a:avLst>
          </a:prstGeom>
          <a:solidFill>
            <a:srgbClr val="FFFFFF"/>
          </a:solidFill>
          <a:ln/>
        </p:spPr>
      </p:sp>
      <p:sp>
        <p:nvSpPr>
          <p:cNvPr id="70" name="Text 68"/>
          <p:cNvSpPr txBox="1"/>
          <p:nvPr/>
        </p:nvSpPr>
        <p:spPr>
          <a:xfrm>
            <a:off x="4946904" y="5257800"/>
            <a:ext cx="804672" cy="384048"/>
          </a:xfrm>
          <a:prstGeom prst="rect">
            <a:avLst/>
          </a:prstGeom>
          <a:noFill/>
          <a:ln/>
        </p:spPr>
        <p:txBody>
          <a:bodyPr wrap="square" lIns="0" tIns="0" rIns="0" bIns="0" rtlCol="0" anchor="ctr"/>
          <a:lstStyle/>
          <a:p>
            <a:pPr marL="0" indent="0" algn="ctr">
              <a:buNone/>
            </a:pPr>
            <a:r>
              <a:rPr lang="en-US" sz="1150" b="1" dirty="0">
                <a:solidFill>
                  <a:srgbClr val="132226"/>
                </a:solidFill>
              </a:rPr>
              <a:t>Lambda</a:t>
            </a:r>
            <a:endParaRPr lang="en-US" sz="1400" dirty="0"/>
          </a:p>
        </p:txBody>
      </p:sp>
      <p:sp>
        <p:nvSpPr>
          <p:cNvPr id="71" name="connector"/>
          <p:cNvSpPr/>
          <p:nvPr/>
        </p:nvSpPr>
        <p:spPr>
          <a:xfrm>
            <a:off x="5833872" y="5449824"/>
            <a:ext cx="219456" cy="0"/>
          </a:xfrm>
          <a:prstGeom prst="line">
            <a:avLst/>
          </a:prstGeom>
          <a:noFill/>
          <a:ln w="19050">
            <a:solidFill>
              <a:srgbClr val="A8620A"/>
            </a:solidFill>
            <a:prstDash val="solid"/>
            <a:tailEnd type="triangle"/>
          </a:ln>
        </p:spPr>
      </p:sp>
      <p:sp>
        <p:nvSpPr>
          <p:cNvPr id="72" name="chip Titan Embeddings"/>
          <p:cNvSpPr/>
          <p:nvPr/>
        </p:nvSpPr>
        <p:spPr>
          <a:xfrm>
            <a:off x="6080760" y="5257800"/>
            <a:ext cx="1600200" cy="384048"/>
          </a:xfrm>
          <a:prstGeom prst="roundRect">
            <a:avLst>
              <a:gd name="adj" fmla="val 16667"/>
            </a:avLst>
          </a:prstGeom>
          <a:solidFill>
            <a:srgbClr val="FFFFFF"/>
          </a:solidFill>
          <a:ln/>
        </p:spPr>
      </p:sp>
      <p:sp>
        <p:nvSpPr>
          <p:cNvPr id="73" name="Text 71"/>
          <p:cNvSpPr txBox="1"/>
          <p:nvPr/>
        </p:nvSpPr>
        <p:spPr>
          <a:xfrm>
            <a:off x="6135624" y="5257800"/>
            <a:ext cx="1490472" cy="384048"/>
          </a:xfrm>
          <a:prstGeom prst="rect">
            <a:avLst/>
          </a:prstGeom>
          <a:noFill/>
          <a:ln/>
        </p:spPr>
        <p:txBody>
          <a:bodyPr wrap="square" lIns="0" tIns="0" rIns="0" bIns="0" rtlCol="0" anchor="ctr"/>
          <a:lstStyle/>
          <a:p>
            <a:pPr marL="0" indent="0" algn="ctr">
              <a:buNone/>
            </a:pPr>
            <a:r>
              <a:rPr lang="en-US" sz="1150" b="1" dirty="0">
                <a:solidFill>
                  <a:srgbClr val="132226"/>
                </a:solidFill>
              </a:rPr>
              <a:t>Titan Embeddings</a:t>
            </a:r>
            <a:endParaRPr lang="en-US" sz="1400" dirty="0"/>
          </a:p>
        </p:txBody>
      </p:sp>
      <p:sp>
        <p:nvSpPr>
          <p:cNvPr id="74" name="connector"/>
          <p:cNvSpPr/>
          <p:nvPr/>
        </p:nvSpPr>
        <p:spPr>
          <a:xfrm>
            <a:off x="7708392" y="5449824"/>
            <a:ext cx="219456" cy="0"/>
          </a:xfrm>
          <a:prstGeom prst="line">
            <a:avLst/>
          </a:prstGeom>
          <a:noFill/>
          <a:ln w="19050">
            <a:solidFill>
              <a:srgbClr val="A8620A"/>
            </a:solidFill>
            <a:prstDash val="solid"/>
            <a:tailEnd type="triangle"/>
          </a:ln>
        </p:spPr>
      </p:sp>
      <p:sp>
        <p:nvSpPr>
          <p:cNvPr id="75" name="chip S3 Vectors"/>
          <p:cNvSpPr/>
          <p:nvPr/>
        </p:nvSpPr>
        <p:spPr>
          <a:xfrm>
            <a:off x="7955280" y="5257800"/>
            <a:ext cx="1188720" cy="384048"/>
          </a:xfrm>
          <a:prstGeom prst="roundRect">
            <a:avLst>
              <a:gd name="adj" fmla="val 16667"/>
            </a:avLst>
          </a:prstGeom>
          <a:solidFill>
            <a:srgbClr val="FFFFFF"/>
          </a:solidFill>
          <a:ln/>
        </p:spPr>
      </p:sp>
      <p:sp>
        <p:nvSpPr>
          <p:cNvPr id="76" name="Text 74"/>
          <p:cNvSpPr txBox="1"/>
          <p:nvPr/>
        </p:nvSpPr>
        <p:spPr>
          <a:xfrm>
            <a:off x="8010144" y="5257800"/>
            <a:ext cx="1078992" cy="384048"/>
          </a:xfrm>
          <a:prstGeom prst="rect">
            <a:avLst/>
          </a:prstGeom>
          <a:noFill/>
          <a:ln/>
        </p:spPr>
        <p:txBody>
          <a:bodyPr wrap="square" lIns="0" tIns="0" rIns="0" bIns="0" rtlCol="0" anchor="ctr"/>
          <a:lstStyle/>
          <a:p>
            <a:pPr marL="0" indent="0" algn="ctr">
              <a:buNone/>
            </a:pPr>
            <a:r>
              <a:rPr lang="en-US" sz="1150" b="1" dirty="0">
                <a:solidFill>
                  <a:srgbClr val="132226"/>
                </a:solidFill>
              </a:rPr>
              <a:t>S3 Vectors</a:t>
            </a:r>
            <a:endParaRPr lang="en-US" sz="1400" dirty="0"/>
          </a:p>
        </p:txBody>
      </p:sp>
      <p:sp>
        <p:nvSpPr>
          <p:cNvPr id="77" name="connector"/>
          <p:cNvSpPr/>
          <p:nvPr/>
        </p:nvSpPr>
        <p:spPr>
          <a:xfrm>
            <a:off x="9171432" y="5449824"/>
            <a:ext cx="219456" cy="0"/>
          </a:xfrm>
          <a:prstGeom prst="line">
            <a:avLst/>
          </a:prstGeom>
          <a:noFill/>
          <a:ln w="19050">
            <a:solidFill>
              <a:srgbClr val="A8620A"/>
            </a:solidFill>
            <a:prstDash val="solid"/>
            <a:tailEnd type="triangle"/>
          </a:ln>
        </p:spPr>
      </p:sp>
      <p:sp>
        <p:nvSpPr>
          <p:cNvPr id="78" name="chip Claude Haiku"/>
          <p:cNvSpPr/>
          <p:nvPr/>
        </p:nvSpPr>
        <p:spPr>
          <a:xfrm>
            <a:off x="9418320" y="5257800"/>
            <a:ext cx="1280160" cy="384048"/>
          </a:xfrm>
          <a:prstGeom prst="roundRect">
            <a:avLst>
              <a:gd name="adj" fmla="val 16667"/>
            </a:avLst>
          </a:prstGeom>
          <a:solidFill>
            <a:srgbClr val="FFFFFF"/>
          </a:solidFill>
          <a:ln/>
        </p:spPr>
      </p:sp>
      <p:sp>
        <p:nvSpPr>
          <p:cNvPr id="79" name="Text 77"/>
          <p:cNvSpPr txBox="1"/>
          <p:nvPr/>
        </p:nvSpPr>
        <p:spPr>
          <a:xfrm>
            <a:off x="9473184" y="5257800"/>
            <a:ext cx="1170432" cy="384048"/>
          </a:xfrm>
          <a:prstGeom prst="rect">
            <a:avLst/>
          </a:prstGeom>
          <a:noFill/>
          <a:ln/>
        </p:spPr>
        <p:txBody>
          <a:bodyPr wrap="square" lIns="0" tIns="0" rIns="0" bIns="0" rtlCol="0" anchor="ctr"/>
          <a:lstStyle/>
          <a:p>
            <a:pPr marL="0" indent="0" algn="ctr">
              <a:buNone/>
            </a:pPr>
            <a:r>
              <a:rPr lang="en-US" sz="1150" b="1" dirty="0">
                <a:solidFill>
                  <a:srgbClr val="132226"/>
                </a:solidFill>
              </a:rPr>
              <a:t>Claude Haiku</a:t>
            </a:r>
            <a:endParaRPr lang="en-US" sz="1400" dirty="0"/>
          </a:p>
        </p:txBody>
      </p:sp>
      <p:sp>
        <p:nvSpPr>
          <p:cNvPr id="80" name="Text 78"/>
          <p:cNvSpPr txBox="1"/>
          <p:nvPr/>
        </p:nvSpPr>
        <p:spPr>
          <a:xfrm>
            <a:off x="777240" y="5742432"/>
            <a:ext cx="10607040" cy="320040"/>
          </a:xfrm>
          <a:prstGeom prst="rect">
            <a:avLst/>
          </a:prstGeom>
          <a:noFill/>
          <a:ln/>
        </p:spPr>
        <p:txBody>
          <a:bodyPr wrap="square" lIns="0" tIns="0" rIns="0" bIns="0" rtlCol="0" anchor="ctr"/>
          <a:lstStyle/>
          <a:p>
            <a:pPr marL="0" indent="0">
              <a:buNone/>
            </a:pPr>
            <a:r>
              <a:rPr lang="en-US" sz="1200" b="1" dirty="0">
                <a:solidFill>
                  <a:srgbClr val="A8620A"/>
                </a:solidFill>
              </a:rPr>
              <a:t>Lina runtime:  </a:t>
            </a:r>
            <a:r>
              <a:rPr lang="en-US" sz="1200" dirty="0">
                <a:solidFill>
                  <a:srgbClr val="132226"/>
                </a:solidFill>
              </a:rPr>
              <a:t>question → Titan query vector → S3 Vectors → Claude Haiku → grounded answer + source</a:t>
            </a:r>
            <a:endParaRPr lang="en-US" sz="1200" dirty="0"/>
          </a:p>
        </p:txBody>
      </p:sp>
      <p:sp>
        <p:nvSpPr>
          <p:cNvPr id="81"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Why I chose these AWS resources</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Every service answers a design goal: secure, highly available, reproducible, grounded or observable.</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Design</a:t>
            </a:r>
            <a:endParaRPr lang="en-US" sz="1200" dirty="0"/>
          </a:p>
        </p:txBody>
      </p:sp>
      <p:sp>
        <p:nvSpPr>
          <p:cNvPr id="6" name="card"/>
          <p:cNvSpPr/>
          <p:nvPr/>
        </p:nvSpPr>
        <p:spPr>
          <a:xfrm>
            <a:off x="548640" y="146304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7" name="VPC · 2 AZs circle"/>
          <p:cNvSpPr/>
          <p:nvPr/>
        </p:nvSpPr>
        <p:spPr>
          <a:xfrm>
            <a:off x="694944" y="1609344"/>
            <a:ext cx="402336" cy="402336"/>
          </a:xfrm>
          <a:prstGeom prst="ellipse">
            <a:avLst/>
          </a:prstGeom>
          <a:solidFill>
            <a:schemeClr val="accent2"/>
          </a:solidFill>
          <a:ln/>
        </p:spPr>
      </p:sp>
      <p:pic>
        <p:nvPicPr>
          <p:cNvPr id="8" name="VPC · 2 AZs" descr="preencoded.png"/>
          <p:cNvPicPr>
            <a:picLocks noChangeAspect="1"/>
          </p:cNvPicPr>
          <p:nvPr/>
        </p:nvPicPr>
        <p:blipFill>
          <a:blip r:embed="rId3"/>
          <a:stretch>
            <a:fillRect/>
          </a:stretch>
        </p:blipFill>
        <p:spPr>
          <a:xfrm>
            <a:off x="791505" y="1705905"/>
            <a:ext cx="209215" cy="209215"/>
          </a:xfrm>
          <a:prstGeom prst="rect">
            <a:avLst/>
          </a:prstGeom>
        </p:spPr>
      </p:pic>
      <p:sp>
        <p:nvSpPr>
          <p:cNvPr id="9" name="Text 6"/>
          <p:cNvSpPr txBox="1"/>
          <p:nvPr/>
        </p:nvSpPr>
        <p:spPr>
          <a:xfrm>
            <a:off x="1207008" y="1572768"/>
            <a:ext cx="1872234" cy="182880"/>
          </a:xfrm>
          <a:prstGeom prst="rect">
            <a:avLst/>
          </a:prstGeom>
          <a:noFill/>
          <a:ln/>
        </p:spPr>
        <p:txBody>
          <a:bodyPr wrap="square" lIns="0" tIns="0" rIns="0" bIns="0" rtlCol="0" anchor="t"/>
          <a:lstStyle/>
          <a:p>
            <a:pPr marL="0" indent="0">
              <a:buNone/>
            </a:pPr>
            <a:r>
              <a:rPr lang="en-US" sz="900" b="1" kern="0" spc="100" dirty="0">
                <a:solidFill>
                  <a:srgbClr val="A8620A"/>
                </a:solidFill>
              </a:rPr>
              <a:t>NETWORK &amp; EDGE</a:t>
            </a:r>
            <a:endParaRPr lang="en-US" sz="900" dirty="0"/>
          </a:p>
        </p:txBody>
      </p:sp>
      <p:sp>
        <p:nvSpPr>
          <p:cNvPr id="10" name="Text 7"/>
          <p:cNvSpPr txBox="1"/>
          <p:nvPr/>
        </p:nvSpPr>
        <p:spPr>
          <a:xfrm>
            <a:off x="1207008" y="174650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VPC · 2 AZs</a:t>
            </a:r>
            <a:endParaRPr lang="en-US" sz="1350" dirty="0"/>
          </a:p>
        </p:txBody>
      </p:sp>
      <p:sp>
        <p:nvSpPr>
          <p:cNvPr id="11" name="Text 8"/>
          <p:cNvSpPr txBox="1"/>
          <p:nvPr/>
        </p:nvSpPr>
        <p:spPr>
          <a:xfrm>
            <a:off x="694944" y="2084832"/>
            <a:ext cx="2375154" cy="411480"/>
          </a:xfrm>
          <a:prstGeom prst="rect">
            <a:avLst/>
          </a:prstGeom>
          <a:noFill/>
          <a:ln/>
        </p:spPr>
        <p:txBody>
          <a:bodyPr wrap="square" lIns="0" tIns="0" rIns="0" bIns="0" rtlCol="0" anchor="t"/>
          <a:lstStyle/>
          <a:p>
            <a:pPr marL="0" indent="0">
              <a:buNone/>
            </a:pPr>
            <a:r>
              <a:rPr lang="en-US" sz="1200" dirty="0">
                <a:solidFill>
                  <a:srgbClr val="4A5B5E"/>
                </a:solidFill>
              </a:rPr>
              <a:t>Isolates tiers; two AZs remove a single point of failure</a:t>
            </a:r>
            <a:endParaRPr lang="en-US" sz="1200" dirty="0"/>
          </a:p>
        </p:txBody>
      </p:sp>
      <p:sp>
        <p:nvSpPr>
          <p:cNvPr id="12" name="card"/>
          <p:cNvSpPr/>
          <p:nvPr/>
        </p:nvSpPr>
        <p:spPr>
          <a:xfrm>
            <a:off x="3362706" y="146304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13" name="NAT Gateways ×2 circle"/>
          <p:cNvSpPr/>
          <p:nvPr/>
        </p:nvSpPr>
        <p:spPr>
          <a:xfrm>
            <a:off x="3509010" y="1609344"/>
            <a:ext cx="402336" cy="402336"/>
          </a:xfrm>
          <a:prstGeom prst="ellipse">
            <a:avLst/>
          </a:prstGeom>
          <a:solidFill>
            <a:schemeClr val="accent2"/>
          </a:solidFill>
          <a:ln/>
        </p:spPr>
      </p:sp>
      <p:pic>
        <p:nvPicPr>
          <p:cNvPr id="14" name="NAT Gateways ×2" descr="preencoded.png"/>
          <p:cNvPicPr>
            <a:picLocks noChangeAspect="1"/>
          </p:cNvPicPr>
          <p:nvPr/>
        </p:nvPicPr>
        <p:blipFill>
          <a:blip r:embed="rId4"/>
          <a:stretch>
            <a:fillRect/>
          </a:stretch>
        </p:blipFill>
        <p:spPr>
          <a:xfrm>
            <a:off x="3605571" y="1705905"/>
            <a:ext cx="209215" cy="209215"/>
          </a:xfrm>
          <a:prstGeom prst="rect">
            <a:avLst/>
          </a:prstGeom>
        </p:spPr>
      </p:pic>
      <p:sp>
        <p:nvSpPr>
          <p:cNvPr id="15" name="Text 11"/>
          <p:cNvSpPr txBox="1"/>
          <p:nvPr/>
        </p:nvSpPr>
        <p:spPr>
          <a:xfrm>
            <a:off x="4021074" y="1572768"/>
            <a:ext cx="1872234" cy="182880"/>
          </a:xfrm>
          <a:prstGeom prst="rect">
            <a:avLst/>
          </a:prstGeom>
          <a:noFill/>
          <a:ln/>
        </p:spPr>
        <p:txBody>
          <a:bodyPr wrap="square" lIns="0" tIns="0" rIns="0" bIns="0" rtlCol="0" anchor="t"/>
          <a:lstStyle/>
          <a:p>
            <a:pPr marL="0" indent="0">
              <a:buNone/>
            </a:pPr>
            <a:r>
              <a:rPr lang="en-US" sz="900" b="1" kern="0" spc="100" dirty="0">
                <a:solidFill>
                  <a:srgbClr val="A8620A"/>
                </a:solidFill>
              </a:rPr>
              <a:t>NETWORK &amp; EDGE</a:t>
            </a:r>
            <a:endParaRPr lang="en-US" sz="900" dirty="0"/>
          </a:p>
        </p:txBody>
      </p:sp>
      <p:sp>
        <p:nvSpPr>
          <p:cNvPr id="16" name="Text 12"/>
          <p:cNvSpPr txBox="1"/>
          <p:nvPr/>
        </p:nvSpPr>
        <p:spPr>
          <a:xfrm>
            <a:off x="4021074" y="174650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NAT Gateways ×2</a:t>
            </a:r>
            <a:endParaRPr lang="en-US" sz="1350" dirty="0"/>
          </a:p>
        </p:txBody>
      </p:sp>
      <p:sp>
        <p:nvSpPr>
          <p:cNvPr id="17" name="Text 13"/>
          <p:cNvSpPr txBox="1"/>
          <p:nvPr/>
        </p:nvSpPr>
        <p:spPr>
          <a:xfrm>
            <a:off x="3509010" y="2084832"/>
            <a:ext cx="2375154" cy="411480"/>
          </a:xfrm>
          <a:prstGeom prst="rect">
            <a:avLst/>
          </a:prstGeom>
          <a:noFill/>
          <a:ln/>
        </p:spPr>
        <p:txBody>
          <a:bodyPr wrap="square" lIns="0" tIns="0" rIns="0" bIns="0" rtlCol="0" anchor="t"/>
          <a:lstStyle/>
          <a:p>
            <a:pPr marL="0" indent="0">
              <a:buNone/>
            </a:pPr>
            <a:r>
              <a:rPr lang="en-US" sz="1200" dirty="0">
                <a:solidFill>
                  <a:srgbClr val="4A5B5E"/>
                </a:solidFill>
              </a:rPr>
              <a:t>Outbound-only internet for private tasks, one per AZ</a:t>
            </a:r>
            <a:endParaRPr lang="en-US" sz="1200" dirty="0"/>
          </a:p>
        </p:txBody>
      </p:sp>
      <p:sp>
        <p:nvSpPr>
          <p:cNvPr id="18" name="card"/>
          <p:cNvSpPr/>
          <p:nvPr/>
        </p:nvSpPr>
        <p:spPr>
          <a:xfrm>
            <a:off x="6176772" y="146304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19" name="Route 53 circle"/>
          <p:cNvSpPr/>
          <p:nvPr/>
        </p:nvSpPr>
        <p:spPr>
          <a:xfrm>
            <a:off x="6323076" y="1609344"/>
            <a:ext cx="402336" cy="402336"/>
          </a:xfrm>
          <a:prstGeom prst="ellipse">
            <a:avLst/>
          </a:prstGeom>
          <a:solidFill>
            <a:schemeClr val="accent2"/>
          </a:solidFill>
          <a:ln/>
        </p:spPr>
      </p:sp>
      <p:pic>
        <p:nvPicPr>
          <p:cNvPr id="20" name="Route 53" descr="preencoded.png"/>
          <p:cNvPicPr>
            <a:picLocks noChangeAspect="1"/>
          </p:cNvPicPr>
          <p:nvPr/>
        </p:nvPicPr>
        <p:blipFill>
          <a:blip r:embed="rId5"/>
          <a:stretch>
            <a:fillRect/>
          </a:stretch>
        </p:blipFill>
        <p:spPr>
          <a:xfrm>
            <a:off x="6419637" y="1705905"/>
            <a:ext cx="209215" cy="209215"/>
          </a:xfrm>
          <a:prstGeom prst="rect">
            <a:avLst/>
          </a:prstGeom>
        </p:spPr>
      </p:pic>
      <p:sp>
        <p:nvSpPr>
          <p:cNvPr id="21" name="Text 16"/>
          <p:cNvSpPr txBox="1"/>
          <p:nvPr/>
        </p:nvSpPr>
        <p:spPr>
          <a:xfrm>
            <a:off x="6835140" y="1572768"/>
            <a:ext cx="1872234" cy="182880"/>
          </a:xfrm>
          <a:prstGeom prst="rect">
            <a:avLst/>
          </a:prstGeom>
          <a:noFill/>
          <a:ln/>
        </p:spPr>
        <p:txBody>
          <a:bodyPr wrap="square" lIns="0" tIns="0" rIns="0" bIns="0" rtlCol="0" anchor="t"/>
          <a:lstStyle/>
          <a:p>
            <a:pPr marL="0" indent="0">
              <a:buNone/>
            </a:pPr>
            <a:r>
              <a:rPr lang="en-US" sz="900" b="1" kern="0" spc="100" dirty="0">
                <a:solidFill>
                  <a:srgbClr val="A8620A"/>
                </a:solidFill>
              </a:rPr>
              <a:t>NETWORK &amp; EDGE</a:t>
            </a:r>
            <a:endParaRPr lang="en-US" sz="900" dirty="0"/>
          </a:p>
        </p:txBody>
      </p:sp>
      <p:sp>
        <p:nvSpPr>
          <p:cNvPr id="22" name="Text 17"/>
          <p:cNvSpPr txBox="1"/>
          <p:nvPr/>
        </p:nvSpPr>
        <p:spPr>
          <a:xfrm>
            <a:off x="6835140" y="174650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Route 53</a:t>
            </a:r>
            <a:endParaRPr lang="en-US" sz="1350" dirty="0"/>
          </a:p>
        </p:txBody>
      </p:sp>
      <p:sp>
        <p:nvSpPr>
          <p:cNvPr id="23" name="Text 18"/>
          <p:cNvSpPr txBox="1"/>
          <p:nvPr/>
        </p:nvSpPr>
        <p:spPr>
          <a:xfrm>
            <a:off x="6323076" y="2084832"/>
            <a:ext cx="2375154" cy="411480"/>
          </a:xfrm>
          <a:prstGeom prst="rect">
            <a:avLst/>
          </a:prstGeom>
          <a:noFill/>
          <a:ln/>
        </p:spPr>
        <p:txBody>
          <a:bodyPr wrap="square" lIns="0" tIns="0" rIns="0" bIns="0" rtlCol="0" anchor="t"/>
          <a:lstStyle/>
          <a:p>
            <a:pPr marL="0" indent="0">
              <a:buNone/>
            </a:pPr>
            <a:r>
              <a:rPr lang="en-US" sz="1200" dirty="0">
                <a:solidFill>
                  <a:srgbClr val="4A5B5E"/>
                </a:solidFill>
              </a:rPr>
              <a:t>Persistent DNS that survives sandbox cleanup</a:t>
            </a:r>
            <a:endParaRPr lang="en-US" sz="1200" dirty="0"/>
          </a:p>
        </p:txBody>
      </p:sp>
      <p:sp>
        <p:nvSpPr>
          <p:cNvPr id="24" name="card"/>
          <p:cNvSpPr/>
          <p:nvPr/>
        </p:nvSpPr>
        <p:spPr>
          <a:xfrm>
            <a:off x="8990838" y="146304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25" name="CloudFront + ACM circle"/>
          <p:cNvSpPr/>
          <p:nvPr/>
        </p:nvSpPr>
        <p:spPr>
          <a:xfrm>
            <a:off x="9137142" y="1609344"/>
            <a:ext cx="402336" cy="402336"/>
          </a:xfrm>
          <a:prstGeom prst="ellipse">
            <a:avLst/>
          </a:prstGeom>
          <a:solidFill>
            <a:schemeClr val="accent2"/>
          </a:solidFill>
          <a:ln/>
        </p:spPr>
      </p:sp>
      <p:pic>
        <p:nvPicPr>
          <p:cNvPr id="26" name="CloudFront + ACM" descr="preencoded.png"/>
          <p:cNvPicPr>
            <a:picLocks noChangeAspect="1"/>
          </p:cNvPicPr>
          <p:nvPr/>
        </p:nvPicPr>
        <p:blipFill>
          <a:blip r:embed="rId6"/>
          <a:stretch>
            <a:fillRect/>
          </a:stretch>
        </p:blipFill>
        <p:spPr>
          <a:xfrm>
            <a:off x="9233703" y="1705905"/>
            <a:ext cx="209215" cy="209215"/>
          </a:xfrm>
          <a:prstGeom prst="rect">
            <a:avLst/>
          </a:prstGeom>
        </p:spPr>
      </p:pic>
      <p:sp>
        <p:nvSpPr>
          <p:cNvPr id="27" name="Text 21"/>
          <p:cNvSpPr txBox="1"/>
          <p:nvPr/>
        </p:nvSpPr>
        <p:spPr>
          <a:xfrm>
            <a:off x="9649206" y="1572768"/>
            <a:ext cx="1872234" cy="182880"/>
          </a:xfrm>
          <a:prstGeom prst="rect">
            <a:avLst/>
          </a:prstGeom>
          <a:noFill/>
          <a:ln/>
        </p:spPr>
        <p:txBody>
          <a:bodyPr wrap="square" lIns="0" tIns="0" rIns="0" bIns="0" rtlCol="0" anchor="t"/>
          <a:lstStyle/>
          <a:p>
            <a:pPr marL="0" indent="0">
              <a:buNone/>
            </a:pPr>
            <a:r>
              <a:rPr lang="en-US" sz="900" b="1" kern="0" spc="100" dirty="0">
                <a:solidFill>
                  <a:srgbClr val="A8620A"/>
                </a:solidFill>
              </a:rPr>
              <a:t>NETWORK &amp; EDGE</a:t>
            </a:r>
            <a:endParaRPr lang="en-US" sz="900" dirty="0"/>
          </a:p>
        </p:txBody>
      </p:sp>
      <p:sp>
        <p:nvSpPr>
          <p:cNvPr id="28" name="Text 22"/>
          <p:cNvSpPr txBox="1"/>
          <p:nvPr/>
        </p:nvSpPr>
        <p:spPr>
          <a:xfrm>
            <a:off x="9649206" y="174650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CloudFront + ACM</a:t>
            </a:r>
            <a:endParaRPr lang="en-US" sz="1350" dirty="0"/>
          </a:p>
        </p:txBody>
      </p:sp>
      <p:sp>
        <p:nvSpPr>
          <p:cNvPr id="29" name="Text 23"/>
          <p:cNvSpPr txBox="1"/>
          <p:nvPr/>
        </p:nvSpPr>
        <p:spPr>
          <a:xfrm>
            <a:off x="9137142" y="2084832"/>
            <a:ext cx="2375154" cy="411480"/>
          </a:xfrm>
          <a:prstGeom prst="rect">
            <a:avLst/>
          </a:prstGeom>
          <a:noFill/>
          <a:ln/>
        </p:spPr>
        <p:txBody>
          <a:bodyPr wrap="square" lIns="0" tIns="0" rIns="0" bIns="0" rtlCol="0" anchor="t"/>
          <a:lstStyle/>
          <a:p>
            <a:pPr marL="0" indent="0">
              <a:buNone/>
            </a:pPr>
            <a:r>
              <a:rPr lang="en-US" sz="1200" dirty="0">
                <a:solidFill>
                  <a:srgbClr val="4A5B5E"/>
                </a:solidFill>
              </a:rPr>
              <a:t>One HTTPS entry point with managed TLS</a:t>
            </a:r>
            <a:endParaRPr lang="en-US" sz="1200" dirty="0"/>
          </a:p>
        </p:txBody>
      </p:sp>
      <p:sp>
        <p:nvSpPr>
          <p:cNvPr id="30" name="card"/>
          <p:cNvSpPr/>
          <p:nvPr/>
        </p:nvSpPr>
        <p:spPr>
          <a:xfrm>
            <a:off x="548640" y="265176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31" name="AWS WAF circle"/>
          <p:cNvSpPr/>
          <p:nvPr/>
        </p:nvSpPr>
        <p:spPr>
          <a:xfrm>
            <a:off x="694944" y="2798064"/>
            <a:ext cx="402336" cy="402336"/>
          </a:xfrm>
          <a:prstGeom prst="ellipse">
            <a:avLst/>
          </a:prstGeom>
          <a:solidFill>
            <a:schemeClr val="accent2"/>
          </a:solidFill>
          <a:ln/>
        </p:spPr>
      </p:sp>
      <p:pic>
        <p:nvPicPr>
          <p:cNvPr id="32" name="AWS WAF" descr="preencoded.png"/>
          <p:cNvPicPr>
            <a:picLocks noChangeAspect="1"/>
          </p:cNvPicPr>
          <p:nvPr/>
        </p:nvPicPr>
        <p:blipFill>
          <a:blip r:embed="rId7"/>
          <a:stretch>
            <a:fillRect/>
          </a:stretch>
        </p:blipFill>
        <p:spPr>
          <a:xfrm>
            <a:off x="791505" y="2894625"/>
            <a:ext cx="209215" cy="209215"/>
          </a:xfrm>
          <a:prstGeom prst="rect">
            <a:avLst/>
          </a:prstGeom>
        </p:spPr>
      </p:pic>
      <p:sp>
        <p:nvSpPr>
          <p:cNvPr id="33" name="Text 26"/>
          <p:cNvSpPr txBox="1"/>
          <p:nvPr/>
        </p:nvSpPr>
        <p:spPr>
          <a:xfrm>
            <a:off x="1207008" y="2761488"/>
            <a:ext cx="1872234" cy="182880"/>
          </a:xfrm>
          <a:prstGeom prst="rect">
            <a:avLst/>
          </a:prstGeom>
          <a:noFill/>
          <a:ln/>
        </p:spPr>
        <p:txBody>
          <a:bodyPr wrap="square" lIns="0" tIns="0" rIns="0" bIns="0" rtlCol="0" anchor="t"/>
          <a:lstStyle/>
          <a:p>
            <a:pPr marL="0" indent="0">
              <a:buNone/>
            </a:pPr>
            <a:r>
              <a:rPr lang="en-US" sz="900" b="1" kern="0" spc="100" dirty="0">
                <a:solidFill>
                  <a:srgbClr val="A8620A"/>
                </a:solidFill>
              </a:rPr>
              <a:t>NETWORK &amp; EDGE</a:t>
            </a:r>
            <a:endParaRPr lang="en-US" sz="900" dirty="0"/>
          </a:p>
        </p:txBody>
      </p:sp>
      <p:sp>
        <p:nvSpPr>
          <p:cNvPr id="34" name="Text 27"/>
          <p:cNvSpPr txBox="1"/>
          <p:nvPr/>
        </p:nvSpPr>
        <p:spPr>
          <a:xfrm>
            <a:off x="1207008" y="293522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AWS WAF</a:t>
            </a:r>
            <a:endParaRPr lang="en-US" sz="1350" dirty="0"/>
          </a:p>
        </p:txBody>
      </p:sp>
      <p:sp>
        <p:nvSpPr>
          <p:cNvPr id="35" name="Text 28"/>
          <p:cNvSpPr txBox="1"/>
          <p:nvPr/>
        </p:nvSpPr>
        <p:spPr>
          <a:xfrm>
            <a:off x="694944" y="3273552"/>
            <a:ext cx="2375154" cy="411480"/>
          </a:xfrm>
          <a:prstGeom prst="rect">
            <a:avLst/>
          </a:prstGeom>
          <a:noFill/>
          <a:ln/>
        </p:spPr>
        <p:txBody>
          <a:bodyPr wrap="square" lIns="0" tIns="0" rIns="0" bIns="0" rtlCol="0" anchor="t"/>
          <a:lstStyle/>
          <a:p>
            <a:pPr marL="0" indent="0">
              <a:buNone/>
            </a:pPr>
            <a:r>
              <a:rPr lang="en-US" sz="1200" dirty="0">
                <a:solidFill>
                  <a:srgbClr val="4A5B5E"/>
                </a:solidFill>
              </a:rPr>
              <a:t>Blocks common web attacks at the edge</a:t>
            </a:r>
            <a:endParaRPr lang="en-US" sz="1200" dirty="0"/>
          </a:p>
        </p:txBody>
      </p:sp>
      <p:sp>
        <p:nvSpPr>
          <p:cNvPr id="36" name="card"/>
          <p:cNvSpPr/>
          <p:nvPr/>
        </p:nvSpPr>
        <p:spPr>
          <a:xfrm>
            <a:off x="3362706" y="265176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37" name="Amazon ECR circle"/>
          <p:cNvSpPr/>
          <p:nvPr/>
        </p:nvSpPr>
        <p:spPr>
          <a:xfrm>
            <a:off x="3509010" y="2798064"/>
            <a:ext cx="402336" cy="402336"/>
          </a:xfrm>
          <a:prstGeom prst="ellipse">
            <a:avLst/>
          </a:prstGeom>
          <a:solidFill>
            <a:schemeClr val="accent1"/>
          </a:solidFill>
          <a:ln/>
        </p:spPr>
      </p:sp>
      <p:pic>
        <p:nvPicPr>
          <p:cNvPr id="38" name="Amazon ECR" descr="preencoded.png"/>
          <p:cNvPicPr>
            <a:picLocks noChangeAspect="1"/>
          </p:cNvPicPr>
          <p:nvPr/>
        </p:nvPicPr>
        <p:blipFill>
          <a:blip r:embed="rId8"/>
          <a:stretch>
            <a:fillRect/>
          </a:stretch>
        </p:blipFill>
        <p:spPr>
          <a:xfrm>
            <a:off x="3605571" y="2894625"/>
            <a:ext cx="209215" cy="209215"/>
          </a:xfrm>
          <a:prstGeom prst="rect">
            <a:avLst/>
          </a:prstGeom>
        </p:spPr>
      </p:pic>
      <p:sp>
        <p:nvSpPr>
          <p:cNvPr id="39" name="Text 31"/>
          <p:cNvSpPr txBox="1"/>
          <p:nvPr/>
        </p:nvSpPr>
        <p:spPr>
          <a:xfrm>
            <a:off x="4021074" y="2761488"/>
            <a:ext cx="1872234" cy="182880"/>
          </a:xfrm>
          <a:prstGeom prst="rect">
            <a:avLst/>
          </a:prstGeom>
          <a:noFill/>
          <a:ln/>
        </p:spPr>
        <p:txBody>
          <a:bodyPr wrap="square" lIns="0" tIns="0" rIns="0" bIns="0" rtlCol="0" anchor="t"/>
          <a:lstStyle/>
          <a:p>
            <a:pPr marL="0" indent="0">
              <a:buNone/>
            </a:pPr>
            <a:r>
              <a:rPr lang="en-US" sz="900" b="1" kern="0" spc="100" dirty="0">
                <a:solidFill>
                  <a:srgbClr val="0E7C7B"/>
                </a:solidFill>
              </a:rPr>
              <a:t>COMPUTE</a:t>
            </a:r>
            <a:endParaRPr lang="en-US" sz="900" dirty="0"/>
          </a:p>
        </p:txBody>
      </p:sp>
      <p:sp>
        <p:nvSpPr>
          <p:cNvPr id="40" name="Text 32"/>
          <p:cNvSpPr txBox="1"/>
          <p:nvPr/>
        </p:nvSpPr>
        <p:spPr>
          <a:xfrm>
            <a:off x="4021074" y="293522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Amazon ECR</a:t>
            </a:r>
            <a:endParaRPr lang="en-US" sz="1350" dirty="0"/>
          </a:p>
        </p:txBody>
      </p:sp>
      <p:sp>
        <p:nvSpPr>
          <p:cNvPr id="41" name="Text 33"/>
          <p:cNvSpPr txBox="1"/>
          <p:nvPr/>
        </p:nvSpPr>
        <p:spPr>
          <a:xfrm>
            <a:off x="3509010" y="3273552"/>
            <a:ext cx="2375154" cy="411480"/>
          </a:xfrm>
          <a:prstGeom prst="rect">
            <a:avLst/>
          </a:prstGeom>
          <a:noFill/>
          <a:ln/>
        </p:spPr>
        <p:txBody>
          <a:bodyPr wrap="square" lIns="0" tIns="0" rIns="0" bIns="0" rtlCol="0" anchor="t"/>
          <a:lstStyle/>
          <a:p>
            <a:pPr marL="0" indent="0">
              <a:buNone/>
            </a:pPr>
            <a:r>
              <a:rPr lang="en-US" sz="1200" dirty="0">
                <a:solidFill>
                  <a:srgbClr val="4A5B5E"/>
                </a:solidFill>
              </a:rPr>
              <a:t>Private images tagged by Git SHA — traceable releases</a:t>
            </a:r>
            <a:endParaRPr lang="en-US" sz="1200" dirty="0"/>
          </a:p>
        </p:txBody>
      </p:sp>
      <p:sp>
        <p:nvSpPr>
          <p:cNvPr id="42" name="card"/>
          <p:cNvSpPr/>
          <p:nvPr/>
        </p:nvSpPr>
        <p:spPr>
          <a:xfrm>
            <a:off x="6176772" y="265176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43" name="ECS Fargate circle"/>
          <p:cNvSpPr/>
          <p:nvPr/>
        </p:nvSpPr>
        <p:spPr>
          <a:xfrm>
            <a:off x="6323076" y="2798064"/>
            <a:ext cx="402336" cy="402336"/>
          </a:xfrm>
          <a:prstGeom prst="ellipse">
            <a:avLst/>
          </a:prstGeom>
          <a:solidFill>
            <a:schemeClr val="accent1"/>
          </a:solidFill>
          <a:ln/>
        </p:spPr>
      </p:sp>
      <p:pic>
        <p:nvPicPr>
          <p:cNvPr id="44" name="ECS Fargate" descr="preencoded.png"/>
          <p:cNvPicPr>
            <a:picLocks noChangeAspect="1"/>
          </p:cNvPicPr>
          <p:nvPr/>
        </p:nvPicPr>
        <p:blipFill>
          <a:blip r:embed="rId9"/>
          <a:stretch>
            <a:fillRect/>
          </a:stretch>
        </p:blipFill>
        <p:spPr>
          <a:xfrm>
            <a:off x="6419637" y="2894625"/>
            <a:ext cx="209215" cy="209215"/>
          </a:xfrm>
          <a:prstGeom prst="rect">
            <a:avLst/>
          </a:prstGeom>
        </p:spPr>
      </p:pic>
      <p:sp>
        <p:nvSpPr>
          <p:cNvPr id="45" name="Text 36"/>
          <p:cNvSpPr txBox="1"/>
          <p:nvPr/>
        </p:nvSpPr>
        <p:spPr>
          <a:xfrm>
            <a:off x="6835140" y="2761488"/>
            <a:ext cx="1872234" cy="182880"/>
          </a:xfrm>
          <a:prstGeom prst="rect">
            <a:avLst/>
          </a:prstGeom>
          <a:noFill/>
          <a:ln/>
        </p:spPr>
        <p:txBody>
          <a:bodyPr wrap="square" lIns="0" tIns="0" rIns="0" bIns="0" rtlCol="0" anchor="t"/>
          <a:lstStyle/>
          <a:p>
            <a:pPr marL="0" indent="0">
              <a:buNone/>
            </a:pPr>
            <a:r>
              <a:rPr lang="en-US" sz="900" b="1" kern="0" spc="100" dirty="0">
                <a:solidFill>
                  <a:srgbClr val="0E7C7B"/>
                </a:solidFill>
              </a:rPr>
              <a:t>COMPUTE</a:t>
            </a:r>
            <a:endParaRPr lang="en-US" sz="900" dirty="0"/>
          </a:p>
        </p:txBody>
      </p:sp>
      <p:sp>
        <p:nvSpPr>
          <p:cNvPr id="46" name="Text 37"/>
          <p:cNvSpPr txBox="1"/>
          <p:nvPr/>
        </p:nvSpPr>
        <p:spPr>
          <a:xfrm>
            <a:off x="6835140" y="293522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ECS Fargate</a:t>
            </a:r>
            <a:endParaRPr lang="en-US" sz="1350" dirty="0"/>
          </a:p>
        </p:txBody>
      </p:sp>
      <p:sp>
        <p:nvSpPr>
          <p:cNvPr id="47" name="Text 38"/>
          <p:cNvSpPr txBox="1"/>
          <p:nvPr/>
        </p:nvSpPr>
        <p:spPr>
          <a:xfrm>
            <a:off x="6323076" y="3273552"/>
            <a:ext cx="2375154" cy="411480"/>
          </a:xfrm>
          <a:prstGeom prst="rect">
            <a:avLst/>
          </a:prstGeom>
          <a:noFill/>
          <a:ln/>
        </p:spPr>
        <p:txBody>
          <a:bodyPr wrap="square" lIns="0" tIns="0" rIns="0" bIns="0" rtlCol="0" anchor="t"/>
          <a:lstStyle/>
          <a:p>
            <a:pPr marL="0" indent="0">
              <a:buNone/>
            </a:pPr>
            <a:r>
              <a:rPr lang="en-US" sz="1200" dirty="0">
                <a:solidFill>
                  <a:srgbClr val="4A5B5E"/>
                </a:solidFill>
              </a:rPr>
              <a:t>Private containers with no servers to manage</a:t>
            </a:r>
            <a:endParaRPr lang="en-US" sz="1200" dirty="0"/>
          </a:p>
        </p:txBody>
      </p:sp>
      <p:sp>
        <p:nvSpPr>
          <p:cNvPr id="48" name="card"/>
          <p:cNvSpPr/>
          <p:nvPr/>
        </p:nvSpPr>
        <p:spPr>
          <a:xfrm>
            <a:off x="8990838" y="265176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49" name="ALB + Auto Scaling circle"/>
          <p:cNvSpPr/>
          <p:nvPr/>
        </p:nvSpPr>
        <p:spPr>
          <a:xfrm>
            <a:off x="9137142" y="2798064"/>
            <a:ext cx="402336" cy="402336"/>
          </a:xfrm>
          <a:prstGeom prst="ellipse">
            <a:avLst/>
          </a:prstGeom>
          <a:solidFill>
            <a:schemeClr val="accent1"/>
          </a:solidFill>
          <a:ln/>
        </p:spPr>
      </p:sp>
      <p:pic>
        <p:nvPicPr>
          <p:cNvPr id="50" name="ALB + Auto Scaling" descr="preencoded.png"/>
          <p:cNvPicPr>
            <a:picLocks noChangeAspect="1"/>
          </p:cNvPicPr>
          <p:nvPr/>
        </p:nvPicPr>
        <p:blipFill>
          <a:blip r:embed="rId10"/>
          <a:stretch>
            <a:fillRect/>
          </a:stretch>
        </p:blipFill>
        <p:spPr>
          <a:xfrm>
            <a:off x="9233703" y="2894625"/>
            <a:ext cx="209215" cy="209215"/>
          </a:xfrm>
          <a:prstGeom prst="rect">
            <a:avLst/>
          </a:prstGeom>
        </p:spPr>
      </p:pic>
      <p:sp>
        <p:nvSpPr>
          <p:cNvPr id="51" name="Text 41"/>
          <p:cNvSpPr txBox="1"/>
          <p:nvPr/>
        </p:nvSpPr>
        <p:spPr>
          <a:xfrm>
            <a:off x="9649206" y="2761488"/>
            <a:ext cx="1872234" cy="182880"/>
          </a:xfrm>
          <a:prstGeom prst="rect">
            <a:avLst/>
          </a:prstGeom>
          <a:noFill/>
          <a:ln/>
        </p:spPr>
        <p:txBody>
          <a:bodyPr wrap="square" lIns="0" tIns="0" rIns="0" bIns="0" rtlCol="0" anchor="t"/>
          <a:lstStyle/>
          <a:p>
            <a:pPr marL="0" indent="0">
              <a:buNone/>
            </a:pPr>
            <a:r>
              <a:rPr lang="en-US" sz="900" b="1" kern="0" spc="100" dirty="0">
                <a:solidFill>
                  <a:srgbClr val="0E7C7B"/>
                </a:solidFill>
              </a:rPr>
              <a:t>COMPUTE</a:t>
            </a:r>
            <a:endParaRPr lang="en-US" sz="900" dirty="0"/>
          </a:p>
        </p:txBody>
      </p:sp>
      <p:sp>
        <p:nvSpPr>
          <p:cNvPr id="52" name="Text 42"/>
          <p:cNvSpPr txBox="1"/>
          <p:nvPr/>
        </p:nvSpPr>
        <p:spPr>
          <a:xfrm>
            <a:off x="9649206" y="293522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ALB + Auto Scaling</a:t>
            </a:r>
            <a:endParaRPr lang="en-US" sz="1350" dirty="0"/>
          </a:p>
        </p:txBody>
      </p:sp>
      <p:sp>
        <p:nvSpPr>
          <p:cNvPr id="53" name="Text 43"/>
          <p:cNvSpPr txBox="1"/>
          <p:nvPr/>
        </p:nvSpPr>
        <p:spPr>
          <a:xfrm>
            <a:off x="9137142" y="3273552"/>
            <a:ext cx="2375154" cy="411480"/>
          </a:xfrm>
          <a:prstGeom prst="rect">
            <a:avLst/>
          </a:prstGeom>
          <a:noFill/>
          <a:ln/>
        </p:spPr>
        <p:txBody>
          <a:bodyPr wrap="square" lIns="0" tIns="0" rIns="0" bIns="0" rtlCol="0" anchor="t"/>
          <a:lstStyle/>
          <a:p>
            <a:pPr marL="0" indent="0">
              <a:buNone/>
            </a:pPr>
            <a:r>
              <a:rPr lang="en-US" sz="1200" dirty="0">
                <a:solidFill>
                  <a:srgbClr val="4A5B5E"/>
                </a:solidFill>
              </a:rPr>
              <a:t>Health checks across both AZs; scales 2 → 4 tasks</a:t>
            </a:r>
            <a:endParaRPr lang="en-US" sz="1200" dirty="0"/>
          </a:p>
        </p:txBody>
      </p:sp>
      <p:sp>
        <p:nvSpPr>
          <p:cNvPr id="54" name="card"/>
          <p:cNvSpPr/>
          <p:nvPr/>
        </p:nvSpPr>
        <p:spPr>
          <a:xfrm>
            <a:off x="548640" y="384048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55" name="RDS MariaDB Multi-AZ circle"/>
          <p:cNvSpPr/>
          <p:nvPr/>
        </p:nvSpPr>
        <p:spPr>
          <a:xfrm>
            <a:off x="694944" y="3986784"/>
            <a:ext cx="402336" cy="402336"/>
          </a:xfrm>
          <a:prstGeom prst="ellipse">
            <a:avLst/>
          </a:prstGeom>
          <a:solidFill>
            <a:schemeClr val="accent5"/>
          </a:solidFill>
          <a:ln/>
        </p:spPr>
      </p:sp>
      <p:pic>
        <p:nvPicPr>
          <p:cNvPr id="56" name="RDS MariaDB Multi-AZ" descr="preencoded.png"/>
          <p:cNvPicPr>
            <a:picLocks noChangeAspect="1"/>
          </p:cNvPicPr>
          <p:nvPr/>
        </p:nvPicPr>
        <p:blipFill>
          <a:blip r:embed="rId11"/>
          <a:stretch>
            <a:fillRect/>
          </a:stretch>
        </p:blipFill>
        <p:spPr>
          <a:xfrm>
            <a:off x="791505" y="4083345"/>
            <a:ext cx="209215" cy="209215"/>
          </a:xfrm>
          <a:prstGeom prst="rect">
            <a:avLst/>
          </a:prstGeom>
        </p:spPr>
      </p:pic>
      <p:sp>
        <p:nvSpPr>
          <p:cNvPr id="57" name="Text 46"/>
          <p:cNvSpPr txBox="1"/>
          <p:nvPr/>
        </p:nvSpPr>
        <p:spPr>
          <a:xfrm>
            <a:off x="1207008" y="3950208"/>
            <a:ext cx="1872234" cy="182880"/>
          </a:xfrm>
          <a:prstGeom prst="rect">
            <a:avLst/>
          </a:prstGeom>
          <a:noFill/>
          <a:ln/>
        </p:spPr>
        <p:txBody>
          <a:bodyPr wrap="square" lIns="0" tIns="0" rIns="0" bIns="0" rtlCol="0" anchor="t"/>
          <a:lstStyle/>
          <a:p>
            <a:pPr marL="0" indent="0">
              <a:buNone/>
            </a:pPr>
            <a:r>
              <a:rPr lang="en-US" sz="900" b="1" kern="0" spc="100" dirty="0">
                <a:solidFill>
                  <a:srgbClr val="5B6C8F"/>
                </a:solidFill>
              </a:rPr>
              <a:t>DATA</a:t>
            </a:r>
            <a:endParaRPr lang="en-US" sz="900" dirty="0"/>
          </a:p>
        </p:txBody>
      </p:sp>
      <p:sp>
        <p:nvSpPr>
          <p:cNvPr id="58" name="Text 47"/>
          <p:cNvSpPr txBox="1"/>
          <p:nvPr/>
        </p:nvSpPr>
        <p:spPr>
          <a:xfrm>
            <a:off x="1207008" y="412394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RDS MariaDB Multi-AZ</a:t>
            </a:r>
            <a:endParaRPr lang="en-US" sz="1350" dirty="0"/>
          </a:p>
        </p:txBody>
      </p:sp>
      <p:sp>
        <p:nvSpPr>
          <p:cNvPr id="59" name="Text 48"/>
          <p:cNvSpPr txBox="1"/>
          <p:nvPr/>
        </p:nvSpPr>
        <p:spPr>
          <a:xfrm>
            <a:off x="694944" y="4462272"/>
            <a:ext cx="2375154" cy="411480"/>
          </a:xfrm>
          <a:prstGeom prst="rect">
            <a:avLst/>
          </a:prstGeom>
          <a:noFill/>
          <a:ln/>
        </p:spPr>
        <p:txBody>
          <a:bodyPr wrap="square" lIns="0" tIns="0" rIns="0" bIns="0" rtlCol="0" anchor="t"/>
          <a:lstStyle/>
          <a:p>
            <a:pPr marL="0" indent="0">
              <a:buNone/>
            </a:pPr>
            <a:r>
              <a:rPr lang="en-US" sz="1200" dirty="0">
                <a:solidFill>
                  <a:srgbClr val="4A5B5E"/>
                </a:solidFill>
              </a:rPr>
              <a:t>Managed DB with standby, TLS, encryption, backups</a:t>
            </a:r>
            <a:endParaRPr lang="en-US" sz="1200" dirty="0"/>
          </a:p>
        </p:txBody>
      </p:sp>
      <p:sp>
        <p:nvSpPr>
          <p:cNvPr id="60" name="card"/>
          <p:cNvSpPr/>
          <p:nvPr/>
        </p:nvSpPr>
        <p:spPr>
          <a:xfrm>
            <a:off x="3362706" y="384048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61" name="Amazon S3 circle"/>
          <p:cNvSpPr/>
          <p:nvPr/>
        </p:nvSpPr>
        <p:spPr>
          <a:xfrm>
            <a:off x="3509010" y="3986784"/>
            <a:ext cx="402336" cy="402336"/>
          </a:xfrm>
          <a:prstGeom prst="ellipse">
            <a:avLst/>
          </a:prstGeom>
          <a:solidFill>
            <a:schemeClr val="accent5"/>
          </a:solidFill>
          <a:ln/>
        </p:spPr>
      </p:sp>
      <p:pic>
        <p:nvPicPr>
          <p:cNvPr id="62" name="Amazon S3" descr="preencoded.png"/>
          <p:cNvPicPr>
            <a:picLocks noChangeAspect="1"/>
          </p:cNvPicPr>
          <p:nvPr/>
        </p:nvPicPr>
        <p:blipFill>
          <a:blip r:embed="rId12"/>
          <a:stretch>
            <a:fillRect/>
          </a:stretch>
        </p:blipFill>
        <p:spPr>
          <a:xfrm>
            <a:off x="3605571" y="4083345"/>
            <a:ext cx="209215" cy="209215"/>
          </a:xfrm>
          <a:prstGeom prst="rect">
            <a:avLst/>
          </a:prstGeom>
        </p:spPr>
      </p:pic>
      <p:sp>
        <p:nvSpPr>
          <p:cNvPr id="63" name="Text 51"/>
          <p:cNvSpPr txBox="1"/>
          <p:nvPr/>
        </p:nvSpPr>
        <p:spPr>
          <a:xfrm>
            <a:off x="4021074" y="3950208"/>
            <a:ext cx="1872234" cy="182880"/>
          </a:xfrm>
          <a:prstGeom prst="rect">
            <a:avLst/>
          </a:prstGeom>
          <a:noFill/>
          <a:ln/>
        </p:spPr>
        <p:txBody>
          <a:bodyPr wrap="square" lIns="0" tIns="0" rIns="0" bIns="0" rtlCol="0" anchor="t"/>
          <a:lstStyle/>
          <a:p>
            <a:pPr marL="0" indent="0">
              <a:buNone/>
            </a:pPr>
            <a:r>
              <a:rPr lang="en-US" sz="900" b="1" kern="0" spc="100" dirty="0">
                <a:solidFill>
                  <a:srgbClr val="5B6C8F"/>
                </a:solidFill>
              </a:rPr>
              <a:t>DATA</a:t>
            </a:r>
            <a:endParaRPr lang="en-US" sz="900" dirty="0"/>
          </a:p>
        </p:txBody>
      </p:sp>
      <p:sp>
        <p:nvSpPr>
          <p:cNvPr id="64" name="Text 52"/>
          <p:cNvSpPr txBox="1"/>
          <p:nvPr/>
        </p:nvSpPr>
        <p:spPr>
          <a:xfrm>
            <a:off x="4021074" y="412394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Amazon S3</a:t>
            </a:r>
            <a:endParaRPr lang="en-US" sz="1350" dirty="0"/>
          </a:p>
        </p:txBody>
      </p:sp>
      <p:sp>
        <p:nvSpPr>
          <p:cNvPr id="65" name="Text 53"/>
          <p:cNvSpPr txBox="1"/>
          <p:nvPr/>
        </p:nvSpPr>
        <p:spPr>
          <a:xfrm>
            <a:off x="3509010" y="4462272"/>
            <a:ext cx="2375154" cy="411480"/>
          </a:xfrm>
          <a:prstGeom prst="rect">
            <a:avLst/>
          </a:prstGeom>
          <a:noFill/>
          <a:ln/>
        </p:spPr>
        <p:txBody>
          <a:bodyPr wrap="square" lIns="0" tIns="0" rIns="0" bIns="0" rtlCol="0" anchor="t"/>
          <a:lstStyle/>
          <a:p>
            <a:pPr marL="0" indent="0">
              <a:buNone/>
            </a:pPr>
            <a:r>
              <a:rPr lang="en-US" sz="1200" dirty="0">
                <a:solidFill>
                  <a:srgbClr val="4A5B5E"/>
                </a:solidFill>
              </a:rPr>
              <a:t>Private, versioned storage for files and documents</a:t>
            </a:r>
            <a:endParaRPr lang="en-US" sz="1200" dirty="0"/>
          </a:p>
        </p:txBody>
      </p:sp>
      <p:sp>
        <p:nvSpPr>
          <p:cNvPr id="66" name="card"/>
          <p:cNvSpPr/>
          <p:nvPr/>
        </p:nvSpPr>
        <p:spPr>
          <a:xfrm>
            <a:off x="6176772" y="384048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67" name="Secrets Manager circle"/>
          <p:cNvSpPr/>
          <p:nvPr/>
        </p:nvSpPr>
        <p:spPr>
          <a:xfrm>
            <a:off x="6323076" y="3986784"/>
            <a:ext cx="402336" cy="402336"/>
          </a:xfrm>
          <a:prstGeom prst="ellipse">
            <a:avLst/>
          </a:prstGeom>
          <a:solidFill>
            <a:schemeClr val="accent4"/>
          </a:solidFill>
          <a:ln/>
        </p:spPr>
      </p:sp>
      <p:pic>
        <p:nvPicPr>
          <p:cNvPr id="68" name="Secrets Manager" descr="preencoded.png"/>
          <p:cNvPicPr>
            <a:picLocks noChangeAspect="1"/>
          </p:cNvPicPr>
          <p:nvPr/>
        </p:nvPicPr>
        <p:blipFill>
          <a:blip r:embed="rId13"/>
          <a:stretch>
            <a:fillRect/>
          </a:stretch>
        </p:blipFill>
        <p:spPr>
          <a:xfrm>
            <a:off x="6419637" y="4083345"/>
            <a:ext cx="209215" cy="209215"/>
          </a:xfrm>
          <a:prstGeom prst="rect">
            <a:avLst/>
          </a:prstGeom>
        </p:spPr>
      </p:pic>
      <p:sp>
        <p:nvSpPr>
          <p:cNvPr id="69" name="Text 56"/>
          <p:cNvSpPr txBox="1"/>
          <p:nvPr/>
        </p:nvSpPr>
        <p:spPr>
          <a:xfrm>
            <a:off x="6835140" y="3950208"/>
            <a:ext cx="1872234" cy="182880"/>
          </a:xfrm>
          <a:prstGeom prst="rect">
            <a:avLst/>
          </a:prstGeom>
          <a:noFill/>
          <a:ln/>
        </p:spPr>
        <p:txBody>
          <a:bodyPr wrap="square" lIns="0" tIns="0" rIns="0" bIns="0" rtlCol="0" anchor="t"/>
          <a:lstStyle/>
          <a:p>
            <a:pPr marL="0" indent="0">
              <a:buNone/>
            </a:pPr>
            <a:r>
              <a:rPr lang="en-US" sz="900" b="1" kern="0" spc="100" dirty="0">
                <a:solidFill>
                  <a:srgbClr val="D9482B"/>
                </a:solidFill>
              </a:rPr>
              <a:t>SECURITY</a:t>
            </a:r>
            <a:endParaRPr lang="en-US" sz="900" dirty="0"/>
          </a:p>
        </p:txBody>
      </p:sp>
      <p:sp>
        <p:nvSpPr>
          <p:cNvPr id="70" name="Text 57"/>
          <p:cNvSpPr txBox="1"/>
          <p:nvPr/>
        </p:nvSpPr>
        <p:spPr>
          <a:xfrm>
            <a:off x="6835140" y="412394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Secrets Manager</a:t>
            </a:r>
            <a:endParaRPr lang="en-US" sz="1350" dirty="0"/>
          </a:p>
        </p:txBody>
      </p:sp>
      <p:sp>
        <p:nvSpPr>
          <p:cNvPr id="71" name="Text 58"/>
          <p:cNvSpPr txBox="1"/>
          <p:nvPr/>
        </p:nvSpPr>
        <p:spPr>
          <a:xfrm>
            <a:off x="6323076" y="4462272"/>
            <a:ext cx="2375154" cy="411480"/>
          </a:xfrm>
          <a:prstGeom prst="rect">
            <a:avLst/>
          </a:prstGeom>
          <a:noFill/>
          <a:ln/>
        </p:spPr>
        <p:txBody>
          <a:bodyPr wrap="square" lIns="0" tIns="0" rIns="0" bIns="0" rtlCol="0" anchor="t"/>
          <a:lstStyle/>
          <a:p>
            <a:pPr marL="0" indent="0">
              <a:buNone/>
            </a:pPr>
            <a:r>
              <a:rPr lang="en-US" sz="1200" dirty="0">
                <a:solidFill>
                  <a:srgbClr val="4A5B5E"/>
                </a:solidFill>
              </a:rPr>
              <a:t>Database credentials never stored in code</a:t>
            </a:r>
            <a:endParaRPr lang="en-US" sz="1200" dirty="0"/>
          </a:p>
        </p:txBody>
      </p:sp>
      <p:sp>
        <p:nvSpPr>
          <p:cNvPr id="72" name="card"/>
          <p:cNvSpPr/>
          <p:nvPr/>
        </p:nvSpPr>
        <p:spPr>
          <a:xfrm>
            <a:off x="8990838" y="384048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73" name="Amazon Cognito circle"/>
          <p:cNvSpPr/>
          <p:nvPr/>
        </p:nvSpPr>
        <p:spPr>
          <a:xfrm>
            <a:off x="9137142" y="3986784"/>
            <a:ext cx="402336" cy="402336"/>
          </a:xfrm>
          <a:prstGeom prst="ellipse">
            <a:avLst/>
          </a:prstGeom>
          <a:solidFill>
            <a:schemeClr val="accent4"/>
          </a:solidFill>
          <a:ln/>
        </p:spPr>
      </p:sp>
      <p:pic>
        <p:nvPicPr>
          <p:cNvPr id="74" name="Amazon Cognito" descr="preencoded.png"/>
          <p:cNvPicPr>
            <a:picLocks noChangeAspect="1"/>
          </p:cNvPicPr>
          <p:nvPr/>
        </p:nvPicPr>
        <p:blipFill>
          <a:blip r:embed="rId14"/>
          <a:stretch>
            <a:fillRect/>
          </a:stretch>
        </p:blipFill>
        <p:spPr>
          <a:xfrm>
            <a:off x="9233703" y="4083345"/>
            <a:ext cx="209215" cy="209215"/>
          </a:xfrm>
          <a:prstGeom prst="rect">
            <a:avLst/>
          </a:prstGeom>
        </p:spPr>
      </p:pic>
      <p:sp>
        <p:nvSpPr>
          <p:cNvPr id="75" name="Text 61"/>
          <p:cNvSpPr txBox="1"/>
          <p:nvPr/>
        </p:nvSpPr>
        <p:spPr>
          <a:xfrm>
            <a:off x="9649206" y="3950208"/>
            <a:ext cx="1872234" cy="182880"/>
          </a:xfrm>
          <a:prstGeom prst="rect">
            <a:avLst/>
          </a:prstGeom>
          <a:noFill/>
          <a:ln/>
        </p:spPr>
        <p:txBody>
          <a:bodyPr wrap="square" lIns="0" tIns="0" rIns="0" bIns="0" rtlCol="0" anchor="t"/>
          <a:lstStyle/>
          <a:p>
            <a:pPr marL="0" indent="0">
              <a:buNone/>
            </a:pPr>
            <a:r>
              <a:rPr lang="en-US" sz="900" b="1" kern="0" spc="100" dirty="0">
                <a:solidFill>
                  <a:srgbClr val="D9482B"/>
                </a:solidFill>
              </a:rPr>
              <a:t>SECURITY</a:t>
            </a:r>
            <a:endParaRPr lang="en-US" sz="900" dirty="0"/>
          </a:p>
        </p:txBody>
      </p:sp>
      <p:sp>
        <p:nvSpPr>
          <p:cNvPr id="76" name="Text 62"/>
          <p:cNvSpPr txBox="1"/>
          <p:nvPr/>
        </p:nvSpPr>
        <p:spPr>
          <a:xfrm>
            <a:off x="9649206" y="412394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Amazon Cognito</a:t>
            </a:r>
            <a:endParaRPr lang="en-US" sz="1350" dirty="0"/>
          </a:p>
        </p:txBody>
      </p:sp>
      <p:sp>
        <p:nvSpPr>
          <p:cNvPr id="77" name="Text 63"/>
          <p:cNvSpPr txBox="1"/>
          <p:nvPr/>
        </p:nvSpPr>
        <p:spPr>
          <a:xfrm>
            <a:off x="9137142" y="4462272"/>
            <a:ext cx="2375154" cy="411480"/>
          </a:xfrm>
          <a:prstGeom prst="rect">
            <a:avLst/>
          </a:prstGeom>
          <a:noFill/>
          <a:ln/>
        </p:spPr>
        <p:txBody>
          <a:bodyPr wrap="square" lIns="0" tIns="0" rIns="0" bIns="0" rtlCol="0" anchor="t"/>
          <a:lstStyle/>
          <a:p>
            <a:pPr marL="0" indent="0">
              <a:buNone/>
            </a:pPr>
            <a:r>
              <a:rPr lang="en-US" sz="1200" dirty="0">
                <a:solidFill>
                  <a:srgbClr val="4A5B5E"/>
                </a:solidFill>
              </a:rPr>
              <a:t>Managed sign-in; the API only verifies JWTs</a:t>
            </a:r>
            <a:endParaRPr lang="en-US" sz="1200" dirty="0"/>
          </a:p>
        </p:txBody>
      </p:sp>
      <p:sp>
        <p:nvSpPr>
          <p:cNvPr id="78" name="card"/>
          <p:cNvSpPr/>
          <p:nvPr/>
        </p:nvSpPr>
        <p:spPr>
          <a:xfrm>
            <a:off x="548640" y="502920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79" name="EventBridge · SQS circle"/>
          <p:cNvSpPr/>
          <p:nvPr/>
        </p:nvSpPr>
        <p:spPr>
          <a:xfrm>
            <a:off x="694944" y="5175504"/>
            <a:ext cx="402336" cy="402336"/>
          </a:xfrm>
          <a:prstGeom prst="ellipse">
            <a:avLst/>
          </a:prstGeom>
          <a:solidFill>
            <a:schemeClr val="tx2"/>
          </a:solidFill>
          <a:ln/>
        </p:spPr>
      </p:sp>
      <p:pic>
        <p:nvPicPr>
          <p:cNvPr id="80" name="EventBridge · SQS" descr="preencoded.png"/>
          <p:cNvPicPr>
            <a:picLocks noChangeAspect="1"/>
          </p:cNvPicPr>
          <p:nvPr/>
        </p:nvPicPr>
        <p:blipFill>
          <a:blip r:embed="rId15"/>
          <a:stretch>
            <a:fillRect/>
          </a:stretch>
        </p:blipFill>
        <p:spPr>
          <a:xfrm>
            <a:off x="791505" y="5272065"/>
            <a:ext cx="209215" cy="209215"/>
          </a:xfrm>
          <a:prstGeom prst="rect">
            <a:avLst/>
          </a:prstGeom>
        </p:spPr>
      </p:pic>
      <p:sp>
        <p:nvSpPr>
          <p:cNvPr id="81" name="Text 66"/>
          <p:cNvSpPr txBox="1"/>
          <p:nvPr/>
        </p:nvSpPr>
        <p:spPr>
          <a:xfrm>
            <a:off x="1207008" y="5138928"/>
            <a:ext cx="1872234" cy="182880"/>
          </a:xfrm>
          <a:prstGeom prst="rect">
            <a:avLst/>
          </a:prstGeom>
          <a:noFill/>
          <a:ln/>
        </p:spPr>
        <p:txBody>
          <a:bodyPr wrap="square" lIns="0" tIns="0" rIns="0" bIns="0" rtlCol="0" anchor="t"/>
          <a:lstStyle/>
          <a:p>
            <a:pPr marL="0" indent="0">
              <a:buNone/>
            </a:pPr>
            <a:r>
              <a:rPr lang="en-US" sz="900" b="1" kern="0" spc="100" dirty="0">
                <a:solidFill>
                  <a:srgbClr val="0E3B43"/>
                </a:solidFill>
              </a:rPr>
              <a:t>EVENTS &amp; AI</a:t>
            </a:r>
            <a:endParaRPr lang="en-US" sz="900" dirty="0"/>
          </a:p>
        </p:txBody>
      </p:sp>
      <p:sp>
        <p:nvSpPr>
          <p:cNvPr id="82" name="Text 67"/>
          <p:cNvSpPr txBox="1"/>
          <p:nvPr/>
        </p:nvSpPr>
        <p:spPr>
          <a:xfrm>
            <a:off x="1207008" y="531266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EventBridge · SQS</a:t>
            </a:r>
            <a:endParaRPr lang="en-US" sz="1350" dirty="0"/>
          </a:p>
        </p:txBody>
      </p:sp>
      <p:sp>
        <p:nvSpPr>
          <p:cNvPr id="83" name="Text 68"/>
          <p:cNvSpPr txBox="1"/>
          <p:nvPr/>
        </p:nvSpPr>
        <p:spPr>
          <a:xfrm>
            <a:off x="694944" y="5650992"/>
            <a:ext cx="2375154" cy="411480"/>
          </a:xfrm>
          <a:prstGeom prst="rect">
            <a:avLst/>
          </a:prstGeom>
          <a:noFill/>
          <a:ln/>
        </p:spPr>
        <p:txBody>
          <a:bodyPr wrap="square" lIns="0" tIns="0" rIns="0" bIns="0" rtlCol="0" anchor="t"/>
          <a:lstStyle/>
          <a:p>
            <a:pPr marL="0" indent="0">
              <a:buNone/>
            </a:pPr>
            <a:r>
              <a:rPr lang="en-US" sz="1200" dirty="0">
                <a:solidFill>
                  <a:srgbClr val="4A5B5E"/>
                </a:solidFill>
              </a:rPr>
              <a:t>Durable async processing into Lambda, with retries + DLQ</a:t>
            </a:r>
            <a:endParaRPr lang="en-US" sz="1200" dirty="0"/>
          </a:p>
        </p:txBody>
      </p:sp>
      <p:sp>
        <p:nvSpPr>
          <p:cNvPr id="84" name="card"/>
          <p:cNvSpPr/>
          <p:nvPr/>
        </p:nvSpPr>
        <p:spPr>
          <a:xfrm>
            <a:off x="3362706" y="502920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85" name="Bedrock: Titan + Haiku circle"/>
          <p:cNvSpPr/>
          <p:nvPr/>
        </p:nvSpPr>
        <p:spPr>
          <a:xfrm>
            <a:off x="3509010" y="5175504"/>
            <a:ext cx="402336" cy="402336"/>
          </a:xfrm>
          <a:prstGeom prst="ellipse">
            <a:avLst/>
          </a:prstGeom>
          <a:solidFill>
            <a:schemeClr val="tx2"/>
          </a:solidFill>
          <a:ln/>
        </p:spPr>
      </p:sp>
      <p:pic>
        <p:nvPicPr>
          <p:cNvPr id="86" name="Bedrock: Titan + Haiku" descr="preencoded.png"/>
          <p:cNvPicPr>
            <a:picLocks noChangeAspect="1"/>
          </p:cNvPicPr>
          <p:nvPr/>
        </p:nvPicPr>
        <p:blipFill>
          <a:blip r:embed="rId16"/>
          <a:stretch>
            <a:fillRect/>
          </a:stretch>
        </p:blipFill>
        <p:spPr>
          <a:xfrm>
            <a:off x="3605571" y="5272065"/>
            <a:ext cx="209215" cy="209215"/>
          </a:xfrm>
          <a:prstGeom prst="rect">
            <a:avLst/>
          </a:prstGeom>
        </p:spPr>
      </p:pic>
      <p:sp>
        <p:nvSpPr>
          <p:cNvPr id="87" name="Text 71"/>
          <p:cNvSpPr txBox="1"/>
          <p:nvPr/>
        </p:nvSpPr>
        <p:spPr>
          <a:xfrm>
            <a:off x="4021074" y="5138928"/>
            <a:ext cx="1872234" cy="182880"/>
          </a:xfrm>
          <a:prstGeom prst="rect">
            <a:avLst/>
          </a:prstGeom>
          <a:noFill/>
          <a:ln/>
        </p:spPr>
        <p:txBody>
          <a:bodyPr wrap="square" lIns="0" tIns="0" rIns="0" bIns="0" rtlCol="0" anchor="t"/>
          <a:lstStyle/>
          <a:p>
            <a:pPr marL="0" indent="0">
              <a:buNone/>
            </a:pPr>
            <a:r>
              <a:rPr lang="en-US" sz="900" b="1" kern="0" spc="100" dirty="0">
                <a:solidFill>
                  <a:srgbClr val="0E3B43"/>
                </a:solidFill>
              </a:rPr>
              <a:t>EVENTS &amp; AI</a:t>
            </a:r>
            <a:endParaRPr lang="en-US" sz="900" dirty="0"/>
          </a:p>
        </p:txBody>
      </p:sp>
      <p:sp>
        <p:nvSpPr>
          <p:cNvPr id="88" name="Text 72"/>
          <p:cNvSpPr txBox="1"/>
          <p:nvPr/>
        </p:nvSpPr>
        <p:spPr>
          <a:xfrm>
            <a:off x="4021074" y="531266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Bedrock: Titan + Haiku</a:t>
            </a:r>
            <a:endParaRPr lang="en-US" sz="1350" dirty="0"/>
          </a:p>
        </p:txBody>
      </p:sp>
      <p:sp>
        <p:nvSpPr>
          <p:cNvPr id="89" name="Text 73"/>
          <p:cNvSpPr txBox="1"/>
          <p:nvPr/>
        </p:nvSpPr>
        <p:spPr>
          <a:xfrm>
            <a:off x="3509010" y="5650992"/>
            <a:ext cx="2375154" cy="411480"/>
          </a:xfrm>
          <a:prstGeom prst="rect">
            <a:avLst/>
          </a:prstGeom>
          <a:noFill/>
          <a:ln/>
        </p:spPr>
        <p:txBody>
          <a:bodyPr wrap="square" lIns="0" tIns="0" rIns="0" bIns="0" rtlCol="0" anchor="t"/>
          <a:lstStyle/>
          <a:p>
            <a:pPr marL="0" indent="0">
              <a:buNone/>
            </a:pPr>
            <a:r>
              <a:rPr lang="en-US" sz="1200" dirty="0">
                <a:solidFill>
                  <a:srgbClr val="4A5B5E"/>
                </a:solidFill>
              </a:rPr>
              <a:t>Managed embeddings and answers — no model hosting</a:t>
            </a:r>
            <a:endParaRPr lang="en-US" sz="1200" dirty="0"/>
          </a:p>
        </p:txBody>
      </p:sp>
      <p:sp>
        <p:nvSpPr>
          <p:cNvPr id="90" name="card"/>
          <p:cNvSpPr/>
          <p:nvPr/>
        </p:nvSpPr>
        <p:spPr>
          <a:xfrm>
            <a:off x="6176772" y="502920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91" name="S3 Vectors circle"/>
          <p:cNvSpPr/>
          <p:nvPr/>
        </p:nvSpPr>
        <p:spPr>
          <a:xfrm>
            <a:off x="6323076" y="5175504"/>
            <a:ext cx="402336" cy="402336"/>
          </a:xfrm>
          <a:prstGeom prst="ellipse">
            <a:avLst/>
          </a:prstGeom>
          <a:solidFill>
            <a:schemeClr val="tx2"/>
          </a:solidFill>
          <a:ln/>
        </p:spPr>
      </p:sp>
      <p:pic>
        <p:nvPicPr>
          <p:cNvPr id="92" name="S3 Vectors" descr="preencoded.png"/>
          <p:cNvPicPr>
            <a:picLocks noChangeAspect="1"/>
          </p:cNvPicPr>
          <p:nvPr/>
        </p:nvPicPr>
        <p:blipFill>
          <a:blip r:embed="rId17"/>
          <a:stretch>
            <a:fillRect/>
          </a:stretch>
        </p:blipFill>
        <p:spPr>
          <a:xfrm>
            <a:off x="6419637" y="5272065"/>
            <a:ext cx="209215" cy="209215"/>
          </a:xfrm>
          <a:prstGeom prst="rect">
            <a:avLst/>
          </a:prstGeom>
        </p:spPr>
      </p:pic>
      <p:sp>
        <p:nvSpPr>
          <p:cNvPr id="93" name="Text 76"/>
          <p:cNvSpPr txBox="1"/>
          <p:nvPr/>
        </p:nvSpPr>
        <p:spPr>
          <a:xfrm>
            <a:off x="6835140" y="5138928"/>
            <a:ext cx="1872234" cy="182880"/>
          </a:xfrm>
          <a:prstGeom prst="rect">
            <a:avLst/>
          </a:prstGeom>
          <a:noFill/>
          <a:ln/>
        </p:spPr>
        <p:txBody>
          <a:bodyPr wrap="square" lIns="0" tIns="0" rIns="0" bIns="0" rtlCol="0" anchor="t"/>
          <a:lstStyle/>
          <a:p>
            <a:pPr marL="0" indent="0">
              <a:buNone/>
            </a:pPr>
            <a:r>
              <a:rPr lang="en-US" sz="900" b="1" kern="0" spc="100" dirty="0">
                <a:solidFill>
                  <a:srgbClr val="0E3B43"/>
                </a:solidFill>
              </a:rPr>
              <a:t>EVENTS &amp; AI</a:t>
            </a:r>
            <a:endParaRPr lang="en-US" sz="900" dirty="0"/>
          </a:p>
        </p:txBody>
      </p:sp>
      <p:sp>
        <p:nvSpPr>
          <p:cNvPr id="94" name="Text 77"/>
          <p:cNvSpPr txBox="1"/>
          <p:nvPr/>
        </p:nvSpPr>
        <p:spPr>
          <a:xfrm>
            <a:off x="6835140" y="531266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S3 Vectors</a:t>
            </a:r>
            <a:endParaRPr lang="en-US" sz="1350" dirty="0"/>
          </a:p>
        </p:txBody>
      </p:sp>
      <p:sp>
        <p:nvSpPr>
          <p:cNvPr id="95" name="Text 78"/>
          <p:cNvSpPr txBox="1"/>
          <p:nvPr/>
        </p:nvSpPr>
        <p:spPr>
          <a:xfrm>
            <a:off x="6323076" y="5650992"/>
            <a:ext cx="2375154" cy="411480"/>
          </a:xfrm>
          <a:prstGeom prst="rect">
            <a:avLst/>
          </a:prstGeom>
          <a:noFill/>
          <a:ln/>
        </p:spPr>
        <p:txBody>
          <a:bodyPr wrap="square" lIns="0" tIns="0" rIns="0" bIns="0" rtlCol="0" anchor="t"/>
          <a:lstStyle/>
          <a:p>
            <a:pPr marL="0" indent="0">
              <a:buNone/>
            </a:pPr>
            <a:r>
              <a:rPr lang="en-US" sz="1200" dirty="0">
                <a:solidFill>
                  <a:srgbClr val="4A5B5E"/>
                </a:solidFill>
              </a:rPr>
              <a:t>Serverless vector index — no vector database to run</a:t>
            </a:r>
            <a:endParaRPr lang="en-US" sz="1200" dirty="0"/>
          </a:p>
        </p:txBody>
      </p:sp>
      <p:sp>
        <p:nvSpPr>
          <p:cNvPr id="96" name="card"/>
          <p:cNvSpPr/>
          <p:nvPr/>
        </p:nvSpPr>
        <p:spPr>
          <a:xfrm>
            <a:off x="8990838" y="5029200"/>
            <a:ext cx="2649474" cy="1069848"/>
          </a:xfrm>
          <a:prstGeom prst="roundRect">
            <a:avLst>
              <a:gd name="adj" fmla="val 8547"/>
            </a:avLst>
          </a:prstGeom>
          <a:solidFill>
            <a:srgbClr val="FFFFFF"/>
          </a:solidFill>
          <a:ln/>
          <a:effectLst>
            <a:outerShdw blurRad="114300" dist="25400" dir="5400000" algn="bl" rotWithShape="0">
              <a:srgbClr val="0E3B43">
                <a:alpha val="13000"/>
              </a:srgbClr>
            </a:outerShdw>
          </a:effectLst>
        </p:spPr>
      </p:sp>
      <p:sp>
        <p:nvSpPr>
          <p:cNvPr id="97" name="CloudWatch + CloudTrail circle"/>
          <p:cNvSpPr/>
          <p:nvPr/>
        </p:nvSpPr>
        <p:spPr>
          <a:xfrm>
            <a:off x="9137142" y="5175504"/>
            <a:ext cx="402336" cy="402336"/>
          </a:xfrm>
          <a:prstGeom prst="ellipse">
            <a:avLst/>
          </a:prstGeom>
          <a:solidFill>
            <a:schemeClr val="accent3"/>
          </a:solidFill>
          <a:ln/>
        </p:spPr>
      </p:sp>
      <p:pic>
        <p:nvPicPr>
          <p:cNvPr id="98" name="CloudWatch + CloudTrail" descr="preencoded.png"/>
          <p:cNvPicPr>
            <a:picLocks noChangeAspect="1"/>
          </p:cNvPicPr>
          <p:nvPr/>
        </p:nvPicPr>
        <p:blipFill>
          <a:blip r:embed="rId18"/>
          <a:stretch>
            <a:fillRect/>
          </a:stretch>
        </p:blipFill>
        <p:spPr>
          <a:xfrm>
            <a:off x="9233703" y="5272065"/>
            <a:ext cx="209215" cy="209215"/>
          </a:xfrm>
          <a:prstGeom prst="rect">
            <a:avLst/>
          </a:prstGeom>
        </p:spPr>
      </p:pic>
      <p:sp>
        <p:nvSpPr>
          <p:cNvPr id="99" name="Text 81"/>
          <p:cNvSpPr txBox="1"/>
          <p:nvPr/>
        </p:nvSpPr>
        <p:spPr>
          <a:xfrm>
            <a:off x="9649206" y="5138928"/>
            <a:ext cx="1872234" cy="182880"/>
          </a:xfrm>
          <a:prstGeom prst="rect">
            <a:avLst/>
          </a:prstGeom>
          <a:noFill/>
          <a:ln/>
        </p:spPr>
        <p:txBody>
          <a:bodyPr wrap="square" lIns="0" tIns="0" rIns="0" bIns="0" rtlCol="0" anchor="t"/>
          <a:lstStyle/>
          <a:p>
            <a:pPr marL="0" indent="0">
              <a:buNone/>
            </a:pPr>
            <a:r>
              <a:rPr lang="en-US" sz="900" b="1" kern="0" spc="100" dirty="0">
                <a:solidFill>
                  <a:srgbClr val="1F9A82"/>
                </a:solidFill>
              </a:rPr>
              <a:t>OPERATIONS</a:t>
            </a:r>
            <a:endParaRPr lang="en-US" sz="900" dirty="0"/>
          </a:p>
        </p:txBody>
      </p:sp>
      <p:sp>
        <p:nvSpPr>
          <p:cNvPr id="100" name="Text 82"/>
          <p:cNvSpPr txBox="1"/>
          <p:nvPr/>
        </p:nvSpPr>
        <p:spPr>
          <a:xfrm>
            <a:off x="9649206" y="5312664"/>
            <a:ext cx="1899666" cy="274320"/>
          </a:xfrm>
          <a:prstGeom prst="rect">
            <a:avLst/>
          </a:prstGeom>
          <a:noFill/>
          <a:ln/>
        </p:spPr>
        <p:txBody>
          <a:bodyPr wrap="square" lIns="0" tIns="0" rIns="0" bIns="0" rtlCol="0" anchor="t"/>
          <a:lstStyle/>
          <a:p>
            <a:pPr marL="0" indent="0">
              <a:buNone/>
            </a:pPr>
            <a:r>
              <a:rPr lang="en-US" sz="1350" b="1" dirty="0">
                <a:solidFill>
                  <a:srgbClr val="132226"/>
                </a:solidFill>
              </a:rPr>
              <a:t>CloudWatch + CloudTrail</a:t>
            </a:r>
            <a:endParaRPr lang="en-US" sz="1350" dirty="0"/>
          </a:p>
        </p:txBody>
      </p:sp>
      <p:sp>
        <p:nvSpPr>
          <p:cNvPr id="101" name="Text 83"/>
          <p:cNvSpPr txBox="1"/>
          <p:nvPr/>
        </p:nvSpPr>
        <p:spPr>
          <a:xfrm>
            <a:off x="9137142" y="5650992"/>
            <a:ext cx="2375154" cy="411480"/>
          </a:xfrm>
          <a:prstGeom prst="rect">
            <a:avLst/>
          </a:prstGeom>
          <a:noFill/>
          <a:ln/>
        </p:spPr>
        <p:txBody>
          <a:bodyPr wrap="square" lIns="0" tIns="0" rIns="0" bIns="0" rtlCol="0" anchor="t"/>
          <a:lstStyle/>
          <a:p>
            <a:pPr marL="0" indent="0">
              <a:buNone/>
            </a:pPr>
            <a:r>
              <a:rPr lang="en-US" sz="1200" dirty="0">
                <a:solidFill>
                  <a:srgbClr val="4A5B5E"/>
                </a:solidFill>
              </a:rPr>
              <a:t>Alarms, dashboard and a validated audit trail</a:t>
            </a:r>
            <a:endParaRPr lang="en-US" sz="1200" dirty="0"/>
          </a:p>
        </p:txBody>
      </p:sp>
      <p:sp>
        <p:nvSpPr>
          <p:cNvPr id="102"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Architecture evolution — 12 milestones</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Each milestone added one capability while preserving the previous architecture.</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Journey</a:t>
            </a:r>
            <a:endParaRPr lang="en-US" sz="1200" dirty="0"/>
          </a:p>
        </p:txBody>
      </p:sp>
      <p:sp>
        <p:nvSpPr>
          <p:cNvPr id="6" name="card"/>
          <p:cNvSpPr/>
          <p:nvPr/>
        </p:nvSpPr>
        <p:spPr>
          <a:xfrm>
            <a:off x="548640" y="1463040"/>
            <a:ext cx="2649474" cy="1261872"/>
          </a:xfrm>
          <a:prstGeom prst="roundRect">
            <a:avLst>
              <a:gd name="adj" fmla="val 7246"/>
            </a:avLst>
          </a:prstGeom>
          <a:solidFill>
            <a:srgbClr val="FFFFFF"/>
          </a:solidFill>
          <a:ln/>
          <a:effectLst>
            <a:outerShdw blurRad="114300" dist="25400" dir="5400000" algn="bl" rotWithShape="0">
              <a:srgbClr val="0E3B43">
                <a:alpha val="13000"/>
              </a:srgbClr>
            </a:outerShdw>
          </a:effectLst>
        </p:spPr>
      </p:sp>
      <p:sp>
        <p:nvSpPr>
          <p:cNvPr id="7" name="phase bar"/>
          <p:cNvSpPr/>
          <p:nvPr/>
        </p:nvSpPr>
        <p:spPr>
          <a:xfrm>
            <a:off x="548640" y="1554480"/>
            <a:ext cx="73152" cy="1078992"/>
          </a:xfrm>
          <a:prstGeom prst="rect">
            <a:avLst/>
          </a:prstGeom>
          <a:solidFill>
            <a:schemeClr val="accent1"/>
          </a:solidFill>
          <a:ln/>
        </p:spPr>
      </p:sp>
      <p:sp>
        <p:nvSpPr>
          <p:cNvPr id="8" name="milestone M1"/>
          <p:cNvSpPr/>
          <p:nvPr/>
        </p:nvSpPr>
        <p:spPr>
          <a:xfrm>
            <a:off x="777240" y="1664208"/>
            <a:ext cx="502920" cy="502920"/>
          </a:xfrm>
          <a:prstGeom prst="ellipse">
            <a:avLst/>
          </a:prstGeom>
          <a:solidFill>
            <a:schemeClr val="tx2"/>
          </a:solidFill>
          <a:ln/>
        </p:spPr>
      </p:sp>
      <p:sp>
        <p:nvSpPr>
          <p:cNvPr id="9" name="Text 7"/>
          <p:cNvSpPr txBox="1"/>
          <p:nvPr/>
        </p:nvSpPr>
        <p:spPr>
          <a:xfrm>
            <a:off x="777240" y="1664208"/>
            <a:ext cx="502920" cy="502920"/>
          </a:xfrm>
          <a:prstGeom prst="rect">
            <a:avLst/>
          </a:prstGeom>
          <a:noFill/>
          <a:ln/>
        </p:spPr>
        <p:txBody>
          <a:bodyPr wrap="square" lIns="0" tIns="0" rIns="0" bIns="0" rtlCol="0" anchor="ctr"/>
          <a:lstStyle/>
          <a:p>
            <a:pPr marL="0" indent="0" algn="ctr">
              <a:buNone/>
            </a:pPr>
            <a:r>
              <a:rPr lang="en-US" sz="1300" b="1" dirty="0">
                <a:solidFill>
                  <a:srgbClr val="F2A541"/>
                </a:solidFill>
              </a:rPr>
              <a:t>M1</a:t>
            </a:r>
            <a:endParaRPr lang="en-US" sz="1300" dirty="0"/>
          </a:p>
        </p:txBody>
      </p:sp>
      <p:sp>
        <p:nvSpPr>
          <p:cNvPr id="10" name="Text 8"/>
          <p:cNvSpPr txBox="1"/>
          <p:nvPr/>
        </p:nvSpPr>
        <p:spPr>
          <a:xfrm>
            <a:off x="1417320" y="1682496"/>
            <a:ext cx="1415034" cy="457200"/>
          </a:xfrm>
          <a:prstGeom prst="rect">
            <a:avLst/>
          </a:prstGeom>
          <a:noFill/>
          <a:ln/>
        </p:spPr>
        <p:txBody>
          <a:bodyPr wrap="square" lIns="0" tIns="0" rIns="0" bIns="0" rtlCol="0" anchor="ctr"/>
          <a:lstStyle/>
          <a:p>
            <a:pPr marL="0" indent="0">
              <a:buNone/>
            </a:pPr>
            <a:r>
              <a:rPr lang="en-US" sz="1500" b="1" dirty="0">
                <a:solidFill>
                  <a:srgbClr val="132226"/>
                </a:solidFill>
              </a:rPr>
              <a:t>Network foundation</a:t>
            </a:r>
            <a:endParaRPr lang="en-US" sz="1500" dirty="0"/>
          </a:p>
        </p:txBody>
      </p:sp>
      <p:sp>
        <p:nvSpPr>
          <p:cNvPr id="11" name="done circle"/>
          <p:cNvSpPr/>
          <p:nvPr/>
        </p:nvSpPr>
        <p:spPr>
          <a:xfrm>
            <a:off x="2814066" y="1764792"/>
            <a:ext cx="274320" cy="274320"/>
          </a:xfrm>
          <a:prstGeom prst="ellipse">
            <a:avLst/>
          </a:prstGeom>
          <a:solidFill>
            <a:schemeClr val="accent3"/>
          </a:solidFill>
          <a:ln/>
        </p:spPr>
      </p:sp>
      <p:pic>
        <p:nvPicPr>
          <p:cNvPr id="12" name="done" descr="preencoded.png"/>
          <p:cNvPicPr>
            <a:picLocks noChangeAspect="1"/>
          </p:cNvPicPr>
          <p:nvPr/>
        </p:nvPicPr>
        <p:blipFill>
          <a:blip r:embed="rId3"/>
          <a:stretch>
            <a:fillRect/>
          </a:stretch>
        </p:blipFill>
        <p:spPr>
          <a:xfrm>
            <a:off x="2879903" y="1830629"/>
            <a:ext cx="142646" cy="142646"/>
          </a:xfrm>
          <a:prstGeom prst="rect">
            <a:avLst/>
          </a:prstGeom>
        </p:spPr>
      </p:pic>
      <p:sp>
        <p:nvSpPr>
          <p:cNvPr id="13" name="Text 10"/>
          <p:cNvSpPr txBox="1"/>
          <p:nvPr/>
        </p:nvSpPr>
        <p:spPr>
          <a:xfrm>
            <a:off x="777240" y="2267712"/>
            <a:ext cx="2283714" cy="347472"/>
          </a:xfrm>
          <a:prstGeom prst="rect">
            <a:avLst/>
          </a:prstGeom>
          <a:noFill/>
          <a:ln/>
        </p:spPr>
        <p:txBody>
          <a:bodyPr wrap="square" lIns="0" tIns="0" rIns="0" bIns="0" rtlCol="0" anchor="ctr"/>
          <a:lstStyle/>
          <a:p>
            <a:pPr marL="0" indent="0">
              <a:buNone/>
            </a:pPr>
            <a:r>
              <a:rPr lang="en-US" sz="1200" dirty="0">
                <a:solidFill>
                  <a:srgbClr val="4A5B5E"/>
                </a:solidFill>
              </a:rPr>
              <a:t>VPC · 6 subnets · 2 NAT · SG</a:t>
            </a:r>
            <a:endParaRPr lang="en-US" sz="1200" dirty="0"/>
          </a:p>
        </p:txBody>
      </p:sp>
      <p:sp>
        <p:nvSpPr>
          <p:cNvPr id="14" name="card"/>
          <p:cNvSpPr/>
          <p:nvPr/>
        </p:nvSpPr>
        <p:spPr>
          <a:xfrm>
            <a:off x="3362706" y="1463040"/>
            <a:ext cx="2649474" cy="1261872"/>
          </a:xfrm>
          <a:prstGeom prst="roundRect">
            <a:avLst>
              <a:gd name="adj" fmla="val 7246"/>
            </a:avLst>
          </a:prstGeom>
          <a:solidFill>
            <a:srgbClr val="FFFFFF"/>
          </a:solidFill>
          <a:ln/>
          <a:effectLst>
            <a:outerShdw blurRad="114300" dist="25400" dir="5400000" algn="bl" rotWithShape="0">
              <a:srgbClr val="0E3B43">
                <a:alpha val="13000"/>
              </a:srgbClr>
            </a:outerShdw>
          </a:effectLst>
        </p:spPr>
      </p:sp>
      <p:sp>
        <p:nvSpPr>
          <p:cNvPr id="15" name="phase bar"/>
          <p:cNvSpPr/>
          <p:nvPr/>
        </p:nvSpPr>
        <p:spPr>
          <a:xfrm>
            <a:off x="3362706" y="1554480"/>
            <a:ext cx="73152" cy="1078992"/>
          </a:xfrm>
          <a:prstGeom prst="rect">
            <a:avLst/>
          </a:prstGeom>
          <a:solidFill>
            <a:schemeClr val="accent1"/>
          </a:solidFill>
          <a:ln/>
        </p:spPr>
      </p:sp>
      <p:sp>
        <p:nvSpPr>
          <p:cNvPr id="16" name="milestone M2"/>
          <p:cNvSpPr/>
          <p:nvPr/>
        </p:nvSpPr>
        <p:spPr>
          <a:xfrm>
            <a:off x="3591306" y="1664208"/>
            <a:ext cx="502920" cy="502920"/>
          </a:xfrm>
          <a:prstGeom prst="ellipse">
            <a:avLst/>
          </a:prstGeom>
          <a:solidFill>
            <a:schemeClr val="tx2"/>
          </a:solidFill>
          <a:ln/>
        </p:spPr>
      </p:sp>
      <p:sp>
        <p:nvSpPr>
          <p:cNvPr id="17" name="Text 14"/>
          <p:cNvSpPr txBox="1"/>
          <p:nvPr/>
        </p:nvSpPr>
        <p:spPr>
          <a:xfrm>
            <a:off x="3591306" y="1664208"/>
            <a:ext cx="502920" cy="502920"/>
          </a:xfrm>
          <a:prstGeom prst="rect">
            <a:avLst/>
          </a:prstGeom>
          <a:noFill/>
          <a:ln/>
        </p:spPr>
        <p:txBody>
          <a:bodyPr wrap="square" lIns="0" tIns="0" rIns="0" bIns="0" rtlCol="0" anchor="ctr"/>
          <a:lstStyle/>
          <a:p>
            <a:pPr marL="0" indent="0" algn="ctr">
              <a:buNone/>
            </a:pPr>
            <a:r>
              <a:rPr lang="en-US" sz="1300" b="1" dirty="0">
                <a:solidFill>
                  <a:srgbClr val="F2A541"/>
                </a:solidFill>
              </a:rPr>
              <a:t>M2</a:t>
            </a:r>
            <a:endParaRPr lang="en-US" sz="1300" dirty="0"/>
          </a:p>
        </p:txBody>
      </p:sp>
      <p:sp>
        <p:nvSpPr>
          <p:cNvPr id="18" name="Text 15"/>
          <p:cNvSpPr txBox="1"/>
          <p:nvPr/>
        </p:nvSpPr>
        <p:spPr>
          <a:xfrm>
            <a:off x="4231386" y="1682496"/>
            <a:ext cx="1415034" cy="457200"/>
          </a:xfrm>
          <a:prstGeom prst="rect">
            <a:avLst/>
          </a:prstGeom>
          <a:noFill/>
          <a:ln/>
        </p:spPr>
        <p:txBody>
          <a:bodyPr wrap="square" lIns="0" tIns="0" rIns="0" bIns="0" rtlCol="0" anchor="ctr"/>
          <a:lstStyle/>
          <a:p>
            <a:pPr marL="0" indent="0">
              <a:buNone/>
            </a:pPr>
            <a:r>
              <a:rPr lang="en-US" sz="1500" b="1" dirty="0">
                <a:solidFill>
                  <a:srgbClr val="132226"/>
                </a:solidFill>
              </a:rPr>
              <a:t>Container runtime</a:t>
            </a:r>
            <a:endParaRPr lang="en-US" sz="1500" dirty="0"/>
          </a:p>
        </p:txBody>
      </p:sp>
      <p:sp>
        <p:nvSpPr>
          <p:cNvPr id="19" name="done circle"/>
          <p:cNvSpPr/>
          <p:nvPr/>
        </p:nvSpPr>
        <p:spPr>
          <a:xfrm>
            <a:off x="5628132" y="1764792"/>
            <a:ext cx="274320" cy="274320"/>
          </a:xfrm>
          <a:prstGeom prst="ellipse">
            <a:avLst/>
          </a:prstGeom>
          <a:solidFill>
            <a:schemeClr val="accent3"/>
          </a:solidFill>
          <a:ln/>
        </p:spPr>
      </p:sp>
      <p:pic>
        <p:nvPicPr>
          <p:cNvPr id="20" name="done" descr="preencoded.png"/>
          <p:cNvPicPr>
            <a:picLocks noChangeAspect="1"/>
          </p:cNvPicPr>
          <p:nvPr/>
        </p:nvPicPr>
        <p:blipFill>
          <a:blip r:embed="rId3"/>
          <a:stretch>
            <a:fillRect/>
          </a:stretch>
        </p:blipFill>
        <p:spPr>
          <a:xfrm>
            <a:off x="5693969" y="1830629"/>
            <a:ext cx="142646" cy="142646"/>
          </a:xfrm>
          <a:prstGeom prst="rect">
            <a:avLst/>
          </a:prstGeom>
        </p:spPr>
      </p:pic>
      <p:sp>
        <p:nvSpPr>
          <p:cNvPr id="21" name="Text 17"/>
          <p:cNvSpPr txBox="1"/>
          <p:nvPr/>
        </p:nvSpPr>
        <p:spPr>
          <a:xfrm>
            <a:off x="3591306" y="2267712"/>
            <a:ext cx="2283714" cy="347472"/>
          </a:xfrm>
          <a:prstGeom prst="rect">
            <a:avLst/>
          </a:prstGeom>
          <a:noFill/>
          <a:ln/>
        </p:spPr>
        <p:txBody>
          <a:bodyPr wrap="square" lIns="0" tIns="0" rIns="0" bIns="0" rtlCol="0" anchor="ctr"/>
          <a:lstStyle/>
          <a:p>
            <a:pPr marL="0" indent="0">
              <a:buNone/>
            </a:pPr>
            <a:r>
              <a:rPr lang="en-US" sz="1200" dirty="0">
                <a:solidFill>
                  <a:srgbClr val="4A5B5E"/>
                </a:solidFill>
              </a:rPr>
              <a:t>Docker · ECR · ECS Fargate</a:t>
            </a:r>
            <a:endParaRPr lang="en-US" sz="1200" dirty="0"/>
          </a:p>
        </p:txBody>
      </p:sp>
      <p:sp>
        <p:nvSpPr>
          <p:cNvPr id="22" name="card"/>
          <p:cNvSpPr/>
          <p:nvPr/>
        </p:nvSpPr>
        <p:spPr>
          <a:xfrm>
            <a:off x="6176772" y="1463040"/>
            <a:ext cx="2649474" cy="1261872"/>
          </a:xfrm>
          <a:prstGeom prst="roundRect">
            <a:avLst>
              <a:gd name="adj" fmla="val 7246"/>
            </a:avLst>
          </a:prstGeom>
          <a:solidFill>
            <a:srgbClr val="FFFFFF"/>
          </a:solidFill>
          <a:ln/>
          <a:effectLst>
            <a:outerShdw blurRad="114300" dist="25400" dir="5400000" algn="bl" rotWithShape="0">
              <a:srgbClr val="0E3B43">
                <a:alpha val="13000"/>
              </a:srgbClr>
            </a:outerShdw>
          </a:effectLst>
        </p:spPr>
      </p:sp>
      <p:sp>
        <p:nvSpPr>
          <p:cNvPr id="23" name="phase bar"/>
          <p:cNvSpPr/>
          <p:nvPr/>
        </p:nvSpPr>
        <p:spPr>
          <a:xfrm>
            <a:off x="6176772" y="1554480"/>
            <a:ext cx="73152" cy="1078992"/>
          </a:xfrm>
          <a:prstGeom prst="rect">
            <a:avLst/>
          </a:prstGeom>
          <a:solidFill>
            <a:schemeClr val="accent1"/>
          </a:solidFill>
          <a:ln/>
        </p:spPr>
      </p:sp>
      <p:sp>
        <p:nvSpPr>
          <p:cNvPr id="24" name="milestone M3"/>
          <p:cNvSpPr/>
          <p:nvPr/>
        </p:nvSpPr>
        <p:spPr>
          <a:xfrm>
            <a:off x="6405372" y="1664208"/>
            <a:ext cx="502920" cy="502920"/>
          </a:xfrm>
          <a:prstGeom prst="ellipse">
            <a:avLst/>
          </a:prstGeom>
          <a:solidFill>
            <a:schemeClr val="tx2"/>
          </a:solidFill>
          <a:ln/>
        </p:spPr>
      </p:sp>
      <p:sp>
        <p:nvSpPr>
          <p:cNvPr id="25" name="Text 21"/>
          <p:cNvSpPr txBox="1"/>
          <p:nvPr/>
        </p:nvSpPr>
        <p:spPr>
          <a:xfrm>
            <a:off x="6405372" y="1664208"/>
            <a:ext cx="502920" cy="502920"/>
          </a:xfrm>
          <a:prstGeom prst="rect">
            <a:avLst/>
          </a:prstGeom>
          <a:noFill/>
          <a:ln/>
        </p:spPr>
        <p:txBody>
          <a:bodyPr wrap="square" lIns="0" tIns="0" rIns="0" bIns="0" rtlCol="0" anchor="ctr"/>
          <a:lstStyle/>
          <a:p>
            <a:pPr marL="0" indent="0" algn="ctr">
              <a:buNone/>
            </a:pPr>
            <a:r>
              <a:rPr lang="en-US" sz="1300" b="1" dirty="0">
                <a:solidFill>
                  <a:srgbClr val="F2A541"/>
                </a:solidFill>
              </a:rPr>
              <a:t>M3</a:t>
            </a:r>
            <a:endParaRPr lang="en-US" sz="1300" dirty="0"/>
          </a:p>
        </p:txBody>
      </p:sp>
      <p:sp>
        <p:nvSpPr>
          <p:cNvPr id="26" name="Text 22"/>
          <p:cNvSpPr txBox="1"/>
          <p:nvPr/>
        </p:nvSpPr>
        <p:spPr>
          <a:xfrm>
            <a:off x="7045452" y="1682496"/>
            <a:ext cx="1415034" cy="457200"/>
          </a:xfrm>
          <a:prstGeom prst="rect">
            <a:avLst/>
          </a:prstGeom>
          <a:noFill/>
          <a:ln/>
        </p:spPr>
        <p:txBody>
          <a:bodyPr wrap="square" lIns="0" tIns="0" rIns="0" bIns="0" rtlCol="0" anchor="ctr"/>
          <a:lstStyle/>
          <a:p>
            <a:pPr marL="0" indent="0">
              <a:buNone/>
            </a:pPr>
            <a:r>
              <a:rPr lang="en-US" sz="1500" b="1" dirty="0">
                <a:solidFill>
                  <a:srgbClr val="132226"/>
                </a:solidFill>
              </a:rPr>
              <a:t>Availability</a:t>
            </a:r>
            <a:endParaRPr lang="en-US" sz="1500" dirty="0"/>
          </a:p>
        </p:txBody>
      </p:sp>
      <p:sp>
        <p:nvSpPr>
          <p:cNvPr id="27" name="done circle"/>
          <p:cNvSpPr/>
          <p:nvPr/>
        </p:nvSpPr>
        <p:spPr>
          <a:xfrm>
            <a:off x="8442198" y="1764792"/>
            <a:ext cx="274320" cy="274320"/>
          </a:xfrm>
          <a:prstGeom prst="ellipse">
            <a:avLst/>
          </a:prstGeom>
          <a:solidFill>
            <a:schemeClr val="accent3"/>
          </a:solidFill>
          <a:ln/>
        </p:spPr>
      </p:sp>
      <p:pic>
        <p:nvPicPr>
          <p:cNvPr id="28" name="done" descr="preencoded.png"/>
          <p:cNvPicPr>
            <a:picLocks noChangeAspect="1"/>
          </p:cNvPicPr>
          <p:nvPr/>
        </p:nvPicPr>
        <p:blipFill>
          <a:blip r:embed="rId3"/>
          <a:stretch>
            <a:fillRect/>
          </a:stretch>
        </p:blipFill>
        <p:spPr>
          <a:xfrm>
            <a:off x="8508035" y="1830629"/>
            <a:ext cx="142646" cy="142646"/>
          </a:xfrm>
          <a:prstGeom prst="rect">
            <a:avLst/>
          </a:prstGeom>
        </p:spPr>
      </p:pic>
      <p:sp>
        <p:nvSpPr>
          <p:cNvPr id="29" name="Text 24"/>
          <p:cNvSpPr txBox="1"/>
          <p:nvPr/>
        </p:nvSpPr>
        <p:spPr>
          <a:xfrm>
            <a:off x="6405372" y="2267712"/>
            <a:ext cx="2283714" cy="347472"/>
          </a:xfrm>
          <a:prstGeom prst="rect">
            <a:avLst/>
          </a:prstGeom>
          <a:noFill/>
          <a:ln/>
        </p:spPr>
        <p:txBody>
          <a:bodyPr wrap="square" lIns="0" tIns="0" rIns="0" bIns="0" rtlCol="0" anchor="ctr"/>
          <a:lstStyle/>
          <a:p>
            <a:pPr marL="0" indent="0">
              <a:buNone/>
            </a:pPr>
            <a:r>
              <a:rPr lang="en-US" sz="1200" dirty="0">
                <a:solidFill>
                  <a:srgbClr val="4A5B5E"/>
                </a:solidFill>
              </a:rPr>
              <a:t>ALB · 2 AZs · Auto Scaling</a:t>
            </a:r>
            <a:endParaRPr lang="en-US" sz="1200" dirty="0"/>
          </a:p>
        </p:txBody>
      </p:sp>
      <p:sp>
        <p:nvSpPr>
          <p:cNvPr id="30" name="card"/>
          <p:cNvSpPr/>
          <p:nvPr/>
        </p:nvSpPr>
        <p:spPr>
          <a:xfrm>
            <a:off x="8990838" y="1463040"/>
            <a:ext cx="2649474" cy="1261872"/>
          </a:xfrm>
          <a:prstGeom prst="roundRect">
            <a:avLst>
              <a:gd name="adj" fmla="val 7246"/>
            </a:avLst>
          </a:prstGeom>
          <a:solidFill>
            <a:srgbClr val="FFFFFF"/>
          </a:solidFill>
          <a:ln/>
          <a:effectLst>
            <a:outerShdw blurRad="114300" dist="25400" dir="5400000" algn="bl" rotWithShape="0">
              <a:srgbClr val="0E3B43">
                <a:alpha val="13000"/>
              </a:srgbClr>
            </a:outerShdw>
          </a:effectLst>
        </p:spPr>
      </p:sp>
      <p:sp>
        <p:nvSpPr>
          <p:cNvPr id="31" name="phase bar"/>
          <p:cNvSpPr/>
          <p:nvPr/>
        </p:nvSpPr>
        <p:spPr>
          <a:xfrm>
            <a:off x="8990838" y="1554480"/>
            <a:ext cx="73152" cy="1078992"/>
          </a:xfrm>
          <a:prstGeom prst="rect">
            <a:avLst/>
          </a:prstGeom>
          <a:solidFill>
            <a:schemeClr val="accent1"/>
          </a:solidFill>
          <a:ln/>
        </p:spPr>
      </p:sp>
      <p:sp>
        <p:nvSpPr>
          <p:cNvPr id="32" name="milestone M4"/>
          <p:cNvSpPr/>
          <p:nvPr/>
        </p:nvSpPr>
        <p:spPr>
          <a:xfrm>
            <a:off x="9219438" y="1664208"/>
            <a:ext cx="502920" cy="502920"/>
          </a:xfrm>
          <a:prstGeom prst="ellipse">
            <a:avLst/>
          </a:prstGeom>
          <a:solidFill>
            <a:schemeClr val="tx2"/>
          </a:solidFill>
          <a:ln/>
        </p:spPr>
      </p:sp>
      <p:sp>
        <p:nvSpPr>
          <p:cNvPr id="33" name="Text 28"/>
          <p:cNvSpPr txBox="1"/>
          <p:nvPr/>
        </p:nvSpPr>
        <p:spPr>
          <a:xfrm>
            <a:off x="9219438" y="1664208"/>
            <a:ext cx="502920" cy="502920"/>
          </a:xfrm>
          <a:prstGeom prst="rect">
            <a:avLst/>
          </a:prstGeom>
          <a:noFill/>
          <a:ln/>
        </p:spPr>
        <p:txBody>
          <a:bodyPr wrap="square" lIns="0" tIns="0" rIns="0" bIns="0" rtlCol="0" anchor="ctr"/>
          <a:lstStyle/>
          <a:p>
            <a:pPr marL="0" indent="0" algn="ctr">
              <a:buNone/>
            </a:pPr>
            <a:r>
              <a:rPr lang="en-US" sz="1300" b="1" dirty="0">
                <a:solidFill>
                  <a:srgbClr val="F2A541"/>
                </a:solidFill>
              </a:rPr>
              <a:t>M4</a:t>
            </a:r>
            <a:endParaRPr lang="en-US" sz="1300" dirty="0"/>
          </a:p>
        </p:txBody>
      </p:sp>
      <p:sp>
        <p:nvSpPr>
          <p:cNvPr id="34" name="Text 29"/>
          <p:cNvSpPr txBox="1"/>
          <p:nvPr/>
        </p:nvSpPr>
        <p:spPr>
          <a:xfrm>
            <a:off x="9859518" y="1682496"/>
            <a:ext cx="1415034" cy="457200"/>
          </a:xfrm>
          <a:prstGeom prst="rect">
            <a:avLst/>
          </a:prstGeom>
          <a:noFill/>
          <a:ln/>
        </p:spPr>
        <p:txBody>
          <a:bodyPr wrap="square" lIns="0" tIns="0" rIns="0" bIns="0" rtlCol="0" anchor="ctr"/>
          <a:lstStyle/>
          <a:p>
            <a:pPr marL="0" indent="0">
              <a:buNone/>
            </a:pPr>
            <a:r>
              <a:rPr lang="en-US" sz="1500" b="1" dirty="0">
                <a:solidFill>
                  <a:srgbClr val="132226"/>
                </a:solidFill>
              </a:rPr>
              <a:t>Deployment</a:t>
            </a:r>
            <a:endParaRPr lang="en-US" sz="1500" dirty="0"/>
          </a:p>
        </p:txBody>
      </p:sp>
      <p:sp>
        <p:nvSpPr>
          <p:cNvPr id="35" name="done circle"/>
          <p:cNvSpPr/>
          <p:nvPr/>
        </p:nvSpPr>
        <p:spPr>
          <a:xfrm>
            <a:off x="11256264" y="1764792"/>
            <a:ext cx="274320" cy="274320"/>
          </a:xfrm>
          <a:prstGeom prst="ellipse">
            <a:avLst/>
          </a:prstGeom>
          <a:solidFill>
            <a:schemeClr val="accent3"/>
          </a:solidFill>
          <a:ln/>
        </p:spPr>
      </p:sp>
      <p:pic>
        <p:nvPicPr>
          <p:cNvPr id="36" name="done" descr="preencoded.png"/>
          <p:cNvPicPr>
            <a:picLocks noChangeAspect="1"/>
          </p:cNvPicPr>
          <p:nvPr/>
        </p:nvPicPr>
        <p:blipFill>
          <a:blip r:embed="rId3"/>
          <a:stretch>
            <a:fillRect/>
          </a:stretch>
        </p:blipFill>
        <p:spPr>
          <a:xfrm>
            <a:off x="11322101" y="1830629"/>
            <a:ext cx="142646" cy="142646"/>
          </a:xfrm>
          <a:prstGeom prst="rect">
            <a:avLst/>
          </a:prstGeom>
        </p:spPr>
      </p:pic>
      <p:sp>
        <p:nvSpPr>
          <p:cNvPr id="37" name="Text 31"/>
          <p:cNvSpPr txBox="1"/>
          <p:nvPr/>
        </p:nvSpPr>
        <p:spPr>
          <a:xfrm>
            <a:off x="9219438" y="2267712"/>
            <a:ext cx="2283714" cy="347472"/>
          </a:xfrm>
          <a:prstGeom prst="rect">
            <a:avLst/>
          </a:prstGeom>
          <a:noFill/>
          <a:ln/>
        </p:spPr>
        <p:txBody>
          <a:bodyPr wrap="square" lIns="0" tIns="0" rIns="0" bIns="0" rtlCol="0" anchor="ctr"/>
          <a:lstStyle/>
          <a:p>
            <a:pPr marL="0" indent="0">
              <a:buNone/>
            </a:pPr>
            <a:r>
              <a:rPr lang="en-US" sz="1200" dirty="0">
                <a:solidFill>
                  <a:srgbClr val="4A5B5E"/>
                </a:solidFill>
              </a:rPr>
              <a:t>GitHub Actions · OIDC · SHA</a:t>
            </a:r>
            <a:endParaRPr lang="en-US" sz="1200" dirty="0"/>
          </a:p>
        </p:txBody>
      </p:sp>
      <p:sp>
        <p:nvSpPr>
          <p:cNvPr id="38" name="card"/>
          <p:cNvSpPr/>
          <p:nvPr/>
        </p:nvSpPr>
        <p:spPr>
          <a:xfrm>
            <a:off x="548640" y="2880360"/>
            <a:ext cx="2649474" cy="1261872"/>
          </a:xfrm>
          <a:prstGeom prst="roundRect">
            <a:avLst>
              <a:gd name="adj" fmla="val 7246"/>
            </a:avLst>
          </a:prstGeom>
          <a:solidFill>
            <a:srgbClr val="FFFFFF"/>
          </a:solidFill>
          <a:ln/>
          <a:effectLst>
            <a:outerShdw blurRad="114300" dist="25400" dir="5400000" algn="bl" rotWithShape="0">
              <a:srgbClr val="0E3B43">
                <a:alpha val="13000"/>
              </a:srgbClr>
            </a:outerShdw>
          </a:effectLst>
        </p:spPr>
      </p:sp>
      <p:sp>
        <p:nvSpPr>
          <p:cNvPr id="39" name="phase bar"/>
          <p:cNvSpPr/>
          <p:nvPr/>
        </p:nvSpPr>
        <p:spPr>
          <a:xfrm>
            <a:off x="548640" y="2971800"/>
            <a:ext cx="73152" cy="1078992"/>
          </a:xfrm>
          <a:prstGeom prst="rect">
            <a:avLst/>
          </a:prstGeom>
          <a:solidFill>
            <a:schemeClr val="accent5"/>
          </a:solidFill>
          <a:ln/>
        </p:spPr>
      </p:sp>
      <p:sp>
        <p:nvSpPr>
          <p:cNvPr id="40" name="milestone M5"/>
          <p:cNvSpPr/>
          <p:nvPr/>
        </p:nvSpPr>
        <p:spPr>
          <a:xfrm>
            <a:off x="777240" y="3081528"/>
            <a:ext cx="502920" cy="502920"/>
          </a:xfrm>
          <a:prstGeom prst="ellipse">
            <a:avLst/>
          </a:prstGeom>
          <a:solidFill>
            <a:schemeClr val="tx2"/>
          </a:solidFill>
          <a:ln/>
        </p:spPr>
      </p:sp>
      <p:sp>
        <p:nvSpPr>
          <p:cNvPr id="41" name="Text 35"/>
          <p:cNvSpPr txBox="1"/>
          <p:nvPr/>
        </p:nvSpPr>
        <p:spPr>
          <a:xfrm>
            <a:off x="777240" y="3081528"/>
            <a:ext cx="502920" cy="502920"/>
          </a:xfrm>
          <a:prstGeom prst="rect">
            <a:avLst/>
          </a:prstGeom>
          <a:noFill/>
          <a:ln/>
        </p:spPr>
        <p:txBody>
          <a:bodyPr wrap="square" lIns="0" tIns="0" rIns="0" bIns="0" rtlCol="0" anchor="ctr"/>
          <a:lstStyle/>
          <a:p>
            <a:pPr marL="0" indent="0" algn="ctr">
              <a:buNone/>
            </a:pPr>
            <a:r>
              <a:rPr lang="en-US" sz="1300" b="1" dirty="0">
                <a:solidFill>
                  <a:srgbClr val="F2A541"/>
                </a:solidFill>
              </a:rPr>
              <a:t>M5</a:t>
            </a:r>
            <a:endParaRPr lang="en-US" sz="1300" dirty="0"/>
          </a:p>
        </p:txBody>
      </p:sp>
      <p:sp>
        <p:nvSpPr>
          <p:cNvPr id="42" name="Text 36"/>
          <p:cNvSpPr txBox="1"/>
          <p:nvPr/>
        </p:nvSpPr>
        <p:spPr>
          <a:xfrm>
            <a:off x="1417320" y="3099816"/>
            <a:ext cx="1415034" cy="457200"/>
          </a:xfrm>
          <a:prstGeom prst="rect">
            <a:avLst/>
          </a:prstGeom>
          <a:noFill/>
          <a:ln/>
        </p:spPr>
        <p:txBody>
          <a:bodyPr wrap="square" lIns="0" tIns="0" rIns="0" bIns="0" rtlCol="0" anchor="ctr"/>
          <a:lstStyle/>
          <a:p>
            <a:pPr marL="0" indent="0">
              <a:buNone/>
            </a:pPr>
            <a:r>
              <a:rPr lang="en-US" sz="1500" b="1" dirty="0">
                <a:solidFill>
                  <a:srgbClr val="132226"/>
                </a:solidFill>
              </a:rPr>
              <a:t>Data layer</a:t>
            </a:r>
            <a:endParaRPr lang="en-US" sz="1500" dirty="0"/>
          </a:p>
        </p:txBody>
      </p:sp>
      <p:sp>
        <p:nvSpPr>
          <p:cNvPr id="43" name="done circle"/>
          <p:cNvSpPr/>
          <p:nvPr/>
        </p:nvSpPr>
        <p:spPr>
          <a:xfrm>
            <a:off x="2814066" y="3182112"/>
            <a:ext cx="274320" cy="274320"/>
          </a:xfrm>
          <a:prstGeom prst="ellipse">
            <a:avLst/>
          </a:prstGeom>
          <a:solidFill>
            <a:schemeClr val="accent3"/>
          </a:solidFill>
          <a:ln/>
        </p:spPr>
      </p:sp>
      <p:pic>
        <p:nvPicPr>
          <p:cNvPr id="44" name="done" descr="preencoded.png"/>
          <p:cNvPicPr>
            <a:picLocks noChangeAspect="1"/>
          </p:cNvPicPr>
          <p:nvPr/>
        </p:nvPicPr>
        <p:blipFill>
          <a:blip r:embed="rId3"/>
          <a:stretch>
            <a:fillRect/>
          </a:stretch>
        </p:blipFill>
        <p:spPr>
          <a:xfrm>
            <a:off x="2879903" y="3247949"/>
            <a:ext cx="142646" cy="142646"/>
          </a:xfrm>
          <a:prstGeom prst="rect">
            <a:avLst/>
          </a:prstGeom>
        </p:spPr>
      </p:pic>
      <p:sp>
        <p:nvSpPr>
          <p:cNvPr id="45" name="Text 38"/>
          <p:cNvSpPr txBox="1"/>
          <p:nvPr/>
        </p:nvSpPr>
        <p:spPr>
          <a:xfrm>
            <a:off x="777240" y="3685032"/>
            <a:ext cx="2283714" cy="347472"/>
          </a:xfrm>
          <a:prstGeom prst="rect">
            <a:avLst/>
          </a:prstGeom>
          <a:noFill/>
          <a:ln/>
        </p:spPr>
        <p:txBody>
          <a:bodyPr wrap="square" lIns="0" tIns="0" rIns="0" bIns="0" rtlCol="0" anchor="ctr"/>
          <a:lstStyle/>
          <a:p>
            <a:pPr marL="0" indent="0">
              <a:buNone/>
            </a:pPr>
            <a:r>
              <a:rPr lang="en-US" sz="1200" dirty="0">
                <a:solidFill>
                  <a:srgbClr val="4A5B5E"/>
                </a:solidFill>
              </a:rPr>
              <a:t>MariaDB · S3 · Secrets</a:t>
            </a:r>
            <a:endParaRPr lang="en-US" sz="1200" dirty="0"/>
          </a:p>
        </p:txBody>
      </p:sp>
      <p:sp>
        <p:nvSpPr>
          <p:cNvPr id="46" name="card"/>
          <p:cNvSpPr/>
          <p:nvPr/>
        </p:nvSpPr>
        <p:spPr>
          <a:xfrm>
            <a:off x="3362706" y="2880360"/>
            <a:ext cx="2649474" cy="1261872"/>
          </a:xfrm>
          <a:prstGeom prst="roundRect">
            <a:avLst>
              <a:gd name="adj" fmla="val 7246"/>
            </a:avLst>
          </a:prstGeom>
          <a:solidFill>
            <a:srgbClr val="FFFFFF"/>
          </a:solidFill>
          <a:ln/>
          <a:effectLst>
            <a:outerShdw blurRad="114300" dist="25400" dir="5400000" algn="bl" rotWithShape="0">
              <a:srgbClr val="0E3B43">
                <a:alpha val="13000"/>
              </a:srgbClr>
            </a:outerShdw>
          </a:effectLst>
        </p:spPr>
      </p:sp>
      <p:sp>
        <p:nvSpPr>
          <p:cNvPr id="47" name="phase bar"/>
          <p:cNvSpPr/>
          <p:nvPr/>
        </p:nvSpPr>
        <p:spPr>
          <a:xfrm>
            <a:off x="3362706" y="2971800"/>
            <a:ext cx="73152" cy="1078992"/>
          </a:xfrm>
          <a:prstGeom prst="rect">
            <a:avLst/>
          </a:prstGeom>
          <a:solidFill>
            <a:schemeClr val="accent5"/>
          </a:solidFill>
          <a:ln/>
        </p:spPr>
      </p:sp>
      <p:sp>
        <p:nvSpPr>
          <p:cNvPr id="48" name="milestone M6"/>
          <p:cNvSpPr/>
          <p:nvPr/>
        </p:nvSpPr>
        <p:spPr>
          <a:xfrm>
            <a:off x="3591306" y="3081528"/>
            <a:ext cx="502920" cy="502920"/>
          </a:xfrm>
          <a:prstGeom prst="ellipse">
            <a:avLst/>
          </a:prstGeom>
          <a:solidFill>
            <a:schemeClr val="tx2"/>
          </a:solidFill>
          <a:ln/>
        </p:spPr>
      </p:sp>
      <p:sp>
        <p:nvSpPr>
          <p:cNvPr id="49" name="Text 42"/>
          <p:cNvSpPr txBox="1"/>
          <p:nvPr/>
        </p:nvSpPr>
        <p:spPr>
          <a:xfrm>
            <a:off x="3591306" y="3081528"/>
            <a:ext cx="502920" cy="502920"/>
          </a:xfrm>
          <a:prstGeom prst="rect">
            <a:avLst/>
          </a:prstGeom>
          <a:noFill/>
          <a:ln/>
        </p:spPr>
        <p:txBody>
          <a:bodyPr wrap="square" lIns="0" tIns="0" rIns="0" bIns="0" rtlCol="0" anchor="ctr"/>
          <a:lstStyle/>
          <a:p>
            <a:pPr marL="0" indent="0" algn="ctr">
              <a:buNone/>
            </a:pPr>
            <a:r>
              <a:rPr lang="en-US" sz="1300" b="1" dirty="0">
                <a:solidFill>
                  <a:srgbClr val="F2A541"/>
                </a:solidFill>
              </a:rPr>
              <a:t>M6</a:t>
            </a:r>
            <a:endParaRPr lang="en-US" sz="1300" dirty="0"/>
          </a:p>
        </p:txBody>
      </p:sp>
      <p:sp>
        <p:nvSpPr>
          <p:cNvPr id="50" name="Text 43"/>
          <p:cNvSpPr txBox="1"/>
          <p:nvPr/>
        </p:nvSpPr>
        <p:spPr>
          <a:xfrm>
            <a:off x="4231386" y="3099816"/>
            <a:ext cx="1415034" cy="457200"/>
          </a:xfrm>
          <a:prstGeom prst="rect">
            <a:avLst/>
          </a:prstGeom>
          <a:noFill/>
          <a:ln/>
        </p:spPr>
        <p:txBody>
          <a:bodyPr wrap="square" lIns="0" tIns="0" rIns="0" bIns="0" rtlCol="0" anchor="ctr"/>
          <a:lstStyle/>
          <a:p>
            <a:pPr marL="0" indent="0">
              <a:buNone/>
            </a:pPr>
            <a:r>
              <a:rPr lang="en-US" sz="1500" b="1" dirty="0">
                <a:solidFill>
                  <a:srgbClr val="132226"/>
                </a:solidFill>
              </a:rPr>
              <a:t>Public edge</a:t>
            </a:r>
            <a:endParaRPr lang="en-US" sz="1500" dirty="0"/>
          </a:p>
        </p:txBody>
      </p:sp>
      <p:sp>
        <p:nvSpPr>
          <p:cNvPr id="51" name="done circle"/>
          <p:cNvSpPr/>
          <p:nvPr/>
        </p:nvSpPr>
        <p:spPr>
          <a:xfrm>
            <a:off x="5628132" y="3182112"/>
            <a:ext cx="274320" cy="274320"/>
          </a:xfrm>
          <a:prstGeom prst="ellipse">
            <a:avLst/>
          </a:prstGeom>
          <a:solidFill>
            <a:schemeClr val="accent3"/>
          </a:solidFill>
          <a:ln/>
        </p:spPr>
      </p:sp>
      <p:pic>
        <p:nvPicPr>
          <p:cNvPr id="52" name="done" descr="preencoded.png"/>
          <p:cNvPicPr>
            <a:picLocks noChangeAspect="1"/>
          </p:cNvPicPr>
          <p:nvPr/>
        </p:nvPicPr>
        <p:blipFill>
          <a:blip r:embed="rId3"/>
          <a:stretch>
            <a:fillRect/>
          </a:stretch>
        </p:blipFill>
        <p:spPr>
          <a:xfrm>
            <a:off x="5693969" y="3247949"/>
            <a:ext cx="142646" cy="142646"/>
          </a:xfrm>
          <a:prstGeom prst="rect">
            <a:avLst/>
          </a:prstGeom>
        </p:spPr>
      </p:pic>
      <p:sp>
        <p:nvSpPr>
          <p:cNvPr id="53" name="Text 45"/>
          <p:cNvSpPr txBox="1"/>
          <p:nvPr/>
        </p:nvSpPr>
        <p:spPr>
          <a:xfrm>
            <a:off x="3591306" y="3685032"/>
            <a:ext cx="2283714" cy="347472"/>
          </a:xfrm>
          <a:prstGeom prst="rect">
            <a:avLst/>
          </a:prstGeom>
          <a:noFill/>
          <a:ln/>
        </p:spPr>
        <p:txBody>
          <a:bodyPr wrap="square" lIns="0" tIns="0" rIns="0" bIns="0" rtlCol="0" anchor="ctr"/>
          <a:lstStyle/>
          <a:p>
            <a:pPr marL="0" indent="0">
              <a:buNone/>
            </a:pPr>
            <a:r>
              <a:rPr lang="en-US" sz="1200" dirty="0">
                <a:solidFill>
                  <a:srgbClr val="4A5B5E"/>
                </a:solidFill>
              </a:rPr>
              <a:t>Route 53 · CF · WAF · Cognito</a:t>
            </a:r>
            <a:endParaRPr lang="en-US" sz="1200" dirty="0"/>
          </a:p>
        </p:txBody>
      </p:sp>
      <p:sp>
        <p:nvSpPr>
          <p:cNvPr id="54" name="card"/>
          <p:cNvSpPr/>
          <p:nvPr/>
        </p:nvSpPr>
        <p:spPr>
          <a:xfrm>
            <a:off x="6176772" y="2880360"/>
            <a:ext cx="2649474" cy="1261872"/>
          </a:xfrm>
          <a:prstGeom prst="roundRect">
            <a:avLst>
              <a:gd name="adj" fmla="val 7246"/>
            </a:avLst>
          </a:prstGeom>
          <a:solidFill>
            <a:srgbClr val="FFFFFF"/>
          </a:solidFill>
          <a:ln/>
          <a:effectLst>
            <a:outerShdw blurRad="114300" dist="25400" dir="5400000" algn="bl" rotWithShape="0">
              <a:srgbClr val="0E3B43">
                <a:alpha val="13000"/>
              </a:srgbClr>
            </a:outerShdw>
          </a:effectLst>
        </p:spPr>
      </p:sp>
      <p:sp>
        <p:nvSpPr>
          <p:cNvPr id="55" name="phase bar"/>
          <p:cNvSpPr/>
          <p:nvPr/>
        </p:nvSpPr>
        <p:spPr>
          <a:xfrm>
            <a:off x="6176772" y="2971800"/>
            <a:ext cx="73152" cy="1078992"/>
          </a:xfrm>
          <a:prstGeom prst="rect">
            <a:avLst/>
          </a:prstGeom>
          <a:solidFill>
            <a:schemeClr val="accent2"/>
          </a:solidFill>
          <a:ln/>
        </p:spPr>
      </p:sp>
      <p:sp>
        <p:nvSpPr>
          <p:cNvPr id="56" name="milestone M7"/>
          <p:cNvSpPr/>
          <p:nvPr/>
        </p:nvSpPr>
        <p:spPr>
          <a:xfrm>
            <a:off x="6405372" y="3081528"/>
            <a:ext cx="502920" cy="502920"/>
          </a:xfrm>
          <a:prstGeom prst="ellipse">
            <a:avLst/>
          </a:prstGeom>
          <a:solidFill>
            <a:schemeClr val="tx2"/>
          </a:solidFill>
          <a:ln/>
        </p:spPr>
      </p:sp>
      <p:sp>
        <p:nvSpPr>
          <p:cNvPr id="57" name="Text 49"/>
          <p:cNvSpPr txBox="1"/>
          <p:nvPr/>
        </p:nvSpPr>
        <p:spPr>
          <a:xfrm>
            <a:off x="6405372" y="3081528"/>
            <a:ext cx="502920" cy="502920"/>
          </a:xfrm>
          <a:prstGeom prst="rect">
            <a:avLst/>
          </a:prstGeom>
          <a:noFill/>
          <a:ln/>
        </p:spPr>
        <p:txBody>
          <a:bodyPr wrap="square" lIns="0" tIns="0" rIns="0" bIns="0" rtlCol="0" anchor="ctr"/>
          <a:lstStyle/>
          <a:p>
            <a:pPr marL="0" indent="0" algn="ctr">
              <a:buNone/>
            </a:pPr>
            <a:r>
              <a:rPr lang="en-US" sz="1300" b="1" dirty="0">
                <a:solidFill>
                  <a:srgbClr val="F2A541"/>
                </a:solidFill>
              </a:rPr>
              <a:t>M7</a:t>
            </a:r>
            <a:endParaRPr lang="en-US" sz="1300" dirty="0"/>
          </a:p>
        </p:txBody>
      </p:sp>
      <p:sp>
        <p:nvSpPr>
          <p:cNvPr id="58" name="Text 50"/>
          <p:cNvSpPr txBox="1"/>
          <p:nvPr/>
        </p:nvSpPr>
        <p:spPr>
          <a:xfrm>
            <a:off x="7045452" y="3099816"/>
            <a:ext cx="1415034" cy="457200"/>
          </a:xfrm>
          <a:prstGeom prst="rect">
            <a:avLst/>
          </a:prstGeom>
          <a:noFill/>
          <a:ln/>
        </p:spPr>
        <p:txBody>
          <a:bodyPr wrap="square" lIns="0" tIns="0" rIns="0" bIns="0" rtlCol="0" anchor="ctr"/>
          <a:lstStyle/>
          <a:p>
            <a:pPr marL="0" indent="0">
              <a:buNone/>
            </a:pPr>
            <a:r>
              <a:rPr lang="en-US" sz="1500" b="1" dirty="0">
                <a:solidFill>
                  <a:srgbClr val="132226"/>
                </a:solidFill>
              </a:rPr>
              <a:t>Events</a:t>
            </a:r>
            <a:endParaRPr lang="en-US" sz="1500" dirty="0"/>
          </a:p>
        </p:txBody>
      </p:sp>
      <p:sp>
        <p:nvSpPr>
          <p:cNvPr id="59" name="done circle"/>
          <p:cNvSpPr/>
          <p:nvPr/>
        </p:nvSpPr>
        <p:spPr>
          <a:xfrm>
            <a:off x="8442198" y="3182112"/>
            <a:ext cx="274320" cy="274320"/>
          </a:xfrm>
          <a:prstGeom prst="ellipse">
            <a:avLst/>
          </a:prstGeom>
          <a:solidFill>
            <a:schemeClr val="accent3"/>
          </a:solidFill>
          <a:ln/>
        </p:spPr>
      </p:sp>
      <p:pic>
        <p:nvPicPr>
          <p:cNvPr id="60" name="done" descr="preencoded.png"/>
          <p:cNvPicPr>
            <a:picLocks noChangeAspect="1"/>
          </p:cNvPicPr>
          <p:nvPr/>
        </p:nvPicPr>
        <p:blipFill>
          <a:blip r:embed="rId3"/>
          <a:stretch>
            <a:fillRect/>
          </a:stretch>
        </p:blipFill>
        <p:spPr>
          <a:xfrm>
            <a:off x="8508035" y="3247949"/>
            <a:ext cx="142646" cy="142646"/>
          </a:xfrm>
          <a:prstGeom prst="rect">
            <a:avLst/>
          </a:prstGeom>
        </p:spPr>
      </p:pic>
      <p:sp>
        <p:nvSpPr>
          <p:cNvPr id="61" name="Text 52"/>
          <p:cNvSpPr txBox="1"/>
          <p:nvPr/>
        </p:nvSpPr>
        <p:spPr>
          <a:xfrm>
            <a:off x="6405372" y="3685032"/>
            <a:ext cx="2283714" cy="347472"/>
          </a:xfrm>
          <a:prstGeom prst="rect">
            <a:avLst/>
          </a:prstGeom>
          <a:noFill/>
          <a:ln/>
        </p:spPr>
        <p:txBody>
          <a:bodyPr wrap="square" lIns="0" tIns="0" rIns="0" bIns="0" rtlCol="0" anchor="ctr"/>
          <a:lstStyle/>
          <a:p>
            <a:pPr marL="0" indent="0">
              <a:buNone/>
            </a:pPr>
            <a:r>
              <a:rPr lang="en-US" sz="1200" dirty="0">
                <a:solidFill>
                  <a:srgbClr val="4A5B5E"/>
                </a:solidFill>
              </a:rPr>
              <a:t>EventBridge · SQS · Lambda · DLQ</a:t>
            </a:r>
            <a:endParaRPr lang="en-US" sz="1200" dirty="0"/>
          </a:p>
        </p:txBody>
      </p:sp>
      <p:sp>
        <p:nvSpPr>
          <p:cNvPr id="62" name="card"/>
          <p:cNvSpPr/>
          <p:nvPr/>
        </p:nvSpPr>
        <p:spPr>
          <a:xfrm>
            <a:off x="8990838" y="2880360"/>
            <a:ext cx="2649474" cy="1261872"/>
          </a:xfrm>
          <a:prstGeom prst="roundRect">
            <a:avLst>
              <a:gd name="adj" fmla="val 7246"/>
            </a:avLst>
          </a:prstGeom>
          <a:solidFill>
            <a:srgbClr val="FFFFFF"/>
          </a:solidFill>
          <a:ln/>
          <a:effectLst>
            <a:outerShdw blurRad="114300" dist="25400" dir="5400000" algn="bl" rotWithShape="0">
              <a:srgbClr val="0E3B43">
                <a:alpha val="13000"/>
              </a:srgbClr>
            </a:outerShdw>
          </a:effectLst>
        </p:spPr>
      </p:sp>
      <p:sp>
        <p:nvSpPr>
          <p:cNvPr id="63" name="phase bar"/>
          <p:cNvSpPr/>
          <p:nvPr/>
        </p:nvSpPr>
        <p:spPr>
          <a:xfrm>
            <a:off x="8990838" y="2971800"/>
            <a:ext cx="73152" cy="1078992"/>
          </a:xfrm>
          <a:prstGeom prst="rect">
            <a:avLst/>
          </a:prstGeom>
          <a:solidFill>
            <a:schemeClr val="accent2"/>
          </a:solidFill>
          <a:ln/>
        </p:spPr>
      </p:sp>
      <p:sp>
        <p:nvSpPr>
          <p:cNvPr id="64" name="milestone M8"/>
          <p:cNvSpPr/>
          <p:nvPr/>
        </p:nvSpPr>
        <p:spPr>
          <a:xfrm>
            <a:off x="9219438" y="3081528"/>
            <a:ext cx="502920" cy="502920"/>
          </a:xfrm>
          <a:prstGeom prst="ellipse">
            <a:avLst/>
          </a:prstGeom>
          <a:solidFill>
            <a:schemeClr val="tx2"/>
          </a:solidFill>
          <a:ln/>
        </p:spPr>
      </p:sp>
      <p:sp>
        <p:nvSpPr>
          <p:cNvPr id="65" name="Text 56"/>
          <p:cNvSpPr txBox="1"/>
          <p:nvPr/>
        </p:nvSpPr>
        <p:spPr>
          <a:xfrm>
            <a:off x="9219438" y="3081528"/>
            <a:ext cx="502920" cy="502920"/>
          </a:xfrm>
          <a:prstGeom prst="rect">
            <a:avLst/>
          </a:prstGeom>
          <a:noFill/>
          <a:ln/>
        </p:spPr>
        <p:txBody>
          <a:bodyPr wrap="square" lIns="0" tIns="0" rIns="0" bIns="0" rtlCol="0" anchor="ctr"/>
          <a:lstStyle/>
          <a:p>
            <a:pPr marL="0" indent="0" algn="ctr">
              <a:buNone/>
            </a:pPr>
            <a:r>
              <a:rPr lang="en-US" sz="1300" b="1" dirty="0">
                <a:solidFill>
                  <a:srgbClr val="F2A541"/>
                </a:solidFill>
              </a:rPr>
              <a:t>M8</a:t>
            </a:r>
            <a:endParaRPr lang="en-US" sz="1300" dirty="0"/>
          </a:p>
        </p:txBody>
      </p:sp>
      <p:sp>
        <p:nvSpPr>
          <p:cNvPr id="66" name="Text 57"/>
          <p:cNvSpPr txBox="1"/>
          <p:nvPr/>
        </p:nvSpPr>
        <p:spPr>
          <a:xfrm>
            <a:off x="9859518" y="3099816"/>
            <a:ext cx="1415034" cy="457200"/>
          </a:xfrm>
          <a:prstGeom prst="rect">
            <a:avLst/>
          </a:prstGeom>
          <a:noFill/>
          <a:ln/>
        </p:spPr>
        <p:txBody>
          <a:bodyPr wrap="square" lIns="0" tIns="0" rIns="0" bIns="0" rtlCol="0" anchor="ctr"/>
          <a:lstStyle/>
          <a:p>
            <a:pPr marL="0" indent="0">
              <a:buNone/>
            </a:pPr>
            <a:r>
              <a:rPr lang="en-US" sz="1500" b="1" dirty="0">
                <a:solidFill>
                  <a:srgbClr val="132226"/>
                </a:solidFill>
              </a:rPr>
              <a:t>RAG ingestion</a:t>
            </a:r>
            <a:endParaRPr lang="en-US" sz="1500" dirty="0"/>
          </a:p>
        </p:txBody>
      </p:sp>
      <p:sp>
        <p:nvSpPr>
          <p:cNvPr id="67" name="done circle"/>
          <p:cNvSpPr/>
          <p:nvPr/>
        </p:nvSpPr>
        <p:spPr>
          <a:xfrm>
            <a:off x="11256264" y="3182112"/>
            <a:ext cx="274320" cy="274320"/>
          </a:xfrm>
          <a:prstGeom prst="ellipse">
            <a:avLst/>
          </a:prstGeom>
          <a:solidFill>
            <a:schemeClr val="accent3"/>
          </a:solidFill>
          <a:ln/>
        </p:spPr>
      </p:sp>
      <p:pic>
        <p:nvPicPr>
          <p:cNvPr id="68" name="done" descr="preencoded.png"/>
          <p:cNvPicPr>
            <a:picLocks noChangeAspect="1"/>
          </p:cNvPicPr>
          <p:nvPr/>
        </p:nvPicPr>
        <p:blipFill>
          <a:blip r:embed="rId3"/>
          <a:stretch>
            <a:fillRect/>
          </a:stretch>
        </p:blipFill>
        <p:spPr>
          <a:xfrm>
            <a:off x="11322101" y="3247949"/>
            <a:ext cx="142646" cy="142646"/>
          </a:xfrm>
          <a:prstGeom prst="rect">
            <a:avLst/>
          </a:prstGeom>
        </p:spPr>
      </p:pic>
      <p:sp>
        <p:nvSpPr>
          <p:cNvPr id="69" name="Text 59"/>
          <p:cNvSpPr txBox="1"/>
          <p:nvPr/>
        </p:nvSpPr>
        <p:spPr>
          <a:xfrm>
            <a:off x="9219438" y="3685032"/>
            <a:ext cx="2283714" cy="347472"/>
          </a:xfrm>
          <a:prstGeom prst="rect">
            <a:avLst/>
          </a:prstGeom>
          <a:noFill/>
          <a:ln/>
        </p:spPr>
        <p:txBody>
          <a:bodyPr wrap="square" lIns="0" tIns="0" rIns="0" bIns="0" rtlCol="0" anchor="ctr"/>
          <a:lstStyle/>
          <a:p>
            <a:pPr marL="0" indent="0">
              <a:buNone/>
            </a:pPr>
            <a:r>
              <a:rPr lang="en-US" sz="1200" dirty="0">
                <a:solidFill>
                  <a:srgbClr val="4A5B5E"/>
                </a:solidFill>
              </a:rPr>
              <a:t>Titan embeddings · S3 Vectors</a:t>
            </a:r>
            <a:endParaRPr lang="en-US" sz="1200" dirty="0"/>
          </a:p>
        </p:txBody>
      </p:sp>
      <p:sp>
        <p:nvSpPr>
          <p:cNvPr id="70" name="card"/>
          <p:cNvSpPr/>
          <p:nvPr/>
        </p:nvSpPr>
        <p:spPr>
          <a:xfrm>
            <a:off x="548640" y="4297680"/>
            <a:ext cx="2649474" cy="1261872"/>
          </a:xfrm>
          <a:prstGeom prst="roundRect">
            <a:avLst>
              <a:gd name="adj" fmla="val 7246"/>
            </a:avLst>
          </a:prstGeom>
          <a:solidFill>
            <a:srgbClr val="FFFFFF"/>
          </a:solidFill>
          <a:ln/>
          <a:effectLst>
            <a:outerShdw blurRad="114300" dist="25400" dir="5400000" algn="bl" rotWithShape="0">
              <a:srgbClr val="0E3B43">
                <a:alpha val="13000"/>
              </a:srgbClr>
            </a:outerShdw>
          </a:effectLst>
        </p:spPr>
      </p:sp>
      <p:sp>
        <p:nvSpPr>
          <p:cNvPr id="71" name="phase bar"/>
          <p:cNvSpPr/>
          <p:nvPr/>
        </p:nvSpPr>
        <p:spPr>
          <a:xfrm>
            <a:off x="548640" y="4389120"/>
            <a:ext cx="73152" cy="1078992"/>
          </a:xfrm>
          <a:prstGeom prst="rect">
            <a:avLst/>
          </a:prstGeom>
          <a:solidFill>
            <a:schemeClr val="accent2"/>
          </a:solidFill>
          <a:ln/>
        </p:spPr>
      </p:sp>
      <p:sp>
        <p:nvSpPr>
          <p:cNvPr id="72" name="milestone M9"/>
          <p:cNvSpPr/>
          <p:nvPr/>
        </p:nvSpPr>
        <p:spPr>
          <a:xfrm>
            <a:off x="777240" y="4498848"/>
            <a:ext cx="502920" cy="502920"/>
          </a:xfrm>
          <a:prstGeom prst="ellipse">
            <a:avLst/>
          </a:prstGeom>
          <a:solidFill>
            <a:schemeClr val="tx2"/>
          </a:solidFill>
          <a:ln/>
        </p:spPr>
      </p:sp>
      <p:sp>
        <p:nvSpPr>
          <p:cNvPr id="73" name="Text 63"/>
          <p:cNvSpPr txBox="1"/>
          <p:nvPr/>
        </p:nvSpPr>
        <p:spPr>
          <a:xfrm>
            <a:off x="777240" y="4498848"/>
            <a:ext cx="502920" cy="502920"/>
          </a:xfrm>
          <a:prstGeom prst="rect">
            <a:avLst/>
          </a:prstGeom>
          <a:noFill/>
          <a:ln/>
        </p:spPr>
        <p:txBody>
          <a:bodyPr wrap="square" lIns="0" tIns="0" rIns="0" bIns="0" rtlCol="0" anchor="ctr"/>
          <a:lstStyle/>
          <a:p>
            <a:pPr marL="0" indent="0" algn="ctr">
              <a:buNone/>
            </a:pPr>
            <a:r>
              <a:rPr lang="en-US" sz="1300" b="1" dirty="0">
                <a:solidFill>
                  <a:srgbClr val="F2A541"/>
                </a:solidFill>
              </a:rPr>
              <a:t>M9</a:t>
            </a:r>
            <a:endParaRPr lang="en-US" sz="1300" dirty="0"/>
          </a:p>
        </p:txBody>
      </p:sp>
      <p:sp>
        <p:nvSpPr>
          <p:cNvPr id="74" name="Text 64"/>
          <p:cNvSpPr txBox="1"/>
          <p:nvPr/>
        </p:nvSpPr>
        <p:spPr>
          <a:xfrm>
            <a:off x="1417320" y="4517136"/>
            <a:ext cx="1415034" cy="457200"/>
          </a:xfrm>
          <a:prstGeom prst="rect">
            <a:avLst/>
          </a:prstGeom>
          <a:noFill/>
          <a:ln/>
        </p:spPr>
        <p:txBody>
          <a:bodyPr wrap="square" lIns="0" tIns="0" rIns="0" bIns="0" rtlCol="0" anchor="ctr"/>
          <a:lstStyle/>
          <a:p>
            <a:pPr marL="0" indent="0">
              <a:buNone/>
            </a:pPr>
            <a:r>
              <a:rPr lang="en-US" sz="1500" b="1" dirty="0">
                <a:solidFill>
                  <a:srgbClr val="132226"/>
                </a:solidFill>
              </a:rPr>
              <a:t>Real application</a:t>
            </a:r>
            <a:endParaRPr lang="en-US" sz="1500" dirty="0"/>
          </a:p>
        </p:txBody>
      </p:sp>
      <p:sp>
        <p:nvSpPr>
          <p:cNvPr id="75" name="done circle"/>
          <p:cNvSpPr/>
          <p:nvPr/>
        </p:nvSpPr>
        <p:spPr>
          <a:xfrm>
            <a:off x="2814066" y="4599432"/>
            <a:ext cx="274320" cy="274320"/>
          </a:xfrm>
          <a:prstGeom prst="ellipse">
            <a:avLst/>
          </a:prstGeom>
          <a:solidFill>
            <a:schemeClr val="accent3"/>
          </a:solidFill>
          <a:ln/>
        </p:spPr>
      </p:sp>
      <p:pic>
        <p:nvPicPr>
          <p:cNvPr id="76" name="done" descr="preencoded.png"/>
          <p:cNvPicPr>
            <a:picLocks noChangeAspect="1"/>
          </p:cNvPicPr>
          <p:nvPr/>
        </p:nvPicPr>
        <p:blipFill>
          <a:blip r:embed="rId3"/>
          <a:stretch>
            <a:fillRect/>
          </a:stretch>
        </p:blipFill>
        <p:spPr>
          <a:xfrm>
            <a:off x="2879903" y="4665269"/>
            <a:ext cx="142646" cy="142646"/>
          </a:xfrm>
          <a:prstGeom prst="rect">
            <a:avLst/>
          </a:prstGeom>
        </p:spPr>
      </p:pic>
      <p:sp>
        <p:nvSpPr>
          <p:cNvPr id="77" name="Text 66"/>
          <p:cNvSpPr txBox="1"/>
          <p:nvPr/>
        </p:nvSpPr>
        <p:spPr>
          <a:xfrm>
            <a:off x="777240" y="5102352"/>
            <a:ext cx="2283714" cy="347472"/>
          </a:xfrm>
          <a:prstGeom prst="rect">
            <a:avLst/>
          </a:prstGeom>
          <a:noFill/>
          <a:ln/>
        </p:spPr>
        <p:txBody>
          <a:bodyPr wrap="square" lIns="0" tIns="0" rIns="0" bIns="0" rtlCol="0" anchor="ctr"/>
          <a:lstStyle/>
          <a:p>
            <a:pPr marL="0" indent="0">
              <a:buNone/>
            </a:pPr>
            <a:r>
              <a:rPr lang="en-US" sz="1200" dirty="0">
                <a:solidFill>
                  <a:srgbClr val="4A5B5E"/>
                </a:solidFill>
              </a:rPr>
              <a:t>58-table restore · Lina runtime</a:t>
            </a:r>
            <a:endParaRPr lang="en-US" sz="1200" dirty="0"/>
          </a:p>
        </p:txBody>
      </p:sp>
      <p:sp>
        <p:nvSpPr>
          <p:cNvPr id="78" name="card"/>
          <p:cNvSpPr/>
          <p:nvPr/>
        </p:nvSpPr>
        <p:spPr>
          <a:xfrm>
            <a:off x="3362706" y="4297680"/>
            <a:ext cx="2649474" cy="1261872"/>
          </a:xfrm>
          <a:prstGeom prst="roundRect">
            <a:avLst>
              <a:gd name="adj" fmla="val 7246"/>
            </a:avLst>
          </a:prstGeom>
          <a:solidFill>
            <a:srgbClr val="FFFFFF"/>
          </a:solidFill>
          <a:ln/>
          <a:effectLst>
            <a:outerShdw blurRad="114300" dist="25400" dir="5400000" algn="bl" rotWithShape="0">
              <a:srgbClr val="0E3B43">
                <a:alpha val="13000"/>
              </a:srgbClr>
            </a:outerShdw>
          </a:effectLst>
        </p:spPr>
      </p:sp>
      <p:sp>
        <p:nvSpPr>
          <p:cNvPr id="79" name="phase bar"/>
          <p:cNvSpPr/>
          <p:nvPr/>
        </p:nvSpPr>
        <p:spPr>
          <a:xfrm>
            <a:off x="3362706" y="4389120"/>
            <a:ext cx="73152" cy="1078992"/>
          </a:xfrm>
          <a:prstGeom prst="rect">
            <a:avLst/>
          </a:prstGeom>
          <a:solidFill>
            <a:schemeClr val="accent3"/>
          </a:solidFill>
          <a:ln/>
        </p:spPr>
      </p:sp>
      <p:sp>
        <p:nvSpPr>
          <p:cNvPr id="80" name="milestone M10"/>
          <p:cNvSpPr/>
          <p:nvPr/>
        </p:nvSpPr>
        <p:spPr>
          <a:xfrm>
            <a:off x="3591306" y="4498848"/>
            <a:ext cx="502920" cy="502920"/>
          </a:xfrm>
          <a:prstGeom prst="ellipse">
            <a:avLst/>
          </a:prstGeom>
          <a:solidFill>
            <a:schemeClr val="tx2"/>
          </a:solidFill>
          <a:ln/>
        </p:spPr>
      </p:sp>
      <p:sp>
        <p:nvSpPr>
          <p:cNvPr id="81" name="Text 70"/>
          <p:cNvSpPr txBox="1"/>
          <p:nvPr/>
        </p:nvSpPr>
        <p:spPr>
          <a:xfrm>
            <a:off x="3591306" y="4498848"/>
            <a:ext cx="502920" cy="502920"/>
          </a:xfrm>
          <a:prstGeom prst="rect">
            <a:avLst/>
          </a:prstGeom>
          <a:noFill/>
          <a:ln/>
        </p:spPr>
        <p:txBody>
          <a:bodyPr wrap="square" lIns="0" tIns="0" rIns="0" bIns="0" rtlCol="0" anchor="ctr"/>
          <a:lstStyle/>
          <a:p>
            <a:pPr marL="0" indent="0" algn="ctr">
              <a:buNone/>
            </a:pPr>
            <a:r>
              <a:rPr lang="en-US" sz="1300" b="1" dirty="0">
                <a:solidFill>
                  <a:srgbClr val="F2A541"/>
                </a:solidFill>
              </a:rPr>
              <a:t>M10</a:t>
            </a:r>
            <a:endParaRPr lang="en-US" sz="1300" dirty="0"/>
          </a:p>
        </p:txBody>
      </p:sp>
      <p:sp>
        <p:nvSpPr>
          <p:cNvPr id="82" name="Text 71"/>
          <p:cNvSpPr txBox="1"/>
          <p:nvPr/>
        </p:nvSpPr>
        <p:spPr>
          <a:xfrm>
            <a:off x="4231386" y="4517136"/>
            <a:ext cx="1415034" cy="457200"/>
          </a:xfrm>
          <a:prstGeom prst="rect">
            <a:avLst/>
          </a:prstGeom>
          <a:noFill/>
          <a:ln/>
        </p:spPr>
        <p:txBody>
          <a:bodyPr wrap="square" lIns="0" tIns="0" rIns="0" bIns="0" rtlCol="0" anchor="ctr"/>
          <a:lstStyle/>
          <a:p>
            <a:pPr marL="0" indent="0">
              <a:buNone/>
            </a:pPr>
            <a:r>
              <a:rPr lang="en-US" sz="1500" b="1" dirty="0">
                <a:solidFill>
                  <a:srgbClr val="132226"/>
                </a:solidFill>
              </a:rPr>
              <a:t>Operations</a:t>
            </a:r>
            <a:endParaRPr lang="en-US" sz="1500" dirty="0"/>
          </a:p>
        </p:txBody>
      </p:sp>
      <p:sp>
        <p:nvSpPr>
          <p:cNvPr id="83" name="done circle"/>
          <p:cNvSpPr/>
          <p:nvPr/>
        </p:nvSpPr>
        <p:spPr>
          <a:xfrm>
            <a:off x="5628132" y="4599432"/>
            <a:ext cx="274320" cy="274320"/>
          </a:xfrm>
          <a:prstGeom prst="ellipse">
            <a:avLst/>
          </a:prstGeom>
          <a:solidFill>
            <a:schemeClr val="accent3"/>
          </a:solidFill>
          <a:ln/>
        </p:spPr>
      </p:sp>
      <p:pic>
        <p:nvPicPr>
          <p:cNvPr id="84" name="done" descr="preencoded.png"/>
          <p:cNvPicPr>
            <a:picLocks noChangeAspect="1"/>
          </p:cNvPicPr>
          <p:nvPr/>
        </p:nvPicPr>
        <p:blipFill>
          <a:blip r:embed="rId3"/>
          <a:stretch>
            <a:fillRect/>
          </a:stretch>
        </p:blipFill>
        <p:spPr>
          <a:xfrm>
            <a:off x="5693969" y="4665269"/>
            <a:ext cx="142646" cy="142646"/>
          </a:xfrm>
          <a:prstGeom prst="rect">
            <a:avLst/>
          </a:prstGeom>
        </p:spPr>
      </p:pic>
      <p:sp>
        <p:nvSpPr>
          <p:cNvPr id="85" name="Text 73"/>
          <p:cNvSpPr txBox="1"/>
          <p:nvPr/>
        </p:nvSpPr>
        <p:spPr>
          <a:xfrm>
            <a:off x="3591306" y="5102352"/>
            <a:ext cx="2283714" cy="347472"/>
          </a:xfrm>
          <a:prstGeom prst="rect">
            <a:avLst/>
          </a:prstGeom>
          <a:noFill/>
          <a:ln/>
        </p:spPr>
        <p:txBody>
          <a:bodyPr wrap="square" lIns="0" tIns="0" rIns="0" bIns="0" rtlCol="0" anchor="ctr"/>
          <a:lstStyle/>
          <a:p>
            <a:pPr marL="0" indent="0">
              <a:buNone/>
            </a:pPr>
            <a:r>
              <a:rPr lang="en-US" sz="1200" dirty="0">
                <a:solidFill>
                  <a:srgbClr val="4A5B5E"/>
                </a:solidFill>
              </a:rPr>
              <a:t>9 alarms · CloudTrail audit</a:t>
            </a:r>
            <a:endParaRPr lang="en-US" sz="1200" dirty="0"/>
          </a:p>
        </p:txBody>
      </p:sp>
      <p:sp>
        <p:nvSpPr>
          <p:cNvPr id="86" name="card"/>
          <p:cNvSpPr/>
          <p:nvPr/>
        </p:nvSpPr>
        <p:spPr>
          <a:xfrm>
            <a:off x="6176772" y="4297680"/>
            <a:ext cx="2649474" cy="1261872"/>
          </a:xfrm>
          <a:prstGeom prst="roundRect">
            <a:avLst>
              <a:gd name="adj" fmla="val 7246"/>
            </a:avLst>
          </a:prstGeom>
          <a:solidFill>
            <a:srgbClr val="FFFFFF"/>
          </a:solidFill>
          <a:ln/>
          <a:effectLst>
            <a:outerShdw blurRad="114300" dist="25400" dir="5400000" algn="bl" rotWithShape="0">
              <a:srgbClr val="0E3B43">
                <a:alpha val="13000"/>
              </a:srgbClr>
            </a:outerShdw>
          </a:effectLst>
        </p:spPr>
      </p:sp>
      <p:sp>
        <p:nvSpPr>
          <p:cNvPr id="87" name="phase bar"/>
          <p:cNvSpPr/>
          <p:nvPr/>
        </p:nvSpPr>
        <p:spPr>
          <a:xfrm>
            <a:off x="6176772" y="4389120"/>
            <a:ext cx="73152" cy="1078992"/>
          </a:xfrm>
          <a:prstGeom prst="rect">
            <a:avLst/>
          </a:prstGeom>
          <a:solidFill>
            <a:schemeClr val="accent3"/>
          </a:solidFill>
          <a:ln/>
        </p:spPr>
      </p:sp>
      <p:sp>
        <p:nvSpPr>
          <p:cNvPr id="88" name="milestone M11"/>
          <p:cNvSpPr/>
          <p:nvPr/>
        </p:nvSpPr>
        <p:spPr>
          <a:xfrm>
            <a:off x="6405372" y="4498848"/>
            <a:ext cx="502920" cy="502920"/>
          </a:xfrm>
          <a:prstGeom prst="ellipse">
            <a:avLst/>
          </a:prstGeom>
          <a:solidFill>
            <a:schemeClr val="tx2"/>
          </a:solidFill>
          <a:ln/>
        </p:spPr>
      </p:sp>
      <p:sp>
        <p:nvSpPr>
          <p:cNvPr id="89" name="Text 77"/>
          <p:cNvSpPr txBox="1"/>
          <p:nvPr/>
        </p:nvSpPr>
        <p:spPr>
          <a:xfrm>
            <a:off x="6405372" y="4498848"/>
            <a:ext cx="502920" cy="502920"/>
          </a:xfrm>
          <a:prstGeom prst="rect">
            <a:avLst/>
          </a:prstGeom>
          <a:noFill/>
          <a:ln/>
        </p:spPr>
        <p:txBody>
          <a:bodyPr wrap="square" lIns="0" tIns="0" rIns="0" bIns="0" rtlCol="0" anchor="ctr"/>
          <a:lstStyle/>
          <a:p>
            <a:pPr marL="0" indent="0" algn="ctr">
              <a:buNone/>
            </a:pPr>
            <a:r>
              <a:rPr lang="en-US" sz="1300" b="1" dirty="0">
                <a:solidFill>
                  <a:srgbClr val="F2A541"/>
                </a:solidFill>
              </a:rPr>
              <a:t>M11</a:t>
            </a:r>
            <a:endParaRPr lang="en-US" sz="1300" dirty="0"/>
          </a:p>
        </p:txBody>
      </p:sp>
      <p:sp>
        <p:nvSpPr>
          <p:cNvPr id="90" name="Text 78"/>
          <p:cNvSpPr txBox="1"/>
          <p:nvPr/>
        </p:nvSpPr>
        <p:spPr>
          <a:xfrm>
            <a:off x="7045452" y="4517136"/>
            <a:ext cx="1415034" cy="457200"/>
          </a:xfrm>
          <a:prstGeom prst="rect">
            <a:avLst/>
          </a:prstGeom>
          <a:noFill/>
          <a:ln/>
        </p:spPr>
        <p:txBody>
          <a:bodyPr wrap="square" lIns="0" tIns="0" rIns="0" bIns="0" rtlCol="0" anchor="ctr"/>
          <a:lstStyle/>
          <a:p>
            <a:pPr marL="0" indent="0">
              <a:buNone/>
            </a:pPr>
            <a:r>
              <a:rPr lang="en-US" sz="1500" b="1" dirty="0">
                <a:solidFill>
                  <a:srgbClr val="132226"/>
                </a:solidFill>
              </a:rPr>
              <a:t>Quality gates</a:t>
            </a:r>
            <a:endParaRPr lang="en-US" sz="1500" dirty="0"/>
          </a:p>
        </p:txBody>
      </p:sp>
      <p:sp>
        <p:nvSpPr>
          <p:cNvPr id="91" name="done circle"/>
          <p:cNvSpPr/>
          <p:nvPr/>
        </p:nvSpPr>
        <p:spPr>
          <a:xfrm>
            <a:off x="8442198" y="4599432"/>
            <a:ext cx="274320" cy="274320"/>
          </a:xfrm>
          <a:prstGeom prst="ellipse">
            <a:avLst/>
          </a:prstGeom>
          <a:solidFill>
            <a:schemeClr val="accent3"/>
          </a:solidFill>
          <a:ln/>
        </p:spPr>
      </p:sp>
      <p:pic>
        <p:nvPicPr>
          <p:cNvPr id="92" name="done" descr="preencoded.png"/>
          <p:cNvPicPr>
            <a:picLocks noChangeAspect="1"/>
          </p:cNvPicPr>
          <p:nvPr/>
        </p:nvPicPr>
        <p:blipFill>
          <a:blip r:embed="rId3"/>
          <a:stretch>
            <a:fillRect/>
          </a:stretch>
        </p:blipFill>
        <p:spPr>
          <a:xfrm>
            <a:off x="8508035" y="4665269"/>
            <a:ext cx="142646" cy="142646"/>
          </a:xfrm>
          <a:prstGeom prst="rect">
            <a:avLst/>
          </a:prstGeom>
        </p:spPr>
      </p:pic>
      <p:sp>
        <p:nvSpPr>
          <p:cNvPr id="93" name="Text 80"/>
          <p:cNvSpPr txBox="1"/>
          <p:nvPr/>
        </p:nvSpPr>
        <p:spPr>
          <a:xfrm>
            <a:off x="6405372" y="5102352"/>
            <a:ext cx="2283714" cy="347472"/>
          </a:xfrm>
          <a:prstGeom prst="rect">
            <a:avLst/>
          </a:prstGeom>
          <a:noFill/>
          <a:ln/>
        </p:spPr>
        <p:txBody>
          <a:bodyPr wrap="square" lIns="0" tIns="0" rIns="0" bIns="0" rtlCol="0" anchor="ctr"/>
          <a:lstStyle/>
          <a:p>
            <a:pPr marL="0" indent="0">
              <a:buNone/>
            </a:pPr>
            <a:r>
              <a:rPr lang="en-US" sz="1200" dirty="0">
                <a:solidFill>
                  <a:srgbClr val="4A5B5E"/>
                </a:solidFill>
              </a:rPr>
              <a:t>Tests · tf validate · Trivy</a:t>
            </a:r>
            <a:endParaRPr lang="en-US" sz="1200" dirty="0"/>
          </a:p>
        </p:txBody>
      </p:sp>
      <p:sp>
        <p:nvSpPr>
          <p:cNvPr id="94" name="card"/>
          <p:cNvSpPr/>
          <p:nvPr/>
        </p:nvSpPr>
        <p:spPr>
          <a:xfrm>
            <a:off x="8990838" y="4297680"/>
            <a:ext cx="2649474" cy="1261872"/>
          </a:xfrm>
          <a:prstGeom prst="roundRect">
            <a:avLst>
              <a:gd name="adj" fmla="val 7246"/>
            </a:avLst>
          </a:prstGeom>
          <a:solidFill>
            <a:srgbClr val="FFFFFF"/>
          </a:solidFill>
          <a:ln/>
          <a:effectLst>
            <a:outerShdw blurRad="114300" dist="25400" dir="5400000" algn="bl" rotWithShape="0">
              <a:srgbClr val="0E3B43">
                <a:alpha val="13000"/>
              </a:srgbClr>
            </a:outerShdw>
          </a:effectLst>
        </p:spPr>
      </p:sp>
      <p:sp>
        <p:nvSpPr>
          <p:cNvPr id="95" name="phase bar"/>
          <p:cNvSpPr/>
          <p:nvPr/>
        </p:nvSpPr>
        <p:spPr>
          <a:xfrm>
            <a:off x="8990838" y="4389120"/>
            <a:ext cx="73152" cy="1078992"/>
          </a:xfrm>
          <a:prstGeom prst="rect">
            <a:avLst/>
          </a:prstGeom>
          <a:solidFill>
            <a:schemeClr val="accent3"/>
          </a:solidFill>
          <a:ln/>
        </p:spPr>
      </p:sp>
      <p:sp>
        <p:nvSpPr>
          <p:cNvPr id="96" name="milestone M12"/>
          <p:cNvSpPr/>
          <p:nvPr/>
        </p:nvSpPr>
        <p:spPr>
          <a:xfrm>
            <a:off x="9219438" y="4498848"/>
            <a:ext cx="502920" cy="502920"/>
          </a:xfrm>
          <a:prstGeom prst="ellipse">
            <a:avLst/>
          </a:prstGeom>
          <a:solidFill>
            <a:schemeClr val="tx2"/>
          </a:solidFill>
          <a:ln/>
        </p:spPr>
      </p:sp>
      <p:sp>
        <p:nvSpPr>
          <p:cNvPr id="97" name="Text 84"/>
          <p:cNvSpPr txBox="1"/>
          <p:nvPr/>
        </p:nvSpPr>
        <p:spPr>
          <a:xfrm>
            <a:off x="9219438" y="4498848"/>
            <a:ext cx="502920" cy="502920"/>
          </a:xfrm>
          <a:prstGeom prst="rect">
            <a:avLst/>
          </a:prstGeom>
          <a:noFill/>
          <a:ln/>
        </p:spPr>
        <p:txBody>
          <a:bodyPr wrap="square" lIns="0" tIns="0" rIns="0" bIns="0" rtlCol="0" anchor="ctr"/>
          <a:lstStyle/>
          <a:p>
            <a:pPr marL="0" indent="0" algn="ctr">
              <a:buNone/>
            </a:pPr>
            <a:r>
              <a:rPr lang="en-US" sz="1300" b="1" dirty="0">
                <a:solidFill>
                  <a:srgbClr val="F2A541"/>
                </a:solidFill>
              </a:rPr>
              <a:t>M12</a:t>
            </a:r>
            <a:endParaRPr lang="en-US" sz="1300" dirty="0"/>
          </a:p>
        </p:txBody>
      </p:sp>
      <p:sp>
        <p:nvSpPr>
          <p:cNvPr id="98" name="Text 85"/>
          <p:cNvSpPr txBox="1"/>
          <p:nvPr/>
        </p:nvSpPr>
        <p:spPr>
          <a:xfrm>
            <a:off x="9859518" y="4517136"/>
            <a:ext cx="1415034" cy="457200"/>
          </a:xfrm>
          <a:prstGeom prst="rect">
            <a:avLst/>
          </a:prstGeom>
          <a:noFill/>
          <a:ln/>
        </p:spPr>
        <p:txBody>
          <a:bodyPr wrap="square" lIns="0" tIns="0" rIns="0" bIns="0" rtlCol="0" anchor="ctr"/>
          <a:lstStyle/>
          <a:p>
            <a:pPr marL="0" indent="0">
              <a:buNone/>
            </a:pPr>
            <a:r>
              <a:rPr lang="en-US" sz="1500" b="1" dirty="0">
                <a:solidFill>
                  <a:srgbClr val="132226"/>
                </a:solidFill>
              </a:rPr>
              <a:t>Resilience &amp; cost</a:t>
            </a:r>
            <a:endParaRPr lang="en-US" sz="1500" dirty="0"/>
          </a:p>
        </p:txBody>
      </p:sp>
      <p:sp>
        <p:nvSpPr>
          <p:cNvPr id="99" name="done circle"/>
          <p:cNvSpPr/>
          <p:nvPr/>
        </p:nvSpPr>
        <p:spPr>
          <a:xfrm>
            <a:off x="11256264" y="4599432"/>
            <a:ext cx="274320" cy="274320"/>
          </a:xfrm>
          <a:prstGeom prst="ellipse">
            <a:avLst/>
          </a:prstGeom>
          <a:solidFill>
            <a:schemeClr val="accent3"/>
          </a:solidFill>
          <a:ln/>
        </p:spPr>
      </p:sp>
      <p:pic>
        <p:nvPicPr>
          <p:cNvPr id="100" name="done" descr="preencoded.png"/>
          <p:cNvPicPr>
            <a:picLocks noChangeAspect="1"/>
          </p:cNvPicPr>
          <p:nvPr/>
        </p:nvPicPr>
        <p:blipFill>
          <a:blip r:embed="rId3"/>
          <a:stretch>
            <a:fillRect/>
          </a:stretch>
        </p:blipFill>
        <p:spPr>
          <a:xfrm>
            <a:off x="11322101" y="4665269"/>
            <a:ext cx="142646" cy="142646"/>
          </a:xfrm>
          <a:prstGeom prst="rect">
            <a:avLst/>
          </a:prstGeom>
        </p:spPr>
      </p:pic>
      <p:sp>
        <p:nvSpPr>
          <p:cNvPr id="101" name="Text 87"/>
          <p:cNvSpPr txBox="1"/>
          <p:nvPr/>
        </p:nvSpPr>
        <p:spPr>
          <a:xfrm>
            <a:off x="9219438" y="5102352"/>
            <a:ext cx="2283714" cy="347472"/>
          </a:xfrm>
          <a:prstGeom prst="rect">
            <a:avLst/>
          </a:prstGeom>
          <a:noFill/>
          <a:ln/>
        </p:spPr>
        <p:txBody>
          <a:bodyPr wrap="square" lIns="0" tIns="0" rIns="0" bIns="0" rtlCol="0" anchor="ctr"/>
          <a:lstStyle/>
          <a:p>
            <a:pPr marL="0" indent="0">
              <a:buNone/>
            </a:pPr>
            <a:r>
              <a:rPr lang="en-US" sz="1200" dirty="0">
                <a:solidFill>
                  <a:srgbClr val="4A5B5E"/>
                </a:solidFill>
              </a:rPr>
              <a:t>Self-healing · Cost Explorer</a:t>
            </a:r>
            <a:endParaRPr lang="en-US" sz="1200" dirty="0"/>
          </a:p>
        </p:txBody>
      </p:sp>
      <p:sp>
        <p:nvSpPr>
          <p:cNvPr id="102" name="Text 88"/>
          <p:cNvSpPr txBox="1"/>
          <p:nvPr/>
        </p:nvSpPr>
        <p:spPr>
          <a:xfrm>
            <a:off x="548640" y="5779008"/>
            <a:ext cx="11091672" cy="320040"/>
          </a:xfrm>
          <a:prstGeom prst="rect">
            <a:avLst/>
          </a:prstGeom>
          <a:noFill/>
          <a:ln/>
        </p:spPr>
        <p:txBody>
          <a:bodyPr wrap="square" lIns="0" tIns="0" rIns="0" bIns="0" rtlCol="0" anchor="ctr"/>
          <a:lstStyle/>
          <a:p>
            <a:pPr marL="0" indent="0">
              <a:buNone/>
            </a:pPr>
            <a:r>
              <a:rPr lang="en-US" sz="1200" dirty="0">
                <a:solidFill>
                  <a:srgbClr val="0E7C7B"/>
                </a:solidFill>
              </a:rPr>
              <a:t>▌</a:t>
            </a:r>
            <a:r>
              <a:rPr lang="en-US" sz="1200" dirty="0">
                <a:solidFill>
                  <a:srgbClr val="4A5B5E"/>
                </a:solidFill>
              </a:rPr>
              <a:t> Foundation   </a:t>
            </a:r>
            <a:r>
              <a:rPr lang="en-US" sz="1200" dirty="0">
                <a:solidFill>
                  <a:srgbClr val="5B6C8F"/>
                </a:solidFill>
              </a:rPr>
              <a:t>▌</a:t>
            </a:r>
            <a:r>
              <a:rPr lang="en-US" sz="1200" dirty="0">
                <a:solidFill>
                  <a:srgbClr val="4A5B5E"/>
                </a:solidFill>
              </a:rPr>
              <a:t> Data &amp; edge   </a:t>
            </a:r>
            <a:r>
              <a:rPr lang="en-US" sz="1200" dirty="0">
                <a:solidFill>
                  <a:srgbClr val="F2A541"/>
                </a:solidFill>
              </a:rPr>
              <a:t>▌</a:t>
            </a:r>
            <a:r>
              <a:rPr lang="en-US" sz="1200" dirty="0">
                <a:solidFill>
                  <a:srgbClr val="4A5B5E"/>
                </a:solidFill>
              </a:rPr>
              <a:t> Events &amp; AI   </a:t>
            </a:r>
            <a:r>
              <a:rPr lang="en-US" sz="1200" dirty="0">
                <a:solidFill>
                  <a:srgbClr val="1F9A82"/>
                </a:solidFill>
              </a:rPr>
              <a:t>▌</a:t>
            </a:r>
            <a:r>
              <a:rPr lang="en-US" sz="1200" dirty="0">
                <a:solidFill>
                  <a:srgbClr val="4A5B5E"/>
                </a:solidFill>
              </a:rPr>
              <a:t> Operations &amp; quality   </a:t>
            </a:r>
            <a:r>
              <a:rPr lang="en-US" sz="1200" b="1" dirty="0">
                <a:solidFill>
                  <a:srgbClr val="1F9A82"/>
                </a:solidFill>
              </a:rPr>
              <a:t>✓</a:t>
            </a:r>
            <a:r>
              <a:rPr lang="en-US" sz="1200" dirty="0">
                <a:solidFill>
                  <a:srgbClr val="4A5B5E"/>
                </a:solidFill>
              </a:rPr>
              <a:t> implemented and validated</a:t>
            </a:r>
            <a:endParaRPr lang="en-US" sz="1200" dirty="0"/>
          </a:p>
        </p:txBody>
      </p:sp>
      <p:sp>
        <p:nvSpPr>
          <p:cNvPr id="103"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Milestone 1 — Foundation &amp; networking</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The network is split by trust level, Availability Zone and routing behavior.</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M1</a:t>
            </a:r>
            <a:endParaRPr lang="en-US" sz="1200" dirty="0"/>
          </a:p>
        </p:txBody>
      </p:sp>
      <p:sp>
        <p:nvSpPr>
          <p:cNvPr id="6" name="card"/>
          <p:cNvSpPr/>
          <p:nvPr/>
        </p:nvSpPr>
        <p:spPr>
          <a:xfrm>
            <a:off x="548640" y="1463040"/>
            <a:ext cx="7406640" cy="4709160"/>
          </a:xfrm>
          <a:prstGeom prst="roundRect">
            <a:avLst>
              <a:gd name="adj" fmla="val 1942"/>
            </a:avLst>
          </a:prstGeom>
          <a:solidFill>
            <a:srgbClr val="FFFFFF"/>
          </a:solidFill>
          <a:ln/>
          <a:effectLst>
            <a:outerShdw blurRad="114300" dist="25400" dir="5400000" algn="bl" rotWithShape="0">
              <a:srgbClr val="0E3B43">
                <a:alpha val="13000"/>
              </a:srgbClr>
            </a:outerShdw>
          </a:effectLst>
        </p:spPr>
      </p:sp>
      <p:sp>
        <p:nvSpPr>
          <p:cNvPr id="7" name="vpc pill"/>
          <p:cNvSpPr/>
          <p:nvPr/>
        </p:nvSpPr>
        <p:spPr>
          <a:xfrm>
            <a:off x="731520" y="1627632"/>
            <a:ext cx="1783080" cy="347472"/>
          </a:xfrm>
          <a:prstGeom prst="roundRect">
            <a:avLst>
              <a:gd name="adj" fmla="val 50000"/>
            </a:avLst>
          </a:prstGeom>
          <a:solidFill>
            <a:schemeClr val="tx2"/>
          </a:solidFill>
          <a:ln/>
        </p:spPr>
      </p:sp>
      <p:sp>
        <p:nvSpPr>
          <p:cNvPr id="8" name="Text 6"/>
          <p:cNvSpPr txBox="1"/>
          <p:nvPr/>
        </p:nvSpPr>
        <p:spPr>
          <a:xfrm>
            <a:off x="731520" y="1627632"/>
            <a:ext cx="1783080" cy="347472"/>
          </a:xfrm>
          <a:prstGeom prst="rect">
            <a:avLst/>
          </a:prstGeom>
          <a:noFill/>
          <a:ln/>
        </p:spPr>
        <p:txBody>
          <a:bodyPr wrap="square" lIns="0" tIns="0" rIns="0" bIns="0" rtlCol="0" anchor="ctr"/>
          <a:lstStyle/>
          <a:p>
            <a:pPr marL="0" indent="0" algn="ctr">
              <a:buNone/>
            </a:pPr>
            <a:r>
              <a:rPr lang="en-US" sz="1200" b="1" dirty="0">
                <a:solidFill>
                  <a:srgbClr val="FFFFFF"/>
                </a:solidFill>
              </a:rPr>
              <a:t>VPC 10.0.0.0/16</a:t>
            </a:r>
            <a:endParaRPr lang="en-US" sz="1200" dirty="0"/>
          </a:p>
        </p:txBody>
      </p:sp>
      <p:sp>
        <p:nvSpPr>
          <p:cNvPr id="9" name="Text 7"/>
          <p:cNvSpPr txBox="1"/>
          <p:nvPr/>
        </p:nvSpPr>
        <p:spPr>
          <a:xfrm>
            <a:off x="2697480" y="1627632"/>
            <a:ext cx="2468880" cy="347472"/>
          </a:xfrm>
          <a:prstGeom prst="rect">
            <a:avLst/>
          </a:prstGeom>
          <a:noFill/>
          <a:ln/>
        </p:spPr>
        <p:txBody>
          <a:bodyPr wrap="square" lIns="0" tIns="0" rIns="0" bIns="0" rtlCol="0" anchor="ctr"/>
          <a:lstStyle/>
          <a:p>
            <a:pPr marL="0" indent="0" algn="ctr">
              <a:buNone/>
            </a:pPr>
            <a:r>
              <a:rPr lang="en-US" sz="1300" b="1" dirty="0">
                <a:solidFill>
                  <a:srgbClr val="0E7C7B"/>
                </a:solidFill>
              </a:rPr>
              <a:t>Availability Zone us-east-1a</a:t>
            </a:r>
            <a:endParaRPr lang="en-US" sz="1300" dirty="0"/>
          </a:p>
        </p:txBody>
      </p:sp>
      <p:sp>
        <p:nvSpPr>
          <p:cNvPr id="10" name="Text 8"/>
          <p:cNvSpPr txBox="1"/>
          <p:nvPr/>
        </p:nvSpPr>
        <p:spPr>
          <a:xfrm>
            <a:off x="5303520" y="1627632"/>
            <a:ext cx="2468880" cy="347472"/>
          </a:xfrm>
          <a:prstGeom prst="rect">
            <a:avLst/>
          </a:prstGeom>
          <a:noFill/>
          <a:ln/>
        </p:spPr>
        <p:txBody>
          <a:bodyPr wrap="square" lIns="0" tIns="0" rIns="0" bIns="0" rtlCol="0" anchor="ctr"/>
          <a:lstStyle/>
          <a:p>
            <a:pPr marL="0" indent="0" algn="ctr">
              <a:buNone/>
            </a:pPr>
            <a:r>
              <a:rPr lang="en-US" sz="1300" b="1" dirty="0">
                <a:solidFill>
                  <a:srgbClr val="0E7C7B"/>
                </a:solidFill>
              </a:rPr>
              <a:t>Availability Zone us-east-1b</a:t>
            </a:r>
            <a:endParaRPr lang="en-US" sz="1300" dirty="0"/>
          </a:p>
        </p:txBody>
      </p:sp>
      <p:sp>
        <p:nvSpPr>
          <p:cNvPr id="11" name="Public circle"/>
          <p:cNvSpPr/>
          <p:nvPr/>
        </p:nvSpPr>
        <p:spPr>
          <a:xfrm>
            <a:off x="777240" y="2240280"/>
            <a:ext cx="457200" cy="457200"/>
          </a:xfrm>
          <a:prstGeom prst="ellipse">
            <a:avLst/>
          </a:prstGeom>
          <a:solidFill>
            <a:schemeClr val="accent6"/>
          </a:solidFill>
          <a:ln/>
        </p:spPr>
      </p:sp>
      <p:pic>
        <p:nvPicPr>
          <p:cNvPr id="12" name="Public" descr="preencoded.png"/>
          <p:cNvPicPr>
            <a:picLocks noChangeAspect="1"/>
          </p:cNvPicPr>
          <p:nvPr/>
        </p:nvPicPr>
        <p:blipFill>
          <a:blip r:embed="rId3"/>
          <a:stretch>
            <a:fillRect/>
          </a:stretch>
        </p:blipFill>
        <p:spPr>
          <a:xfrm>
            <a:off x="886968" y="2350008"/>
            <a:ext cx="237744" cy="237744"/>
          </a:xfrm>
          <a:prstGeom prst="rect">
            <a:avLst/>
          </a:prstGeom>
        </p:spPr>
      </p:pic>
      <p:sp>
        <p:nvSpPr>
          <p:cNvPr id="13" name="Text 10"/>
          <p:cNvSpPr txBox="1"/>
          <p:nvPr/>
        </p:nvSpPr>
        <p:spPr>
          <a:xfrm>
            <a:off x="777240" y="2770632"/>
            <a:ext cx="1783080" cy="274320"/>
          </a:xfrm>
          <a:prstGeom prst="rect">
            <a:avLst/>
          </a:prstGeom>
          <a:noFill/>
          <a:ln/>
        </p:spPr>
        <p:txBody>
          <a:bodyPr wrap="square" lIns="0" tIns="0" rIns="0" bIns="0" rtlCol="0" anchor="t"/>
          <a:lstStyle/>
          <a:p>
            <a:pPr marL="0" indent="0">
              <a:buNone/>
            </a:pPr>
            <a:r>
              <a:rPr lang="en-US" sz="1400" b="1" dirty="0">
                <a:solidFill>
                  <a:srgbClr val="132226"/>
                </a:solidFill>
              </a:rPr>
              <a:t>Public</a:t>
            </a:r>
            <a:endParaRPr lang="en-US" sz="1400" dirty="0"/>
          </a:p>
        </p:txBody>
      </p:sp>
      <p:sp>
        <p:nvSpPr>
          <p:cNvPr id="14" name="Text 11"/>
          <p:cNvSpPr txBox="1"/>
          <p:nvPr/>
        </p:nvSpPr>
        <p:spPr>
          <a:xfrm>
            <a:off x="777240" y="3026664"/>
            <a:ext cx="1783080" cy="237744"/>
          </a:xfrm>
          <a:prstGeom prst="rect">
            <a:avLst/>
          </a:prstGeom>
          <a:noFill/>
          <a:ln/>
        </p:spPr>
        <p:txBody>
          <a:bodyPr wrap="square" lIns="0" tIns="0" rIns="0" bIns="0" rtlCol="0" anchor="t"/>
          <a:lstStyle/>
          <a:p>
            <a:pPr marL="0" indent="0">
              <a:buNone/>
            </a:pPr>
            <a:r>
              <a:rPr lang="en-US" sz="1100" dirty="0">
                <a:solidFill>
                  <a:srgbClr val="6B7C7F"/>
                </a:solidFill>
              </a:rPr>
              <a:t>internet-facing</a:t>
            </a:r>
            <a:endParaRPr lang="en-US" sz="1100" dirty="0"/>
          </a:p>
        </p:txBody>
      </p:sp>
      <p:sp>
        <p:nvSpPr>
          <p:cNvPr id="15" name="subnet Public"/>
          <p:cNvSpPr/>
          <p:nvPr/>
        </p:nvSpPr>
        <p:spPr>
          <a:xfrm>
            <a:off x="2697480" y="2148840"/>
            <a:ext cx="2468880" cy="1143000"/>
          </a:xfrm>
          <a:prstGeom prst="roundRect">
            <a:avLst>
              <a:gd name="adj" fmla="val 6400"/>
            </a:avLst>
          </a:prstGeom>
          <a:solidFill>
            <a:srgbClr val="E8F5F6"/>
          </a:solidFill>
          <a:ln w="9525">
            <a:solidFill>
              <a:srgbClr val="D3E2E0"/>
            </a:solidFill>
            <a:prstDash val="solid"/>
          </a:ln>
        </p:spPr>
      </p:sp>
      <p:sp>
        <p:nvSpPr>
          <p:cNvPr id="16" name="Text 13"/>
          <p:cNvSpPr txBox="1"/>
          <p:nvPr/>
        </p:nvSpPr>
        <p:spPr>
          <a:xfrm>
            <a:off x="2880360" y="2313432"/>
            <a:ext cx="21031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10.0.1.0/24</a:t>
            </a:r>
            <a:endParaRPr lang="en-US" sz="1700" dirty="0"/>
          </a:p>
        </p:txBody>
      </p:sp>
      <p:sp>
        <p:nvSpPr>
          <p:cNvPr id="17" name="Text 14"/>
          <p:cNvSpPr txBox="1"/>
          <p:nvPr/>
        </p:nvSpPr>
        <p:spPr>
          <a:xfrm>
            <a:off x="2880360" y="2715768"/>
            <a:ext cx="2194560" cy="457200"/>
          </a:xfrm>
          <a:prstGeom prst="rect">
            <a:avLst/>
          </a:prstGeom>
          <a:noFill/>
          <a:ln/>
        </p:spPr>
        <p:txBody>
          <a:bodyPr wrap="square" lIns="0" tIns="0" rIns="0" bIns="0" rtlCol="0" anchor="t"/>
          <a:lstStyle/>
          <a:p>
            <a:pPr marL="0" indent="0">
              <a:buNone/>
            </a:pPr>
            <a:r>
              <a:rPr lang="en-US" sz="1300" dirty="0">
                <a:solidFill>
                  <a:srgbClr val="4A5B5E"/>
                </a:solidFill>
              </a:rPr>
              <a:t>ALB  ·  NAT Gateway</a:t>
            </a:r>
            <a:endParaRPr lang="en-US" sz="1300" dirty="0"/>
          </a:p>
        </p:txBody>
      </p:sp>
      <p:sp>
        <p:nvSpPr>
          <p:cNvPr id="18" name="subnet Public"/>
          <p:cNvSpPr/>
          <p:nvPr/>
        </p:nvSpPr>
        <p:spPr>
          <a:xfrm>
            <a:off x="5303520" y="2148840"/>
            <a:ext cx="2468880" cy="1143000"/>
          </a:xfrm>
          <a:prstGeom prst="roundRect">
            <a:avLst>
              <a:gd name="adj" fmla="val 6400"/>
            </a:avLst>
          </a:prstGeom>
          <a:solidFill>
            <a:srgbClr val="E8F5F6"/>
          </a:solidFill>
          <a:ln w="9525">
            <a:solidFill>
              <a:srgbClr val="D3E2E0"/>
            </a:solidFill>
            <a:prstDash val="solid"/>
          </a:ln>
        </p:spPr>
      </p:sp>
      <p:sp>
        <p:nvSpPr>
          <p:cNvPr id="19" name="Text 16"/>
          <p:cNvSpPr txBox="1"/>
          <p:nvPr/>
        </p:nvSpPr>
        <p:spPr>
          <a:xfrm>
            <a:off x="5486400" y="2313432"/>
            <a:ext cx="21031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10.0.2.0/24</a:t>
            </a:r>
            <a:endParaRPr lang="en-US" sz="1700" dirty="0"/>
          </a:p>
        </p:txBody>
      </p:sp>
      <p:sp>
        <p:nvSpPr>
          <p:cNvPr id="20" name="Text 17"/>
          <p:cNvSpPr txBox="1"/>
          <p:nvPr/>
        </p:nvSpPr>
        <p:spPr>
          <a:xfrm>
            <a:off x="5486400" y="2715768"/>
            <a:ext cx="2194560" cy="457200"/>
          </a:xfrm>
          <a:prstGeom prst="rect">
            <a:avLst/>
          </a:prstGeom>
          <a:noFill/>
          <a:ln/>
        </p:spPr>
        <p:txBody>
          <a:bodyPr wrap="square" lIns="0" tIns="0" rIns="0" bIns="0" rtlCol="0" anchor="t"/>
          <a:lstStyle/>
          <a:p>
            <a:pPr marL="0" indent="0">
              <a:buNone/>
            </a:pPr>
            <a:r>
              <a:rPr lang="en-US" sz="1300" dirty="0">
                <a:solidFill>
                  <a:srgbClr val="4A5B5E"/>
                </a:solidFill>
              </a:rPr>
              <a:t>ALB  ·  NAT Gateway</a:t>
            </a:r>
            <a:endParaRPr lang="en-US" sz="1300" dirty="0"/>
          </a:p>
        </p:txBody>
      </p:sp>
      <p:sp>
        <p:nvSpPr>
          <p:cNvPr id="21" name="Private app circle"/>
          <p:cNvSpPr/>
          <p:nvPr/>
        </p:nvSpPr>
        <p:spPr>
          <a:xfrm>
            <a:off x="777240" y="3566160"/>
            <a:ext cx="457200" cy="457200"/>
          </a:xfrm>
          <a:prstGeom prst="ellipse">
            <a:avLst/>
          </a:prstGeom>
          <a:solidFill>
            <a:schemeClr val="accent1"/>
          </a:solidFill>
          <a:ln/>
        </p:spPr>
      </p:sp>
      <p:pic>
        <p:nvPicPr>
          <p:cNvPr id="22" name="Private app" descr="preencoded.png"/>
          <p:cNvPicPr>
            <a:picLocks noChangeAspect="1"/>
          </p:cNvPicPr>
          <p:nvPr/>
        </p:nvPicPr>
        <p:blipFill>
          <a:blip r:embed="rId4"/>
          <a:stretch>
            <a:fillRect/>
          </a:stretch>
        </p:blipFill>
        <p:spPr>
          <a:xfrm>
            <a:off x="886968" y="3675888"/>
            <a:ext cx="237744" cy="237744"/>
          </a:xfrm>
          <a:prstGeom prst="rect">
            <a:avLst/>
          </a:prstGeom>
        </p:spPr>
      </p:pic>
      <p:sp>
        <p:nvSpPr>
          <p:cNvPr id="23" name="Text 19"/>
          <p:cNvSpPr txBox="1"/>
          <p:nvPr/>
        </p:nvSpPr>
        <p:spPr>
          <a:xfrm>
            <a:off x="777240" y="4096512"/>
            <a:ext cx="1783080" cy="274320"/>
          </a:xfrm>
          <a:prstGeom prst="rect">
            <a:avLst/>
          </a:prstGeom>
          <a:noFill/>
          <a:ln/>
        </p:spPr>
        <p:txBody>
          <a:bodyPr wrap="square" lIns="0" tIns="0" rIns="0" bIns="0" rtlCol="0" anchor="t"/>
          <a:lstStyle/>
          <a:p>
            <a:pPr marL="0" indent="0">
              <a:buNone/>
            </a:pPr>
            <a:r>
              <a:rPr lang="en-US" sz="1400" b="1" dirty="0">
                <a:solidFill>
                  <a:srgbClr val="132226"/>
                </a:solidFill>
              </a:rPr>
              <a:t>Private app</a:t>
            </a:r>
            <a:endParaRPr lang="en-US" sz="1400" dirty="0"/>
          </a:p>
        </p:txBody>
      </p:sp>
      <p:sp>
        <p:nvSpPr>
          <p:cNvPr id="24" name="Text 20"/>
          <p:cNvSpPr txBox="1"/>
          <p:nvPr/>
        </p:nvSpPr>
        <p:spPr>
          <a:xfrm>
            <a:off x="777240" y="4352544"/>
            <a:ext cx="1783080" cy="237744"/>
          </a:xfrm>
          <a:prstGeom prst="rect">
            <a:avLst/>
          </a:prstGeom>
          <a:noFill/>
          <a:ln/>
        </p:spPr>
        <p:txBody>
          <a:bodyPr wrap="square" lIns="0" tIns="0" rIns="0" bIns="0" rtlCol="0" anchor="t"/>
          <a:lstStyle/>
          <a:p>
            <a:pPr marL="0" indent="0">
              <a:buNone/>
            </a:pPr>
            <a:r>
              <a:rPr lang="en-US" sz="1100" dirty="0">
                <a:solidFill>
                  <a:srgbClr val="6B7C7F"/>
                </a:solidFill>
              </a:rPr>
              <a:t>compute</a:t>
            </a:r>
            <a:endParaRPr lang="en-US" sz="1100" dirty="0"/>
          </a:p>
        </p:txBody>
      </p:sp>
      <p:sp>
        <p:nvSpPr>
          <p:cNvPr id="25" name="subnet Private app"/>
          <p:cNvSpPr/>
          <p:nvPr/>
        </p:nvSpPr>
        <p:spPr>
          <a:xfrm>
            <a:off x="2697480" y="3474720"/>
            <a:ext cx="2468880" cy="1143000"/>
          </a:xfrm>
          <a:prstGeom prst="roundRect">
            <a:avLst>
              <a:gd name="adj" fmla="val 6400"/>
            </a:avLst>
          </a:prstGeom>
          <a:solidFill>
            <a:srgbClr val="E1F0EF"/>
          </a:solidFill>
          <a:ln w="9525">
            <a:solidFill>
              <a:srgbClr val="D3E2E0"/>
            </a:solidFill>
            <a:prstDash val="solid"/>
          </a:ln>
        </p:spPr>
      </p:sp>
      <p:sp>
        <p:nvSpPr>
          <p:cNvPr id="26" name="Text 22"/>
          <p:cNvSpPr txBox="1"/>
          <p:nvPr/>
        </p:nvSpPr>
        <p:spPr>
          <a:xfrm>
            <a:off x="2880360" y="3639312"/>
            <a:ext cx="21031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10.0.11.0/24</a:t>
            </a:r>
            <a:endParaRPr lang="en-US" sz="1700" dirty="0"/>
          </a:p>
        </p:txBody>
      </p:sp>
      <p:sp>
        <p:nvSpPr>
          <p:cNvPr id="27" name="Text 23"/>
          <p:cNvSpPr txBox="1"/>
          <p:nvPr/>
        </p:nvSpPr>
        <p:spPr>
          <a:xfrm>
            <a:off x="2880360" y="4041648"/>
            <a:ext cx="2194560" cy="457200"/>
          </a:xfrm>
          <a:prstGeom prst="rect">
            <a:avLst/>
          </a:prstGeom>
          <a:noFill/>
          <a:ln/>
        </p:spPr>
        <p:txBody>
          <a:bodyPr wrap="square" lIns="0" tIns="0" rIns="0" bIns="0" rtlCol="0" anchor="t"/>
          <a:lstStyle/>
          <a:p>
            <a:pPr marL="0" indent="0">
              <a:buNone/>
            </a:pPr>
            <a:r>
              <a:rPr lang="en-US" sz="1300" dirty="0">
                <a:solidFill>
                  <a:srgbClr val="4A5B5E"/>
                </a:solidFill>
              </a:rPr>
              <a:t>ECS Fargate  ·  no public IP</a:t>
            </a:r>
            <a:endParaRPr lang="en-US" sz="1300" dirty="0"/>
          </a:p>
        </p:txBody>
      </p:sp>
      <p:sp>
        <p:nvSpPr>
          <p:cNvPr id="28" name="subnet Private app"/>
          <p:cNvSpPr/>
          <p:nvPr/>
        </p:nvSpPr>
        <p:spPr>
          <a:xfrm>
            <a:off x="5303520" y="3474720"/>
            <a:ext cx="2468880" cy="1143000"/>
          </a:xfrm>
          <a:prstGeom prst="roundRect">
            <a:avLst>
              <a:gd name="adj" fmla="val 6400"/>
            </a:avLst>
          </a:prstGeom>
          <a:solidFill>
            <a:srgbClr val="E1F0EF"/>
          </a:solidFill>
          <a:ln w="9525">
            <a:solidFill>
              <a:srgbClr val="D3E2E0"/>
            </a:solidFill>
            <a:prstDash val="solid"/>
          </a:ln>
        </p:spPr>
      </p:sp>
      <p:sp>
        <p:nvSpPr>
          <p:cNvPr id="29" name="Text 25"/>
          <p:cNvSpPr txBox="1"/>
          <p:nvPr/>
        </p:nvSpPr>
        <p:spPr>
          <a:xfrm>
            <a:off x="5486400" y="3639312"/>
            <a:ext cx="21031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10.0.12.0/24</a:t>
            </a:r>
            <a:endParaRPr lang="en-US" sz="1700" dirty="0"/>
          </a:p>
        </p:txBody>
      </p:sp>
      <p:sp>
        <p:nvSpPr>
          <p:cNvPr id="30" name="Text 26"/>
          <p:cNvSpPr txBox="1"/>
          <p:nvPr/>
        </p:nvSpPr>
        <p:spPr>
          <a:xfrm>
            <a:off x="5486400" y="4041648"/>
            <a:ext cx="2194560" cy="457200"/>
          </a:xfrm>
          <a:prstGeom prst="rect">
            <a:avLst/>
          </a:prstGeom>
          <a:noFill/>
          <a:ln/>
        </p:spPr>
        <p:txBody>
          <a:bodyPr wrap="square" lIns="0" tIns="0" rIns="0" bIns="0" rtlCol="0" anchor="t"/>
          <a:lstStyle/>
          <a:p>
            <a:pPr marL="0" indent="0">
              <a:buNone/>
            </a:pPr>
            <a:r>
              <a:rPr lang="en-US" sz="1300" dirty="0">
                <a:solidFill>
                  <a:srgbClr val="4A5B5E"/>
                </a:solidFill>
              </a:rPr>
              <a:t>ECS Fargate  ·  no public IP</a:t>
            </a:r>
            <a:endParaRPr lang="en-US" sz="1300" dirty="0"/>
          </a:p>
        </p:txBody>
      </p:sp>
      <p:sp>
        <p:nvSpPr>
          <p:cNvPr id="31" name="Private DB circle"/>
          <p:cNvSpPr/>
          <p:nvPr/>
        </p:nvSpPr>
        <p:spPr>
          <a:xfrm>
            <a:off x="777240" y="4892040"/>
            <a:ext cx="457200" cy="457200"/>
          </a:xfrm>
          <a:prstGeom prst="ellipse">
            <a:avLst/>
          </a:prstGeom>
          <a:solidFill>
            <a:schemeClr val="accent5"/>
          </a:solidFill>
          <a:ln/>
        </p:spPr>
      </p:sp>
      <p:pic>
        <p:nvPicPr>
          <p:cNvPr id="32" name="Private DB" descr="preencoded.png"/>
          <p:cNvPicPr>
            <a:picLocks noChangeAspect="1"/>
          </p:cNvPicPr>
          <p:nvPr/>
        </p:nvPicPr>
        <p:blipFill>
          <a:blip r:embed="rId5"/>
          <a:stretch>
            <a:fillRect/>
          </a:stretch>
        </p:blipFill>
        <p:spPr>
          <a:xfrm>
            <a:off x="886968" y="5001768"/>
            <a:ext cx="237744" cy="237744"/>
          </a:xfrm>
          <a:prstGeom prst="rect">
            <a:avLst/>
          </a:prstGeom>
        </p:spPr>
      </p:pic>
      <p:sp>
        <p:nvSpPr>
          <p:cNvPr id="33" name="Text 28"/>
          <p:cNvSpPr txBox="1"/>
          <p:nvPr/>
        </p:nvSpPr>
        <p:spPr>
          <a:xfrm>
            <a:off x="777240" y="5422392"/>
            <a:ext cx="1783080" cy="274320"/>
          </a:xfrm>
          <a:prstGeom prst="rect">
            <a:avLst/>
          </a:prstGeom>
          <a:noFill/>
          <a:ln/>
        </p:spPr>
        <p:txBody>
          <a:bodyPr wrap="square" lIns="0" tIns="0" rIns="0" bIns="0" rtlCol="0" anchor="t"/>
          <a:lstStyle/>
          <a:p>
            <a:pPr marL="0" indent="0">
              <a:buNone/>
            </a:pPr>
            <a:r>
              <a:rPr lang="en-US" sz="1400" b="1" dirty="0">
                <a:solidFill>
                  <a:srgbClr val="132226"/>
                </a:solidFill>
              </a:rPr>
              <a:t>Private DB</a:t>
            </a:r>
            <a:endParaRPr lang="en-US" sz="1400" dirty="0"/>
          </a:p>
        </p:txBody>
      </p:sp>
      <p:sp>
        <p:nvSpPr>
          <p:cNvPr id="34" name="Text 29"/>
          <p:cNvSpPr txBox="1"/>
          <p:nvPr/>
        </p:nvSpPr>
        <p:spPr>
          <a:xfrm>
            <a:off x="777240" y="5678424"/>
            <a:ext cx="1783080" cy="237744"/>
          </a:xfrm>
          <a:prstGeom prst="rect">
            <a:avLst/>
          </a:prstGeom>
          <a:noFill/>
          <a:ln/>
        </p:spPr>
        <p:txBody>
          <a:bodyPr wrap="square" lIns="0" tIns="0" rIns="0" bIns="0" rtlCol="0" anchor="t"/>
          <a:lstStyle/>
          <a:p>
            <a:pPr marL="0" indent="0">
              <a:buNone/>
            </a:pPr>
            <a:r>
              <a:rPr lang="en-US" sz="1100" dirty="0">
                <a:solidFill>
                  <a:srgbClr val="6B7C7F"/>
                </a:solidFill>
              </a:rPr>
              <a:t>data</a:t>
            </a:r>
            <a:endParaRPr lang="en-US" sz="1100" dirty="0"/>
          </a:p>
        </p:txBody>
      </p:sp>
      <p:sp>
        <p:nvSpPr>
          <p:cNvPr id="35" name="subnet Private DB"/>
          <p:cNvSpPr/>
          <p:nvPr/>
        </p:nvSpPr>
        <p:spPr>
          <a:xfrm>
            <a:off x="2697480" y="4800600"/>
            <a:ext cx="2468880" cy="1143000"/>
          </a:xfrm>
          <a:prstGeom prst="roundRect">
            <a:avLst>
              <a:gd name="adj" fmla="val 6400"/>
            </a:avLst>
          </a:prstGeom>
          <a:solidFill>
            <a:srgbClr val="E7EAF2"/>
          </a:solidFill>
          <a:ln w="9525">
            <a:solidFill>
              <a:srgbClr val="D3E2E0"/>
            </a:solidFill>
            <a:prstDash val="solid"/>
          </a:ln>
        </p:spPr>
      </p:sp>
      <p:sp>
        <p:nvSpPr>
          <p:cNvPr id="36" name="Text 31"/>
          <p:cNvSpPr txBox="1"/>
          <p:nvPr/>
        </p:nvSpPr>
        <p:spPr>
          <a:xfrm>
            <a:off x="2880360" y="4965192"/>
            <a:ext cx="21031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10.0.21.0/24</a:t>
            </a:r>
            <a:endParaRPr lang="en-US" sz="1700" dirty="0"/>
          </a:p>
        </p:txBody>
      </p:sp>
      <p:sp>
        <p:nvSpPr>
          <p:cNvPr id="37" name="Text 32"/>
          <p:cNvSpPr txBox="1"/>
          <p:nvPr/>
        </p:nvSpPr>
        <p:spPr>
          <a:xfrm>
            <a:off x="2880360" y="5367528"/>
            <a:ext cx="2194560" cy="457200"/>
          </a:xfrm>
          <a:prstGeom prst="rect">
            <a:avLst/>
          </a:prstGeom>
          <a:noFill/>
          <a:ln/>
        </p:spPr>
        <p:txBody>
          <a:bodyPr wrap="square" lIns="0" tIns="0" rIns="0" bIns="0" rtlCol="0" anchor="t"/>
          <a:lstStyle/>
          <a:p>
            <a:pPr marL="0" indent="0">
              <a:buNone/>
            </a:pPr>
            <a:r>
              <a:rPr lang="en-US" sz="1300" dirty="0">
                <a:solidFill>
                  <a:srgbClr val="4A5B5E"/>
                </a:solidFill>
              </a:rPr>
              <a:t>RDS only  ·  local route table</a:t>
            </a:r>
            <a:endParaRPr lang="en-US" sz="1300" dirty="0"/>
          </a:p>
        </p:txBody>
      </p:sp>
      <p:sp>
        <p:nvSpPr>
          <p:cNvPr id="38" name="subnet Private DB"/>
          <p:cNvSpPr/>
          <p:nvPr/>
        </p:nvSpPr>
        <p:spPr>
          <a:xfrm>
            <a:off x="5303520" y="4800600"/>
            <a:ext cx="2468880" cy="1143000"/>
          </a:xfrm>
          <a:prstGeom prst="roundRect">
            <a:avLst>
              <a:gd name="adj" fmla="val 6400"/>
            </a:avLst>
          </a:prstGeom>
          <a:solidFill>
            <a:srgbClr val="E7EAF2"/>
          </a:solidFill>
          <a:ln w="9525">
            <a:solidFill>
              <a:srgbClr val="D3E2E0"/>
            </a:solidFill>
            <a:prstDash val="solid"/>
          </a:ln>
        </p:spPr>
      </p:sp>
      <p:sp>
        <p:nvSpPr>
          <p:cNvPr id="39" name="Text 34"/>
          <p:cNvSpPr txBox="1"/>
          <p:nvPr/>
        </p:nvSpPr>
        <p:spPr>
          <a:xfrm>
            <a:off x="5486400" y="4965192"/>
            <a:ext cx="21031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10.0.22.0/24</a:t>
            </a:r>
            <a:endParaRPr lang="en-US" sz="1700" dirty="0"/>
          </a:p>
        </p:txBody>
      </p:sp>
      <p:sp>
        <p:nvSpPr>
          <p:cNvPr id="40" name="Text 35"/>
          <p:cNvSpPr txBox="1"/>
          <p:nvPr/>
        </p:nvSpPr>
        <p:spPr>
          <a:xfrm>
            <a:off x="5486400" y="5367528"/>
            <a:ext cx="2194560" cy="457200"/>
          </a:xfrm>
          <a:prstGeom prst="rect">
            <a:avLst/>
          </a:prstGeom>
          <a:noFill/>
          <a:ln/>
        </p:spPr>
        <p:txBody>
          <a:bodyPr wrap="square" lIns="0" tIns="0" rIns="0" bIns="0" rtlCol="0" anchor="t"/>
          <a:lstStyle/>
          <a:p>
            <a:pPr marL="0" indent="0">
              <a:buNone/>
            </a:pPr>
            <a:r>
              <a:rPr lang="en-US" sz="1300" dirty="0">
                <a:solidFill>
                  <a:srgbClr val="4A5B5E"/>
                </a:solidFill>
              </a:rPr>
              <a:t>RDS only  ·  local route table</a:t>
            </a:r>
            <a:endParaRPr lang="en-US" sz="1300" dirty="0"/>
          </a:p>
        </p:txBody>
      </p:sp>
      <p:sp>
        <p:nvSpPr>
          <p:cNvPr id="41" name="card"/>
          <p:cNvSpPr/>
          <p:nvPr/>
        </p:nvSpPr>
        <p:spPr>
          <a:xfrm>
            <a:off x="8183880" y="1463040"/>
            <a:ext cx="3456432" cy="2971800"/>
          </a:xfrm>
          <a:prstGeom prst="roundRect">
            <a:avLst>
              <a:gd name="adj" fmla="val 3077"/>
            </a:avLst>
          </a:prstGeom>
          <a:solidFill>
            <a:srgbClr val="FFFFFF"/>
          </a:solidFill>
          <a:ln/>
          <a:effectLst>
            <a:outerShdw blurRad="114300" dist="25400" dir="5400000" algn="bl" rotWithShape="0">
              <a:srgbClr val="0E3B43">
                <a:alpha val="13000"/>
              </a:srgbClr>
            </a:outerShdw>
          </a:effectLst>
        </p:spPr>
      </p:sp>
      <p:sp>
        <p:nvSpPr>
          <p:cNvPr id="42" name="Text 37"/>
          <p:cNvSpPr txBox="1"/>
          <p:nvPr/>
        </p:nvSpPr>
        <p:spPr>
          <a:xfrm>
            <a:off x="8412480" y="1600200"/>
            <a:ext cx="301752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Routing &amp; security</a:t>
            </a:r>
            <a:endParaRPr lang="en-US" sz="1700" dirty="0"/>
          </a:p>
        </p:txBody>
      </p:sp>
      <p:sp>
        <p:nvSpPr>
          <p:cNvPr id="43" name="route row"/>
          <p:cNvSpPr/>
          <p:nvPr/>
        </p:nvSpPr>
        <p:spPr>
          <a:xfrm>
            <a:off x="8412480" y="2057400"/>
            <a:ext cx="2999232" cy="457200"/>
          </a:xfrm>
          <a:prstGeom prst="roundRect">
            <a:avLst>
              <a:gd name="adj" fmla="val 12000"/>
            </a:avLst>
          </a:prstGeom>
          <a:solidFill>
            <a:srgbClr val="EEF4F3"/>
          </a:solidFill>
          <a:ln/>
        </p:spPr>
      </p:sp>
      <p:sp>
        <p:nvSpPr>
          <p:cNvPr id="44" name="Text 39"/>
          <p:cNvSpPr txBox="1"/>
          <p:nvPr/>
        </p:nvSpPr>
        <p:spPr>
          <a:xfrm>
            <a:off x="8549640" y="2057400"/>
            <a:ext cx="1188720" cy="457200"/>
          </a:xfrm>
          <a:prstGeom prst="rect">
            <a:avLst/>
          </a:prstGeom>
          <a:noFill/>
          <a:ln/>
        </p:spPr>
        <p:txBody>
          <a:bodyPr wrap="square" lIns="0" tIns="0" rIns="0" bIns="0" rtlCol="0" anchor="ctr"/>
          <a:lstStyle/>
          <a:p>
            <a:pPr marL="0" indent="0">
              <a:buNone/>
            </a:pPr>
            <a:r>
              <a:rPr lang="en-US" sz="1350" b="1" dirty="0">
                <a:solidFill>
                  <a:srgbClr val="132226"/>
                </a:solidFill>
              </a:rPr>
              <a:t>Public</a:t>
            </a:r>
            <a:endParaRPr lang="en-US" sz="1350" dirty="0"/>
          </a:p>
        </p:txBody>
      </p:sp>
      <p:pic>
        <p:nvPicPr>
          <p:cNvPr id="45" name="arrow icon" descr="preencoded.png"/>
          <p:cNvPicPr>
            <a:picLocks noChangeAspect="1"/>
          </p:cNvPicPr>
          <p:nvPr/>
        </p:nvPicPr>
        <p:blipFill>
          <a:blip r:embed="rId6"/>
          <a:stretch>
            <a:fillRect/>
          </a:stretch>
        </p:blipFill>
        <p:spPr>
          <a:xfrm>
            <a:off x="9710928" y="2194560"/>
            <a:ext cx="182880" cy="182880"/>
          </a:xfrm>
          <a:prstGeom prst="rect">
            <a:avLst/>
          </a:prstGeom>
        </p:spPr>
      </p:pic>
      <p:sp>
        <p:nvSpPr>
          <p:cNvPr id="46" name="Text 40"/>
          <p:cNvSpPr txBox="1"/>
          <p:nvPr/>
        </p:nvSpPr>
        <p:spPr>
          <a:xfrm>
            <a:off x="10012680" y="2057400"/>
            <a:ext cx="1371600" cy="457200"/>
          </a:xfrm>
          <a:prstGeom prst="rect">
            <a:avLst/>
          </a:prstGeom>
          <a:noFill/>
          <a:ln/>
        </p:spPr>
        <p:txBody>
          <a:bodyPr wrap="square" lIns="0" tIns="0" rIns="0" bIns="0" rtlCol="0" anchor="ctr"/>
          <a:lstStyle/>
          <a:p>
            <a:pPr marL="0" indent="0">
              <a:buNone/>
            </a:pPr>
            <a:r>
              <a:rPr lang="en-US" sz="1350" b="1" dirty="0">
                <a:solidFill>
                  <a:srgbClr val="0E7C7B"/>
                </a:solidFill>
              </a:rPr>
              <a:t>Internet Gateway</a:t>
            </a:r>
            <a:endParaRPr lang="en-US" sz="1350" dirty="0"/>
          </a:p>
        </p:txBody>
      </p:sp>
      <p:sp>
        <p:nvSpPr>
          <p:cNvPr id="47" name="route row"/>
          <p:cNvSpPr/>
          <p:nvPr/>
        </p:nvSpPr>
        <p:spPr>
          <a:xfrm>
            <a:off x="8412480" y="2624328"/>
            <a:ext cx="2999232" cy="457200"/>
          </a:xfrm>
          <a:prstGeom prst="roundRect">
            <a:avLst>
              <a:gd name="adj" fmla="val 12000"/>
            </a:avLst>
          </a:prstGeom>
          <a:solidFill>
            <a:srgbClr val="EEF4F3"/>
          </a:solidFill>
          <a:ln/>
        </p:spPr>
      </p:sp>
      <p:sp>
        <p:nvSpPr>
          <p:cNvPr id="48" name="Text 42"/>
          <p:cNvSpPr txBox="1"/>
          <p:nvPr/>
        </p:nvSpPr>
        <p:spPr>
          <a:xfrm>
            <a:off x="8549640" y="2624328"/>
            <a:ext cx="1188720" cy="457200"/>
          </a:xfrm>
          <a:prstGeom prst="rect">
            <a:avLst/>
          </a:prstGeom>
          <a:noFill/>
          <a:ln/>
        </p:spPr>
        <p:txBody>
          <a:bodyPr wrap="square" lIns="0" tIns="0" rIns="0" bIns="0" rtlCol="0" anchor="ctr"/>
          <a:lstStyle/>
          <a:p>
            <a:pPr marL="0" indent="0">
              <a:buNone/>
            </a:pPr>
            <a:r>
              <a:rPr lang="en-US" sz="1350" b="1" dirty="0">
                <a:solidFill>
                  <a:srgbClr val="132226"/>
                </a:solidFill>
              </a:rPr>
              <a:t>Private app</a:t>
            </a:r>
            <a:endParaRPr lang="en-US" sz="1350" dirty="0"/>
          </a:p>
        </p:txBody>
      </p:sp>
      <p:pic>
        <p:nvPicPr>
          <p:cNvPr id="49" name="arrow icon" descr="preencoded.png"/>
          <p:cNvPicPr>
            <a:picLocks noChangeAspect="1"/>
          </p:cNvPicPr>
          <p:nvPr/>
        </p:nvPicPr>
        <p:blipFill>
          <a:blip r:embed="rId6"/>
          <a:stretch>
            <a:fillRect/>
          </a:stretch>
        </p:blipFill>
        <p:spPr>
          <a:xfrm>
            <a:off x="9710928" y="2761488"/>
            <a:ext cx="182880" cy="182880"/>
          </a:xfrm>
          <a:prstGeom prst="rect">
            <a:avLst/>
          </a:prstGeom>
        </p:spPr>
      </p:pic>
      <p:sp>
        <p:nvSpPr>
          <p:cNvPr id="50" name="Text 43"/>
          <p:cNvSpPr txBox="1"/>
          <p:nvPr/>
        </p:nvSpPr>
        <p:spPr>
          <a:xfrm>
            <a:off x="10012680" y="2624328"/>
            <a:ext cx="1371600" cy="457200"/>
          </a:xfrm>
          <a:prstGeom prst="rect">
            <a:avLst/>
          </a:prstGeom>
          <a:noFill/>
          <a:ln/>
        </p:spPr>
        <p:txBody>
          <a:bodyPr wrap="square" lIns="0" tIns="0" rIns="0" bIns="0" rtlCol="0" anchor="ctr"/>
          <a:lstStyle/>
          <a:p>
            <a:pPr marL="0" indent="0">
              <a:buNone/>
            </a:pPr>
            <a:r>
              <a:rPr lang="en-US" sz="1350" b="1" dirty="0">
                <a:solidFill>
                  <a:srgbClr val="0E7C7B"/>
                </a:solidFill>
              </a:rPr>
              <a:t>same-AZ NAT</a:t>
            </a:r>
            <a:endParaRPr lang="en-US" sz="1350" dirty="0"/>
          </a:p>
        </p:txBody>
      </p:sp>
      <p:sp>
        <p:nvSpPr>
          <p:cNvPr id="51" name="route row"/>
          <p:cNvSpPr/>
          <p:nvPr/>
        </p:nvSpPr>
        <p:spPr>
          <a:xfrm>
            <a:off x="8412480" y="3191256"/>
            <a:ext cx="2999232" cy="457200"/>
          </a:xfrm>
          <a:prstGeom prst="roundRect">
            <a:avLst>
              <a:gd name="adj" fmla="val 12000"/>
            </a:avLst>
          </a:prstGeom>
          <a:solidFill>
            <a:srgbClr val="EEF4F3"/>
          </a:solidFill>
          <a:ln/>
        </p:spPr>
      </p:sp>
      <p:sp>
        <p:nvSpPr>
          <p:cNvPr id="52" name="Text 45"/>
          <p:cNvSpPr txBox="1"/>
          <p:nvPr/>
        </p:nvSpPr>
        <p:spPr>
          <a:xfrm>
            <a:off x="8549640" y="3191256"/>
            <a:ext cx="1188720" cy="457200"/>
          </a:xfrm>
          <a:prstGeom prst="rect">
            <a:avLst/>
          </a:prstGeom>
          <a:noFill/>
          <a:ln/>
        </p:spPr>
        <p:txBody>
          <a:bodyPr wrap="square" lIns="0" tIns="0" rIns="0" bIns="0" rtlCol="0" anchor="ctr"/>
          <a:lstStyle/>
          <a:p>
            <a:pPr marL="0" indent="0">
              <a:buNone/>
            </a:pPr>
            <a:r>
              <a:rPr lang="en-US" sz="1350" b="1" dirty="0">
                <a:solidFill>
                  <a:srgbClr val="132226"/>
                </a:solidFill>
              </a:rPr>
              <a:t>Private DB</a:t>
            </a:r>
            <a:endParaRPr lang="en-US" sz="1350" dirty="0"/>
          </a:p>
        </p:txBody>
      </p:sp>
      <p:pic>
        <p:nvPicPr>
          <p:cNvPr id="53" name="arrow icon" descr="preencoded.png"/>
          <p:cNvPicPr>
            <a:picLocks noChangeAspect="1"/>
          </p:cNvPicPr>
          <p:nvPr/>
        </p:nvPicPr>
        <p:blipFill>
          <a:blip r:embed="rId6"/>
          <a:stretch>
            <a:fillRect/>
          </a:stretch>
        </p:blipFill>
        <p:spPr>
          <a:xfrm>
            <a:off x="9710928" y="3328416"/>
            <a:ext cx="182880" cy="182880"/>
          </a:xfrm>
          <a:prstGeom prst="rect">
            <a:avLst/>
          </a:prstGeom>
        </p:spPr>
      </p:pic>
      <p:sp>
        <p:nvSpPr>
          <p:cNvPr id="54" name="Text 46"/>
          <p:cNvSpPr txBox="1"/>
          <p:nvPr/>
        </p:nvSpPr>
        <p:spPr>
          <a:xfrm>
            <a:off x="10012680" y="3191256"/>
            <a:ext cx="1371600" cy="457200"/>
          </a:xfrm>
          <a:prstGeom prst="rect">
            <a:avLst/>
          </a:prstGeom>
          <a:noFill/>
          <a:ln/>
        </p:spPr>
        <p:txBody>
          <a:bodyPr wrap="square" lIns="0" tIns="0" rIns="0" bIns="0" rtlCol="0" anchor="ctr"/>
          <a:lstStyle/>
          <a:p>
            <a:pPr marL="0" indent="0">
              <a:buNone/>
            </a:pPr>
            <a:r>
              <a:rPr lang="en-US" sz="1350" b="1" dirty="0">
                <a:solidFill>
                  <a:srgbClr val="0E7C7B"/>
                </a:solidFill>
              </a:rPr>
              <a:t>local only</a:t>
            </a:r>
            <a:endParaRPr lang="en-US" sz="1350" dirty="0"/>
          </a:p>
        </p:txBody>
      </p:sp>
      <p:sp>
        <p:nvSpPr>
          <p:cNvPr id="55" name="route row"/>
          <p:cNvSpPr/>
          <p:nvPr/>
        </p:nvSpPr>
        <p:spPr>
          <a:xfrm>
            <a:off x="8412480" y="3758184"/>
            <a:ext cx="2999232" cy="457200"/>
          </a:xfrm>
          <a:prstGeom prst="roundRect">
            <a:avLst>
              <a:gd name="adj" fmla="val 12000"/>
            </a:avLst>
          </a:prstGeom>
          <a:solidFill>
            <a:srgbClr val="EEF4F3"/>
          </a:solidFill>
          <a:ln/>
        </p:spPr>
      </p:sp>
      <p:sp>
        <p:nvSpPr>
          <p:cNvPr id="56" name="Text 48"/>
          <p:cNvSpPr txBox="1"/>
          <p:nvPr/>
        </p:nvSpPr>
        <p:spPr>
          <a:xfrm>
            <a:off x="8549640" y="3758184"/>
            <a:ext cx="1188720" cy="457200"/>
          </a:xfrm>
          <a:prstGeom prst="rect">
            <a:avLst/>
          </a:prstGeom>
          <a:noFill/>
          <a:ln/>
        </p:spPr>
        <p:txBody>
          <a:bodyPr wrap="square" lIns="0" tIns="0" rIns="0" bIns="0" rtlCol="0" anchor="ctr"/>
          <a:lstStyle/>
          <a:p>
            <a:pPr marL="0" indent="0">
              <a:buNone/>
            </a:pPr>
            <a:r>
              <a:rPr lang="en-US" sz="1350" b="1" dirty="0">
                <a:solidFill>
                  <a:srgbClr val="132226"/>
                </a:solidFill>
              </a:rPr>
              <a:t>SG path</a:t>
            </a:r>
            <a:endParaRPr lang="en-US" sz="1350" dirty="0"/>
          </a:p>
        </p:txBody>
      </p:sp>
      <p:pic>
        <p:nvPicPr>
          <p:cNvPr id="57" name="arrow icon" descr="preencoded.png"/>
          <p:cNvPicPr>
            <a:picLocks noChangeAspect="1"/>
          </p:cNvPicPr>
          <p:nvPr/>
        </p:nvPicPr>
        <p:blipFill>
          <a:blip r:embed="rId6"/>
          <a:stretch>
            <a:fillRect/>
          </a:stretch>
        </p:blipFill>
        <p:spPr>
          <a:xfrm>
            <a:off x="9710928" y="3895344"/>
            <a:ext cx="182880" cy="182880"/>
          </a:xfrm>
          <a:prstGeom prst="rect">
            <a:avLst/>
          </a:prstGeom>
        </p:spPr>
      </p:pic>
      <p:sp>
        <p:nvSpPr>
          <p:cNvPr id="58" name="Text 49"/>
          <p:cNvSpPr txBox="1"/>
          <p:nvPr/>
        </p:nvSpPr>
        <p:spPr>
          <a:xfrm>
            <a:off x="10012680" y="3758184"/>
            <a:ext cx="1371600" cy="457200"/>
          </a:xfrm>
          <a:prstGeom prst="rect">
            <a:avLst/>
          </a:prstGeom>
          <a:noFill/>
          <a:ln/>
        </p:spPr>
        <p:txBody>
          <a:bodyPr wrap="square" lIns="0" tIns="0" rIns="0" bIns="0" rtlCol="0" anchor="ctr"/>
          <a:lstStyle/>
          <a:p>
            <a:pPr marL="0" indent="0">
              <a:buNone/>
            </a:pPr>
            <a:r>
              <a:rPr lang="en-US" sz="1350" b="1" dirty="0">
                <a:solidFill>
                  <a:srgbClr val="0E7C7B"/>
                </a:solidFill>
              </a:rPr>
              <a:t>ALB → ECS → DB</a:t>
            </a:r>
            <a:endParaRPr lang="en-US" sz="1350" dirty="0"/>
          </a:p>
        </p:txBody>
      </p:sp>
      <p:sp>
        <p:nvSpPr>
          <p:cNvPr id="59" name="card"/>
          <p:cNvSpPr/>
          <p:nvPr/>
        </p:nvSpPr>
        <p:spPr>
          <a:xfrm>
            <a:off x="8183880" y="4617720"/>
            <a:ext cx="3456432" cy="731520"/>
          </a:xfrm>
          <a:prstGeom prst="roundRect">
            <a:avLst>
              <a:gd name="adj" fmla="val 12500"/>
            </a:avLst>
          </a:prstGeom>
          <a:solidFill>
            <a:srgbClr val="E0F3EE"/>
          </a:solidFill>
          <a:ln/>
        </p:spPr>
      </p:sp>
      <p:sp>
        <p:nvSpPr>
          <p:cNvPr id="60" name="No public IP on ECS circle"/>
          <p:cNvSpPr/>
          <p:nvPr/>
        </p:nvSpPr>
        <p:spPr>
          <a:xfrm>
            <a:off x="8366760" y="4754880"/>
            <a:ext cx="457200" cy="457200"/>
          </a:xfrm>
          <a:prstGeom prst="ellipse">
            <a:avLst/>
          </a:prstGeom>
          <a:solidFill>
            <a:schemeClr val="accent3"/>
          </a:solidFill>
          <a:ln/>
        </p:spPr>
      </p:sp>
      <p:pic>
        <p:nvPicPr>
          <p:cNvPr id="61" name="No public IP on ECS" descr="preencoded.png"/>
          <p:cNvPicPr>
            <a:picLocks noChangeAspect="1"/>
          </p:cNvPicPr>
          <p:nvPr/>
        </p:nvPicPr>
        <p:blipFill>
          <a:blip r:embed="rId7"/>
          <a:stretch>
            <a:fillRect/>
          </a:stretch>
        </p:blipFill>
        <p:spPr>
          <a:xfrm>
            <a:off x="8476488" y="4864608"/>
            <a:ext cx="237744" cy="237744"/>
          </a:xfrm>
          <a:prstGeom prst="rect">
            <a:avLst/>
          </a:prstGeom>
        </p:spPr>
      </p:pic>
      <p:sp>
        <p:nvSpPr>
          <p:cNvPr id="62" name="Text 52"/>
          <p:cNvSpPr txBox="1"/>
          <p:nvPr/>
        </p:nvSpPr>
        <p:spPr>
          <a:xfrm>
            <a:off x="8961120" y="4690872"/>
            <a:ext cx="2606040" cy="585216"/>
          </a:xfrm>
          <a:prstGeom prst="rect">
            <a:avLst/>
          </a:prstGeom>
          <a:noFill/>
          <a:ln/>
        </p:spPr>
        <p:txBody>
          <a:bodyPr wrap="square" lIns="0" tIns="0" rIns="0" bIns="0" rtlCol="0" anchor="ctr"/>
          <a:lstStyle/>
          <a:p>
            <a:pPr marL="0" indent="0">
              <a:buNone/>
            </a:pPr>
            <a:r>
              <a:rPr lang="en-US" sz="1400" b="1" dirty="0">
                <a:solidFill>
                  <a:srgbClr val="132226"/>
                </a:solidFill>
              </a:rPr>
              <a:t>No public IP on ECS</a:t>
            </a:r>
            <a:endParaRPr lang="en-US" sz="1400" dirty="0"/>
          </a:p>
          <a:p>
            <a:pPr marL="0" indent="0">
              <a:buNone/>
            </a:pPr>
            <a:r>
              <a:rPr lang="en-US" sz="1200" dirty="0">
                <a:solidFill>
                  <a:srgbClr val="4A5B5E"/>
                </a:solidFill>
              </a:rPr>
              <a:t>tasks are reachable only through the ALB</a:t>
            </a:r>
            <a:endParaRPr lang="en-US" sz="1400" dirty="0"/>
          </a:p>
        </p:txBody>
      </p:sp>
      <p:sp>
        <p:nvSpPr>
          <p:cNvPr id="63" name="card"/>
          <p:cNvSpPr/>
          <p:nvPr/>
        </p:nvSpPr>
        <p:spPr>
          <a:xfrm>
            <a:off x="8183880" y="5440680"/>
            <a:ext cx="3456432" cy="731520"/>
          </a:xfrm>
          <a:prstGeom prst="roundRect">
            <a:avLst>
              <a:gd name="adj" fmla="val 12500"/>
            </a:avLst>
          </a:prstGeom>
          <a:solidFill>
            <a:srgbClr val="E0F3EE"/>
          </a:solidFill>
          <a:ln/>
        </p:spPr>
      </p:sp>
      <p:sp>
        <p:nvSpPr>
          <p:cNvPr id="64" name="No public DB route circle"/>
          <p:cNvSpPr/>
          <p:nvPr/>
        </p:nvSpPr>
        <p:spPr>
          <a:xfrm>
            <a:off x="8366760" y="5577840"/>
            <a:ext cx="457200" cy="457200"/>
          </a:xfrm>
          <a:prstGeom prst="ellipse">
            <a:avLst/>
          </a:prstGeom>
          <a:solidFill>
            <a:schemeClr val="accent3"/>
          </a:solidFill>
          <a:ln/>
        </p:spPr>
      </p:sp>
      <p:pic>
        <p:nvPicPr>
          <p:cNvPr id="65" name="No public DB route" descr="preencoded.png"/>
          <p:cNvPicPr>
            <a:picLocks noChangeAspect="1"/>
          </p:cNvPicPr>
          <p:nvPr/>
        </p:nvPicPr>
        <p:blipFill>
          <a:blip r:embed="rId8"/>
          <a:stretch>
            <a:fillRect/>
          </a:stretch>
        </p:blipFill>
        <p:spPr>
          <a:xfrm>
            <a:off x="8476488" y="5687568"/>
            <a:ext cx="237744" cy="237744"/>
          </a:xfrm>
          <a:prstGeom prst="rect">
            <a:avLst/>
          </a:prstGeom>
        </p:spPr>
      </p:pic>
      <p:sp>
        <p:nvSpPr>
          <p:cNvPr id="66" name="Text 55"/>
          <p:cNvSpPr txBox="1"/>
          <p:nvPr/>
        </p:nvSpPr>
        <p:spPr>
          <a:xfrm>
            <a:off x="8961120" y="5513832"/>
            <a:ext cx="2606040" cy="585216"/>
          </a:xfrm>
          <a:prstGeom prst="rect">
            <a:avLst/>
          </a:prstGeom>
          <a:noFill/>
          <a:ln/>
        </p:spPr>
        <p:txBody>
          <a:bodyPr wrap="square" lIns="0" tIns="0" rIns="0" bIns="0" rtlCol="0" anchor="ctr"/>
          <a:lstStyle/>
          <a:p>
            <a:pPr marL="0" indent="0">
              <a:buNone/>
            </a:pPr>
            <a:r>
              <a:rPr lang="en-US" sz="1400" b="1" dirty="0">
                <a:solidFill>
                  <a:srgbClr val="132226"/>
                </a:solidFill>
              </a:rPr>
              <a:t>No public DB route</a:t>
            </a:r>
            <a:endParaRPr lang="en-US" sz="1400" dirty="0"/>
          </a:p>
          <a:p>
            <a:pPr marL="0" indent="0">
              <a:buNone/>
            </a:pPr>
            <a:r>
              <a:rPr lang="en-US" sz="1200" dirty="0">
                <a:solidFill>
                  <a:srgbClr val="4A5B5E"/>
                </a:solidFill>
              </a:rPr>
              <a:t>Terraform / HCP defines every route</a:t>
            </a:r>
            <a:endParaRPr lang="en-US" sz="1400" dirty="0"/>
          </a:p>
        </p:txBody>
      </p:sp>
      <p:sp>
        <p:nvSpPr>
          <p:cNvPr id="67"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Milestones 2–3 — Containers &amp; scaling</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Private Fargate tasks behind a load balancer — health-checked, spread across AZs and scaled by CPU.</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M2–M3</a:t>
            </a:r>
            <a:endParaRPr lang="en-US" sz="1200" dirty="0"/>
          </a:p>
        </p:txBody>
      </p:sp>
      <p:sp>
        <p:nvSpPr>
          <p:cNvPr id="6" name="card"/>
          <p:cNvSpPr/>
          <p:nvPr/>
        </p:nvSpPr>
        <p:spPr>
          <a:xfrm>
            <a:off x="548640" y="1463040"/>
            <a:ext cx="11091672" cy="2240280"/>
          </a:xfrm>
          <a:prstGeom prst="roundRect">
            <a:avLst>
              <a:gd name="adj" fmla="val 4082"/>
            </a:avLst>
          </a:prstGeom>
          <a:solidFill>
            <a:srgbClr val="FFFFFF"/>
          </a:solidFill>
          <a:ln/>
          <a:effectLst>
            <a:outerShdw blurRad="114300" dist="25400" dir="5400000" algn="bl" rotWithShape="0">
              <a:srgbClr val="0E3B43">
                <a:alpha val="13000"/>
              </a:srgbClr>
            </a:outerShdw>
          </a:effectLst>
        </p:spPr>
      </p:sp>
      <p:sp>
        <p:nvSpPr>
          <p:cNvPr id="7" name="chip CloudFront"/>
          <p:cNvSpPr/>
          <p:nvPr/>
        </p:nvSpPr>
        <p:spPr>
          <a:xfrm>
            <a:off x="777240" y="2103120"/>
            <a:ext cx="1188720" cy="685800"/>
          </a:xfrm>
          <a:prstGeom prst="roundRect">
            <a:avLst>
              <a:gd name="adj" fmla="val 9333"/>
            </a:avLst>
          </a:prstGeom>
          <a:solidFill>
            <a:srgbClr val="FBE4DE"/>
          </a:solidFill>
          <a:ln/>
        </p:spPr>
      </p:sp>
      <p:sp>
        <p:nvSpPr>
          <p:cNvPr id="8" name="Text 6"/>
          <p:cNvSpPr txBox="1"/>
          <p:nvPr/>
        </p:nvSpPr>
        <p:spPr>
          <a:xfrm>
            <a:off x="832104" y="2103120"/>
            <a:ext cx="1078992" cy="685800"/>
          </a:xfrm>
          <a:prstGeom prst="rect">
            <a:avLst/>
          </a:prstGeom>
          <a:noFill/>
          <a:ln/>
        </p:spPr>
        <p:txBody>
          <a:bodyPr wrap="square" lIns="0" tIns="0" rIns="0" bIns="0" rtlCol="0" anchor="ctr"/>
          <a:lstStyle/>
          <a:p>
            <a:pPr marL="0" indent="0" algn="ctr">
              <a:buNone/>
            </a:pPr>
            <a:r>
              <a:rPr lang="en-US" sz="1300" b="1" dirty="0">
                <a:solidFill>
                  <a:srgbClr val="132226"/>
                </a:solidFill>
              </a:rPr>
              <a:t>CloudFront</a:t>
            </a:r>
            <a:endParaRPr lang="en-US" sz="1400" dirty="0"/>
          </a:p>
          <a:p>
            <a:pPr marL="0" indent="0" algn="ctr">
              <a:buNone/>
            </a:pPr>
            <a:r>
              <a:rPr lang="en-US" sz="1050" dirty="0">
                <a:solidFill>
                  <a:srgbClr val="4A5B5E"/>
                </a:solidFill>
              </a:rPr>
              <a:t>current edge</a:t>
            </a:r>
            <a:endParaRPr lang="en-US" sz="1400" dirty="0"/>
          </a:p>
        </p:txBody>
      </p:sp>
      <p:sp>
        <p:nvSpPr>
          <p:cNvPr id="9" name="connector"/>
          <p:cNvSpPr/>
          <p:nvPr/>
        </p:nvSpPr>
        <p:spPr>
          <a:xfrm>
            <a:off x="1993392" y="2446020"/>
            <a:ext cx="237744" cy="0"/>
          </a:xfrm>
          <a:prstGeom prst="line">
            <a:avLst/>
          </a:prstGeom>
          <a:noFill/>
          <a:ln w="19050">
            <a:solidFill>
              <a:srgbClr val="0E7C7B"/>
            </a:solidFill>
            <a:prstDash val="solid"/>
            <a:tailEnd type="triangle"/>
          </a:ln>
        </p:spPr>
      </p:sp>
      <p:sp>
        <p:nvSpPr>
          <p:cNvPr id="10" name="chip Application LB"/>
          <p:cNvSpPr/>
          <p:nvPr/>
        </p:nvSpPr>
        <p:spPr>
          <a:xfrm>
            <a:off x="2258568" y="2103120"/>
            <a:ext cx="1280160" cy="685800"/>
          </a:xfrm>
          <a:prstGeom prst="roundRect">
            <a:avLst>
              <a:gd name="adj" fmla="val 9333"/>
            </a:avLst>
          </a:prstGeom>
          <a:solidFill>
            <a:srgbClr val="E8F5F6"/>
          </a:solidFill>
          <a:ln/>
        </p:spPr>
      </p:sp>
      <p:sp>
        <p:nvSpPr>
          <p:cNvPr id="11" name="Text 9"/>
          <p:cNvSpPr txBox="1"/>
          <p:nvPr/>
        </p:nvSpPr>
        <p:spPr>
          <a:xfrm>
            <a:off x="2313432" y="2103120"/>
            <a:ext cx="1170432" cy="685800"/>
          </a:xfrm>
          <a:prstGeom prst="rect">
            <a:avLst/>
          </a:prstGeom>
          <a:noFill/>
          <a:ln/>
        </p:spPr>
        <p:txBody>
          <a:bodyPr wrap="square" lIns="0" tIns="0" rIns="0" bIns="0" rtlCol="0" anchor="ctr"/>
          <a:lstStyle/>
          <a:p>
            <a:pPr marL="0" indent="0" algn="ctr">
              <a:buNone/>
            </a:pPr>
            <a:r>
              <a:rPr lang="en-US" sz="1300" b="1" dirty="0">
                <a:solidFill>
                  <a:srgbClr val="132226"/>
                </a:solidFill>
              </a:rPr>
              <a:t>Application LB</a:t>
            </a:r>
            <a:endParaRPr lang="en-US" sz="1400" dirty="0"/>
          </a:p>
          <a:p>
            <a:pPr marL="0" indent="0" algn="ctr">
              <a:buNone/>
            </a:pPr>
            <a:r>
              <a:rPr lang="en-US" sz="1050" dirty="0">
                <a:solidFill>
                  <a:srgbClr val="4A5B5E"/>
                </a:solidFill>
              </a:rPr>
              <a:t>both AZs</a:t>
            </a:r>
            <a:endParaRPr lang="en-US" sz="1400" dirty="0"/>
          </a:p>
        </p:txBody>
      </p:sp>
      <p:sp>
        <p:nvSpPr>
          <p:cNvPr id="12" name="connector"/>
          <p:cNvSpPr/>
          <p:nvPr/>
        </p:nvSpPr>
        <p:spPr>
          <a:xfrm>
            <a:off x="3566160" y="2446020"/>
            <a:ext cx="237744" cy="0"/>
          </a:xfrm>
          <a:prstGeom prst="line">
            <a:avLst/>
          </a:prstGeom>
          <a:noFill/>
          <a:ln w="19050">
            <a:solidFill>
              <a:srgbClr val="0E7C7B"/>
            </a:solidFill>
            <a:prstDash val="solid"/>
            <a:tailEnd type="triangle"/>
          </a:ln>
        </p:spPr>
      </p:sp>
      <p:sp>
        <p:nvSpPr>
          <p:cNvPr id="13" name="chip Target Group"/>
          <p:cNvSpPr/>
          <p:nvPr/>
        </p:nvSpPr>
        <p:spPr>
          <a:xfrm>
            <a:off x="3831336" y="2103120"/>
            <a:ext cx="1371600" cy="685800"/>
          </a:xfrm>
          <a:prstGeom prst="roundRect">
            <a:avLst>
              <a:gd name="adj" fmla="val 9333"/>
            </a:avLst>
          </a:prstGeom>
          <a:solidFill>
            <a:srgbClr val="EEF4F3"/>
          </a:solidFill>
          <a:ln/>
        </p:spPr>
      </p:sp>
      <p:sp>
        <p:nvSpPr>
          <p:cNvPr id="14" name="Text 12"/>
          <p:cNvSpPr txBox="1"/>
          <p:nvPr/>
        </p:nvSpPr>
        <p:spPr>
          <a:xfrm>
            <a:off x="3886200" y="2103120"/>
            <a:ext cx="1261872" cy="685800"/>
          </a:xfrm>
          <a:prstGeom prst="rect">
            <a:avLst/>
          </a:prstGeom>
          <a:noFill/>
          <a:ln/>
        </p:spPr>
        <p:txBody>
          <a:bodyPr wrap="square" lIns="0" tIns="0" rIns="0" bIns="0" rtlCol="0" anchor="ctr"/>
          <a:lstStyle/>
          <a:p>
            <a:pPr marL="0" indent="0" algn="ctr">
              <a:buNone/>
            </a:pPr>
            <a:r>
              <a:rPr lang="en-US" sz="1300" b="1" dirty="0">
                <a:solidFill>
                  <a:srgbClr val="132226"/>
                </a:solidFill>
              </a:rPr>
              <a:t>Target Group</a:t>
            </a:r>
            <a:endParaRPr lang="en-US" sz="1400" dirty="0"/>
          </a:p>
          <a:p>
            <a:pPr marL="0" indent="0" algn="ctr">
              <a:buNone/>
            </a:pPr>
            <a:r>
              <a:rPr lang="en-US" sz="1050" dirty="0">
                <a:solidFill>
                  <a:srgbClr val="4A5B5E"/>
                </a:solidFill>
              </a:rPr>
              <a:t>/health :3000</a:t>
            </a:r>
            <a:endParaRPr lang="en-US" sz="1400" dirty="0"/>
          </a:p>
        </p:txBody>
      </p:sp>
      <p:sp>
        <p:nvSpPr>
          <p:cNvPr id="15" name="connector"/>
          <p:cNvSpPr/>
          <p:nvPr/>
        </p:nvSpPr>
        <p:spPr>
          <a:xfrm>
            <a:off x="5230368" y="2446020"/>
            <a:ext cx="237744" cy="0"/>
          </a:xfrm>
          <a:prstGeom prst="line">
            <a:avLst/>
          </a:prstGeom>
          <a:noFill/>
          <a:ln w="19050">
            <a:solidFill>
              <a:srgbClr val="0E7C7B"/>
            </a:solidFill>
            <a:prstDash val="solid"/>
            <a:tailEnd type="triangle"/>
          </a:ln>
        </p:spPr>
      </p:sp>
      <p:sp>
        <p:nvSpPr>
          <p:cNvPr id="16" name="ECS service"/>
          <p:cNvSpPr/>
          <p:nvPr/>
        </p:nvSpPr>
        <p:spPr>
          <a:xfrm>
            <a:off x="5495544" y="1645920"/>
            <a:ext cx="3017520" cy="1508760"/>
          </a:xfrm>
          <a:prstGeom prst="roundRect">
            <a:avLst>
              <a:gd name="adj" fmla="val 4848"/>
            </a:avLst>
          </a:prstGeom>
          <a:solidFill>
            <a:srgbClr val="E1F0EF"/>
          </a:solidFill>
          <a:ln w="12700">
            <a:solidFill>
              <a:srgbClr val="9FCBC6"/>
            </a:solidFill>
            <a:prstDash val="solid"/>
          </a:ln>
        </p:spPr>
      </p:sp>
      <p:sp>
        <p:nvSpPr>
          <p:cNvPr id="17" name="Text 15"/>
          <p:cNvSpPr txBox="1"/>
          <p:nvPr/>
        </p:nvSpPr>
        <p:spPr>
          <a:xfrm>
            <a:off x="5577840" y="1700784"/>
            <a:ext cx="2834640" cy="320040"/>
          </a:xfrm>
          <a:prstGeom prst="rect">
            <a:avLst/>
          </a:prstGeom>
          <a:noFill/>
          <a:ln/>
        </p:spPr>
        <p:txBody>
          <a:bodyPr wrap="square" lIns="0" tIns="0" rIns="0" bIns="0" rtlCol="0" anchor="ctr"/>
          <a:lstStyle/>
          <a:p>
            <a:pPr marL="0" indent="0" algn="ctr">
              <a:buNone/>
            </a:pPr>
            <a:r>
              <a:rPr lang="en-US" sz="1400" b="1" dirty="0">
                <a:solidFill>
                  <a:srgbClr val="0E3B43"/>
                </a:solidFill>
              </a:rPr>
              <a:t>ECS Service</a:t>
            </a:r>
            <a:endParaRPr lang="en-US" sz="1400" dirty="0"/>
          </a:p>
        </p:txBody>
      </p:sp>
      <p:sp>
        <p:nvSpPr>
          <p:cNvPr id="18" name="chip Task A"/>
          <p:cNvSpPr/>
          <p:nvPr/>
        </p:nvSpPr>
        <p:spPr>
          <a:xfrm>
            <a:off x="5632704" y="2103120"/>
            <a:ext cx="1325880" cy="685800"/>
          </a:xfrm>
          <a:prstGeom prst="roundRect">
            <a:avLst>
              <a:gd name="adj" fmla="val 9333"/>
            </a:avLst>
          </a:prstGeom>
          <a:solidFill>
            <a:srgbClr val="FFFFFF"/>
          </a:solidFill>
          <a:ln/>
        </p:spPr>
      </p:sp>
      <p:sp>
        <p:nvSpPr>
          <p:cNvPr id="19" name="Text 17"/>
          <p:cNvSpPr txBox="1"/>
          <p:nvPr/>
        </p:nvSpPr>
        <p:spPr>
          <a:xfrm>
            <a:off x="5687568" y="2103120"/>
            <a:ext cx="1216152" cy="685800"/>
          </a:xfrm>
          <a:prstGeom prst="rect">
            <a:avLst/>
          </a:prstGeom>
          <a:noFill/>
          <a:ln/>
        </p:spPr>
        <p:txBody>
          <a:bodyPr wrap="square" lIns="0" tIns="0" rIns="0" bIns="0" rtlCol="0" anchor="ctr"/>
          <a:lstStyle/>
          <a:p>
            <a:pPr marL="0" indent="0" algn="ctr">
              <a:buNone/>
            </a:pPr>
            <a:r>
              <a:rPr lang="en-US" sz="1300" b="1" dirty="0">
                <a:solidFill>
                  <a:srgbClr val="132226"/>
                </a:solidFill>
              </a:rPr>
              <a:t>Task A</a:t>
            </a:r>
            <a:endParaRPr lang="en-US" sz="1400" dirty="0"/>
          </a:p>
          <a:p>
            <a:pPr marL="0" indent="0" algn="ctr">
              <a:buNone/>
            </a:pPr>
            <a:r>
              <a:rPr lang="en-US" sz="1050" dirty="0">
                <a:solidFill>
                  <a:srgbClr val="4A5B5E"/>
                </a:solidFill>
              </a:rPr>
              <a:t>us-east-1a</a:t>
            </a:r>
            <a:endParaRPr lang="en-US" sz="1400" dirty="0"/>
          </a:p>
        </p:txBody>
      </p:sp>
      <p:sp>
        <p:nvSpPr>
          <p:cNvPr id="20" name="chip Task B"/>
          <p:cNvSpPr/>
          <p:nvPr/>
        </p:nvSpPr>
        <p:spPr>
          <a:xfrm>
            <a:off x="7050024" y="2103120"/>
            <a:ext cx="1325880" cy="685800"/>
          </a:xfrm>
          <a:prstGeom prst="roundRect">
            <a:avLst>
              <a:gd name="adj" fmla="val 9333"/>
            </a:avLst>
          </a:prstGeom>
          <a:solidFill>
            <a:srgbClr val="FFFFFF"/>
          </a:solidFill>
          <a:ln/>
        </p:spPr>
      </p:sp>
      <p:sp>
        <p:nvSpPr>
          <p:cNvPr id="21" name="Text 19"/>
          <p:cNvSpPr txBox="1"/>
          <p:nvPr/>
        </p:nvSpPr>
        <p:spPr>
          <a:xfrm>
            <a:off x="7104888" y="2103120"/>
            <a:ext cx="1216152" cy="685800"/>
          </a:xfrm>
          <a:prstGeom prst="rect">
            <a:avLst/>
          </a:prstGeom>
          <a:noFill/>
          <a:ln/>
        </p:spPr>
        <p:txBody>
          <a:bodyPr wrap="square" lIns="0" tIns="0" rIns="0" bIns="0" rtlCol="0" anchor="ctr"/>
          <a:lstStyle/>
          <a:p>
            <a:pPr marL="0" indent="0" algn="ctr">
              <a:buNone/>
            </a:pPr>
            <a:r>
              <a:rPr lang="en-US" sz="1300" b="1" dirty="0">
                <a:solidFill>
                  <a:srgbClr val="132226"/>
                </a:solidFill>
              </a:rPr>
              <a:t>Task B</a:t>
            </a:r>
            <a:endParaRPr lang="en-US" sz="1400" dirty="0"/>
          </a:p>
          <a:p>
            <a:pPr marL="0" indent="0" algn="ctr">
              <a:buNone/>
            </a:pPr>
            <a:r>
              <a:rPr lang="en-US" sz="1050" dirty="0">
                <a:solidFill>
                  <a:srgbClr val="4A5B5E"/>
                </a:solidFill>
              </a:rPr>
              <a:t>us-east-1b</a:t>
            </a:r>
            <a:endParaRPr lang="en-US" sz="1400" dirty="0"/>
          </a:p>
        </p:txBody>
      </p:sp>
      <p:sp>
        <p:nvSpPr>
          <p:cNvPr id="22" name="chip Amazon ECR"/>
          <p:cNvSpPr/>
          <p:nvPr/>
        </p:nvSpPr>
        <p:spPr>
          <a:xfrm>
            <a:off x="8805672" y="2103120"/>
            <a:ext cx="1371600" cy="685800"/>
          </a:xfrm>
          <a:prstGeom prst="roundRect">
            <a:avLst>
              <a:gd name="adj" fmla="val 9333"/>
            </a:avLst>
          </a:prstGeom>
          <a:solidFill>
            <a:srgbClr val="FDF0DC"/>
          </a:solidFill>
          <a:ln/>
        </p:spPr>
      </p:sp>
      <p:sp>
        <p:nvSpPr>
          <p:cNvPr id="23" name="Text 21"/>
          <p:cNvSpPr txBox="1"/>
          <p:nvPr/>
        </p:nvSpPr>
        <p:spPr>
          <a:xfrm>
            <a:off x="8860536" y="2103120"/>
            <a:ext cx="1261872" cy="685800"/>
          </a:xfrm>
          <a:prstGeom prst="rect">
            <a:avLst/>
          </a:prstGeom>
          <a:noFill/>
          <a:ln/>
        </p:spPr>
        <p:txBody>
          <a:bodyPr wrap="square" lIns="0" tIns="0" rIns="0" bIns="0" rtlCol="0" anchor="ctr"/>
          <a:lstStyle/>
          <a:p>
            <a:pPr marL="0" indent="0" algn="ctr">
              <a:buNone/>
            </a:pPr>
            <a:r>
              <a:rPr lang="en-US" sz="1300" b="1" dirty="0">
                <a:solidFill>
                  <a:srgbClr val="132226"/>
                </a:solidFill>
              </a:rPr>
              <a:t>Amazon ECR</a:t>
            </a:r>
            <a:endParaRPr lang="en-US" sz="1400" dirty="0"/>
          </a:p>
          <a:p>
            <a:pPr marL="0" indent="0" algn="ctr">
              <a:buNone/>
            </a:pPr>
            <a:r>
              <a:rPr lang="en-US" sz="1050" dirty="0">
                <a:solidFill>
                  <a:srgbClr val="4A5B5E"/>
                </a:solidFill>
              </a:rPr>
              <a:t>Git-SHA images</a:t>
            </a:r>
            <a:endParaRPr lang="en-US" sz="1400" dirty="0"/>
          </a:p>
        </p:txBody>
      </p:sp>
      <p:sp>
        <p:nvSpPr>
          <p:cNvPr id="24" name="chip Docker"/>
          <p:cNvSpPr/>
          <p:nvPr/>
        </p:nvSpPr>
        <p:spPr>
          <a:xfrm>
            <a:off x="10469880" y="2103120"/>
            <a:ext cx="1005840" cy="685800"/>
          </a:xfrm>
          <a:prstGeom prst="roundRect">
            <a:avLst>
              <a:gd name="adj" fmla="val 9333"/>
            </a:avLst>
          </a:prstGeom>
          <a:solidFill>
            <a:srgbClr val="E7EAF2"/>
          </a:solidFill>
          <a:ln/>
        </p:spPr>
      </p:sp>
      <p:sp>
        <p:nvSpPr>
          <p:cNvPr id="25" name="Text 23"/>
          <p:cNvSpPr txBox="1"/>
          <p:nvPr/>
        </p:nvSpPr>
        <p:spPr>
          <a:xfrm>
            <a:off x="10524744" y="2103120"/>
            <a:ext cx="896112" cy="685800"/>
          </a:xfrm>
          <a:prstGeom prst="rect">
            <a:avLst/>
          </a:prstGeom>
          <a:noFill/>
          <a:ln/>
        </p:spPr>
        <p:txBody>
          <a:bodyPr wrap="square" lIns="0" tIns="0" rIns="0" bIns="0" rtlCol="0" anchor="ctr"/>
          <a:lstStyle/>
          <a:p>
            <a:pPr marL="0" indent="0" algn="ctr">
              <a:buNone/>
            </a:pPr>
            <a:r>
              <a:rPr lang="en-US" sz="1300" b="1" dirty="0">
                <a:solidFill>
                  <a:srgbClr val="132226"/>
                </a:solidFill>
              </a:rPr>
              <a:t>Docker</a:t>
            </a:r>
            <a:endParaRPr lang="en-US" sz="1400" dirty="0"/>
          </a:p>
          <a:p>
            <a:pPr marL="0" indent="0" algn="ctr">
              <a:buNone/>
            </a:pPr>
            <a:r>
              <a:rPr lang="en-US" sz="1050" dirty="0">
                <a:solidFill>
                  <a:srgbClr val="4A5B5E"/>
                </a:solidFill>
              </a:rPr>
              <a:t>build</a:t>
            </a:r>
            <a:endParaRPr lang="en-US" sz="1400" dirty="0"/>
          </a:p>
        </p:txBody>
      </p:sp>
      <p:sp>
        <p:nvSpPr>
          <p:cNvPr id="26" name="connector"/>
          <p:cNvSpPr/>
          <p:nvPr/>
        </p:nvSpPr>
        <p:spPr>
          <a:xfrm flipH="1">
            <a:off x="8540496" y="2446020"/>
            <a:ext cx="237744" cy="0"/>
          </a:xfrm>
          <a:prstGeom prst="line">
            <a:avLst/>
          </a:prstGeom>
          <a:noFill/>
          <a:ln w="19050">
            <a:solidFill>
              <a:srgbClr val="5B6C8F"/>
            </a:solidFill>
            <a:prstDash val="solid"/>
            <a:tailEnd type="triangle"/>
          </a:ln>
        </p:spPr>
      </p:sp>
      <p:sp>
        <p:nvSpPr>
          <p:cNvPr id="27" name="connector"/>
          <p:cNvSpPr/>
          <p:nvPr/>
        </p:nvSpPr>
        <p:spPr>
          <a:xfrm flipH="1">
            <a:off x="10204704" y="2446020"/>
            <a:ext cx="237744" cy="0"/>
          </a:xfrm>
          <a:prstGeom prst="line">
            <a:avLst/>
          </a:prstGeom>
          <a:noFill/>
          <a:ln w="19050">
            <a:solidFill>
              <a:srgbClr val="5B6C8F"/>
            </a:solidFill>
            <a:prstDash val="solid"/>
            <a:tailEnd type="triangle"/>
          </a:ln>
        </p:spPr>
      </p:sp>
      <p:sp>
        <p:nvSpPr>
          <p:cNvPr id="28" name="Text 26"/>
          <p:cNvSpPr txBox="1"/>
          <p:nvPr/>
        </p:nvSpPr>
        <p:spPr>
          <a:xfrm>
            <a:off x="777240" y="3200400"/>
            <a:ext cx="4572000" cy="365760"/>
          </a:xfrm>
          <a:prstGeom prst="rect">
            <a:avLst/>
          </a:prstGeom>
          <a:noFill/>
          <a:ln/>
        </p:spPr>
        <p:txBody>
          <a:bodyPr wrap="square" lIns="0" tIns="0" rIns="0" bIns="0" rtlCol="0" anchor="ctr"/>
          <a:lstStyle/>
          <a:p>
            <a:pPr marL="0" indent="0">
              <a:buNone/>
            </a:pPr>
            <a:r>
              <a:rPr lang="en-US" sz="1200" i="1" dirty="0">
                <a:solidFill>
                  <a:srgbClr val="4A5B5E"/>
                </a:solidFill>
              </a:rPr>
              <a:t>Request path:  CloudFront → ALB → target group → healthy task</a:t>
            </a:r>
            <a:endParaRPr lang="en-US" sz="1200" dirty="0"/>
          </a:p>
        </p:txBody>
      </p:sp>
      <p:sp>
        <p:nvSpPr>
          <p:cNvPr id="29" name="Text 27"/>
          <p:cNvSpPr txBox="1"/>
          <p:nvPr/>
        </p:nvSpPr>
        <p:spPr>
          <a:xfrm>
            <a:off x="8229600" y="3200400"/>
            <a:ext cx="3246120" cy="365760"/>
          </a:xfrm>
          <a:prstGeom prst="rect">
            <a:avLst/>
          </a:prstGeom>
          <a:noFill/>
          <a:ln/>
        </p:spPr>
        <p:txBody>
          <a:bodyPr wrap="square" lIns="0" tIns="0" rIns="0" bIns="0" rtlCol="0" anchor="ctr"/>
          <a:lstStyle/>
          <a:p>
            <a:pPr marL="0" indent="0" algn="r">
              <a:buNone/>
            </a:pPr>
            <a:r>
              <a:rPr lang="en-US" sz="1200" i="1" dirty="0">
                <a:solidFill>
                  <a:srgbClr val="4A5B5E"/>
                </a:solidFill>
              </a:rPr>
              <a:t>Image path:  build → ECR → rolling deploy</a:t>
            </a:r>
            <a:endParaRPr lang="en-US" sz="1200" dirty="0"/>
          </a:p>
        </p:txBody>
      </p:sp>
      <p:sp>
        <p:nvSpPr>
          <p:cNvPr id="30" name="card"/>
          <p:cNvSpPr/>
          <p:nvPr/>
        </p:nvSpPr>
        <p:spPr>
          <a:xfrm>
            <a:off x="548640" y="3886200"/>
            <a:ext cx="2103120" cy="914400"/>
          </a:xfrm>
          <a:prstGeom prst="roundRect">
            <a:avLst>
              <a:gd name="adj" fmla="val 10000"/>
            </a:avLst>
          </a:prstGeom>
          <a:solidFill>
            <a:srgbClr val="FFFFFF"/>
          </a:solidFill>
          <a:ln/>
          <a:effectLst>
            <a:outerShdw blurRad="114300" dist="25400" dir="5400000" algn="bl" rotWithShape="0">
              <a:srgbClr val="0E3B43">
                <a:alpha val="13000"/>
              </a:srgbClr>
            </a:outerShdw>
          </a:effectLst>
        </p:spPr>
      </p:sp>
      <p:sp>
        <p:nvSpPr>
          <p:cNvPr id="31" name="Text 29"/>
          <p:cNvSpPr txBox="1"/>
          <p:nvPr/>
        </p:nvSpPr>
        <p:spPr>
          <a:xfrm>
            <a:off x="731520" y="3931920"/>
            <a:ext cx="1737360" cy="502920"/>
          </a:xfrm>
          <a:prstGeom prst="rect">
            <a:avLst/>
          </a:prstGeom>
          <a:noFill/>
          <a:ln/>
        </p:spPr>
        <p:txBody>
          <a:bodyPr wrap="square" lIns="0" tIns="0" rIns="0" bIns="0" rtlCol="0" anchor="ctr"/>
          <a:lstStyle/>
          <a:p>
            <a:pPr marL="0" indent="0">
              <a:buNone/>
            </a:pPr>
            <a:r>
              <a:rPr lang="en-US" sz="2800" b="1" dirty="0">
                <a:solidFill>
                  <a:srgbClr val="0E7C7B"/>
                </a:solidFill>
                <a:latin typeface="+mj-lt" pitchFamily="34" charset="0"/>
                <a:ea typeface="+mj-lt" pitchFamily="34" charset="-122"/>
                <a:cs typeface="+mj-lt" pitchFamily="34" charset="-120"/>
              </a:rPr>
              <a:t>2</a:t>
            </a:r>
            <a:endParaRPr lang="en-US" sz="2800" dirty="0"/>
          </a:p>
        </p:txBody>
      </p:sp>
      <p:sp>
        <p:nvSpPr>
          <p:cNvPr id="32" name="Text 30"/>
          <p:cNvSpPr txBox="1"/>
          <p:nvPr/>
        </p:nvSpPr>
        <p:spPr>
          <a:xfrm>
            <a:off x="731520" y="4434840"/>
            <a:ext cx="1783080" cy="274320"/>
          </a:xfrm>
          <a:prstGeom prst="rect">
            <a:avLst/>
          </a:prstGeom>
          <a:noFill/>
          <a:ln/>
        </p:spPr>
        <p:txBody>
          <a:bodyPr wrap="square" lIns="0" tIns="0" rIns="0" bIns="0" rtlCol="0" anchor="t"/>
          <a:lstStyle/>
          <a:p>
            <a:pPr marL="0" indent="0">
              <a:buNone/>
            </a:pPr>
            <a:r>
              <a:rPr lang="en-US" sz="1200" dirty="0">
                <a:solidFill>
                  <a:srgbClr val="4A5B5E"/>
                </a:solidFill>
              </a:rPr>
              <a:t>baseline tasks</a:t>
            </a:r>
            <a:endParaRPr lang="en-US" sz="1200" dirty="0"/>
          </a:p>
        </p:txBody>
      </p:sp>
      <p:sp>
        <p:nvSpPr>
          <p:cNvPr id="33" name="card"/>
          <p:cNvSpPr/>
          <p:nvPr/>
        </p:nvSpPr>
        <p:spPr>
          <a:xfrm>
            <a:off x="2802636" y="3886200"/>
            <a:ext cx="2103120" cy="914400"/>
          </a:xfrm>
          <a:prstGeom prst="roundRect">
            <a:avLst>
              <a:gd name="adj" fmla="val 10000"/>
            </a:avLst>
          </a:prstGeom>
          <a:solidFill>
            <a:srgbClr val="FFFFFF"/>
          </a:solidFill>
          <a:ln/>
          <a:effectLst>
            <a:outerShdw blurRad="114300" dist="25400" dir="5400000" algn="bl" rotWithShape="0">
              <a:srgbClr val="0E3B43">
                <a:alpha val="13000"/>
              </a:srgbClr>
            </a:outerShdw>
          </a:effectLst>
        </p:spPr>
      </p:sp>
      <p:sp>
        <p:nvSpPr>
          <p:cNvPr id="34" name="Text 32"/>
          <p:cNvSpPr txBox="1"/>
          <p:nvPr/>
        </p:nvSpPr>
        <p:spPr>
          <a:xfrm>
            <a:off x="2985516" y="3931920"/>
            <a:ext cx="1737360" cy="502920"/>
          </a:xfrm>
          <a:prstGeom prst="rect">
            <a:avLst/>
          </a:prstGeom>
          <a:noFill/>
          <a:ln/>
        </p:spPr>
        <p:txBody>
          <a:bodyPr wrap="square" lIns="0" tIns="0" rIns="0" bIns="0" rtlCol="0" anchor="ctr"/>
          <a:lstStyle/>
          <a:p>
            <a:pPr marL="0" indent="0">
              <a:buNone/>
            </a:pPr>
            <a:r>
              <a:rPr lang="en-US" sz="2800" b="1" dirty="0">
                <a:solidFill>
                  <a:srgbClr val="5B6C8F"/>
                </a:solidFill>
                <a:latin typeface="+mj-lt" pitchFamily="34" charset="0"/>
                <a:ea typeface="+mj-lt" pitchFamily="34" charset="-122"/>
                <a:cs typeface="+mj-lt" pitchFamily="34" charset="-120"/>
              </a:rPr>
              <a:t>2 AZs</a:t>
            </a:r>
            <a:endParaRPr lang="en-US" sz="2800" dirty="0"/>
          </a:p>
        </p:txBody>
      </p:sp>
      <p:sp>
        <p:nvSpPr>
          <p:cNvPr id="35" name="Text 33"/>
          <p:cNvSpPr txBox="1"/>
          <p:nvPr/>
        </p:nvSpPr>
        <p:spPr>
          <a:xfrm>
            <a:off x="2985516" y="4434840"/>
            <a:ext cx="1783080" cy="274320"/>
          </a:xfrm>
          <a:prstGeom prst="rect">
            <a:avLst/>
          </a:prstGeom>
          <a:noFill/>
          <a:ln/>
        </p:spPr>
        <p:txBody>
          <a:bodyPr wrap="square" lIns="0" tIns="0" rIns="0" bIns="0" rtlCol="0" anchor="t"/>
          <a:lstStyle/>
          <a:p>
            <a:pPr marL="0" indent="0">
              <a:buNone/>
            </a:pPr>
            <a:r>
              <a:rPr lang="en-US" sz="1200" dirty="0">
                <a:solidFill>
                  <a:srgbClr val="4A5B5E"/>
                </a:solidFill>
              </a:rPr>
              <a:t>task distribution</a:t>
            </a:r>
            <a:endParaRPr lang="en-US" sz="1200" dirty="0"/>
          </a:p>
        </p:txBody>
      </p:sp>
      <p:sp>
        <p:nvSpPr>
          <p:cNvPr id="36" name="card"/>
          <p:cNvSpPr/>
          <p:nvPr/>
        </p:nvSpPr>
        <p:spPr>
          <a:xfrm>
            <a:off x="5056632" y="3886200"/>
            <a:ext cx="2103120" cy="914400"/>
          </a:xfrm>
          <a:prstGeom prst="roundRect">
            <a:avLst>
              <a:gd name="adj" fmla="val 10000"/>
            </a:avLst>
          </a:prstGeom>
          <a:solidFill>
            <a:srgbClr val="FFFFFF"/>
          </a:solidFill>
          <a:ln/>
          <a:effectLst>
            <a:outerShdw blurRad="114300" dist="25400" dir="5400000" algn="bl" rotWithShape="0">
              <a:srgbClr val="0E3B43">
                <a:alpha val="13000"/>
              </a:srgbClr>
            </a:outerShdw>
          </a:effectLst>
        </p:spPr>
      </p:sp>
      <p:sp>
        <p:nvSpPr>
          <p:cNvPr id="37" name="Text 35"/>
          <p:cNvSpPr txBox="1"/>
          <p:nvPr/>
        </p:nvSpPr>
        <p:spPr>
          <a:xfrm>
            <a:off x="5239512" y="3931920"/>
            <a:ext cx="1737360" cy="502920"/>
          </a:xfrm>
          <a:prstGeom prst="rect">
            <a:avLst/>
          </a:prstGeom>
          <a:noFill/>
          <a:ln/>
        </p:spPr>
        <p:txBody>
          <a:bodyPr wrap="square" lIns="0" tIns="0" rIns="0" bIns="0" rtlCol="0" anchor="ctr"/>
          <a:lstStyle/>
          <a:p>
            <a:pPr marL="0" indent="0">
              <a:buNone/>
            </a:pPr>
            <a:r>
              <a:rPr lang="en-US" sz="2800" b="1" dirty="0">
                <a:solidFill>
                  <a:srgbClr val="A8620A"/>
                </a:solidFill>
              </a:rPr>
              <a:t>2 → 4</a:t>
            </a:r>
            <a:endParaRPr lang="en-US" sz="2800" dirty="0"/>
          </a:p>
        </p:txBody>
      </p:sp>
      <p:sp>
        <p:nvSpPr>
          <p:cNvPr id="38" name="Text 36"/>
          <p:cNvSpPr txBox="1"/>
          <p:nvPr/>
        </p:nvSpPr>
        <p:spPr>
          <a:xfrm>
            <a:off x="5239512" y="4434840"/>
            <a:ext cx="1783080" cy="274320"/>
          </a:xfrm>
          <a:prstGeom prst="rect">
            <a:avLst/>
          </a:prstGeom>
          <a:noFill/>
          <a:ln/>
        </p:spPr>
        <p:txBody>
          <a:bodyPr wrap="square" lIns="0" tIns="0" rIns="0" bIns="0" rtlCol="0" anchor="t"/>
          <a:lstStyle/>
          <a:p>
            <a:pPr marL="0" indent="0">
              <a:buNone/>
            </a:pPr>
            <a:r>
              <a:rPr lang="en-US" sz="1200" dirty="0">
                <a:solidFill>
                  <a:srgbClr val="4A5B5E"/>
                </a:solidFill>
              </a:rPr>
              <a:t>Auto Scaling range</a:t>
            </a:r>
            <a:endParaRPr lang="en-US" sz="1200" dirty="0"/>
          </a:p>
        </p:txBody>
      </p:sp>
      <p:sp>
        <p:nvSpPr>
          <p:cNvPr id="39" name="card"/>
          <p:cNvSpPr/>
          <p:nvPr/>
        </p:nvSpPr>
        <p:spPr>
          <a:xfrm>
            <a:off x="7310628" y="3886200"/>
            <a:ext cx="2103120" cy="914400"/>
          </a:xfrm>
          <a:prstGeom prst="roundRect">
            <a:avLst>
              <a:gd name="adj" fmla="val 10000"/>
            </a:avLst>
          </a:prstGeom>
          <a:solidFill>
            <a:srgbClr val="FFFFFF"/>
          </a:solidFill>
          <a:ln/>
          <a:effectLst>
            <a:outerShdw blurRad="114300" dist="25400" dir="5400000" algn="bl" rotWithShape="0">
              <a:srgbClr val="0E3B43">
                <a:alpha val="13000"/>
              </a:srgbClr>
            </a:outerShdw>
          </a:effectLst>
        </p:spPr>
      </p:sp>
      <p:sp>
        <p:nvSpPr>
          <p:cNvPr id="40" name="Text 38"/>
          <p:cNvSpPr txBox="1"/>
          <p:nvPr/>
        </p:nvSpPr>
        <p:spPr>
          <a:xfrm>
            <a:off x="7493508" y="3931920"/>
            <a:ext cx="1737360" cy="502920"/>
          </a:xfrm>
          <a:prstGeom prst="rect">
            <a:avLst/>
          </a:prstGeom>
          <a:noFill/>
          <a:ln/>
        </p:spPr>
        <p:txBody>
          <a:bodyPr wrap="square" lIns="0" tIns="0" rIns="0" bIns="0" rtlCol="0" anchor="ctr"/>
          <a:lstStyle/>
          <a:p>
            <a:pPr marL="0" indent="0">
              <a:buNone/>
            </a:pPr>
            <a:r>
              <a:rPr lang="en-US" sz="2800" b="1" dirty="0">
                <a:solidFill>
                  <a:srgbClr val="1F9A82"/>
                </a:solidFill>
                <a:latin typeface="+mj-lt" pitchFamily="34" charset="0"/>
                <a:ea typeface="+mj-lt" pitchFamily="34" charset="-122"/>
                <a:cs typeface="+mj-lt" pitchFamily="34" charset="-120"/>
              </a:rPr>
              <a:t>50%</a:t>
            </a:r>
            <a:endParaRPr lang="en-US" sz="2800" dirty="0"/>
          </a:p>
        </p:txBody>
      </p:sp>
      <p:sp>
        <p:nvSpPr>
          <p:cNvPr id="41" name="Text 39"/>
          <p:cNvSpPr txBox="1"/>
          <p:nvPr/>
        </p:nvSpPr>
        <p:spPr>
          <a:xfrm>
            <a:off x="7493508" y="4434840"/>
            <a:ext cx="1783080" cy="274320"/>
          </a:xfrm>
          <a:prstGeom prst="rect">
            <a:avLst/>
          </a:prstGeom>
          <a:noFill/>
          <a:ln/>
        </p:spPr>
        <p:txBody>
          <a:bodyPr wrap="square" lIns="0" tIns="0" rIns="0" bIns="0" rtlCol="0" anchor="t"/>
          <a:lstStyle/>
          <a:p>
            <a:pPr marL="0" indent="0">
              <a:buNone/>
            </a:pPr>
            <a:r>
              <a:rPr lang="en-US" sz="1200" dirty="0">
                <a:solidFill>
                  <a:srgbClr val="4A5B5E"/>
                </a:solidFill>
              </a:rPr>
              <a:t>CPU target</a:t>
            </a:r>
            <a:endParaRPr lang="en-US" sz="1200" dirty="0"/>
          </a:p>
        </p:txBody>
      </p:sp>
      <p:sp>
        <p:nvSpPr>
          <p:cNvPr id="42" name="card"/>
          <p:cNvSpPr/>
          <p:nvPr/>
        </p:nvSpPr>
        <p:spPr>
          <a:xfrm>
            <a:off x="9564624" y="3886200"/>
            <a:ext cx="2103120" cy="914400"/>
          </a:xfrm>
          <a:prstGeom prst="roundRect">
            <a:avLst>
              <a:gd name="adj" fmla="val 10000"/>
            </a:avLst>
          </a:prstGeom>
          <a:solidFill>
            <a:srgbClr val="FFFFFF"/>
          </a:solidFill>
          <a:ln/>
          <a:effectLst>
            <a:outerShdw blurRad="114300" dist="25400" dir="5400000" algn="bl" rotWithShape="0">
              <a:srgbClr val="0E3B43">
                <a:alpha val="13000"/>
              </a:srgbClr>
            </a:outerShdw>
          </a:effectLst>
        </p:spPr>
      </p:sp>
      <p:sp>
        <p:nvSpPr>
          <p:cNvPr id="43" name="Text 41"/>
          <p:cNvSpPr txBox="1"/>
          <p:nvPr/>
        </p:nvSpPr>
        <p:spPr>
          <a:xfrm>
            <a:off x="9747504" y="3931920"/>
            <a:ext cx="1737360" cy="502920"/>
          </a:xfrm>
          <a:prstGeom prst="rect">
            <a:avLst/>
          </a:prstGeom>
          <a:noFill/>
          <a:ln/>
        </p:spPr>
        <p:txBody>
          <a:bodyPr wrap="square" lIns="0" tIns="0" rIns="0" bIns="0" rtlCol="0" anchor="ctr"/>
          <a:lstStyle/>
          <a:p>
            <a:pPr marL="0" indent="0">
              <a:buNone/>
            </a:pPr>
            <a:r>
              <a:rPr lang="en-US" sz="2800" b="1" dirty="0">
                <a:solidFill>
                  <a:srgbClr val="0E3B43"/>
                </a:solidFill>
                <a:latin typeface="+mj-lt" pitchFamily="34" charset="0"/>
                <a:ea typeface="+mj-lt" pitchFamily="34" charset="-122"/>
                <a:cs typeface="+mj-lt" pitchFamily="34" charset="-120"/>
              </a:rPr>
              <a:t>200</a:t>
            </a:r>
            <a:endParaRPr lang="en-US" sz="2800" dirty="0"/>
          </a:p>
        </p:txBody>
      </p:sp>
      <p:sp>
        <p:nvSpPr>
          <p:cNvPr id="44" name="Text 42"/>
          <p:cNvSpPr txBox="1"/>
          <p:nvPr/>
        </p:nvSpPr>
        <p:spPr>
          <a:xfrm>
            <a:off x="9747504" y="4434840"/>
            <a:ext cx="1783080" cy="274320"/>
          </a:xfrm>
          <a:prstGeom prst="rect">
            <a:avLst/>
          </a:prstGeom>
          <a:noFill/>
          <a:ln/>
        </p:spPr>
        <p:txBody>
          <a:bodyPr wrap="square" lIns="0" tIns="0" rIns="0" bIns="0" rtlCol="0" anchor="t"/>
          <a:lstStyle/>
          <a:p>
            <a:pPr marL="0" indent="0">
              <a:buNone/>
            </a:pPr>
            <a:r>
              <a:rPr lang="en-US" sz="1200" dirty="0">
                <a:solidFill>
                  <a:srgbClr val="4A5B5E"/>
                </a:solidFill>
              </a:rPr>
              <a:t>/health expected</a:t>
            </a:r>
            <a:endParaRPr lang="en-US" sz="1200" dirty="0"/>
          </a:p>
        </p:txBody>
      </p:sp>
      <p:sp>
        <p:nvSpPr>
          <p:cNvPr id="45" name="card"/>
          <p:cNvSpPr/>
          <p:nvPr/>
        </p:nvSpPr>
        <p:spPr>
          <a:xfrm>
            <a:off x="548640" y="4983480"/>
            <a:ext cx="5454396" cy="1188720"/>
          </a:xfrm>
          <a:prstGeom prst="roundRect">
            <a:avLst>
              <a:gd name="adj" fmla="val 7692"/>
            </a:avLst>
          </a:prstGeom>
          <a:solidFill>
            <a:srgbClr val="FFFFFF"/>
          </a:solidFill>
          <a:ln/>
          <a:effectLst>
            <a:outerShdw blurRad="114300" dist="25400" dir="5400000" algn="bl" rotWithShape="0">
              <a:srgbClr val="0E3B43">
                <a:alpha val="13000"/>
              </a:srgbClr>
            </a:outerShdw>
          </a:effectLst>
        </p:spPr>
      </p:sp>
      <p:sp>
        <p:nvSpPr>
          <p:cNvPr id="46" name="Controlled validation circle"/>
          <p:cNvSpPr/>
          <p:nvPr/>
        </p:nvSpPr>
        <p:spPr>
          <a:xfrm>
            <a:off x="749808" y="5166360"/>
            <a:ext cx="502920" cy="502920"/>
          </a:xfrm>
          <a:prstGeom prst="ellipse">
            <a:avLst/>
          </a:prstGeom>
          <a:solidFill>
            <a:schemeClr val="accent2"/>
          </a:solidFill>
          <a:ln/>
        </p:spPr>
      </p:sp>
      <p:pic>
        <p:nvPicPr>
          <p:cNvPr id="47" name="Controlled validation" descr="preencoded.png"/>
          <p:cNvPicPr>
            <a:picLocks noChangeAspect="1"/>
          </p:cNvPicPr>
          <p:nvPr/>
        </p:nvPicPr>
        <p:blipFill>
          <a:blip r:embed="rId3"/>
          <a:stretch>
            <a:fillRect/>
          </a:stretch>
        </p:blipFill>
        <p:spPr>
          <a:xfrm>
            <a:off x="870509" y="5287061"/>
            <a:ext cx="261518" cy="261518"/>
          </a:xfrm>
          <a:prstGeom prst="rect">
            <a:avLst/>
          </a:prstGeom>
        </p:spPr>
      </p:pic>
      <p:sp>
        <p:nvSpPr>
          <p:cNvPr id="48" name="Text 45"/>
          <p:cNvSpPr txBox="1"/>
          <p:nvPr/>
        </p:nvSpPr>
        <p:spPr>
          <a:xfrm>
            <a:off x="1417320" y="5074920"/>
            <a:ext cx="4389120" cy="292608"/>
          </a:xfrm>
          <a:prstGeom prst="rect">
            <a:avLst/>
          </a:prstGeom>
          <a:noFill/>
          <a:ln/>
        </p:spPr>
        <p:txBody>
          <a:bodyPr wrap="square" lIns="0" tIns="0" rIns="0" bIns="0" rtlCol="0" anchor="t"/>
          <a:lstStyle/>
          <a:p>
            <a:pPr marL="0" indent="0">
              <a:buNone/>
            </a:pPr>
            <a:r>
              <a:rPr lang="en-US" sz="1500" b="1" dirty="0">
                <a:solidFill>
                  <a:srgbClr val="132226"/>
                </a:solidFill>
              </a:rPr>
              <a:t>Controlled validation</a:t>
            </a:r>
            <a:endParaRPr lang="en-US" sz="1500" dirty="0"/>
          </a:p>
        </p:txBody>
      </p:sp>
      <p:sp>
        <p:nvSpPr>
          <p:cNvPr id="49" name="Text 46"/>
          <p:cNvSpPr txBox="1"/>
          <p:nvPr/>
        </p:nvSpPr>
        <p:spPr>
          <a:xfrm>
            <a:off x="1417320" y="5376672"/>
            <a:ext cx="4434840" cy="731520"/>
          </a:xfrm>
          <a:prstGeom prst="rect">
            <a:avLst/>
          </a:prstGeom>
          <a:noFill/>
          <a:ln/>
        </p:spPr>
        <p:txBody>
          <a:bodyPr wrap="square" lIns="0" tIns="0" rIns="0" bIns="0" rtlCol="0" anchor="t"/>
          <a:lstStyle/>
          <a:p>
            <a:pPr marL="0" indent="0">
              <a:buNone/>
            </a:pPr>
            <a:r>
              <a:rPr lang="en-US" sz="1300" dirty="0">
                <a:solidFill>
                  <a:srgbClr val="4A5B5E"/>
                </a:solidFill>
              </a:rPr>
              <a:t>Temporarily lowered the CPU target to 1%; generated load scaled the service from 2 to 4 tasks — then restored the normal 50% target.</a:t>
            </a:r>
            <a:endParaRPr lang="en-US" sz="1300" dirty="0"/>
          </a:p>
        </p:txBody>
      </p:sp>
      <p:sp>
        <p:nvSpPr>
          <p:cNvPr id="50" name="card"/>
          <p:cNvSpPr/>
          <p:nvPr/>
        </p:nvSpPr>
        <p:spPr>
          <a:xfrm>
            <a:off x="6185916" y="4983480"/>
            <a:ext cx="5454396" cy="1188720"/>
          </a:xfrm>
          <a:prstGeom prst="roundRect">
            <a:avLst>
              <a:gd name="adj" fmla="val 7692"/>
            </a:avLst>
          </a:prstGeom>
          <a:solidFill>
            <a:srgbClr val="FFFFFF"/>
          </a:solidFill>
          <a:ln/>
          <a:effectLst>
            <a:outerShdw blurRad="114300" dist="25400" dir="5400000" algn="bl" rotWithShape="0">
              <a:srgbClr val="0E3B43">
                <a:alpha val="13000"/>
              </a:srgbClr>
            </a:outerShdw>
          </a:effectLst>
        </p:spPr>
      </p:sp>
      <p:sp>
        <p:nvSpPr>
          <p:cNvPr id="51" name="Ownership lesson circle"/>
          <p:cNvSpPr/>
          <p:nvPr/>
        </p:nvSpPr>
        <p:spPr>
          <a:xfrm>
            <a:off x="6387084" y="5166360"/>
            <a:ext cx="502920" cy="502920"/>
          </a:xfrm>
          <a:prstGeom prst="ellipse">
            <a:avLst/>
          </a:prstGeom>
          <a:solidFill>
            <a:schemeClr val="accent5"/>
          </a:solidFill>
          <a:ln/>
        </p:spPr>
      </p:sp>
      <p:pic>
        <p:nvPicPr>
          <p:cNvPr id="52" name="Ownership lesson" descr="preencoded.png"/>
          <p:cNvPicPr>
            <a:picLocks noChangeAspect="1"/>
          </p:cNvPicPr>
          <p:nvPr/>
        </p:nvPicPr>
        <p:blipFill>
          <a:blip r:embed="rId4"/>
          <a:stretch>
            <a:fillRect/>
          </a:stretch>
        </p:blipFill>
        <p:spPr>
          <a:xfrm>
            <a:off x="6507785" y="5287061"/>
            <a:ext cx="261518" cy="261518"/>
          </a:xfrm>
          <a:prstGeom prst="rect">
            <a:avLst/>
          </a:prstGeom>
        </p:spPr>
      </p:pic>
      <p:sp>
        <p:nvSpPr>
          <p:cNvPr id="53" name="Text 49"/>
          <p:cNvSpPr txBox="1"/>
          <p:nvPr/>
        </p:nvSpPr>
        <p:spPr>
          <a:xfrm>
            <a:off x="7054596" y="5074920"/>
            <a:ext cx="4389120" cy="292608"/>
          </a:xfrm>
          <a:prstGeom prst="rect">
            <a:avLst/>
          </a:prstGeom>
          <a:noFill/>
          <a:ln/>
        </p:spPr>
        <p:txBody>
          <a:bodyPr wrap="square" lIns="0" tIns="0" rIns="0" bIns="0" rtlCol="0" anchor="t"/>
          <a:lstStyle/>
          <a:p>
            <a:pPr marL="0" indent="0">
              <a:buNone/>
            </a:pPr>
            <a:r>
              <a:rPr lang="en-US" sz="1500" b="1" dirty="0">
                <a:solidFill>
                  <a:srgbClr val="132226"/>
                </a:solidFill>
              </a:rPr>
              <a:t>Ownership lesson</a:t>
            </a:r>
            <a:endParaRPr lang="en-US" sz="1500" dirty="0"/>
          </a:p>
        </p:txBody>
      </p:sp>
      <p:sp>
        <p:nvSpPr>
          <p:cNvPr id="54" name="Text 50"/>
          <p:cNvSpPr txBox="1"/>
          <p:nvPr/>
        </p:nvSpPr>
        <p:spPr>
          <a:xfrm>
            <a:off x="7054596" y="5376672"/>
            <a:ext cx="4434840" cy="731520"/>
          </a:xfrm>
          <a:prstGeom prst="rect">
            <a:avLst/>
          </a:prstGeom>
          <a:noFill/>
          <a:ln/>
        </p:spPr>
        <p:txBody>
          <a:bodyPr wrap="square" lIns="0" tIns="0" rIns="0" bIns="0" rtlCol="0" anchor="t"/>
          <a:lstStyle/>
          <a:p>
            <a:pPr marL="0" indent="0">
              <a:buNone/>
            </a:pPr>
            <a:r>
              <a:rPr lang="en-US" sz="1300" dirty="0">
                <a:solidFill>
                  <a:srgbClr val="4A5B5E"/>
                </a:solidFill>
              </a:rPr>
              <a:t>Terraform defines the service and scaling configuration. Application Auto Scaling owns the live desired task count.</a:t>
            </a:r>
            <a:endParaRPr lang="en-US" sz="1300" dirty="0"/>
          </a:p>
        </p:txBody>
      </p:sp>
      <p:sp>
        <p:nvSpPr>
          <p:cNvPr id="5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Milestone 4 — Automated deployment</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Application delivery is traceable, short-lived and independently validated.</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M4</a:t>
            </a:r>
            <a:endParaRPr lang="en-US" sz="1200" dirty="0"/>
          </a:p>
        </p:txBody>
      </p:sp>
      <p:sp>
        <p:nvSpPr>
          <p:cNvPr id="6" name="card"/>
          <p:cNvSpPr/>
          <p:nvPr/>
        </p:nvSpPr>
        <p:spPr>
          <a:xfrm>
            <a:off x="548640" y="1463040"/>
            <a:ext cx="11091672" cy="1874520"/>
          </a:xfrm>
          <a:prstGeom prst="roundRect">
            <a:avLst>
              <a:gd name="adj" fmla="val 4878"/>
            </a:avLst>
          </a:prstGeom>
          <a:solidFill>
            <a:srgbClr val="FFFFFF"/>
          </a:solidFill>
          <a:ln/>
          <a:effectLst>
            <a:outerShdw blurRad="114300" dist="25400" dir="5400000" algn="bl" rotWithShape="0">
              <a:srgbClr val="0E3B43">
                <a:alpha val="13000"/>
              </a:srgbClr>
            </a:outerShdw>
          </a:effectLst>
        </p:spPr>
      </p:sp>
      <p:sp>
        <p:nvSpPr>
          <p:cNvPr id="7" name="GitHub Actions circle"/>
          <p:cNvSpPr/>
          <p:nvPr/>
        </p:nvSpPr>
        <p:spPr>
          <a:xfrm>
            <a:off x="777240" y="1600200"/>
            <a:ext cx="438912" cy="438912"/>
          </a:xfrm>
          <a:prstGeom prst="ellipse">
            <a:avLst/>
          </a:prstGeom>
          <a:solidFill>
            <a:schemeClr val="tx2"/>
          </a:solidFill>
          <a:ln/>
        </p:spPr>
      </p:sp>
      <p:pic>
        <p:nvPicPr>
          <p:cNvPr id="8" name="GitHub Actions" descr="preencoded.png"/>
          <p:cNvPicPr>
            <a:picLocks noChangeAspect="1"/>
          </p:cNvPicPr>
          <p:nvPr/>
        </p:nvPicPr>
        <p:blipFill>
          <a:blip r:embed="rId3"/>
          <a:stretch>
            <a:fillRect/>
          </a:stretch>
        </p:blipFill>
        <p:spPr>
          <a:xfrm>
            <a:off x="882579" y="1705539"/>
            <a:ext cx="228234" cy="228234"/>
          </a:xfrm>
          <a:prstGeom prst="rect">
            <a:avLst/>
          </a:prstGeom>
        </p:spPr>
      </p:pic>
      <p:sp>
        <p:nvSpPr>
          <p:cNvPr id="9" name="Text 6"/>
          <p:cNvSpPr txBox="1"/>
          <p:nvPr/>
        </p:nvSpPr>
        <p:spPr>
          <a:xfrm>
            <a:off x="1371600" y="1600200"/>
            <a:ext cx="6400800" cy="438912"/>
          </a:xfrm>
          <a:prstGeom prst="rect">
            <a:avLst/>
          </a:prstGeom>
          <a:noFill/>
          <a:ln/>
        </p:spPr>
        <p:txBody>
          <a:bodyPr wrap="square" lIns="0" tIns="0" rIns="0" bIns="0" rtlCol="0" anchor="ctr"/>
          <a:lstStyle/>
          <a:p>
            <a:pPr marL="0" indent="0">
              <a:buNone/>
            </a:pPr>
            <a:r>
              <a:rPr lang="en-US" sz="1700" b="1" dirty="0">
                <a:solidFill>
                  <a:srgbClr val="0E3B43"/>
                </a:solidFill>
                <a:latin typeface="+mj-lt" pitchFamily="34" charset="0"/>
                <a:ea typeface="+mj-lt" pitchFamily="34" charset="-122"/>
                <a:cs typeface="+mj-lt" pitchFamily="34" charset="-120"/>
              </a:rPr>
              <a:t>Release pipeline — GitHub Actions</a:t>
            </a:r>
            <a:endParaRPr lang="en-US" sz="1700" dirty="0"/>
          </a:p>
        </p:txBody>
      </p:sp>
      <p:sp>
        <p:nvSpPr>
          <p:cNvPr id="10" name="lane line"/>
          <p:cNvSpPr/>
          <p:nvPr/>
        </p:nvSpPr>
        <p:spPr>
          <a:xfrm>
            <a:off x="1481900" y="2514600"/>
            <a:ext cx="9225153" cy="0"/>
          </a:xfrm>
          <a:prstGeom prst="line">
            <a:avLst/>
          </a:prstGeom>
          <a:noFill/>
          <a:ln w="25400">
            <a:solidFill>
              <a:srgbClr val="D3E2E0"/>
            </a:solidFill>
            <a:prstDash val="solid"/>
          </a:ln>
        </p:spPr>
      </p:sp>
      <p:sp>
        <p:nvSpPr>
          <p:cNvPr id="11" name="step 1"/>
          <p:cNvSpPr/>
          <p:nvPr/>
        </p:nvSpPr>
        <p:spPr>
          <a:xfrm>
            <a:off x="1253300" y="2286000"/>
            <a:ext cx="457200" cy="457200"/>
          </a:xfrm>
          <a:prstGeom prst="ellipse">
            <a:avLst/>
          </a:prstGeom>
          <a:solidFill>
            <a:schemeClr val="accent1"/>
          </a:solidFill>
          <a:ln w="25400">
            <a:solidFill>
              <a:srgbClr val="FFFFFF"/>
            </a:solidFill>
            <a:prstDash val="solid"/>
          </a:ln>
        </p:spPr>
      </p:sp>
      <p:sp>
        <p:nvSpPr>
          <p:cNvPr id="12" name="Text 9"/>
          <p:cNvSpPr txBox="1"/>
          <p:nvPr/>
        </p:nvSpPr>
        <p:spPr>
          <a:xfrm>
            <a:off x="1253300" y="2286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3" name="Text 10"/>
          <p:cNvSpPr txBox="1"/>
          <p:nvPr/>
        </p:nvSpPr>
        <p:spPr>
          <a:xfrm>
            <a:off x="868680" y="2816352"/>
            <a:ext cx="1226439" cy="457200"/>
          </a:xfrm>
          <a:prstGeom prst="rect">
            <a:avLst/>
          </a:prstGeom>
          <a:noFill/>
          <a:ln/>
        </p:spPr>
        <p:txBody>
          <a:bodyPr wrap="square" lIns="0" tIns="0" rIns="0" bIns="0" rtlCol="0" anchor="t"/>
          <a:lstStyle/>
          <a:p>
            <a:pPr marL="0" indent="0" algn="ctr">
              <a:buNone/>
            </a:pPr>
            <a:r>
              <a:rPr lang="en-US" sz="1300" dirty="0">
                <a:solidFill>
                  <a:srgbClr val="132226"/>
                </a:solidFill>
              </a:rPr>
              <a:t>Push to main</a:t>
            </a:r>
            <a:endParaRPr lang="en-US" sz="1300" dirty="0"/>
          </a:p>
        </p:txBody>
      </p:sp>
      <p:sp>
        <p:nvSpPr>
          <p:cNvPr id="14" name="step 2"/>
          <p:cNvSpPr/>
          <p:nvPr/>
        </p:nvSpPr>
        <p:spPr>
          <a:xfrm>
            <a:off x="2571179" y="2286000"/>
            <a:ext cx="457200" cy="457200"/>
          </a:xfrm>
          <a:prstGeom prst="ellipse">
            <a:avLst/>
          </a:prstGeom>
          <a:solidFill>
            <a:schemeClr val="accent1"/>
          </a:solidFill>
          <a:ln w="25400">
            <a:solidFill>
              <a:srgbClr val="FFFFFF"/>
            </a:solidFill>
            <a:prstDash val="solid"/>
          </a:ln>
        </p:spPr>
      </p:sp>
      <p:sp>
        <p:nvSpPr>
          <p:cNvPr id="15" name="Text 12"/>
          <p:cNvSpPr txBox="1"/>
          <p:nvPr/>
        </p:nvSpPr>
        <p:spPr>
          <a:xfrm>
            <a:off x="2571179" y="2286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6" name="Text 13"/>
          <p:cNvSpPr txBox="1"/>
          <p:nvPr/>
        </p:nvSpPr>
        <p:spPr>
          <a:xfrm>
            <a:off x="2186559" y="2816352"/>
            <a:ext cx="1226439" cy="457200"/>
          </a:xfrm>
          <a:prstGeom prst="rect">
            <a:avLst/>
          </a:prstGeom>
          <a:noFill/>
          <a:ln/>
        </p:spPr>
        <p:txBody>
          <a:bodyPr wrap="square" lIns="0" tIns="0" rIns="0" bIns="0" rtlCol="0" anchor="t"/>
          <a:lstStyle/>
          <a:p>
            <a:pPr marL="0" indent="0" algn="ctr">
              <a:buNone/>
            </a:pPr>
            <a:r>
              <a:rPr lang="en-US" sz="1300" dirty="0">
                <a:solidFill>
                  <a:srgbClr val="132226"/>
                </a:solidFill>
              </a:rPr>
              <a:t>GitHub Actions</a:t>
            </a:r>
            <a:endParaRPr lang="en-US" sz="1300" dirty="0"/>
          </a:p>
        </p:txBody>
      </p:sp>
      <p:sp>
        <p:nvSpPr>
          <p:cNvPr id="17" name="step 3"/>
          <p:cNvSpPr/>
          <p:nvPr/>
        </p:nvSpPr>
        <p:spPr>
          <a:xfrm>
            <a:off x="3889058" y="2286000"/>
            <a:ext cx="457200" cy="457200"/>
          </a:xfrm>
          <a:prstGeom prst="ellipse">
            <a:avLst/>
          </a:prstGeom>
          <a:solidFill>
            <a:schemeClr val="accent1"/>
          </a:solidFill>
          <a:ln w="25400">
            <a:solidFill>
              <a:srgbClr val="FFFFFF"/>
            </a:solidFill>
            <a:prstDash val="solid"/>
          </a:ln>
        </p:spPr>
      </p:sp>
      <p:sp>
        <p:nvSpPr>
          <p:cNvPr id="18" name="Text 15"/>
          <p:cNvSpPr txBox="1"/>
          <p:nvPr/>
        </p:nvSpPr>
        <p:spPr>
          <a:xfrm>
            <a:off x="3889058" y="2286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9" name="Text 16"/>
          <p:cNvSpPr txBox="1"/>
          <p:nvPr/>
        </p:nvSpPr>
        <p:spPr>
          <a:xfrm>
            <a:off x="3504438" y="2816352"/>
            <a:ext cx="1226439" cy="457200"/>
          </a:xfrm>
          <a:prstGeom prst="rect">
            <a:avLst/>
          </a:prstGeom>
          <a:noFill/>
          <a:ln/>
        </p:spPr>
        <p:txBody>
          <a:bodyPr wrap="square" lIns="0" tIns="0" rIns="0" bIns="0" rtlCol="0" anchor="t"/>
          <a:lstStyle/>
          <a:p>
            <a:pPr marL="0" indent="0" algn="ctr">
              <a:buNone/>
            </a:pPr>
            <a:r>
              <a:rPr lang="en-US" sz="1300" dirty="0">
                <a:solidFill>
                  <a:srgbClr val="132226"/>
                </a:solidFill>
              </a:rPr>
              <a:t>OIDC → STS</a:t>
            </a:r>
            <a:endParaRPr lang="en-US" sz="1300" dirty="0"/>
          </a:p>
        </p:txBody>
      </p:sp>
      <p:sp>
        <p:nvSpPr>
          <p:cNvPr id="20" name="step 4"/>
          <p:cNvSpPr/>
          <p:nvPr/>
        </p:nvSpPr>
        <p:spPr>
          <a:xfrm>
            <a:off x="5206937" y="2286000"/>
            <a:ext cx="457200" cy="457200"/>
          </a:xfrm>
          <a:prstGeom prst="ellipse">
            <a:avLst/>
          </a:prstGeom>
          <a:solidFill>
            <a:schemeClr val="accent1"/>
          </a:solidFill>
          <a:ln w="25400">
            <a:solidFill>
              <a:srgbClr val="FFFFFF"/>
            </a:solidFill>
            <a:prstDash val="solid"/>
          </a:ln>
        </p:spPr>
      </p:sp>
      <p:sp>
        <p:nvSpPr>
          <p:cNvPr id="21" name="Text 18"/>
          <p:cNvSpPr txBox="1"/>
          <p:nvPr/>
        </p:nvSpPr>
        <p:spPr>
          <a:xfrm>
            <a:off x="5206937" y="2286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19"/>
          <p:cNvSpPr txBox="1"/>
          <p:nvPr/>
        </p:nvSpPr>
        <p:spPr>
          <a:xfrm>
            <a:off x="4822317" y="2816352"/>
            <a:ext cx="1226439" cy="457200"/>
          </a:xfrm>
          <a:prstGeom prst="rect">
            <a:avLst/>
          </a:prstGeom>
          <a:noFill/>
          <a:ln/>
        </p:spPr>
        <p:txBody>
          <a:bodyPr wrap="square" lIns="0" tIns="0" rIns="0" bIns="0" rtlCol="0" anchor="t"/>
          <a:lstStyle/>
          <a:p>
            <a:pPr marL="0" indent="0" algn="ctr">
              <a:buNone/>
            </a:pPr>
            <a:r>
              <a:rPr lang="en-US" sz="1300" dirty="0">
                <a:solidFill>
                  <a:srgbClr val="132226"/>
                </a:solidFill>
              </a:rPr>
              <a:t>Docker build</a:t>
            </a:r>
            <a:endParaRPr lang="en-US" sz="1300" dirty="0"/>
          </a:p>
        </p:txBody>
      </p:sp>
      <p:sp>
        <p:nvSpPr>
          <p:cNvPr id="23" name="step 5"/>
          <p:cNvSpPr/>
          <p:nvPr/>
        </p:nvSpPr>
        <p:spPr>
          <a:xfrm>
            <a:off x="6524816" y="2286000"/>
            <a:ext cx="457200" cy="457200"/>
          </a:xfrm>
          <a:prstGeom prst="ellipse">
            <a:avLst/>
          </a:prstGeom>
          <a:solidFill>
            <a:schemeClr val="accent1"/>
          </a:solidFill>
          <a:ln w="25400">
            <a:solidFill>
              <a:srgbClr val="FFFFFF"/>
            </a:solidFill>
            <a:prstDash val="solid"/>
          </a:ln>
        </p:spPr>
      </p:sp>
      <p:sp>
        <p:nvSpPr>
          <p:cNvPr id="24" name="Text 21"/>
          <p:cNvSpPr txBox="1"/>
          <p:nvPr/>
        </p:nvSpPr>
        <p:spPr>
          <a:xfrm>
            <a:off x="6524816" y="2286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5" name="Text 22"/>
          <p:cNvSpPr txBox="1"/>
          <p:nvPr/>
        </p:nvSpPr>
        <p:spPr>
          <a:xfrm>
            <a:off x="6140196" y="2816352"/>
            <a:ext cx="1226439" cy="457200"/>
          </a:xfrm>
          <a:prstGeom prst="rect">
            <a:avLst/>
          </a:prstGeom>
          <a:noFill/>
          <a:ln/>
        </p:spPr>
        <p:txBody>
          <a:bodyPr wrap="square" lIns="0" tIns="0" rIns="0" bIns="0" rtlCol="0" anchor="t"/>
          <a:lstStyle/>
          <a:p>
            <a:pPr marL="0" indent="0" algn="ctr">
              <a:buNone/>
            </a:pPr>
            <a:r>
              <a:rPr lang="en-US" sz="1300" dirty="0">
                <a:solidFill>
                  <a:srgbClr val="132226"/>
                </a:solidFill>
              </a:rPr>
              <a:t>ECR · Git SHA</a:t>
            </a:r>
            <a:endParaRPr lang="en-US" sz="1300" dirty="0"/>
          </a:p>
        </p:txBody>
      </p:sp>
      <p:sp>
        <p:nvSpPr>
          <p:cNvPr id="26" name="step 6"/>
          <p:cNvSpPr/>
          <p:nvPr/>
        </p:nvSpPr>
        <p:spPr>
          <a:xfrm>
            <a:off x="7842694" y="2286000"/>
            <a:ext cx="457200" cy="457200"/>
          </a:xfrm>
          <a:prstGeom prst="ellipse">
            <a:avLst/>
          </a:prstGeom>
          <a:solidFill>
            <a:schemeClr val="accent1"/>
          </a:solidFill>
          <a:ln w="25400">
            <a:solidFill>
              <a:srgbClr val="FFFFFF"/>
            </a:solidFill>
            <a:prstDash val="solid"/>
          </a:ln>
        </p:spPr>
      </p:sp>
      <p:sp>
        <p:nvSpPr>
          <p:cNvPr id="27" name="Text 24"/>
          <p:cNvSpPr txBox="1"/>
          <p:nvPr/>
        </p:nvSpPr>
        <p:spPr>
          <a:xfrm>
            <a:off x="7842694" y="2286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8" name="Text 25"/>
          <p:cNvSpPr txBox="1"/>
          <p:nvPr/>
        </p:nvSpPr>
        <p:spPr>
          <a:xfrm>
            <a:off x="7458075" y="2816352"/>
            <a:ext cx="1226439" cy="457200"/>
          </a:xfrm>
          <a:prstGeom prst="rect">
            <a:avLst/>
          </a:prstGeom>
          <a:noFill/>
          <a:ln/>
        </p:spPr>
        <p:txBody>
          <a:bodyPr wrap="square" lIns="0" tIns="0" rIns="0" bIns="0" rtlCol="0" anchor="t"/>
          <a:lstStyle/>
          <a:p>
            <a:pPr marL="0" indent="0" algn="ctr">
              <a:buNone/>
            </a:pPr>
            <a:r>
              <a:rPr lang="en-US" sz="1300" dirty="0">
                <a:solidFill>
                  <a:srgbClr val="132226"/>
                </a:solidFill>
              </a:rPr>
              <a:t>New task revision</a:t>
            </a:r>
            <a:endParaRPr lang="en-US" sz="1300" dirty="0"/>
          </a:p>
        </p:txBody>
      </p:sp>
      <p:sp>
        <p:nvSpPr>
          <p:cNvPr id="29" name="step 7"/>
          <p:cNvSpPr/>
          <p:nvPr/>
        </p:nvSpPr>
        <p:spPr>
          <a:xfrm>
            <a:off x="9160574" y="2286000"/>
            <a:ext cx="457200" cy="457200"/>
          </a:xfrm>
          <a:prstGeom prst="ellipse">
            <a:avLst/>
          </a:prstGeom>
          <a:solidFill>
            <a:schemeClr val="accent1"/>
          </a:solidFill>
          <a:ln w="25400">
            <a:solidFill>
              <a:srgbClr val="FFFFFF"/>
            </a:solidFill>
            <a:prstDash val="solid"/>
          </a:ln>
        </p:spPr>
      </p:sp>
      <p:sp>
        <p:nvSpPr>
          <p:cNvPr id="30" name="Text 27"/>
          <p:cNvSpPr txBox="1"/>
          <p:nvPr/>
        </p:nvSpPr>
        <p:spPr>
          <a:xfrm>
            <a:off x="9160574" y="2286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31" name="Text 28"/>
          <p:cNvSpPr txBox="1"/>
          <p:nvPr/>
        </p:nvSpPr>
        <p:spPr>
          <a:xfrm>
            <a:off x="8775954" y="2816352"/>
            <a:ext cx="1226439" cy="457200"/>
          </a:xfrm>
          <a:prstGeom prst="rect">
            <a:avLst/>
          </a:prstGeom>
          <a:noFill/>
          <a:ln/>
        </p:spPr>
        <p:txBody>
          <a:bodyPr wrap="square" lIns="0" tIns="0" rIns="0" bIns="0" rtlCol="0" anchor="t"/>
          <a:lstStyle/>
          <a:p>
            <a:pPr marL="0" indent="0" algn="ctr">
              <a:buNone/>
            </a:pPr>
            <a:r>
              <a:rPr lang="en-US" sz="1300" dirty="0">
                <a:solidFill>
                  <a:srgbClr val="132226"/>
                </a:solidFill>
              </a:rPr>
              <a:t>ECS rolling deploy</a:t>
            </a:r>
            <a:endParaRPr lang="en-US" sz="1300" dirty="0"/>
          </a:p>
        </p:txBody>
      </p:sp>
      <p:sp>
        <p:nvSpPr>
          <p:cNvPr id="32" name="step 8"/>
          <p:cNvSpPr/>
          <p:nvPr/>
        </p:nvSpPr>
        <p:spPr>
          <a:xfrm>
            <a:off x="10478453" y="2286000"/>
            <a:ext cx="457200" cy="457200"/>
          </a:xfrm>
          <a:prstGeom prst="ellipse">
            <a:avLst/>
          </a:prstGeom>
          <a:solidFill>
            <a:schemeClr val="accent3"/>
          </a:solidFill>
          <a:ln w="25400">
            <a:solidFill>
              <a:srgbClr val="FFFFFF"/>
            </a:solidFill>
            <a:prstDash val="solid"/>
          </a:ln>
        </p:spPr>
      </p:sp>
      <p:sp>
        <p:nvSpPr>
          <p:cNvPr id="33" name="Text 30"/>
          <p:cNvSpPr txBox="1"/>
          <p:nvPr/>
        </p:nvSpPr>
        <p:spPr>
          <a:xfrm>
            <a:off x="10478453" y="2286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8</a:t>
            </a:r>
            <a:endParaRPr lang="en-US" sz="1400" dirty="0"/>
          </a:p>
        </p:txBody>
      </p:sp>
      <p:sp>
        <p:nvSpPr>
          <p:cNvPr id="34" name="Text 31"/>
          <p:cNvSpPr txBox="1"/>
          <p:nvPr/>
        </p:nvSpPr>
        <p:spPr>
          <a:xfrm>
            <a:off x="10093833" y="2816352"/>
            <a:ext cx="1226439" cy="457200"/>
          </a:xfrm>
          <a:prstGeom prst="rect">
            <a:avLst/>
          </a:prstGeom>
          <a:noFill/>
          <a:ln/>
        </p:spPr>
        <p:txBody>
          <a:bodyPr wrap="square" lIns="0" tIns="0" rIns="0" bIns="0" rtlCol="0" anchor="t"/>
          <a:lstStyle/>
          <a:p>
            <a:pPr marL="0" indent="0" algn="ctr">
              <a:buNone/>
            </a:pPr>
            <a:r>
              <a:rPr lang="en-US" sz="1300" dirty="0">
                <a:solidFill>
                  <a:srgbClr val="132226"/>
                </a:solidFill>
              </a:rPr>
              <a:t>Verify final state</a:t>
            </a:r>
            <a:endParaRPr lang="en-US" sz="1300" dirty="0"/>
          </a:p>
        </p:txBody>
      </p:sp>
      <p:sp>
        <p:nvSpPr>
          <p:cNvPr id="35" name="card"/>
          <p:cNvSpPr/>
          <p:nvPr/>
        </p:nvSpPr>
        <p:spPr>
          <a:xfrm>
            <a:off x="548640" y="3520440"/>
            <a:ext cx="3575304" cy="2011680"/>
          </a:xfrm>
          <a:prstGeom prst="roundRect">
            <a:avLst>
              <a:gd name="adj" fmla="val 4545"/>
            </a:avLst>
          </a:prstGeom>
          <a:solidFill>
            <a:srgbClr val="FFFFFF"/>
          </a:solidFill>
          <a:ln/>
          <a:effectLst>
            <a:outerShdw blurRad="114300" dist="25400" dir="5400000" algn="bl" rotWithShape="0">
              <a:srgbClr val="0E3B43">
                <a:alpha val="13000"/>
              </a:srgbClr>
            </a:outerShdw>
          </a:effectLst>
        </p:spPr>
      </p:sp>
      <p:sp>
        <p:nvSpPr>
          <p:cNvPr id="36" name="No long-lived AWS keys circle"/>
          <p:cNvSpPr/>
          <p:nvPr/>
        </p:nvSpPr>
        <p:spPr>
          <a:xfrm>
            <a:off x="749808" y="3703320"/>
            <a:ext cx="530352" cy="530352"/>
          </a:xfrm>
          <a:prstGeom prst="ellipse">
            <a:avLst/>
          </a:prstGeom>
          <a:solidFill>
            <a:schemeClr val="accent3"/>
          </a:solidFill>
          <a:ln/>
        </p:spPr>
      </p:sp>
      <p:pic>
        <p:nvPicPr>
          <p:cNvPr id="37" name="No long-lived AWS keys" descr="preencoded.png"/>
          <p:cNvPicPr>
            <a:picLocks noChangeAspect="1"/>
          </p:cNvPicPr>
          <p:nvPr/>
        </p:nvPicPr>
        <p:blipFill>
          <a:blip r:embed="rId4"/>
          <a:stretch>
            <a:fillRect/>
          </a:stretch>
        </p:blipFill>
        <p:spPr>
          <a:xfrm>
            <a:off x="877092" y="3830604"/>
            <a:ext cx="275783" cy="275783"/>
          </a:xfrm>
          <a:prstGeom prst="rect">
            <a:avLst/>
          </a:prstGeom>
        </p:spPr>
      </p:pic>
      <p:sp>
        <p:nvSpPr>
          <p:cNvPr id="38" name="Text 34"/>
          <p:cNvSpPr txBox="1"/>
          <p:nvPr/>
        </p:nvSpPr>
        <p:spPr>
          <a:xfrm>
            <a:off x="1417320" y="3749040"/>
            <a:ext cx="2606040" cy="457200"/>
          </a:xfrm>
          <a:prstGeom prst="rect">
            <a:avLst/>
          </a:prstGeom>
          <a:noFill/>
          <a:ln/>
        </p:spPr>
        <p:txBody>
          <a:bodyPr wrap="square" lIns="0" tIns="0" rIns="0" bIns="0" rtlCol="0" anchor="ctr"/>
          <a:lstStyle/>
          <a:p>
            <a:pPr marL="0" indent="0">
              <a:buNone/>
            </a:pPr>
            <a:r>
              <a:rPr lang="en-US" sz="1550" b="1" dirty="0">
                <a:solidFill>
                  <a:srgbClr val="132226"/>
                </a:solidFill>
              </a:rPr>
              <a:t>No long-lived AWS keys</a:t>
            </a:r>
            <a:endParaRPr lang="en-US" sz="1550" dirty="0"/>
          </a:p>
        </p:txBody>
      </p:sp>
      <p:sp>
        <p:nvSpPr>
          <p:cNvPr id="39" name="Text 35"/>
          <p:cNvSpPr txBox="1"/>
          <p:nvPr/>
        </p:nvSpPr>
        <p:spPr>
          <a:xfrm>
            <a:off x="749808" y="4370832"/>
            <a:ext cx="3200400" cy="1097280"/>
          </a:xfrm>
          <a:prstGeom prst="rect">
            <a:avLst/>
          </a:prstGeom>
          <a:noFill/>
          <a:ln/>
        </p:spPr>
        <p:txBody>
          <a:bodyPr wrap="square" lIns="0" tIns="0" rIns="0" bIns="0" rtlCol="0" anchor="t"/>
          <a:lstStyle/>
          <a:p>
            <a:pPr marL="0" indent="0">
              <a:buNone/>
            </a:pPr>
            <a:r>
              <a:rPr lang="en-US" sz="1350" dirty="0">
                <a:solidFill>
                  <a:srgbClr val="4A5B5E"/>
                </a:solidFill>
              </a:rPr>
              <a:t>GitHub proves its identity through OIDC; AWS STS issues temporary credentials for the restricted deployment role.</a:t>
            </a:r>
            <a:endParaRPr lang="en-US" sz="1350" dirty="0"/>
          </a:p>
        </p:txBody>
      </p:sp>
      <p:sp>
        <p:nvSpPr>
          <p:cNvPr id="40" name="card"/>
          <p:cNvSpPr/>
          <p:nvPr/>
        </p:nvSpPr>
        <p:spPr>
          <a:xfrm>
            <a:off x="4306824" y="3520440"/>
            <a:ext cx="3575304" cy="2011680"/>
          </a:xfrm>
          <a:prstGeom prst="roundRect">
            <a:avLst>
              <a:gd name="adj" fmla="val 4545"/>
            </a:avLst>
          </a:prstGeom>
          <a:solidFill>
            <a:srgbClr val="FFFFFF"/>
          </a:solidFill>
          <a:ln/>
          <a:effectLst>
            <a:outerShdw blurRad="114300" dist="25400" dir="5400000" algn="bl" rotWithShape="0">
              <a:srgbClr val="0E3B43">
                <a:alpha val="13000"/>
              </a:srgbClr>
            </a:outerShdw>
          </a:effectLst>
        </p:spPr>
      </p:sp>
      <p:sp>
        <p:nvSpPr>
          <p:cNvPr id="41" name="Immutable deployment circle"/>
          <p:cNvSpPr/>
          <p:nvPr/>
        </p:nvSpPr>
        <p:spPr>
          <a:xfrm>
            <a:off x="4507992" y="3703320"/>
            <a:ext cx="530352" cy="530352"/>
          </a:xfrm>
          <a:prstGeom prst="ellipse">
            <a:avLst/>
          </a:prstGeom>
          <a:solidFill>
            <a:schemeClr val="accent2"/>
          </a:solidFill>
          <a:ln/>
        </p:spPr>
      </p:sp>
      <p:pic>
        <p:nvPicPr>
          <p:cNvPr id="42" name="Immutable deployment" descr="preencoded.png"/>
          <p:cNvPicPr>
            <a:picLocks noChangeAspect="1"/>
          </p:cNvPicPr>
          <p:nvPr/>
        </p:nvPicPr>
        <p:blipFill>
          <a:blip r:embed="rId5"/>
          <a:stretch>
            <a:fillRect/>
          </a:stretch>
        </p:blipFill>
        <p:spPr>
          <a:xfrm>
            <a:off x="4635276" y="3830604"/>
            <a:ext cx="275783" cy="275783"/>
          </a:xfrm>
          <a:prstGeom prst="rect">
            <a:avLst/>
          </a:prstGeom>
        </p:spPr>
      </p:pic>
      <p:sp>
        <p:nvSpPr>
          <p:cNvPr id="43" name="Text 38"/>
          <p:cNvSpPr txBox="1"/>
          <p:nvPr/>
        </p:nvSpPr>
        <p:spPr>
          <a:xfrm>
            <a:off x="5175504" y="3749040"/>
            <a:ext cx="2606040" cy="457200"/>
          </a:xfrm>
          <a:prstGeom prst="rect">
            <a:avLst/>
          </a:prstGeom>
          <a:noFill/>
          <a:ln/>
        </p:spPr>
        <p:txBody>
          <a:bodyPr wrap="square" lIns="0" tIns="0" rIns="0" bIns="0" rtlCol="0" anchor="ctr"/>
          <a:lstStyle/>
          <a:p>
            <a:pPr marL="0" indent="0">
              <a:buNone/>
            </a:pPr>
            <a:r>
              <a:rPr lang="en-US" sz="1550" b="1" dirty="0">
                <a:solidFill>
                  <a:srgbClr val="132226"/>
                </a:solidFill>
              </a:rPr>
              <a:t>Immutable deployment</a:t>
            </a:r>
            <a:endParaRPr lang="en-US" sz="1550" dirty="0"/>
          </a:p>
        </p:txBody>
      </p:sp>
      <p:sp>
        <p:nvSpPr>
          <p:cNvPr id="44" name="Text 39"/>
          <p:cNvSpPr txBox="1"/>
          <p:nvPr/>
        </p:nvSpPr>
        <p:spPr>
          <a:xfrm>
            <a:off x="4507992" y="4370832"/>
            <a:ext cx="3200400" cy="1097280"/>
          </a:xfrm>
          <a:prstGeom prst="rect">
            <a:avLst/>
          </a:prstGeom>
          <a:noFill/>
          <a:ln/>
        </p:spPr>
        <p:txBody>
          <a:bodyPr wrap="square" lIns="0" tIns="0" rIns="0" bIns="0" rtlCol="0" anchor="t"/>
          <a:lstStyle/>
          <a:p>
            <a:pPr marL="0" indent="0">
              <a:buNone/>
            </a:pPr>
            <a:r>
              <a:rPr lang="en-US" sz="1350" dirty="0">
                <a:solidFill>
                  <a:srgbClr val="4A5B5E"/>
                </a:solidFill>
              </a:rPr>
              <a:t>Docker image tag = Git commit SHA — a direct link from source code to ECR image to ECS task revision.</a:t>
            </a:r>
            <a:endParaRPr lang="en-US" sz="1350" dirty="0"/>
          </a:p>
        </p:txBody>
      </p:sp>
      <p:sp>
        <p:nvSpPr>
          <p:cNvPr id="45" name="card"/>
          <p:cNvSpPr/>
          <p:nvPr/>
        </p:nvSpPr>
        <p:spPr>
          <a:xfrm>
            <a:off x="8065008" y="3520440"/>
            <a:ext cx="3575304" cy="2011680"/>
          </a:xfrm>
          <a:prstGeom prst="roundRect">
            <a:avLst>
              <a:gd name="adj" fmla="val 4545"/>
            </a:avLst>
          </a:prstGeom>
          <a:solidFill>
            <a:srgbClr val="FFFFFF"/>
          </a:solidFill>
          <a:ln/>
          <a:effectLst>
            <a:outerShdw blurRad="114300" dist="25400" dir="5400000" algn="bl" rotWithShape="0">
              <a:srgbClr val="0E3B43">
                <a:alpha val="13000"/>
              </a:srgbClr>
            </a:outerShdw>
          </a:effectLst>
        </p:spPr>
      </p:sp>
      <p:sp>
        <p:nvSpPr>
          <p:cNvPr id="46" name="Final-state validation circle"/>
          <p:cNvSpPr/>
          <p:nvPr/>
        </p:nvSpPr>
        <p:spPr>
          <a:xfrm>
            <a:off x="8266176" y="3703320"/>
            <a:ext cx="530352" cy="530352"/>
          </a:xfrm>
          <a:prstGeom prst="ellipse">
            <a:avLst/>
          </a:prstGeom>
          <a:solidFill>
            <a:schemeClr val="accent1"/>
          </a:solidFill>
          <a:ln/>
        </p:spPr>
      </p:sp>
      <p:pic>
        <p:nvPicPr>
          <p:cNvPr id="47" name="Final-state validation" descr="preencoded.png"/>
          <p:cNvPicPr>
            <a:picLocks noChangeAspect="1"/>
          </p:cNvPicPr>
          <p:nvPr/>
        </p:nvPicPr>
        <p:blipFill>
          <a:blip r:embed="rId6"/>
          <a:stretch>
            <a:fillRect/>
          </a:stretch>
        </p:blipFill>
        <p:spPr>
          <a:xfrm>
            <a:off x="8393460" y="3830604"/>
            <a:ext cx="275783" cy="275783"/>
          </a:xfrm>
          <a:prstGeom prst="rect">
            <a:avLst/>
          </a:prstGeom>
        </p:spPr>
      </p:pic>
      <p:sp>
        <p:nvSpPr>
          <p:cNvPr id="48" name="Text 42"/>
          <p:cNvSpPr txBox="1"/>
          <p:nvPr/>
        </p:nvSpPr>
        <p:spPr>
          <a:xfrm>
            <a:off x="8933688" y="3749040"/>
            <a:ext cx="2606040" cy="457200"/>
          </a:xfrm>
          <a:prstGeom prst="rect">
            <a:avLst/>
          </a:prstGeom>
          <a:noFill/>
          <a:ln/>
        </p:spPr>
        <p:txBody>
          <a:bodyPr wrap="square" lIns="0" tIns="0" rIns="0" bIns="0" rtlCol="0" anchor="ctr"/>
          <a:lstStyle/>
          <a:p>
            <a:pPr marL="0" indent="0">
              <a:buNone/>
            </a:pPr>
            <a:r>
              <a:rPr lang="en-US" sz="1550" b="1" dirty="0">
                <a:solidFill>
                  <a:srgbClr val="132226"/>
                </a:solidFill>
              </a:rPr>
              <a:t>Final-state validation</a:t>
            </a:r>
            <a:endParaRPr lang="en-US" sz="1550" dirty="0"/>
          </a:p>
        </p:txBody>
      </p:sp>
      <p:sp>
        <p:nvSpPr>
          <p:cNvPr id="49" name="Text 43"/>
          <p:cNvSpPr txBox="1"/>
          <p:nvPr/>
        </p:nvSpPr>
        <p:spPr>
          <a:xfrm>
            <a:off x="8266176" y="4370832"/>
            <a:ext cx="3200400" cy="1097280"/>
          </a:xfrm>
          <a:prstGeom prst="rect">
            <a:avLst/>
          </a:prstGeom>
          <a:noFill/>
          <a:ln/>
        </p:spPr>
        <p:txBody>
          <a:bodyPr wrap="square" lIns="0" tIns="0" rIns="0" bIns="0" rtlCol="0" anchor="t"/>
          <a:lstStyle/>
          <a:p>
            <a:pPr marL="0" indent="0">
              <a:buNone/>
            </a:pPr>
            <a:r>
              <a:rPr lang="en-US" sz="1350" dirty="0">
                <a:solidFill>
                  <a:srgbClr val="4A5B5E"/>
                </a:solidFill>
              </a:rPr>
              <a:t>Wait for services-stable, verify the exact image SHA, desired = running, pending = 0 and public /health.</a:t>
            </a:r>
            <a:endParaRPr lang="en-US" sz="1350" dirty="0"/>
          </a:p>
        </p:txBody>
      </p:sp>
      <p:sp>
        <p:nvSpPr>
          <p:cNvPr id="50" name="ownership strip"/>
          <p:cNvSpPr/>
          <p:nvPr/>
        </p:nvSpPr>
        <p:spPr>
          <a:xfrm>
            <a:off x="548640" y="5715000"/>
            <a:ext cx="11091672" cy="457200"/>
          </a:xfrm>
          <a:prstGeom prst="roundRect">
            <a:avLst>
              <a:gd name="adj" fmla="val 16000"/>
            </a:avLst>
          </a:prstGeom>
          <a:solidFill>
            <a:srgbClr val="FDF0DC"/>
          </a:solidFill>
          <a:ln/>
        </p:spPr>
      </p:sp>
      <p:sp>
        <p:nvSpPr>
          <p:cNvPr id="51" name="Text 45"/>
          <p:cNvSpPr txBox="1"/>
          <p:nvPr/>
        </p:nvSpPr>
        <p:spPr>
          <a:xfrm>
            <a:off x="777240" y="5715000"/>
            <a:ext cx="10698480" cy="457200"/>
          </a:xfrm>
          <a:prstGeom prst="rect">
            <a:avLst/>
          </a:prstGeom>
          <a:noFill/>
          <a:ln/>
        </p:spPr>
        <p:txBody>
          <a:bodyPr wrap="square" lIns="0" tIns="0" rIns="0" bIns="0" rtlCol="0" anchor="ctr"/>
          <a:lstStyle/>
          <a:p>
            <a:pPr marL="0" indent="0">
              <a:buNone/>
            </a:pPr>
            <a:r>
              <a:rPr lang="en-US" sz="1400" b="1" dirty="0">
                <a:solidFill>
                  <a:srgbClr val="A8620A"/>
                </a:solidFill>
              </a:rPr>
              <a:t>Ownership:  </a:t>
            </a:r>
            <a:r>
              <a:rPr lang="en-US" sz="1400" dirty="0">
                <a:solidFill>
                  <a:srgbClr val="132226"/>
                </a:solidFill>
              </a:rPr>
              <a:t>Terraform → infrastructure   ·   GitHub Actions → live task-definition revision   ·   Auto Scaling → live desired count</a:t>
            </a:r>
            <a:endParaRPr lang="en-US" sz="1400" dirty="0"/>
          </a:p>
        </p:txBody>
      </p:sp>
      <p:sp>
        <p:nvSpPr>
          <p:cNvPr id="52"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Milestones 5–6 — Data, edge &amp; authentication</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The database stays private; the public path is HTTPS → CloudFront/WAF → ALB → ECS.</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M5–M6</a:t>
            </a:r>
            <a:endParaRPr lang="en-US" sz="1200" dirty="0"/>
          </a:p>
        </p:txBody>
      </p:sp>
      <p:sp>
        <p:nvSpPr>
          <p:cNvPr id="6" name="card"/>
          <p:cNvSpPr/>
          <p:nvPr/>
        </p:nvSpPr>
        <p:spPr>
          <a:xfrm>
            <a:off x="548640" y="1463040"/>
            <a:ext cx="4937760" cy="4709160"/>
          </a:xfrm>
          <a:prstGeom prst="roundRect">
            <a:avLst>
              <a:gd name="adj" fmla="val 1942"/>
            </a:avLst>
          </a:prstGeom>
          <a:solidFill>
            <a:srgbClr val="FFFFFF"/>
          </a:solidFill>
          <a:ln/>
          <a:effectLst>
            <a:outerShdw blurRad="114300" dist="25400" dir="5400000" algn="bl" rotWithShape="0">
              <a:srgbClr val="0E3B43">
                <a:alpha val="13000"/>
              </a:srgbClr>
            </a:outerShdw>
          </a:effectLst>
        </p:spPr>
      </p:sp>
      <p:sp>
        <p:nvSpPr>
          <p:cNvPr id="7" name="Text 5"/>
          <p:cNvSpPr txBox="1"/>
          <p:nvPr/>
        </p:nvSpPr>
        <p:spPr>
          <a:xfrm>
            <a:off x="777240" y="1572768"/>
            <a:ext cx="3657600" cy="274320"/>
          </a:xfrm>
          <a:prstGeom prst="rect">
            <a:avLst/>
          </a:prstGeom>
          <a:noFill/>
          <a:ln/>
        </p:spPr>
        <p:txBody>
          <a:bodyPr wrap="square" lIns="0" tIns="0" rIns="0" bIns="0" rtlCol="0" anchor="t"/>
          <a:lstStyle/>
          <a:p>
            <a:pPr marL="0" indent="0">
              <a:buNone/>
            </a:pPr>
            <a:r>
              <a:rPr lang="en-US" sz="1100" b="1" kern="0" spc="100" dirty="0">
                <a:solidFill>
                  <a:srgbClr val="5B6C8F"/>
                </a:solidFill>
              </a:rPr>
              <a:t>DATA LAYER  ·  M5</a:t>
            </a:r>
            <a:endParaRPr lang="en-US" sz="1100" dirty="0"/>
          </a:p>
        </p:txBody>
      </p:sp>
      <p:sp>
        <p:nvSpPr>
          <p:cNvPr id="8" name="chip Private ECS"/>
          <p:cNvSpPr/>
          <p:nvPr/>
        </p:nvSpPr>
        <p:spPr>
          <a:xfrm>
            <a:off x="777240" y="1965960"/>
            <a:ext cx="1417320" cy="640080"/>
          </a:xfrm>
          <a:prstGeom prst="roundRect">
            <a:avLst>
              <a:gd name="adj" fmla="val 10000"/>
            </a:avLst>
          </a:prstGeom>
          <a:solidFill>
            <a:srgbClr val="E1F0EF"/>
          </a:solidFill>
          <a:ln/>
        </p:spPr>
      </p:sp>
      <p:sp>
        <p:nvSpPr>
          <p:cNvPr id="9" name="Text 7"/>
          <p:cNvSpPr txBox="1"/>
          <p:nvPr/>
        </p:nvSpPr>
        <p:spPr>
          <a:xfrm>
            <a:off x="832104" y="1965960"/>
            <a:ext cx="1307592" cy="640080"/>
          </a:xfrm>
          <a:prstGeom prst="rect">
            <a:avLst/>
          </a:prstGeom>
          <a:noFill/>
          <a:ln/>
        </p:spPr>
        <p:txBody>
          <a:bodyPr wrap="square" lIns="0" tIns="0" rIns="0" bIns="0" rtlCol="0" anchor="ctr"/>
          <a:lstStyle/>
          <a:p>
            <a:pPr marL="0" indent="0" algn="ctr">
              <a:buNone/>
            </a:pPr>
            <a:r>
              <a:rPr lang="en-US" sz="1300" b="1" dirty="0">
                <a:solidFill>
                  <a:srgbClr val="132226"/>
                </a:solidFill>
              </a:rPr>
              <a:t>Private ECS</a:t>
            </a:r>
            <a:endParaRPr lang="en-US" sz="1400" dirty="0"/>
          </a:p>
          <a:p>
            <a:pPr marL="0" indent="0" algn="ctr">
              <a:buNone/>
            </a:pPr>
            <a:r>
              <a:rPr lang="en-US" sz="1050" dirty="0">
                <a:solidFill>
                  <a:srgbClr val="4A5B5E"/>
                </a:solidFill>
              </a:rPr>
              <a:t>app subnets</a:t>
            </a:r>
            <a:endParaRPr lang="en-US" sz="1400" dirty="0"/>
          </a:p>
        </p:txBody>
      </p:sp>
      <p:sp>
        <p:nvSpPr>
          <p:cNvPr id="10" name="chip RDS MariaDB"/>
          <p:cNvSpPr/>
          <p:nvPr/>
        </p:nvSpPr>
        <p:spPr>
          <a:xfrm>
            <a:off x="2606040" y="1965960"/>
            <a:ext cx="2651760" cy="640080"/>
          </a:xfrm>
          <a:prstGeom prst="roundRect">
            <a:avLst>
              <a:gd name="adj" fmla="val 10000"/>
            </a:avLst>
          </a:prstGeom>
          <a:solidFill>
            <a:srgbClr val="E7EAF2"/>
          </a:solidFill>
          <a:ln/>
        </p:spPr>
      </p:sp>
      <p:sp>
        <p:nvSpPr>
          <p:cNvPr id="11" name="Text 9"/>
          <p:cNvSpPr txBox="1"/>
          <p:nvPr/>
        </p:nvSpPr>
        <p:spPr>
          <a:xfrm>
            <a:off x="2660904" y="1965960"/>
            <a:ext cx="2542032" cy="640080"/>
          </a:xfrm>
          <a:prstGeom prst="rect">
            <a:avLst/>
          </a:prstGeom>
          <a:noFill/>
          <a:ln/>
        </p:spPr>
        <p:txBody>
          <a:bodyPr wrap="square" lIns="0" tIns="0" rIns="0" bIns="0" rtlCol="0" anchor="ctr"/>
          <a:lstStyle/>
          <a:p>
            <a:pPr marL="0" indent="0" algn="ctr">
              <a:buNone/>
            </a:pPr>
            <a:r>
              <a:rPr lang="en-US" sz="1300" b="1" dirty="0">
                <a:solidFill>
                  <a:srgbClr val="132226"/>
                </a:solidFill>
              </a:rPr>
              <a:t>RDS MariaDB</a:t>
            </a:r>
            <a:endParaRPr lang="en-US" sz="1400" dirty="0"/>
          </a:p>
          <a:p>
            <a:pPr marL="0" indent="0" algn="ctr">
              <a:buNone/>
            </a:pPr>
            <a:r>
              <a:rPr lang="en-US" sz="1050" dirty="0">
                <a:solidFill>
                  <a:srgbClr val="4A5B5E"/>
                </a:solidFill>
              </a:rPr>
              <a:t>Multi-AZ · TLS :3306</a:t>
            </a:r>
            <a:endParaRPr lang="en-US" sz="1400" dirty="0"/>
          </a:p>
        </p:txBody>
      </p:sp>
      <p:sp>
        <p:nvSpPr>
          <p:cNvPr id="12" name="connector"/>
          <p:cNvSpPr/>
          <p:nvPr/>
        </p:nvSpPr>
        <p:spPr>
          <a:xfrm>
            <a:off x="2212848" y="2286000"/>
            <a:ext cx="365760" cy="0"/>
          </a:xfrm>
          <a:prstGeom prst="line">
            <a:avLst/>
          </a:prstGeom>
          <a:noFill/>
          <a:ln w="19050">
            <a:solidFill>
              <a:srgbClr val="5B6C8F"/>
            </a:solidFill>
            <a:prstDash val="solid"/>
            <a:tailEnd type="triangle"/>
          </a:ln>
        </p:spPr>
      </p:sp>
      <p:sp>
        <p:nvSpPr>
          <p:cNvPr id="13" name="chip Secrets Manager"/>
          <p:cNvSpPr/>
          <p:nvPr/>
        </p:nvSpPr>
        <p:spPr>
          <a:xfrm>
            <a:off x="2606040" y="2788920"/>
            <a:ext cx="2651760" cy="548640"/>
          </a:xfrm>
          <a:prstGeom prst="roundRect">
            <a:avLst>
              <a:gd name="adj" fmla="val 11667"/>
            </a:avLst>
          </a:prstGeom>
          <a:solidFill>
            <a:srgbClr val="FBE4DE"/>
          </a:solidFill>
          <a:ln/>
        </p:spPr>
      </p:sp>
      <p:sp>
        <p:nvSpPr>
          <p:cNvPr id="14" name="Text 12"/>
          <p:cNvSpPr txBox="1"/>
          <p:nvPr/>
        </p:nvSpPr>
        <p:spPr>
          <a:xfrm>
            <a:off x="2660904" y="2788920"/>
            <a:ext cx="2542032" cy="548640"/>
          </a:xfrm>
          <a:prstGeom prst="rect">
            <a:avLst/>
          </a:prstGeom>
          <a:noFill/>
          <a:ln/>
        </p:spPr>
        <p:txBody>
          <a:bodyPr wrap="square" lIns="0" tIns="0" rIns="0" bIns="0" rtlCol="0" anchor="ctr"/>
          <a:lstStyle/>
          <a:p>
            <a:pPr marL="0" indent="0" algn="ctr">
              <a:buNone/>
            </a:pPr>
            <a:r>
              <a:rPr lang="en-US" sz="1300" b="1" dirty="0">
                <a:solidFill>
                  <a:srgbClr val="132226"/>
                </a:solidFill>
              </a:rPr>
              <a:t>Secrets Manager</a:t>
            </a:r>
            <a:endParaRPr lang="en-US" sz="1400" dirty="0"/>
          </a:p>
          <a:p>
            <a:pPr marL="0" indent="0" algn="ctr">
              <a:buNone/>
            </a:pPr>
            <a:r>
              <a:rPr lang="en-US" sz="1050" dirty="0">
                <a:solidFill>
                  <a:srgbClr val="4A5B5E"/>
                </a:solidFill>
              </a:rPr>
              <a:t>managed password</a:t>
            </a:r>
            <a:endParaRPr lang="en-US" sz="1400" dirty="0"/>
          </a:p>
        </p:txBody>
      </p:sp>
      <p:sp>
        <p:nvSpPr>
          <p:cNvPr id="15" name="connector"/>
          <p:cNvSpPr/>
          <p:nvPr/>
        </p:nvSpPr>
        <p:spPr>
          <a:xfrm flipV="1">
            <a:off x="3931920" y="2624328"/>
            <a:ext cx="0" cy="155448"/>
          </a:xfrm>
          <a:prstGeom prst="line">
            <a:avLst/>
          </a:prstGeom>
          <a:noFill/>
          <a:ln w="19050">
            <a:solidFill>
              <a:srgbClr val="D9482B"/>
            </a:solidFill>
            <a:prstDash val="dash"/>
            <a:tailEnd type="triangle"/>
          </a:ln>
        </p:spPr>
      </p:sp>
      <p:sp>
        <p:nvSpPr>
          <p:cNvPr id="16" name="chip Amazon S3"/>
          <p:cNvSpPr/>
          <p:nvPr/>
        </p:nvSpPr>
        <p:spPr>
          <a:xfrm>
            <a:off x="777240" y="3520440"/>
            <a:ext cx="4480560" cy="548640"/>
          </a:xfrm>
          <a:prstGeom prst="roundRect">
            <a:avLst>
              <a:gd name="adj" fmla="val 11667"/>
            </a:avLst>
          </a:prstGeom>
          <a:solidFill>
            <a:srgbClr val="E0F3EE"/>
          </a:solidFill>
          <a:ln/>
        </p:spPr>
      </p:sp>
      <p:sp>
        <p:nvSpPr>
          <p:cNvPr id="17" name="Text 15"/>
          <p:cNvSpPr txBox="1"/>
          <p:nvPr/>
        </p:nvSpPr>
        <p:spPr>
          <a:xfrm>
            <a:off x="832104" y="3520440"/>
            <a:ext cx="4370832" cy="548640"/>
          </a:xfrm>
          <a:prstGeom prst="rect">
            <a:avLst/>
          </a:prstGeom>
          <a:noFill/>
          <a:ln/>
        </p:spPr>
        <p:txBody>
          <a:bodyPr wrap="square" lIns="0" tIns="0" rIns="0" bIns="0" rtlCol="0" anchor="ctr"/>
          <a:lstStyle/>
          <a:p>
            <a:pPr marL="0" indent="0" algn="ctr">
              <a:buNone/>
            </a:pPr>
            <a:r>
              <a:rPr lang="en-US" sz="1300" b="1" dirty="0">
                <a:solidFill>
                  <a:srgbClr val="132226"/>
                </a:solidFill>
              </a:rPr>
              <a:t>Amazon S3</a:t>
            </a:r>
            <a:endParaRPr lang="en-US" sz="1400" dirty="0"/>
          </a:p>
          <a:p>
            <a:pPr marL="0" indent="0" algn="ctr">
              <a:buNone/>
            </a:pPr>
            <a:r>
              <a:rPr lang="en-US" sz="1050" dirty="0">
                <a:solidFill>
                  <a:srgbClr val="4A5B5E"/>
                </a:solidFill>
              </a:rPr>
              <a:t>private · versioned · AES256</a:t>
            </a:r>
            <a:endParaRPr lang="en-US" sz="1400" dirty="0"/>
          </a:p>
        </p:txBody>
      </p:sp>
      <p:sp>
        <p:nvSpPr>
          <p:cNvPr id="18" name="check circle"/>
          <p:cNvSpPr/>
          <p:nvPr/>
        </p:nvSpPr>
        <p:spPr>
          <a:xfrm>
            <a:off x="822960" y="4352544"/>
            <a:ext cx="256032" cy="256032"/>
          </a:xfrm>
          <a:prstGeom prst="ellipse">
            <a:avLst/>
          </a:prstGeom>
          <a:solidFill>
            <a:schemeClr val="accent5"/>
          </a:solidFill>
          <a:ln/>
        </p:spPr>
      </p:sp>
      <p:pic>
        <p:nvPicPr>
          <p:cNvPr id="19" name="check" descr="preencoded.png"/>
          <p:cNvPicPr>
            <a:picLocks noChangeAspect="1"/>
          </p:cNvPicPr>
          <p:nvPr/>
        </p:nvPicPr>
        <p:blipFill>
          <a:blip r:embed="rId3"/>
          <a:stretch>
            <a:fillRect/>
          </a:stretch>
        </p:blipFill>
        <p:spPr>
          <a:xfrm>
            <a:off x="884408" y="4413992"/>
            <a:ext cx="133137" cy="133137"/>
          </a:xfrm>
          <a:prstGeom prst="rect">
            <a:avLst/>
          </a:prstGeom>
        </p:spPr>
      </p:pic>
      <p:sp>
        <p:nvSpPr>
          <p:cNvPr id="20" name="Text 17"/>
          <p:cNvSpPr txBox="1"/>
          <p:nvPr/>
        </p:nvSpPr>
        <p:spPr>
          <a:xfrm>
            <a:off x="1207008" y="4297680"/>
            <a:ext cx="4023360" cy="365760"/>
          </a:xfrm>
          <a:prstGeom prst="rect">
            <a:avLst/>
          </a:prstGeom>
          <a:noFill/>
          <a:ln/>
        </p:spPr>
        <p:txBody>
          <a:bodyPr wrap="square" lIns="0" tIns="0" rIns="0" bIns="0" rtlCol="0" anchor="ctr"/>
          <a:lstStyle/>
          <a:p>
            <a:pPr marL="0" indent="0">
              <a:buNone/>
            </a:pPr>
            <a:r>
              <a:rPr lang="en-US" sz="1350" dirty="0">
                <a:solidFill>
                  <a:srgbClr val="132226"/>
                </a:solidFill>
              </a:rPr>
              <a:t>MariaDB 11.8.9  ·  db.t3.micro</a:t>
            </a:r>
            <a:endParaRPr lang="en-US" sz="1350" dirty="0"/>
          </a:p>
        </p:txBody>
      </p:sp>
      <p:sp>
        <p:nvSpPr>
          <p:cNvPr id="21" name="check circle"/>
          <p:cNvSpPr/>
          <p:nvPr/>
        </p:nvSpPr>
        <p:spPr>
          <a:xfrm>
            <a:off x="822960" y="4791456"/>
            <a:ext cx="256032" cy="256032"/>
          </a:xfrm>
          <a:prstGeom prst="ellipse">
            <a:avLst/>
          </a:prstGeom>
          <a:solidFill>
            <a:schemeClr val="accent5"/>
          </a:solidFill>
          <a:ln/>
        </p:spPr>
      </p:sp>
      <p:pic>
        <p:nvPicPr>
          <p:cNvPr id="22" name="check" descr="preencoded.png"/>
          <p:cNvPicPr>
            <a:picLocks noChangeAspect="1"/>
          </p:cNvPicPr>
          <p:nvPr/>
        </p:nvPicPr>
        <p:blipFill>
          <a:blip r:embed="rId3"/>
          <a:stretch>
            <a:fillRect/>
          </a:stretch>
        </p:blipFill>
        <p:spPr>
          <a:xfrm>
            <a:off x="884408" y="4852904"/>
            <a:ext cx="133137" cy="133137"/>
          </a:xfrm>
          <a:prstGeom prst="rect">
            <a:avLst/>
          </a:prstGeom>
        </p:spPr>
      </p:pic>
      <p:sp>
        <p:nvSpPr>
          <p:cNvPr id="23" name="Text 19"/>
          <p:cNvSpPr txBox="1"/>
          <p:nvPr/>
        </p:nvSpPr>
        <p:spPr>
          <a:xfrm>
            <a:off x="1207008" y="4736592"/>
            <a:ext cx="4023360" cy="365760"/>
          </a:xfrm>
          <a:prstGeom prst="rect">
            <a:avLst/>
          </a:prstGeom>
          <a:noFill/>
          <a:ln/>
        </p:spPr>
        <p:txBody>
          <a:bodyPr wrap="square" lIns="0" tIns="0" rIns="0" bIns="0" rtlCol="0" anchor="ctr"/>
          <a:lstStyle/>
          <a:p>
            <a:pPr marL="0" indent="0">
              <a:buNone/>
            </a:pPr>
            <a:r>
              <a:rPr lang="en-US" sz="1350" dirty="0">
                <a:solidFill>
                  <a:srgbClr val="132226"/>
                </a:solidFill>
              </a:rPr>
              <a:t>20 GiB gp3  ·  max 100 GiB</a:t>
            </a:r>
            <a:endParaRPr lang="en-US" sz="1350" dirty="0"/>
          </a:p>
        </p:txBody>
      </p:sp>
      <p:sp>
        <p:nvSpPr>
          <p:cNvPr id="24" name="check circle"/>
          <p:cNvSpPr/>
          <p:nvPr/>
        </p:nvSpPr>
        <p:spPr>
          <a:xfrm>
            <a:off x="822960" y="5230368"/>
            <a:ext cx="256032" cy="256032"/>
          </a:xfrm>
          <a:prstGeom prst="ellipse">
            <a:avLst/>
          </a:prstGeom>
          <a:solidFill>
            <a:schemeClr val="accent5"/>
          </a:solidFill>
          <a:ln/>
        </p:spPr>
      </p:sp>
      <p:pic>
        <p:nvPicPr>
          <p:cNvPr id="25" name="check" descr="preencoded.png"/>
          <p:cNvPicPr>
            <a:picLocks noChangeAspect="1"/>
          </p:cNvPicPr>
          <p:nvPr/>
        </p:nvPicPr>
        <p:blipFill>
          <a:blip r:embed="rId3"/>
          <a:stretch>
            <a:fillRect/>
          </a:stretch>
        </p:blipFill>
        <p:spPr>
          <a:xfrm>
            <a:off x="884408" y="5291816"/>
            <a:ext cx="133137" cy="133137"/>
          </a:xfrm>
          <a:prstGeom prst="rect">
            <a:avLst/>
          </a:prstGeom>
        </p:spPr>
      </p:pic>
      <p:sp>
        <p:nvSpPr>
          <p:cNvPr id="26" name="Text 21"/>
          <p:cNvSpPr txBox="1"/>
          <p:nvPr/>
        </p:nvSpPr>
        <p:spPr>
          <a:xfrm>
            <a:off x="1207008" y="5175504"/>
            <a:ext cx="4023360" cy="365760"/>
          </a:xfrm>
          <a:prstGeom prst="rect">
            <a:avLst/>
          </a:prstGeom>
          <a:noFill/>
          <a:ln/>
        </p:spPr>
        <p:txBody>
          <a:bodyPr wrap="square" lIns="0" tIns="0" rIns="0" bIns="0" rtlCol="0" anchor="ctr"/>
          <a:lstStyle/>
          <a:p>
            <a:pPr marL="0" indent="0">
              <a:buNone/>
            </a:pPr>
            <a:r>
              <a:rPr lang="en-US" sz="1350" dirty="0">
                <a:solidFill>
                  <a:srgbClr val="132226"/>
                </a:solidFill>
              </a:rPr>
              <a:t>7-day backups  ·  public access disabled</a:t>
            </a:r>
            <a:endParaRPr lang="en-US" sz="1350" dirty="0"/>
          </a:p>
        </p:txBody>
      </p:sp>
      <p:sp>
        <p:nvSpPr>
          <p:cNvPr id="27" name="check circle"/>
          <p:cNvSpPr/>
          <p:nvPr/>
        </p:nvSpPr>
        <p:spPr>
          <a:xfrm>
            <a:off x="822960" y="5669280"/>
            <a:ext cx="256032" cy="256032"/>
          </a:xfrm>
          <a:prstGeom prst="ellipse">
            <a:avLst/>
          </a:prstGeom>
          <a:solidFill>
            <a:schemeClr val="accent5"/>
          </a:solidFill>
          <a:ln/>
        </p:spPr>
      </p:sp>
      <p:pic>
        <p:nvPicPr>
          <p:cNvPr id="28" name="check" descr="preencoded.png"/>
          <p:cNvPicPr>
            <a:picLocks noChangeAspect="1"/>
          </p:cNvPicPr>
          <p:nvPr/>
        </p:nvPicPr>
        <p:blipFill>
          <a:blip r:embed="rId3"/>
          <a:stretch>
            <a:fillRect/>
          </a:stretch>
        </p:blipFill>
        <p:spPr>
          <a:xfrm>
            <a:off x="884408" y="5730728"/>
            <a:ext cx="133137" cy="133137"/>
          </a:xfrm>
          <a:prstGeom prst="rect">
            <a:avLst/>
          </a:prstGeom>
        </p:spPr>
      </p:pic>
      <p:sp>
        <p:nvSpPr>
          <p:cNvPr id="29" name="Text 23"/>
          <p:cNvSpPr txBox="1"/>
          <p:nvPr/>
        </p:nvSpPr>
        <p:spPr>
          <a:xfrm>
            <a:off x="1207008" y="5614416"/>
            <a:ext cx="4023360" cy="365760"/>
          </a:xfrm>
          <a:prstGeom prst="rect">
            <a:avLst/>
          </a:prstGeom>
          <a:noFill/>
          <a:ln/>
        </p:spPr>
        <p:txBody>
          <a:bodyPr wrap="square" lIns="0" tIns="0" rIns="0" bIns="0" rtlCol="0" anchor="ctr"/>
          <a:lstStyle/>
          <a:p>
            <a:pPr marL="0" indent="0">
              <a:buNone/>
            </a:pPr>
            <a:r>
              <a:rPr lang="en-US" sz="1350" dirty="0">
                <a:solidFill>
                  <a:srgbClr val="132226"/>
                </a:solidFill>
              </a:rPr>
              <a:t>S3 HTTPS-only policy + lifecycle controls</a:t>
            </a:r>
            <a:endParaRPr lang="en-US" sz="1350" dirty="0"/>
          </a:p>
        </p:txBody>
      </p:sp>
      <p:sp>
        <p:nvSpPr>
          <p:cNvPr id="30" name="card"/>
          <p:cNvSpPr/>
          <p:nvPr/>
        </p:nvSpPr>
        <p:spPr>
          <a:xfrm>
            <a:off x="5669280" y="1463040"/>
            <a:ext cx="5971032" cy="4709160"/>
          </a:xfrm>
          <a:prstGeom prst="roundRect">
            <a:avLst>
              <a:gd name="adj" fmla="val 1942"/>
            </a:avLst>
          </a:prstGeom>
          <a:solidFill>
            <a:srgbClr val="FFFFFF"/>
          </a:solidFill>
          <a:ln/>
          <a:effectLst>
            <a:outerShdw blurRad="114300" dist="25400" dir="5400000" algn="bl" rotWithShape="0">
              <a:srgbClr val="0E3B43">
                <a:alpha val="13000"/>
              </a:srgbClr>
            </a:outerShdw>
          </a:effectLst>
        </p:spPr>
      </p:sp>
      <p:sp>
        <p:nvSpPr>
          <p:cNvPr id="31" name="Text 25"/>
          <p:cNvSpPr txBox="1"/>
          <p:nvPr/>
        </p:nvSpPr>
        <p:spPr>
          <a:xfrm>
            <a:off x="5897880" y="1572768"/>
            <a:ext cx="3657600" cy="274320"/>
          </a:xfrm>
          <a:prstGeom prst="rect">
            <a:avLst/>
          </a:prstGeom>
          <a:noFill/>
          <a:ln/>
        </p:spPr>
        <p:txBody>
          <a:bodyPr wrap="square" lIns="0" tIns="0" rIns="0" bIns="0" rtlCol="0" anchor="t"/>
          <a:lstStyle/>
          <a:p>
            <a:pPr marL="0" indent="0">
              <a:buNone/>
            </a:pPr>
            <a:r>
              <a:rPr lang="en-US" sz="1100" b="1" kern="0" spc="100" dirty="0">
                <a:solidFill>
                  <a:srgbClr val="D9482B"/>
                </a:solidFill>
              </a:rPr>
              <a:t>PUBLIC EDGE + AUTH  ·  M6</a:t>
            </a:r>
            <a:endParaRPr lang="en-US" sz="1100" dirty="0"/>
          </a:p>
        </p:txBody>
      </p:sp>
      <p:sp>
        <p:nvSpPr>
          <p:cNvPr id="32" name="chip Users"/>
          <p:cNvSpPr/>
          <p:nvPr/>
        </p:nvSpPr>
        <p:spPr>
          <a:xfrm>
            <a:off x="5897880" y="1965960"/>
            <a:ext cx="777240" cy="502920"/>
          </a:xfrm>
          <a:prstGeom prst="roundRect">
            <a:avLst>
              <a:gd name="adj" fmla="val 12727"/>
            </a:avLst>
          </a:prstGeom>
          <a:solidFill>
            <a:srgbClr val="E7EAF2"/>
          </a:solidFill>
          <a:ln/>
        </p:spPr>
      </p:sp>
      <p:sp>
        <p:nvSpPr>
          <p:cNvPr id="33" name="Text 27"/>
          <p:cNvSpPr txBox="1"/>
          <p:nvPr/>
        </p:nvSpPr>
        <p:spPr>
          <a:xfrm>
            <a:off x="5952744" y="1965960"/>
            <a:ext cx="667512" cy="502920"/>
          </a:xfrm>
          <a:prstGeom prst="rect">
            <a:avLst/>
          </a:prstGeom>
          <a:noFill/>
          <a:ln/>
        </p:spPr>
        <p:txBody>
          <a:bodyPr wrap="square" lIns="0" tIns="0" rIns="0" bIns="0" rtlCol="0" anchor="ctr"/>
          <a:lstStyle/>
          <a:p>
            <a:pPr marL="0" indent="0" algn="ctr">
              <a:buNone/>
            </a:pPr>
            <a:r>
              <a:rPr lang="en-US" sz="1250" b="1" dirty="0">
                <a:solidFill>
                  <a:srgbClr val="132226"/>
                </a:solidFill>
              </a:rPr>
              <a:t>Users</a:t>
            </a:r>
            <a:endParaRPr lang="en-US" sz="1400" dirty="0"/>
          </a:p>
        </p:txBody>
      </p:sp>
      <p:sp>
        <p:nvSpPr>
          <p:cNvPr id="34" name="connector"/>
          <p:cNvSpPr/>
          <p:nvPr/>
        </p:nvSpPr>
        <p:spPr>
          <a:xfrm>
            <a:off x="6702552" y="2217420"/>
            <a:ext cx="219456" cy="0"/>
          </a:xfrm>
          <a:prstGeom prst="line">
            <a:avLst/>
          </a:prstGeom>
          <a:noFill/>
          <a:ln w="19050">
            <a:solidFill>
              <a:srgbClr val="0E7C7B"/>
            </a:solidFill>
            <a:prstDash val="solid"/>
            <a:tailEnd type="triangle"/>
          </a:ln>
        </p:spPr>
      </p:sp>
      <p:sp>
        <p:nvSpPr>
          <p:cNvPr id="35" name="chip Route 53"/>
          <p:cNvSpPr/>
          <p:nvPr/>
        </p:nvSpPr>
        <p:spPr>
          <a:xfrm>
            <a:off x="6949440" y="1965960"/>
            <a:ext cx="960120" cy="502920"/>
          </a:xfrm>
          <a:prstGeom prst="roundRect">
            <a:avLst>
              <a:gd name="adj" fmla="val 12727"/>
            </a:avLst>
          </a:prstGeom>
          <a:solidFill>
            <a:srgbClr val="FDF0DC"/>
          </a:solidFill>
          <a:ln/>
        </p:spPr>
      </p:sp>
      <p:sp>
        <p:nvSpPr>
          <p:cNvPr id="36" name="Text 30"/>
          <p:cNvSpPr txBox="1"/>
          <p:nvPr/>
        </p:nvSpPr>
        <p:spPr>
          <a:xfrm>
            <a:off x="7004304" y="1965960"/>
            <a:ext cx="850392" cy="502920"/>
          </a:xfrm>
          <a:prstGeom prst="rect">
            <a:avLst/>
          </a:prstGeom>
          <a:noFill/>
          <a:ln/>
        </p:spPr>
        <p:txBody>
          <a:bodyPr wrap="square" lIns="0" tIns="0" rIns="0" bIns="0" rtlCol="0" anchor="ctr"/>
          <a:lstStyle/>
          <a:p>
            <a:pPr marL="0" indent="0" algn="ctr">
              <a:buNone/>
            </a:pPr>
            <a:r>
              <a:rPr lang="en-US" sz="1250" b="1" dirty="0">
                <a:solidFill>
                  <a:srgbClr val="132226"/>
                </a:solidFill>
              </a:rPr>
              <a:t>Route 53</a:t>
            </a:r>
            <a:endParaRPr lang="en-US" sz="1400" dirty="0"/>
          </a:p>
        </p:txBody>
      </p:sp>
      <p:sp>
        <p:nvSpPr>
          <p:cNvPr id="37" name="connector"/>
          <p:cNvSpPr/>
          <p:nvPr/>
        </p:nvSpPr>
        <p:spPr>
          <a:xfrm>
            <a:off x="7936992" y="2217420"/>
            <a:ext cx="219456" cy="0"/>
          </a:xfrm>
          <a:prstGeom prst="line">
            <a:avLst/>
          </a:prstGeom>
          <a:noFill/>
          <a:ln w="19050">
            <a:solidFill>
              <a:srgbClr val="0E7C7B"/>
            </a:solidFill>
            <a:prstDash val="solid"/>
            <a:tailEnd type="triangle"/>
          </a:ln>
        </p:spPr>
      </p:sp>
      <p:sp>
        <p:nvSpPr>
          <p:cNvPr id="38" name="chip CloudFront"/>
          <p:cNvSpPr/>
          <p:nvPr/>
        </p:nvSpPr>
        <p:spPr>
          <a:xfrm>
            <a:off x="8183880" y="1965960"/>
            <a:ext cx="1051560" cy="502920"/>
          </a:xfrm>
          <a:prstGeom prst="roundRect">
            <a:avLst>
              <a:gd name="adj" fmla="val 12727"/>
            </a:avLst>
          </a:prstGeom>
          <a:solidFill>
            <a:srgbClr val="FBE4DE"/>
          </a:solidFill>
          <a:ln/>
        </p:spPr>
      </p:sp>
      <p:sp>
        <p:nvSpPr>
          <p:cNvPr id="39" name="Text 33"/>
          <p:cNvSpPr txBox="1"/>
          <p:nvPr/>
        </p:nvSpPr>
        <p:spPr>
          <a:xfrm>
            <a:off x="8238744" y="1965960"/>
            <a:ext cx="941832" cy="502920"/>
          </a:xfrm>
          <a:prstGeom prst="rect">
            <a:avLst/>
          </a:prstGeom>
          <a:noFill/>
          <a:ln/>
        </p:spPr>
        <p:txBody>
          <a:bodyPr wrap="square" lIns="0" tIns="0" rIns="0" bIns="0" rtlCol="0" anchor="ctr"/>
          <a:lstStyle/>
          <a:p>
            <a:pPr marL="0" indent="0" algn="ctr">
              <a:buNone/>
            </a:pPr>
            <a:r>
              <a:rPr lang="en-US" sz="1250" b="1" dirty="0">
                <a:solidFill>
                  <a:srgbClr val="132226"/>
                </a:solidFill>
              </a:rPr>
              <a:t>CloudFront</a:t>
            </a:r>
            <a:endParaRPr lang="en-US" sz="1400" dirty="0"/>
          </a:p>
        </p:txBody>
      </p:sp>
      <p:sp>
        <p:nvSpPr>
          <p:cNvPr id="40" name="connector"/>
          <p:cNvSpPr/>
          <p:nvPr/>
        </p:nvSpPr>
        <p:spPr>
          <a:xfrm>
            <a:off x="9262872" y="2217420"/>
            <a:ext cx="219456" cy="0"/>
          </a:xfrm>
          <a:prstGeom prst="line">
            <a:avLst/>
          </a:prstGeom>
          <a:noFill/>
          <a:ln w="19050">
            <a:solidFill>
              <a:srgbClr val="0E7C7B"/>
            </a:solidFill>
            <a:prstDash val="solid"/>
            <a:tailEnd type="triangle"/>
          </a:ln>
        </p:spPr>
      </p:sp>
      <p:sp>
        <p:nvSpPr>
          <p:cNvPr id="41" name="chip WAF"/>
          <p:cNvSpPr/>
          <p:nvPr/>
        </p:nvSpPr>
        <p:spPr>
          <a:xfrm>
            <a:off x="9509760" y="1965960"/>
            <a:ext cx="685800" cy="502920"/>
          </a:xfrm>
          <a:prstGeom prst="roundRect">
            <a:avLst>
              <a:gd name="adj" fmla="val 12727"/>
            </a:avLst>
          </a:prstGeom>
          <a:solidFill>
            <a:srgbClr val="FBE4DE"/>
          </a:solidFill>
          <a:ln/>
        </p:spPr>
      </p:sp>
      <p:sp>
        <p:nvSpPr>
          <p:cNvPr id="42" name="Text 36"/>
          <p:cNvSpPr txBox="1"/>
          <p:nvPr/>
        </p:nvSpPr>
        <p:spPr>
          <a:xfrm>
            <a:off x="9564624" y="1965960"/>
            <a:ext cx="576072" cy="502920"/>
          </a:xfrm>
          <a:prstGeom prst="rect">
            <a:avLst/>
          </a:prstGeom>
          <a:noFill/>
          <a:ln/>
        </p:spPr>
        <p:txBody>
          <a:bodyPr wrap="square" lIns="0" tIns="0" rIns="0" bIns="0" rtlCol="0" anchor="ctr"/>
          <a:lstStyle/>
          <a:p>
            <a:pPr marL="0" indent="0" algn="ctr">
              <a:buNone/>
            </a:pPr>
            <a:r>
              <a:rPr lang="en-US" sz="1250" b="1" dirty="0">
                <a:solidFill>
                  <a:srgbClr val="132226"/>
                </a:solidFill>
              </a:rPr>
              <a:t>WAF</a:t>
            </a:r>
            <a:endParaRPr lang="en-US" sz="1400" dirty="0"/>
          </a:p>
        </p:txBody>
      </p:sp>
      <p:sp>
        <p:nvSpPr>
          <p:cNvPr id="43" name="connector"/>
          <p:cNvSpPr/>
          <p:nvPr/>
        </p:nvSpPr>
        <p:spPr>
          <a:xfrm>
            <a:off x="10222992" y="2217420"/>
            <a:ext cx="219456" cy="0"/>
          </a:xfrm>
          <a:prstGeom prst="line">
            <a:avLst/>
          </a:prstGeom>
          <a:noFill/>
          <a:ln w="19050">
            <a:solidFill>
              <a:srgbClr val="0E7C7B"/>
            </a:solidFill>
            <a:prstDash val="solid"/>
            <a:tailEnd type="triangle"/>
          </a:ln>
        </p:spPr>
      </p:sp>
      <p:sp>
        <p:nvSpPr>
          <p:cNvPr id="44" name="chip ALB"/>
          <p:cNvSpPr/>
          <p:nvPr/>
        </p:nvSpPr>
        <p:spPr>
          <a:xfrm>
            <a:off x="10469880" y="1965960"/>
            <a:ext cx="640080" cy="502920"/>
          </a:xfrm>
          <a:prstGeom prst="roundRect">
            <a:avLst>
              <a:gd name="adj" fmla="val 12727"/>
            </a:avLst>
          </a:prstGeom>
          <a:solidFill>
            <a:srgbClr val="E8F5F6"/>
          </a:solidFill>
          <a:ln/>
        </p:spPr>
      </p:sp>
      <p:sp>
        <p:nvSpPr>
          <p:cNvPr id="45" name="Text 39"/>
          <p:cNvSpPr txBox="1"/>
          <p:nvPr/>
        </p:nvSpPr>
        <p:spPr>
          <a:xfrm>
            <a:off x="10524744" y="1965960"/>
            <a:ext cx="530352" cy="502920"/>
          </a:xfrm>
          <a:prstGeom prst="rect">
            <a:avLst/>
          </a:prstGeom>
          <a:noFill/>
          <a:ln/>
        </p:spPr>
        <p:txBody>
          <a:bodyPr wrap="square" lIns="0" tIns="0" rIns="0" bIns="0" rtlCol="0" anchor="ctr"/>
          <a:lstStyle/>
          <a:p>
            <a:pPr marL="0" indent="0" algn="ctr">
              <a:buNone/>
            </a:pPr>
            <a:r>
              <a:rPr lang="en-US" sz="1250" b="1" dirty="0">
                <a:solidFill>
                  <a:srgbClr val="132226"/>
                </a:solidFill>
              </a:rPr>
              <a:t>ALB</a:t>
            </a:r>
            <a:endParaRPr lang="en-US" sz="1400" dirty="0"/>
          </a:p>
        </p:txBody>
      </p:sp>
      <p:sp>
        <p:nvSpPr>
          <p:cNvPr id="46" name="edge circle"/>
          <p:cNvSpPr/>
          <p:nvPr/>
        </p:nvSpPr>
        <p:spPr>
          <a:xfrm>
            <a:off x="5925312" y="2734056"/>
            <a:ext cx="292608" cy="292608"/>
          </a:xfrm>
          <a:prstGeom prst="ellipse">
            <a:avLst/>
          </a:prstGeom>
          <a:solidFill>
            <a:schemeClr val="accent4"/>
          </a:solidFill>
          <a:ln/>
        </p:spPr>
      </p:sp>
      <p:pic>
        <p:nvPicPr>
          <p:cNvPr id="47" name="edge" descr="preencoded.png"/>
          <p:cNvPicPr>
            <a:picLocks noChangeAspect="1"/>
          </p:cNvPicPr>
          <p:nvPr/>
        </p:nvPicPr>
        <p:blipFill>
          <a:blip r:embed="rId4"/>
          <a:stretch>
            <a:fillRect/>
          </a:stretch>
        </p:blipFill>
        <p:spPr>
          <a:xfrm>
            <a:off x="5995538" y="2804282"/>
            <a:ext cx="152156" cy="152156"/>
          </a:xfrm>
          <a:prstGeom prst="rect">
            <a:avLst/>
          </a:prstGeom>
        </p:spPr>
      </p:pic>
      <p:sp>
        <p:nvSpPr>
          <p:cNvPr id="48" name="Text 41"/>
          <p:cNvSpPr txBox="1"/>
          <p:nvPr/>
        </p:nvSpPr>
        <p:spPr>
          <a:xfrm>
            <a:off x="6355080" y="2697480"/>
            <a:ext cx="5120640" cy="365760"/>
          </a:xfrm>
          <a:prstGeom prst="rect">
            <a:avLst/>
          </a:prstGeom>
          <a:noFill/>
          <a:ln/>
        </p:spPr>
        <p:txBody>
          <a:bodyPr wrap="square" lIns="0" tIns="0" rIns="0" bIns="0" rtlCol="0" anchor="ctr"/>
          <a:lstStyle/>
          <a:p>
            <a:pPr marL="0" indent="0">
              <a:buNone/>
            </a:pPr>
            <a:r>
              <a:rPr lang="en-US" sz="1300" dirty="0">
                <a:solidFill>
                  <a:srgbClr val="132226"/>
                </a:solidFill>
              </a:rPr>
              <a:t>ACM terminates viewer TLS at CloudFront</a:t>
            </a:r>
            <a:endParaRPr lang="en-US" sz="1300" dirty="0"/>
          </a:p>
        </p:txBody>
      </p:sp>
      <p:sp>
        <p:nvSpPr>
          <p:cNvPr id="49" name="edge circle"/>
          <p:cNvSpPr/>
          <p:nvPr/>
        </p:nvSpPr>
        <p:spPr>
          <a:xfrm>
            <a:off x="5925312" y="3191256"/>
            <a:ext cx="292608" cy="292608"/>
          </a:xfrm>
          <a:prstGeom prst="ellipse">
            <a:avLst/>
          </a:prstGeom>
          <a:solidFill>
            <a:schemeClr val="accent4"/>
          </a:solidFill>
          <a:ln/>
        </p:spPr>
      </p:sp>
      <p:pic>
        <p:nvPicPr>
          <p:cNvPr id="50" name="edge" descr="preencoded.png"/>
          <p:cNvPicPr>
            <a:picLocks noChangeAspect="1"/>
          </p:cNvPicPr>
          <p:nvPr/>
        </p:nvPicPr>
        <p:blipFill>
          <a:blip r:embed="rId5"/>
          <a:stretch>
            <a:fillRect/>
          </a:stretch>
        </p:blipFill>
        <p:spPr>
          <a:xfrm>
            <a:off x="5995538" y="3261482"/>
            <a:ext cx="152156" cy="152156"/>
          </a:xfrm>
          <a:prstGeom prst="rect">
            <a:avLst/>
          </a:prstGeom>
        </p:spPr>
      </p:pic>
      <p:sp>
        <p:nvSpPr>
          <p:cNvPr id="51" name="Text 43"/>
          <p:cNvSpPr txBox="1"/>
          <p:nvPr/>
        </p:nvSpPr>
        <p:spPr>
          <a:xfrm>
            <a:off x="6355080" y="3154680"/>
            <a:ext cx="5120640" cy="365760"/>
          </a:xfrm>
          <a:prstGeom prst="rect">
            <a:avLst/>
          </a:prstGeom>
          <a:noFill/>
          <a:ln/>
        </p:spPr>
        <p:txBody>
          <a:bodyPr wrap="square" lIns="0" tIns="0" rIns="0" bIns="0" rtlCol="0" anchor="ctr"/>
          <a:lstStyle/>
          <a:p>
            <a:pPr marL="0" indent="0">
              <a:buNone/>
            </a:pPr>
            <a:r>
              <a:rPr lang="en-US" sz="1300" dirty="0">
                <a:solidFill>
                  <a:srgbClr val="132226"/>
                </a:solidFill>
              </a:rPr>
              <a:t>ALB :80 accepts only CloudFront origin-facing addresses</a:t>
            </a:r>
            <a:endParaRPr lang="en-US" sz="1300" dirty="0"/>
          </a:p>
        </p:txBody>
      </p:sp>
      <p:sp>
        <p:nvSpPr>
          <p:cNvPr id="52" name="chip Cognito User Pool"/>
          <p:cNvSpPr/>
          <p:nvPr/>
        </p:nvSpPr>
        <p:spPr>
          <a:xfrm>
            <a:off x="5897880" y="3703320"/>
            <a:ext cx="1783080" cy="502920"/>
          </a:xfrm>
          <a:prstGeom prst="roundRect">
            <a:avLst>
              <a:gd name="adj" fmla="val 12727"/>
            </a:avLst>
          </a:prstGeom>
          <a:solidFill>
            <a:srgbClr val="E7EAF2"/>
          </a:solidFill>
          <a:ln/>
        </p:spPr>
      </p:sp>
      <p:sp>
        <p:nvSpPr>
          <p:cNvPr id="53" name="Text 45"/>
          <p:cNvSpPr txBox="1"/>
          <p:nvPr/>
        </p:nvSpPr>
        <p:spPr>
          <a:xfrm>
            <a:off x="5952744" y="3703320"/>
            <a:ext cx="1673352" cy="502920"/>
          </a:xfrm>
          <a:prstGeom prst="rect">
            <a:avLst/>
          </a:prstGeom>
          <a:noFill/>
          <a:ln/>
        </p:spPr>
        <p:txBody>
          <a:bodyPr wrap="square" lIns="0" tIns="0" rIns="0" bIns="0" rtlCol="0" anchor="ctr"/>
          <a:lstStyle/>
          <a:p>
            <a:pPr marL="0" indent="0" algn="ctr">
              <a:buNone/>
            </a:pPr>
            <a:r>
              <a:rPr lang="en-US" sz="1250" b="1" dirty="0">
                <a:solidFill>
                  <a:srgbClr val="132226"/>
                </a:solidFill>
              </a:rPr>
              <a:t>Cognito User Pool</a:t>
            </a:r>
            <a:endParaRPr lang="en-US" sz="1400" dirty="0"/>
          </a:p>
        </p:txBody>
      </p:sp>
      <p:sp>
        <p:nvSpPr>
          <p:cNvPr id="54" name="connector"/>
          <p:cNvSpPr/>
          <p:nvPr/>
        </p:nvSpPr>
        <p:spPr>
          <a:xfrm>
            <a:off x="7708392" y="3954780"/>
            <a:ext cx="219456" cy="0"/>
          </a:xfrm>
          <a:prstGeom prst="line">
            <a:avLst/>
          </a:prstGeom>
          <a:noFill/>
          <a:ln w="19050">
            <a:solidFill>
              <a:srgbClr val="5B6C8F"/>
            </a:solidFill>
            <a:prstDash val="solid"/>
            <a:tailEnd type="triangle"/>
          </a:ln>
        </p:spPr>
      </p:sp>
      <p:sp>
        <p:nvSpPr>
          <p:cNvPr id="55" name="chip Access token"/>
          <p:cNvSpPr/>
          <p:nvPr/>
        </p:nvSpPr>
        <p:spPr>
          <a:xfrm>
            <a:off x="7955280" y="3703320"/>
            <a:ext cx="1371600" cy="502920"/>
          </a:xfrm>
          <a:prstGeom prst="roundRect">
            <a:avLst>
              <a:gd name="adj" fmla="val 12727"/>
            </a:avLst>
          </a:prstGeom>
          <a:solidFill>
            <a:srgbClr val="EEF4F3"/>
          </a:solidFill>
          <a:ln/>
        </p:spPr>
      </p:sp>
      <p:sp>
        <p:nvSpPr>
          <p:cNvPr id="56" name="Text 48"/>
          <p:cNvSpPr txBox="1"/>
          <p:nvPr/>
        </p:nvSpPr>
        <p:spPr>
          <a:xfrm>
            <a:off x="8010144" y="3703320"/>
            <a:ext cx="1261872" cy="502920"/>
          </a:xfrm>
          <a:prstGeom prst="rect">
            <a:avLst/>
          </a:prstGeom>
          <a:noFill/>
          <a:ln/>
        </p:spPr>
        <p:txBody>
          <a:bodyPr wrap="square" lIns="0" tIns="0" rIns="0" bIns="0" rtlCol="0" anchor="ctr"/>
          <a:lstStyle/>
          <a:p>
            <a:pPr marL="0" indent="0" algn="ctr">
              <a:buNone/>
            </a:pPr>
            <a:r>
              <a:rPr lang="en-US" sz="1250" b="1" dirty="0">
                <a:solidFill>
                  <a:srgbClr val="132226"/>
                </a:solidFill>
              </a:rPr>
              <a:t>Access token</a:t>
            </a:r>
            <a:endParaRPr lang="en-US" sz="1400" dirty="0"/>
          </a:p>
        </p:txBody>
      </p:sp>
      <p:sp>
        <p:nvSpPr>
          <p:cNvPr id="57" name="connector"/>
          <p:cNvSpPr/>
          <p:nvPr/>
        </p:nvSpPr>
        <p:spPr>
          <a:xfrm>
            <a:off x="9354312" y="3954780"/>
            <a:ext cx="219456" cy="0"/>
          </a:xfrm>
          <a:prstGeom prst="line">
            <a:avLst/>
          </a:prstGeom>
          <a:noFill/>
          <a:ln w="19050">
            <a:solidFill>
              <a:srgbClr val="5B6C8F"/>
            </a:solidFill>
            <a:prstDash val="solid"/>
            <a:tailEnd type="triangle"/>
          </a:ln>
        </p:spPr>
      </p:sp>
      <p:sp>
        <p:nvSpPr>
          <p:cNvPr id="58" name="chip /protected · JWT verify"/>
          <p:cNvSpPr/>
          <p:nvPr/>
        </p:nvSpPr>
        <p:spPr>
          <a:xfrm>
            <a:off x="9601200" y="3703320"/>
            <a:ext cx="1965960" cy="502920"/>
          </a:xfrm>
          <a:prstGeom prst="roundRect">
            <a:avLst>
              <a:gd name="adj" fmla="val 12727"/>
            </a:avLst>
          </a:prstGeom>
          <a:solidFill>
            <a:srgbClr val="E1F0EF"/>
          </a:solidFill>
          <a:ln/>
        </p:spPr>
      </p:sp>
      <p:sp>
        <p:nvSpPr>
          <p:cNvPr id="59" name="Text 51"/>
          <p:cNvSpPr txBox="1"/>
          <p:nvPr/>
        </p:nvSpPr>
        <p:spPr>
          <a:xfrm>
            <a:off x="9656064" y="3703320"/>
            <a:ext cx="1856232" cy="502920"/>
          </a:xfrm>
          <a:prstGeom prst="rect">
            <a:avLst/>
          </a:prstGeom>
          <a:noFill/>
          <a:ln/>
        </p:spPr>
        <p:txBody>
          <a:bodyPr wrap="square" lIns="0" tIns="0" rIns="0" bIns="0" rtlCol="0" anchor="ctr"/>
          <a:lstStyle/>
          <a:p>
            <a:pPr marL="0" indent="0" algn="ctr">
              <a:buNone/>
            </a:pPr>
            <a:r>
              <a:rPr lang="en-US" sz="1250" b="1" dirty="0">
                <a:solidFill>
                  <a:srgbClr val="132226"/>
                </a:solidFill>
              </a:rPr>
              <a:t>/protected · JWT verify</a:t>
            </a:r>
            <a:endParaRPr lang="en-US" sz="1400" dirty="0"/>
          </a:p>
        </p:txBody>
      </p:sp>
      <p:sp>
        <p:nvSpPr>
          <p:cNvPr id="60" name="result"/>
          <p:cNvSpPr/>
          <p:nvPr/>
        </p:nvSpPr>
        <p:spPr>
          <a:xfrm>
            <a:off x="5897880" y="4480560"/>
            <a:ext cx="1298448" cy="1508760"/>
          </a:xfrm>
          <a:prstGeom prst="roundRect">
            <a:avLst>
              <a:gd name="adj" fmla="val 5634"/>
            </a:avLst>
          </a:prstGeom>
          <a:solidFill>
            <a:srgbClr val="EEF4F3"/>
          </a:solidFill>
          <a:ln/>
        </p:spPr>
      </p:sp>
      <p:sp>
        <p:nvSpPr>
          <p:cNvPr id="61" name="Text 53"/>
          <p:cNvSpPr txBox="1"/>
          <p:nvPr/>
        </p:nvSpPr>
        <p:spPr>
          <a:xfrm>
            <a:off x="5897880" y="4572000"/>
            <a:ext cx="1298448" cy="548640"/>
          </a:xfrm>
          <a:prstGeom prst="rect">
            <a:avLst/>
          </a:prstGeom>
          <a:noFill/>
          <a:ln/>
        </p:spPr>
        <p:txBody>
          <a:bodyPr wrap="square" lIns="0" tIns="0" rIns="0" bIns="0" rtlCol="0" anchor="ctr"/>
          <a:lstStyle/>
          <a:p>
            <a:pPr marL="0" indent="0" algn="ctr">
              <a:buNone/>
            </a:pPr>
            <a:r>
              <a:rPr lang="en-US" sz="2600" b="1" dirty="0">
                <a:solidFill>
                  <a:srgbClr val="1F9A82"/>
                </a:solidFill>
                <a:latin typeface="+mj-lt" pitchFamily="34" charset="0"/>
                <a:ea typeface="+mj-lt" pitchFamily="34" charset="-122"/>
                <a:cs typeface="+mj-lt" pitchFamily="34" charset="-120"/>
              </a:rPr>
              <a:t>200</a:t>
            </a:r>
            <a:endParaRPr lang="en-US" sz="2600" dirty="0"/>
          </a:p>
        </p:txBody>
      </p:sp>
      <p:sp>
        <p:nvSpPr>
          <p:cNvPr id="62" name="Text 54"/>
          <p:cNvSpPr txBox="1"/>
          <p:nvPr/>
        </p:nvSpPr>
        <p:spPr>
          <a:xfrm>
            <a:off x="5943600" y="5166360"/>
            <a:ext cx="1207008" cy="731520"/>
          </a:xfrm>
          <a:prstGeom prst="rect">
            <a:avLst/>
          </a:prstGeom>
          <a:noFill/>
          <a:ln/>
        </p:spPr>
        <p:txBody>
          <a:bodyPr wrap="square" lIns="0" tIns="0" rIns="0" bIns="0" rtlCol="0" anchor="t"/>
          <a:lstStyle/>
          <a:p>
            <a:pPr marL="0" indent="0" algn="ctr">
              <a:buNone/>
            </a:pPr>
            <a:r>
              <a:rPr lang="en-US" sz="1200" b="1" dirty="0">
                <a:solidFill>
                  <a:srgbClr val="132226"/>
                </a:solidFill>
              </a:rPr>
              <a:t>/health</a:t>
            </a:r>
            <a:endParaRPr lang="en-US" sz="1200" dirty="0"/>
          </a:p>
          <a:p>
            <a:pPr marL="0" indent="0" algn="ctr">
              <a:buNone/>
            </a:pPr>
            <a:r>
              <a:rPr lang="en-US" sz="1200" dirty="0">
                <a:solidFill>
                  <a:srgbClr val="4A5B5E"/>
                </a:solidFill>
              </a:rPr>
              <a:t>public</a:t>
            </a:r>
            <a:endParaRPr lang="en-US" sz="1200" dirty="0"/>
          </a:p>
        </p:txBody>
      </p:sp>
      <p:sp>
        <p:nvSpPr>
          <p:cNvPr id="63" name="result"/>
          <p:cNvSpPr/>
          <p:nvPr/>
        </p:nvSpPr>
        <p:spPr>
          <a:xfrm>
            <a:off x="7296912" y="4480560"/>
            <a:ext cx="1298448" cy="1508760"/>
          </a:xfrm>
          <a:prstGeom prst="roundRect">
            <a:avLst>
              <a:gd name="adj" fmla="val 5634"/>
            </a:avLst>
          </a:prstGeom>
          <a:solidFill>
            <a:srgbClr val="EEF4F3"/>
          </a:solidFill>
          <a:ln/>
        </p:spPr>
      </p:sp>
      <p:sp>
        <p:nvSpPr>
          <p:cNvPr id="64" name="Text 56"/>
          <p:cNvSpPr txBox="1"/>
          <p:nvPr/>
        </p:nvSpPr>
        <p:spPr>
          <a:xfrm>
            <a:off x="7296912" y="4572000"/>
            <a:ext cx="1298448" cy="548640"/>
          </a:xfrm>
          <a:prstGeom prst="rect">
            <a:avLst/>
          </a:prstGeom>
          <a:noFill/>
          <a:ln/>
        </p:spPr>
        <p:txBody>
          <a:bodyPr wrap="square" lIns="0" tIns="0" rIns="0" bIns="0" rtlCol="0" anchor="ctr"/>
          <a:lstStyle/>
          <a:p>
            <a:pPr marL="0" indent="0" algn="ctr">
              <a:buNone/>
            </a:pPr>
            <a:r>
              <a:rPr lang="en-US" sz="2600" b="1" dirty="0">
                <a:solidFill>
                  <a:srgbClr val="D9482B"/>
                </a:solidFill>
                <a:latin typeface="+mj-lt" pitchFamily="34" charset="0"/>
                <a:ea typeface="+mj-lt" pitchFamily="34" charset="-122"/>
                <a:cs typeface="+mj-lt" pitchFamily="34" charset="-120"/>
              </a:rPr>
              <a:t>401</a:t>
            </a:r>
            <a:endParaRPr lang="en-US" sz="2600" dirty="0"/>
          </a:p>
        </p:txBody>
      </p:sp>
      <p:sp>
        <p:nvSpPr>
          <p:cNvPr id="65" name="Text 57"/>
          <p:cNvSpPr txBox="1"/>
          <p:nvPr/>
        </p:nvSpPr>
        <p:spPr>
          <a:xfrm>
            <a:off x="7342632" y="5166360"/>
            <a:ext cx="1207008" cy="731520"/>
          </a:xfrm>
          <a:prstGeom prst="rect">
            <a:avLst/>
          </a:prstGeom>
          <a:noFill/>
          <a:ln/>
        </p:spPr>
        <p:txBody>
          <a:bodyPr wrap="square" lIns="0" tIns="0" rIns="0" bIns="0" rtlCol="0" anchor="t"/>
          <a:lstStyle/>
          <a:p>
            <a:pPr marL="0" indent="0" algn="ctr">
              <a:buNone/>
            </a:pPr>
            <a:r>
              <a:rPr lang="en-US" sz="1200" b="1" dirty="0">
                <a:solidFill>
                  <a:srgbClr val="132226"/>
                </a:solidFill>
              </a:rPr>
              <a:t>no token</a:t>
            </a:r>
            <a:endParaRPr lang="en-US" sz="1200" dirty="0"/>
          </a:p>
          <a:p>
            <a:pPr marL="0" indent="0" algn="ctr">
              <a:buNone/>
            </a:pPr>
            <a:r>
              <a:rPr lang="en-US" sz="1200" dirty="0">
                <a:solidFill>
                  <a:srgbClr val="4A5B5E"/>
                </a:solidFill>
              </a:rPr>
              <a:t>rejected</a:t>
            </a:r>
            <a:endParaRPr lang="en-US" sz="1200" dirty="0"/>
          </a:p>
        </p:txBody>
      </p:sp>
      <p:sp>
        <p:nvSpPr>
          <p:cNvPr id="66" name="result"/>
          <p:cNvSpPr/>
          <p:nvPr/>
        </p:nvSpPr>
        <p:spPr>
          <a:xfrm>
            <a:off x="8695944" y="4480560"/>
            <a:ext cx="1298448" cy="1508760"/>
          </a:xfrm>
          <a:prstGeom prst="roundRect">
            <a:avLst>
              <a:gd name="adj" fmla="val 5634"/>
            </a:avLst>
          </a:prstGeom>
          <a:solidFill>
            <a:srgbClr val="EEF4F3"/>
          </a:solidFill>
          <a:ln/>
        </p:spPr>
      </p:sp>
      <p:sp>
        <p:nvSpPr>
          <p:cNvPr id="67" name="Text 59"/>
          <p:cNvSpPr txBox="1"/>
          <p:nvPr/>
        </p:nvSpPr>
        <p:spPr>
          <a:xfrm>
            <a:off x="8695944" y="4572000"/>
            <a:ext cx="1298448" cy="548640"/>
          </a:xfrm>
          <a:prstGeom prst="rect">
            <a:avLst/>
          </a:prstGeom>
          <a:noFill/>
          <a:ln/>
        </p:spPr>
        <p:txBody>
          <a:bodyPr wrap="square" lIns="0" tIns="0" rIns="0" bIns="0" rtlCol="0" anchor="ctr"/>
          <a:lstStyle/>
          <a:p>
            <a:pPr marL="0" indent="0" algn="ctr">
              <a:buNone/>
            </a:pPr>
            <a:r>
              <a:rPr lang="en-US" sz="2600" b="1" dirty="0">
                <a:solidFill>
                  <a:srgbClr val="1F9A82"/>
                </a:solidFill>
                <a:latin typeface="+mj-lt" pitchFamily="34" charset="0"/>
                <a:ea typeface="+mj-lt" pitchFamily="34" charset="-122"/>
                <a:cs typeface="+mj-lt" pitchFamily="34" charset="-120"/>
              </a:rPr>
              <a:t>200</a:t>
            </a:r>
            <a:endParaRPr lang="en-US" sz="2600" dirty="0"/>
          </a:p>
        </p:txBody>
      </p:sp>
      <p:sp>
        <p:nvSpPr>
          <p:cNvPr id="68" name="Text 60"/>
          <p:cNvSpPr txBox="1"/>
          <p:nvPr/>
        </p:nvSpPr>
        <p:spPr>
          <a:xfrm>
            <a:off x="8741664" y="5166360"/>
            <a:ext cx="1207008" cy="731520"/>
          </a:xfrm>
          <a:prstGeom prst="rect">
            <a:avLst/>
          </a:prstGeom>
          <a:noFill/>
          <a:ln/>
        </p:spPr>
        <p:txBody>
          <a:bodyPr wrap="square" lIns="0" tIns="0" rIns="0" bIns="0" rtlCol="0" anchor="t"/>
          <a:lstStyle/>
          <a:p>
            <a:pPr marL="0" indent="0" algn="ctr">
              <a:buNone/>
            </a:pPr>
            <a:r>
              <a:rPr lang="en-US" sz="1200" b="1" dirty="0">
                <a:solidFill>
                  <a:srgbClr val="132226"/>
                </a:solidFill>
              </a:rPr>
              <a:t>valid token</a:t>
            </a:r>
            <a:endParaRPr lang="en-US" sz="1200" dirty="0"/>
          </a:p>
          <a:p>
            <a:pPr marL="0" indent="0" algn="ctr">
              <a:buNone/>
            </a:pPr>
            <a:r>
              <a:rPr lang="en-US" sz="1200" dirty="0">
                <a:solidFill>
                  <a:srgbClr val="4A5B5E"/>
                </a:solidFill>
              </a:rPr>
              <a:t>allowed</a:t>
            </a:r>
            <a:endParaRPr lang="en-US" sz="1200" dirty="0"/>
          </a:p>
        </p:txBody>
      </p:sp>
      <p:sp>
        <p:nvSpPr>
          <p:cNvPr id="69" name="result"/>
          <p:cNvSpPr/>
          <p:nvPr/>
        </p:nvSpPr>
        <p:spPr>
          <a:xfrm>
            <a:off x="10094976" y="4480560"/>
            <a:ext cx="1298448" cy="1508760"/>
          </a:xfrm>
          <a:prstGeom prst="roundRect">
            <a:avLst>
              <a:gd name="adj" fmla="val 5634"/>
            </a:avLst>
          </a:prstGeom>
          <a:solidFill>
            <a:srgbClr val="EEF4F3"/>
          </a:solidFill>
          <a:ln/>
        </p:spPr>
      </p:sp>
      <p:sp>
        <p:nvSpPr>
          <p:cNvPr id="70" name="Text 62"/>
          <p:cNvSpPr txBox="1"/>
          <p:nvPr/>
        </p:nvSpPr>
        <p:spPr>
          <a:xfrm>
            <a:off x="10094976" y="4572000"/>
            <a:ext cx="1298448" cy="548640"/>
          </a:xfrm>
          <a:prstGeom prst="rect">
            <a:avLst/>
          </a:prstGeom>
          <a:noFill/>
          <a:ln/>
        </p:spPr>
        <p:txBody>
          <a:bodyPr wrap="square" lIns="0" tIns="0" rIns="0" bIns="0" rtlCol="0" anchor="ctr"/>
          <a:lstStyle/>
          <a:p>
            <a:pPr marL="0" indent="0" algn="ctr">
              <a:buNone/>
            </a:pPr>
            <a:r>
              <a:rPr lang="en-US" sz="2600" b="1" dirty="0">
                <a:solidFill>
                  <a:srgbClr val="D9482B"/>
                </a:solidFill>
                <a:latin typeface="+mj-lt" pitchFamily="34" charset="0"/>
                <a:ea typeface="+mj-lt" pitchFamily="34" charset="-122"/>
                <a:cs typeface="+mj-lt" pitchFamily="34" charset="-120"/>
              </a:rPr>
              <a:t>403</a:t>
            </a:r>
            <a:endParaRPr lang="en-US" sz="2600" dirty="0"/>
          </a:p>
        </p:txBody>
      </p:sp>
      <p:sp>
        <p:nvSpPr>
          <p:cNvPr id="71" name="Text 63"/>
          <p:cNvSpPr txBox="1"/>
          <p:nvPr/>
        </p:nvSpPr>
        <p:spPr>
          <a:xfrm>
            <a:off x="10140696" y="5166360"/>
            <a:ext cx="1207008" cy="731520"/>
          </a:xfrm>
          <a:prstGeom prst="rect">
            <a:avLst/>
          </a:prstGeom>
          <a:noFill/>
          <a:ln/>
        </p:spPr>
        <p:txBody>
          <a:bodyPr wrap="square" lIns="0" tIns="0" rIns="0" bIns="0" rtlCol="0" anchor="t"/>
          <a:lstStyle/>
          <a:p>
            <a:pPr marL="0" indent="0" algn="ctr">
              <a:buNone/>
            </a:pPr>
            <a:r>
              <a:rPr lang="en-US" sz="1200" b="1" dirty="0">
                <a:solidFill>
                  <a:srgbClr val="132226"/>
                </a:solidFill>
              </a:rPr>
              <a:t>WAF test</a:t>
            </a:r>
            <a:endParaRPr lang="en-US" sz="1200" dirty="0"/>
          </a:p>
          <a:p>
            <a:pPr marL="0" indent="0" algn="ctr">
              <a:buNone/>
            </a:pPr>
            <a:r>
              <a:rPr lang="en-US" sz="1200" dirty="0">
                <a:solidFill>
                  <a:srgbClr val="4A5B5E"/>
                </a:solidFill>
              </a:rPr>
              <a:t>blocked</a:t>
            </a:r>
            <a:endParaRPr lang="en-US" sz="1200" dirty="0"/>
          </a:p>
        </p:txBody>
      </p:sp>
      <p:sp>
        <p:nvSpPr>
          <p:cNvPr id="72"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Milestone 7 — Serverless &amp; event-driven processing</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S3 uploads become durable asynchronous work with retries and a Dead Letter Queue.</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M7</a:t>
            </a:r>
            <a:endParaRPr lang="en-US" sz="1200" dirty="0"/>
          </a:p>
        </p:txBody>
      </p:sp>
      <p:sp>
        <p:nvSpPr>
          <p:cNvPr id="6" name="card"/>
          <p:cNvSpPr/>
          <p:nvPr/>
        </p:nvSpPr>
        <p:spPr>
          <a:xfrm>
            <a:off x="548640" y="1463040"/>
            <a:ext cx="7452360" cy="4709160"/>
          </a:xfrm>
          <a:prstGeom prst="roundRect">
            <a:avLst>
              <a:gd name="adj" fmla="val 1942"/>
            </a:avLst>
          </a:prstGeom>
          <a:solidFill>
            <a:srgbClr val="FFFFFF"/>
          </a:solidFill>
          <a:ln/>
          <a:effectLst>
            <a:outerShdw blurRad="114300" dist="25400" dir="5400000" algn="bl" rotWithShape="0">
              <a:srgbClr val="0E3B43">
                <a:alpha val="13000"/>
              </a:srgbClr>
            </a:outerShdw>
          </a:effectLst>
        </p:spPr>
      </p:sp>
      <p:sp>
        <p:nvSpPr>
          <p:cNvPr id="7" name="Text 5"/>
          <p:cNvSpPr txBox="1"/>
          <p:nvPr/>
        </p:nvSpPr>
        <p:spPr>
          <a:xfrm>
            <a:off x="777240" y="1600200"/>
            <a:ext cx="2743200" cy="274320"/>
          </a:xfrm>
          <a:prstGeom prst="rect">
            <a:avLst/>
          </a:prstGeom>
          <a:noFill/>
          <a:ln/>
        </p:spPr>
        <p:txBody>
          <a:bodyPr wrap="square" lIns="0" tIns="0" rIns="0" bIns="0" rtlCol="0" anchor="t"/>
          <a:lstStyle/>
          <a:p>
            <a:pPr marL="0" indent="0">
              <a:buNone/>
            </a:pPr>
            <a:r>
              <a:rPr lang="en-US" sz="1100" b="1" kern="0" spc="100" dirty="0">
                <a:solidFill>
                  <a:srgbClr val="1F9A82"/>
                </a:solidFill>
              </a:rPr>
              <a:t>NORMAL PATH</a:t>
            </a:r>
            <a:endParaRPr lang="en-US" sz="1100" dirty="0"/>
          </a:p>
        </p:txBody>
      </p:sp>
      <p:sp>
        <p:nvSpPr>
          <p:cNvPr id="8" name="chip S3 Object Created"/>
          <p:cNvSpPr/>
          <p:nvPr/>
        </p:nvSpPr>
        <p:spPr>
          <a:xfrm>
            <a:off x="777240" y="1965960"/>
            <a:ext cx="1325880" cy="640080"/>
          </a:xfrm>
          <a:prstGeom prst="roundRect">
            <a:avLst>
              <a:gd name="adj" fmla="val 10000"/>
            </a:avLst>
          </a:prstGeom>
          <a:solidFill>
            <a:srgbClr val="E0F3EE"/>
          </a:solidFill>
          <a:ln/>
        </p:spPr>
      </p:sp>
      <p:sp>
        <p:nvSpPr>
          <p:cNvPr id="9" name="Text 7"/>
          <p:cNvSpPr txBox="1"/>
          <p:nvPr/>
        </p:nvSpPr>
        <p:spPr>
          <a:xfrm>
            <a:off x="832104" y="1965960"/>
            <a:ext cx="1216152" cy="640080"/>
          </a:xfrm>
          <a:prstGeom prst="rect">
            <a:avLst/>
          </a:prstGeom>
          <a:noFill/>
          <a:ln/>
        </p:spPr>
        <p:txBody>
          <a:bodyPr wrap="square" lIns="0" tIns="0" rIns="0" bIns="0" rtlCol="0" anchor="ctr"/>
          <a:lstStyle/>
          <a:p>
            <a:pPr marL="0" indent="0" algn="ctr">
              <a:buNone/>
            </a:pPr>
            <a:r>
              <a:rPr lang="en-US" sz="1250" b="1" dirty="0">
                <a:solidFill>
                  <a:srgbClr val="132226"/>
                </a:solidFill>
              </a:rPr>
              <a:t>S3 Object Created</a:t>
            </a:r>
            <a:endParaRPr lang="en-US" sz="1400" dirty="0"/>
          </a:p>
        </p:txBody>
      </p:sp>
      <p:sp>
        <p:nvSpPr>
          <p:cNvPr id="10" name="connector"/>
          <p:cNvSpPr/>
          <p:nvPr/>
        </p:nvSpPr>
        <p:spPr>
          <a:xfrm>
            <a:off x="2130552" y="2286000"/>
            <a:ext cx="146304" cy="0"/>
          </a:xfrm>
          <a:prstGeom prst="line">
            <a:avLst/>
          </a:prstGeom>
          <a:noFill/>
          <a:ln w="19050">
            <a:solidFill>
              <a:srgbClr val="0E7C7B"/>
            </a:solidFill>
            <a:prstDash val="solid"/>
            <a:tailEnd type="triangle"/>
          </a:ln>
        </p:spPr>
      </p:sp>
      <p:sp>
        <p:nvSpPr>
          <p:cNvPr id="11" name="chip EventBridge"/>
          <p:cNvSpPr/>
          <p:nvPr/>
        </p:nvSpPr>
        <p:spPr>
          <a:xfrm>
            <a:off x="2304288" y="1965960"/>
            <a:ext cx="1097280" cy="640080"/>
          </a:xfrm>
          <a:prstGeom prst="roundRect">
            <a:avLst>
              <a:gd name="adj" fmla="val 10000"/>
            </a:avLst>
          </a:prstGeom>
          <a:solidFill>
            <a:srgbClr val="EEF4F3"/>
          </a:solidFill>
          <a:ln/>
        </p:spPr>
      </p:sp>
      <p:sp>
        <p:nvSpPr>
          <p:cNvPr id="12" name="Text 10"/>
          <p:cNvSpPr txBox="1"/>
          <p:nvPr/>
        </p:nvSpPr>
        <p:spPr>
          <a:xfrm>
            <a:off x="2359152" y="1965960"/>
            <a:ext cx="987552" cy="640080"/>
          </a:xfrm>
          <a:prstGeom prst="rect">
            <a:avLst/>
          </a:prstGeom>
          <a:noFill/>
          <a:ln/>
        </p:spPr>
        <p:txBody>
          <a:bodyPr wrap="square" lIns="0" tIns="0" rIns="0" bIns="0" rtlCol="0" anchor="ctr"/>
          <a:lstStyle/>
          <a:p>
            <a:pPr marL="0" indent="0" algn="ctr">
              <a:buNone/>
            </a:pPr>
            <a:r>
              <a:rPr lang="en-US" sz="1250" b="1" dirty="0">
                <a:solidFill>
                  <a:srgbClr val="132226"/>
                </a:solidFill>
              </a:rPr>
              <a:t>EventBridge</a:t>
            </a:r>
            <a:endParaRPr lang="en-US" sz="1400" dirty="0"/>
          </a:p>
        </p:txBody>
      </p:sp>
      <p:sp>
        <p:nvSpPr>
          <p:cNvPr id="13" name="connector"/>
          <p:cNvSpPr/>
          <p:nvPr/>
        </p:nvSpPr>
        <p:spPr>
          <a:xfrm>
            <a:off x="3429000" y="2286000"/>
            <a:ext cx="146304" cy="0"/>
          </a:xfrm>
          <a:prstGeom prst="line">
            <a:avLst/>
          </a:prstGeom>
          <a:noFill/>
          <a:ln w="19050">
            <a:solidFill>
              <a:srgbClr val="0E7C7B"/>
            </a:solidFill>
            <a:prstDash val="solid"/>
            <a:tailEnd type="triangle"/>
          </a:ln>
        </p:spPr>
      </p:sp>
      <p:sp>
        <p:nvSpPr>
          <p:cNvPr id="14" name="chip SQS main queue"/>
          <p:cNvSpPr/>
          <p:nvPr/>
        </p:nvSpPr>
        <p:spPr>
          <a:xfrm>
            <a:off x="3602736" y="1965960"/>
            <a:ext cx="1280160" cy="640080"/>
          </a:xfrm>
          <a:prstGeom prst="roundRect">
            <a:avLst>
              <a:gd name="adj" fmla="val 10000"/>
            </a:avLst>
          </a:prstGeom>
          <a:solidFill>
            <a:srgbClr val="EEF4F3"/>
          </a:solidFill>
          <a:ln/>
        </p:spPr>
      </p:sp>
      <p:sp>
        <p:nvSpPr>
          <p:cNvPr id="15" name="Text 13"/>
          <p:cNvSpPr txBox="1"/>
          <p:nvPr/>
        </p:nvSpPr>
        <p:spPr>
          <a:xfrm>
            <a:off x="3657600" y="1965960"/>
            <a:ext cx="1170432" cy="640080"/>
          </a:xfrm>
          <a:prstGeom prst="rect">
            <a:avLst/>
          </a:prstGeom>
          <a:noFill/>
          <a:ln/>
        </p:spPr>
        <p:txBody>
          <a:bodyPr wrap="square" lIns="0" tIns="0" rIns="0" bIns="0" rtlCol="0" anchor="ctr"/>
          <a:lstStyle/>
          <a:p>
            <a:pPr marL="0" indent="0" algn="ctr">
              <a:buNone/>
            </a:pPr>
            <a:r>
              <a:rPr lang="en-US" sz="1250" b="1" dirty="0">
                <a:solidFill>
                  <a:srgbClr val="132226"/>
                </a:solidFill>
              </a:rPr>
              <a:t>SQS main queue</a:t>
            </a:r>
            <a:endParaRPr lang="en-US" sz="1400" dirty="0"/>
          </a:p>
        </p:txBody>
      </p:sp>
      <p:sp>
        <p:nvSpPr>
          <p:cNvPr id="16" name="connector"/>
          <p:cNvSpPr/>
          <p:nvPr/>
        </p:nvSpPr>
        <p:spPr>
          <a:xfrm>
            <a:off x="4910328" y="2286000"/>
            <a:ext cx="146304" cy="0"/>
          </a:xfrm>
          <a:prstGeom prst="line">
            <a:avLst/>
          </a:prstGeom>
          <a:noFill/>
          <a:ln w="19050">
            <a:solidFill>
              <a:srgbClr val="0E7C7B"/>
            </a:solidFill>
            <a:prstDash val="solid"/>
            <a:tailEnd type="triangle"/>
          </a:ln>
        </p:spPr>
      </p:sp>
      <p:sp>
        <p:nvSpPr>
          <p:cNvPr id="17" name="chip Lambda"/>
          <p:cNvSpPr/>
          <p:nvPr/>
        </p:nvSpPr>
        <p:spPr>
          <a:xfrm>
            <a:off x="5084064" y="1965960"/>
            <a:ext cx="1051560" cy="640080"/>
          </a:xfrm>
          <a:prstGeom prst="roundRect">
            <a:avLst>
              <a:gd name="adj" fmla="val 10000"/>
            </a:avLst>
          </a:prstGeom>
          <a:solidFill>
            <a:srgbClr val="FDF0DC"/>
          </a:solidFill>
          <a:ln/>
        </p:spPr>
      </p:sp>
      <p:sp>
        <p:nvSpPr>
          <p:cNvPr id="18" name="Text 16"/>
          <p:cNvSpPr txBox="1"/>
          <p:nvPr/>
        </p:nvSpPr>
        <p:spPr>
          <a:xfrm>
            <a:off x="5138928" y="1965960"/>
            <a:ext cx="941832" cy="640080"/>
          </a:xfrm>
          <a:prstGeom prst="rect">
            <a:avLst/>
          </a:prstGeom>
          <a:noFill/>
          <a:ln/>
        </p:spPr>
        <p:txBody>
          <a:bodyPr wrap="square" lIns="0" tIns="0" rIns="0" bIns="0" rtlCol="0" anchor="ctr"/>
          <a:lstStyle/>
          <a:p>
            <a:pPr marL="0" indent="0" algn="ctr">
              <a:buNone/>
            </a:pPr>
            <a:r>
              <a:rPr lang="en-US" sz="1250" b="1" dirty="0">
                <a:solidFill>
                  <a:srgbClr val="132226"/>
                </a:solidFill>
              </a:rPr>
              <a:t>Lambda</a:t>
            </a:r>
            <a:endParaRPr lang="en-US" sz="1400" dirty="0"/>
          </a:p>
          <a:p>
            <a:pPr marL="0" indent="0" algn="ctr">
              <a:buNone/>
            </a:pPr>
            <a:r>
              <a:rPr lang="en-US" sz="1050" dirty="0">
                <a:solidFill>
                  <a:srgbClr val="4A5B5E"/>
                </a:solidFill>
              </a:rPr>
              <a:t>Python 3.12</a:t>
            </a:r>
            <a:endParaRPr lang="en-US" sz="1400" dirty="0"/>
          </a:p>
        </p:txBody>
      </p:sp>
      <p:sp>
        <p:nvSpPr>
          <p:cNvPr id="19" name="connector"/>
          <p:cNvSpPr/>
          <p:nvPr/>
        </p:nvSpPr>
        <p:spPr>
          <a:xfrm>
            <a:off x="6163056" y="2286000"/>
            <a:ext cx="146304" cy="0"/>
          </a:xfrm>
          <a:prstGeom prst="line">
            <a:avLst/>
          </a:prstGeom>
          <a:noFill/>
          <a:ln w="19050">
            <a:solidFill>
              <a:srgbClr val="0E7C7B"/>
            </a:solidFill>
            <a:prstDash val="solid"/>
            <a:tailEnd type="triangle"/>
          </a:ln>
        </p:spPr>
      </p:sp>
      <p:sp>
        <p:nvSpPr>
          <p:cNvPr id="20" name="chip CloudWatch Logs"/>
          <p:cNvSpPr/>
          <p:nvPr/>
        </p:nvSpPr>
        <p:spPr>
          <a:xfrm>
            <a:off x="6336792" y="1965960"/>
            <a:ext cx="1280160" cy="640080"/>
          </a:xfrm>
          <a:prstGeom prst="roundRect">
            <a:avLst>
              <a:gd name="adj" fmla="val 10000"/>
            </a:avLst>
          </a:prstGeom>
          <a:solidFill>
            <a:srgbClr val="EEF4F3"/>
          </a:solidFill>
          <a:ln/>
        </p:spPr>
      </p:sp>
      <p:sp>
        <p:nvSpPr>
          <p:cNvPr id="21" name="Text 19"/>
          <p:cNvSpPr txBox="1"/>
          <p:nvPr/>
        </p:nvSpPr>
        <p:spPr>
          <a:xfrm>
            <a:off x="6391656" y="1965960"/>
            <a:ext cx="1170432" cy="640080"/>
          </a:xfrm>
          <a:prstGeom prst="rect">
            <a:avLst/>
          </a:prstGeom>
          <a:noFill/>
          <a:ln/>
        </p:spPr>
        <p:txBody>
          <a:bodyPr wrap="square" lIns="0" tIns="0" rIns="0" bIns="0" rtlCol="0" anchor="ctr"/>
          <a:lstStyle/>
          <a:p>
            <a:pPr marL="0" indent="0" algn="ctr">
              <a:buNone/>
            </a:pPr>
            <a:r>
              <a:rPr lang="en-US" sz="1250" b="1" dirty="0">
                <a:solidFill>
                  <a:srgbClr val="132226"/>
                </a:solidFill>
              </a:rPr>
              <a:t>CloudWatch Logs</a:t>
            </a:r>
            <a:endParaRPr lang="en-US" sz="1400" dirty="0"/>
          </a:p>
        </p:txBody>
      </p:sp>
      <p:sp>
        <p:nvSpPr>
          <p:cNvPr id="22" name="Text 20"/>
          <p:cNvSpPr txBox="1"/>
          <p:nvPr/>
        </p:nvSpPr>
        <p:spPr>
          <a:xfrm>
            <a:off x="777240" y="3017520"/>
            <a:ext cx="2743200" cy="274320"/>
          </a:xfrm>
          <a:prstGeom prst="rect">
            <a:avLst/>
          </a:prstGeom>
          <a:noFill/>
          <a:ln/>
        </p:spPr>
        <p:txBody>
          <a:bodyPr wrap="square" lIns="0" tIns="0" rIns="0" bIns="0" rtlCol="0" anchor="t"/>
          <a:lstStyle/>
          <a:p>
            <a:pPr marL="0" indent="0">
              <a:buNone/>
            </a:pPr>
            <a:r>
              <a:rPr lang="en-US" sz="1100" b="1" kern="0" spc="100" dirty="0">
                <a:solidFill>
                  <a:srgbClr val="D9482B"/>
                </a:solidFill>
              </a:rPr>
              <a:t>FAILURE PATH</a:t>
            </a:r>
            <a:endParaRPr lang="en-US" sz="1100" dirty="0"/>
          </a:p>
        </p:txBody>
      </p:sp>
      <p:sp>
        <p:nvSpPr>
          <p:cNvPr id="23" name="chip fail/ object"/>
          <p:cNvSpPr/>
          <p:nvPr/>
        </p:nvSpPr>
        <p:spPr>
          <a:xfrm>
            <a:off x="777240" y="3383280"/>
            <a:ext cx="1737360" cy="640080"/>
          </a:xfrm>
          <a:prstGeom prst="roundRect">
            <a:avLst>
              <a:gd name="adj" fmla="val 10000"/>
            </a:avLst>
          </a:prstGeom>
          <a:solidFill>
            <a:srgbClr val="FBE4DE"/>
          </a:solidFill>
          <a:ln/>
        </p:spPr>
      </p:sp>
      <p:sp>
        <p:nvSpPr>
          <p:cNvPr id="24" name="Text 22"/>
          <p:cNvSpPr txBox="1"/>
          <p:nvPr/>
        </p:nvSpPr>
        <p:spPr>
          <a:xfrm>
            <a:off x="832104" y="3383280"/>
            <a:ext cx="1627632" cy="640080"/>
          </a:xfrm>
          <a:prstGeom prst="rect">
            <a:avLst/>
          </a:prstGeom>
          <a:noFill/>
          <a:ln/>
        </p:spPr>
        <p:txBody>
          <a:bodyPr wrap="square" lIns="0" tIns="0" rIns="0" bIns="0" rtlCol="0" anchor="ctr"/>
          <a:lstStyle/>
          <a:p>
            <a:pPr marL="0" indent="0" algn="ctr">
              <a:buNone/>
            </a:pPr>
            <a:r>
              <a:rPr lang="en-US" sz="1250" b="1" dirty="0">
                <a:solidFill>
                  <a:srgbClr val="132226"/>
                </a:solidFill>
              </a:rPr>
              <a:t>fail/ object</a:t>
            </a:r>
            <a:endParaRPr lang="en-US" sz="1400" dirty="0"/>
          </a:p>
          <a:p>
            <a:pPr marL="0" indent="0" algn="ctr">
              <a:buNone/>
            </a:pPr>
            <a:r>
              <a:rPr lang="en-US" sz="1050" dirty="0">
                <a:solidFill>
                  <a:srgbClr val="4A5B5E"/>
                </a:solidFill>
              </a:rPr>
              <a:t>controlled error</a:t>
            </a:r>
            <a:endParaRPr lang="en-US" sz="1400" dirty="0"/>
          </a:p>
        </p:txBody>
      </p:sp>
      <p:sp>
        <p:nvSpPr>
          <p:cNvPr id="25" name="connector"/>
          <p:cNvSpPr/>
          <p:nvPr/>
        </p:nvSpPr>
        <p:spPr>
          <a:xfrm>
            <a:off x="2542032" y="3703320"/>
            <a:ext cx="384048" cy="0"/>
          </a:xfrm>
          <a:prstGeom prst="line">
            <a:avLst/>
          </a:prstGeom>
          <a:noFill/>
          <a:ln w="19050">
            <a:solidFill>
              <a:srgbClr val="D9482B"/>
            </a:solidFill>
            <a:prstDash val="solid"/>
            <a:tailEnd type="triangle"/>
          </a:ln>
        </p:spPr>
      </p:sp>
      <p:sp>
        <p:nvSpPr>
          <p:cNvPr id="26" name="chip Lambda retries"/>
          <p:cNvSpPr/>
          <p:nvPr/>
        </p:nvSpPr>
        <p:spPr>
          <a:xfrm>
            <a:off x="2953512" y="3383280"/>
            <a:ext cx="2011680" cy="640080"/>
          </a:xfrm>
          <a:prstGeom prst="roundRect">
            <a:avLst>
              <a:gd name="adj" fmla="val 10000"/>
            </a:avLst>
          </a:prstGeom>
          <a:solidFill>
            <a:srgbClr val="EEF4F3"/>
          </a:solidFill>
          <a:ln/>
        </p:spPr>
      </p:sp>
      <p:sp>
        <p:nvSpPr>
          <p:cNvPr id="27" name="Text 25"/>
          <p:cNvSpPr txBox="1"/>
          <p:nvPr/>
        </p:nvSpPr>
        <p:spPr>
          <a:xfrm>
            <a:off x="3008376" y="3383280"/>
            <a:ext cx="1901952" cy="640080"/>
          </a:xfrm>
          <a:prstGeom prst="rect">
            <a:avLst/>
          </a:prstGeom>
          <a:noFill/>
          <a:ln/>
        </p:spPr>
        <p:txBody>
          <a:bodyPr wrap="square" lIns="0" tIns="0" rIns="0" bIns="0" rtlCol="0" anchor="ctr"/>
          <a:lstStyle/>
          <a:p>
            <a:pPr marL="0" indent="0" algn="ctr">
              <a:buNone/>
            </a:pPr>
            <a:r>
              <a:rPr lang="en-US" sz="1250" b="1" dirty="0">
                <a:solidFill>
                  <a:srgbClr val="132226"/>
                </a:solidFill>
              </a:rPr>
              <a:t>Lambda retries</a:t>
            </a:r>
            <a:endParaRPr lang="en-US" sz="1400" dirty="0"/>
          </a:p>
          <a:p>
            <a:pPr marL="0" indent="0" algn="ctr">
              <a:buNone/>
            </a:pPr>
            <a:r>
              <a:rPr lang="en-US" sz="1050" dirty="0">
                <a:solidFill>
                  <a:srgbClr val="4A5B5E"/>
                </a:solidFill>
              </a:rPr>
              <a:t>3 receives</a:t>
            </a:r>
            <a:endParaRPr lang="en-US" sz="1400" dirty="0"/>
          </a:p>
        </p:txBody>
      </p:sp>
      <p:sp>
        <p:nvSpPr>
          <p:cNvPr id="28" name="connector"/>
          <p:cNvSpPr/>
          <p:nvPr/>
        </p:nvSpPr>
        <p:spPr>
          <a:xfrm>
            <a:off x="4992624" y="3703320"/>
            <a:ext cx="384048" cy="0"/>
          </a:xfrm>
          <a:prstGeom prst="line">
            <a:avLst/>
          </a:prstGeom>
          <a:noFill/>
          <a:ln w="19050">
            <a:solidFill>
              <a:srgbClr val="D9482B"/>
            </a:solidFill>
            <a:prstDash val="solid"/>
            <a:tailEnd type="triangle"/>
          </a:ln>
        </p:spPr>
      </p:sp>
      <p:sp>
        <p:nvSpPr>
          <p:cNvPr id="29" name="chip Dead Letter Queue"/>
          <p:cNvSpPr/>
          <p:nvPr/>
        </p:nvSpPr>
        <p:spPr>
          <a:xfrm>
            <a:off x="5404104" y="3383280"/>
            <a:ext cx="2331720" cy="640080"/>
          </a:xfrm>
          <a:prstGeom prst="roundRect">
            <a:avLst>
              <a:gd name="adj" fmla="val 10000"/>
            </a:avLst>
          </a:prstGeom>
          <a:solidFill>
            <a:srgbClr val="FBE4DE"/>
          </a:solidFill>
          <a:ln/>
        </p:spPr>
      </p:sp>
      <p:sp>
        <p:nvSpPr>
          <p:cNvPr id="30" name="Text 28"/>
          <p:cNvSpPr txBox="1"/>
          <p:nvPr/>
        </p:nvSpPr>
        <p:spPr>
          <a:xfrm>
            <a:off x="5458968" y="3383280"/>
            <a:ext cx="2221992" cy="640080"/>
          </a:xfrm>
          <a:prstGeom prst="rect">
            <a:avLst/>
          </a:prstGeom>
          <a:noFill/>
          <a:ln/>
        </p:spPr>
        <p:txBody>
          <a:bodyPr wrap="square" lIns="0" tIns="0" rIns="0" bIns="0" rtlCol="0" anchor="ctr"/>
          <a:lstStyle/>
          <a:p>
            <a:pPr marL="0" indent="0" algn="ctr">
              <a:buNone/>
            </a:pPr>
            <a:r>
              <a:rPr lang="en-US" sz="1250" b="1" dirty="0">
                <a:solidFill>
                  <a:srgbClr val="132226"/>
                </a:solidFill>
              </a:rPr>
              <a:t>Dead Letter Queue</a:t>
            </a:r>
            <a:endParaRPr lang="en-US" sz="1400" dirty="0"/>
          </a:p>
          <a:p>
            <a:pPr marL="0" indent="0" algn="ctr">
              <a:buNone/>
            </a:pPr>
            <a:r>
              <a:rPr lang="en-US" sz="1050" dirty="0">
                <a:solidFill>
                  <a:srgbClr val="4A5B5E"/>
                </a:solidFill>
              </a:rPr>
              <a:t>14-day retention</a:t>
            </a:r>
            <a:endParaRPr lang="en-US" sz="1400" dirty="0"/>
          </a:p>
        </p:txBody>
      </p:sp>
      <p:sp>
        <p:nvSpPr>
          <p:cNvPr id="31" name="config"/>
          <p:cNvSpPr/>
          <p:nvPr/>
        </p:nvSpPr>
        <p:spPr>
          <a:xfrm>
            <a:off x="777240" y="4343400"/>
            <a:ext cx="6995160" cy="457200"/>
          </a:xfrm>
          <a:prstGeom prst="roundRect">
            <a:avLst>
              <a:gd name="adj" fmla="val 12000"/>
            </a:avLst>
          </a:prstGeom>
          <a:solidFill>
            <a:srgbClr val="EEF4F3"/>
          </a:solidFill>
          <a:ln/>
        </p:spPr>
      </p:sp>
      <p:sp>
        <p:nvSpPr>
          <p:cNvPr id="32" name="Text 30"/>
          <p:cNvSpPr txBox="1"/>
          <p:nvPr/>
        </p:nvSpPr>
        <p:spPr>
          <a:xfrm>
            <a:off x="914400" y="4343400"/>
            <a:ext cx="6766560" cy="457200"/>
          </a:xfrm>
          <a:prstGeom prst="rect">
            <a:avLst/>
          </a:prstGeom>
          <a:noFill/>
          <a:ln/>
        </p:spPr>
        <p:txBody>
          <a:bodyPr wrap="square" lIns="0" tIns="0" rIns="0" bIns="0" rtlCol="0" anchor="ctr"/>
          <a:lstStyle/>
          <a:p>
            <a:pPr marL="0" indent="0">
              <a:buNone/>
            </a:pPr>
            <a:r>
              <a:rPr lang="en-US" sz="1350" b="1" dirty="0">
                <a:solidFill>
                  <a:srgbClr val="0E7C7B"/>
                </a:solidFill>
              </a:rPr>
              <a:t>Queue settings:  </a:t>
            </a:r>
            <a:r>
              <a:rPr lang="en-US" sz="1350" dirty="0">
                <a:solidFill>
                  <a:srgbClr val="132226"/>
                </a:solidFill>
              </a:rPr>
              <a:t>visibility timeout 180 s  ·  maxReceiveCount 3  ·  DLQ retention 14 days</a:t>
            </a:r>
            <a:endParaRPr lang="en-US" sz="1350" dirty="0"/>
          </a:p>
        </p:txBody>
      </p:sp>
      <p:sp>
        <p:nvSpPr>
          <p:cNvPr id="33" name="Text 31"/>
          <p:cNvSpPr txBox="1"/>
          <p:nvPr/>
        </p:nvSpPr>
        <p:spPr>
          <a:xfrm>
            <a:off x="777240" y="5029200"/>
            <a:ext cx="6995160" cy="822960"/>
          </a:xfrm>
          <a:prstGeom prst="rect">
            <a:avLst/>
          </a:prstGeom>
          <a:noFill/>
          <a:ln/>
        </p:spPr>
        <p:txBody>
          <a:bodyPr wrap="square" lIns="0" tIns="0" rIns="0" bIns="0" rtlCol="0" anchor="t"/>
          <a:lstStyle/>
          <a:p>
            <a:pPr marL="0" indent="0">
              <a:buNone/>
            </a:pPr>
            <a:r>
              <a:rPr lang="en-US" sz="1400" i="1" dirty="0">
                <a:solidFill>
                  <a:srgbClr val="4A5B5E"/>
                </a:solidFill>
              </a:rPr>
              <a:t>Why SQS before Lambda? Durable buffering, decoupling and explicit retry / DLQ behavior — nothing is lost if Lambda fails.</a:t>
            </a:r>
            <a:endParaRPr lang="en-US" sz="1400" dirty="0"/>
          </a:p>
        </p:txBody>
      </p:sp>
      <p:sp>
        <p:nvSpPr>
          <p:cNvPr id="34" name="card"/>
          <p:cNvSpPr/>
          <p:nvPr/>
        </p:nvSpPr>
        <p:spPr>
          <a:xfrm>
            <a:off x="8229600" y="1463040"/>
            <a:ext cx="3410712"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35" name="Validated normal path circle"/>
          <p:cNvSpPr/>
          <p:nvPr/>
        </p:nvSpPr>
        <p:spPr>
          <a:xfrm>
            <a:off x="8412480" y="1645920"/>
            <a:ext cx="475488" cy="475488"/>
          </a:xfrm>
          <a:prstGeom prst="ellipse">
            <a:avLst/>
          </a:prstGeom>
          <a:solidFill>
            <a:schemeClr val="accent3"/>
          </a:solidFill>
          <a:ln/>
        </p:spPr>
      </p:sp>
      <p:pic>
        <p:nvPicPr>
          <p:cNvPr id="36" name="Validated normal path" descr="preencoded.png"/>
          <p:cNvPicPr>
            <a:picLocks noChangeAspect="1"/>
          </p:cNvPicPr>
          <p:nvPr/>
        </p:nvPicPr>
        <p:blipFill>
          <a:blip r:embed="rId3"/>
          <a:stretch>
            <a:fillRect/>
          </a:stretch>
        </p:blipFill>
        <p:spPr>
          <a:xfrm>
            <a:off x="8526597" y="1760037"/>
            <a:ext cx="247254" cy="247254"/>
          </a:xfrm>
          <a:prstGeom prst="rect">
            <a:avLst/>
          </a:prstGeom>
        </p:spPr>
      </p:pic>
      <p:sp>
        <p:nvSpPr>
          <p:cNvPr id="37" name="Text 34"/>
          <p:cNvSpPr txBox="1"/>
          <p:nvPr/>
        </p:nvSpPr>
        <p:spPr>
          <a:xfrm>
            <a:off x="9006840" y="1664208"/>
            <a:ext cx="2560320" cy="411480"/>
          </a:xfrm>
          <a:prstGeom prst="rect">
            <a:avLst/>
          </a:prstGeom>
          <a:noFill/>
          <a:ln/>
        </p:spPr>
        <p:txBody>
          <a:bodyPr wrap="square" lIns="0" tIns="0" rIns="0" bIns="0" rtlCol="0" anchor="ctr"/>
          <a:lstStyle/>
          <a:p>
            <a:pPr marL="0" indent="0">
              <a:buNone/>
            </a:pPr>
            <a:r>
              <a:rPr lang="en-US" sz="1500" b="1" dirty="0">
                <a:solidFill>
                  <a:srgbClr val="132226"/>
                </a:solidFill>
              </a:rPr>
              <a:t>Validated normal path</a:t>
            </a:r>
            <a:endParaRPr lang="en-US" sz="1500" dirty="0"/>
          </a:p>
        </p:txBody>
      </p:sp>
      <p:sp>
        <p:nvSpPr>
          <p:cNvPr id="38" name="Text 35"/>
          <p:cNvSpPr txBox="1"/>
          <p:nvPr/>
        </p:nvSpPr>
        <p:spPr>
          <a:xfrm>
            <a:off x="8412480" y="2194560"/>
            <a:ext cx="3108960" cy="640080"/>
          </a:xfrm>
          <a:prstGeom prst="rect">
            <a:avLst/>
          </a:prstGeom>
          <a:noFill/>
          <a:ln/>
        </p:spPr>
        <p:txBody>
          <a:bodyPr wrap="square" lIns="0" tIns="0" rIns="0" bIns="0" rtlCol="0" anchor="t"/>
          <a:lstStyle/>
          <a:p>
            <a:pPr marL="0" indent="0">
              <a:buNone/>
            </a:pPr>
            <a:r>
              <a:rPr lang="en-US" sz="1300" dirty="0">
                <a:solidFill>
                  <a:srgbClr val="4A5B5E"/>
                </a:solidFill>
              </a:rPr>
              <a:t>An Object Created event reached Lambda and produced CloudWatch logs.</a:t>
            </a:r>
            <a:endParaRPr lang="en-US" sz="1300" dirty="0"/>
          </a:p>
        </p:txBody>
      </p:sp>
      <p:sp>
        <p:nvSpPr>
          <p:cNvPr id="39" name="card"/>
          <p:cNvSpPr/>
          <p:nvPr/>
        </p:nvSpPr>
        <p:spPr>
          <a:xfrm>
            <a:off x="8229600" y="3063240"/>
            <a:ext cx="3410712"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40" name="Validated failure path circle"/>
          <p:cNvSpPr/>
          <p:nvPr/>
        </p:nvSpPr>
        <p:spPr>
          <a:xfrm>
            <a:off x="8412480" y="3246120"/>
            <a:ext cx="475488" cy="475488"/>
          </a:xfrm>
          <a:prstGeom prst="ellipse">
            <a:avLst/>
          </a:prstGeom>
          <a:solidFill>
            <a:schemeClr val="accent4"/>
          </a:solidFill>
          <a:ln/>
        </p:spPr>
      </p:sp>
      <p:pic>
        <p:nvPicPr>
          <p:cNvPr id="41" name="Validated failure path" descr="preencoded.png"/>
          <p:cNvPicPr>
            <a:picLocks noChangeAspect="1"/>
          </p:cNvPicPr>
          <p:nvPr/>
        </p:nvPicPr>
        <p:blipFill>
          <a:blip r:embed="rId4"/>
          <a:stretch>
            <a:fillRect/>
          </a:stretch>
        </p:blipFill>
        <p:spPr>
          <a:xfrm>
            <a:off x="8526597" y="3360237"/>
            <a:ext cx="247254" cy="247254"/>
          </a:xfrm>
          <a:prstGeom prst="rect">
            <a:avLst/>
          </a:prstGeom>
        </p:spPr>
      </p:pic>
      <p:sp>
        <p:nvSpPr>
          <p:cNvPr id="42" name="Text 38"/>
          <p:cNvSpPr txBox="1"/>
          <p:nvPr/>
        </p:nvSpPr>
        <p:spPr>
          <a:xfrm>
            <a:off x="9006840" y="3264408"/>
            <a:ext cx="2560320" cy="411480"/>
          </a:xfrm>
          <a:prstGeom prst="rect">
            <a:avLst/>
          </a:prstGeom>
          <a:noFill/>
          <a:ln/>
        </p:spPr>
        <p:txBody>
          <a:bodyPr wrap="square" lIns="0" tIns="0" rIns="0" bIns="0" rtlCol="0" anchor="ctr"/>
          <a:lstStyle/>
          <a:p>
            <a:pPr marL="0" indent="0">
              <a:buNone/>
            </a:pPr>
            <a:r>
              <a:rPr lang="en-US" sz="1500" b="1" dirty="0">
                <a:solidFill>
                  <a:srgbClr val="132226"/>
                </a:solidFill>
              </a:rPr>
              <a:t>Validated failure path</a:t>
            </a:r>
            <a:endParaRPr lang="en-US" sz="1500" dirty="0"/>
          </a:p>
        </p:txBody>
      </p:sp>
      <p:sp>
        <p:nvSpPr>
          <p:cNvPr id="43" name="Text 39"/>
          <p:cNvSpPr txBox="1"/>
          <p:nvPr/>
        </p:nvSpPr>
        <p:spPr>
          <a:xfrm>
            <a:off x="8412480" y="3794760"/>
            <a:ext cx="3108960" cy="640080"/>
          </a:xfrm>
          <a:prstGeom prst="rect">
            <a:avLst/>
          </a:prstGeom>
          <a:noFill/>
          <a:ln/>
        </p:spPr>
        <p:txBody>
          <a:bodyPr wrap="square" lIns="0" tIns="0" rIns="0" bIns="0" rtlCol="0" anchor="t"/>
          <a:lstStyle/>
          <a:p>
            <a:pPr marL="0" indent="0">
              <a:buNone/>
            </a:pPr>
            <a:r>
              <a:rPr lang="en-US" sz="1300" dirty="0">
                <a:solidFill>
                  <a:srgbClr val="4A5B5E"/>
                </a:solidFill>
              </a:rPr>
              <a:t>An intentional fail/ object was retried 3 times, then moved to the DLQ.</a:t>
            </a:r>
            <a:endParaRPr lang="en-US" sz="1300" dirty="0"/>
          </a:p>
        </p:txBody>
      </p:sp>
      <p:sp>
        <p:nvSpPr>
          <p:cNvPr id="44" name="card"/>
          <p:cNvSpPr/>
          <p:nvPr/>
        </p:nvSpPr>
        <p:spPr>
          <a:xfrm>
            <a:off x="8229600" y="4663440"/>
            <a:ext cx="3410712"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45" name="Key lesson circle"/>
          <p:cNvSpPr/>
          <p:nvPr/>
        </p:nvSpPr>
        <p:spPr>
          <a:xfrm>
            <a:off x="8412480" y="4846320"/>
            <a:ext cx="475488" cy="475488"/>
          </a:xfrm>
          <a:prstGeom prst="ellipse">
            <a:avLst/>
          </a:prstGeom>
          <a:solidFill>
            <a:schemeClr val="accent2"/>
          </a:solidFill>
          <a:ln/>
        </p:spPr>
      </p:sp>
      <p:pic>
        <p:nvPicPr>
          <p:cNvPr id="46" name="Key lesson" descr="preencoded.png"/>
          <p:cNvPicPr>
            <a:picLocks noChangeAspect="1"/>
          </p:cNvPicPr>
          <p:nvPr/>
        </p:nvPicPr>
        <p:blipFill>
          <a:blip r:embed="rId5"/>
          <a:stretch>
            <a:fillRect/>
          </a:stretch>
        </p:blipFill>
        <p:spPr>
          <a:xfrm>
            <a:off x="8526597" y="4960437"/>
            <a:ext cx="247254" cy="247254"/>
          </a:xfrm>
          <a:prstGeom prst="rect">
            <a:avLst/>
          </a:prstGeom>
        </p:spPr>
      </p:pic>
      <p:sp>
        <p:nvSpPr>
          <p:cNvPr id="47" name="Text 42"/>
          <p:cNvSpPr txBox="1"/>
          <p:nvPr/>
        </p:nvSpPr>
        <p:spPr>
          <a:xfrm>
            <a:off x="9006840" y="4864608"/>
            <a:ext cx="2560320" cy="411480"/>
          </a:xfrm>
          <a:prstGeom prst="rect">
            <a:avLst/>
          </a:prstGeom>
          <a:noFill/>
          <a:ln/>
        </p:spPr>
        <p:txBody>
          <a:bodyPr wrap="square" lIns="0" tIns="0" rIns="0" bIns="0" rtlCol="0" anchor="ctr"/>
          <a:lstStyle/>
          <a:p>
            <a:pPr marL="0" indent="0">
              <a:buNone/>
            </a:pPr>
            <a:r>
              <a:rPr lang="en-US" sz="1500" b="1" dirty="0">
                <a:solidFill>
                  <a:srgbClr val="132226"/>
                </a:solidFill>
              </a:rPr>
              <a:t>Key lesson</a:t>
            </a:r>
            <a:endParaRPr lang="en-US" sz="1500" dirty="0"/>
          </a:p>
        </p:txBody>
      </p:sp>
      <p:sp>
        <p:nvSpPr>
          <p:cNvPr id="48" name="Text 43"/>
          <p:cNvSpPr txBox="1"/>
          <p:nvPr/>
        </p:nvSpPr>
        <p:spPr>
          <a:xfrm>
            <a:off x="8412480" y="5394960"/>
            <a:ext cx="3108960" cy="640080"/>
          </a:xfrm>
          <a:prstGeom prst="rect">
            <a:avLst/>
          </a:prstGeom>
          <a:noFill/>
          <a:ln/>
        </p:spPr>
        <p:txBody>
          <a:bodyPr wrap="square" lIns="0" tIns="0" rIns="0" bIns="0" rtlCol="0" anchor="t"/>
          <a:lstStyle/>
          <a:p>
            <a:pPr marL="0" indent="0">
              <a:buNone/>
            </a:pPr>
            <a:r>
              <a:rPr lang="en-US" sz="1300" dirty="0">
                <a:solidFill>
                  <a:srgbClr val="4A5B5E"/>
                </a:solidFill>
              </a:rPr>
              <a:t>Serverless still needs explicit retry, queue and failure semantics.</a:t>
            </a:r>
            <a:endParaRPr lang="en-US" sz="1300" dirty="0"/>
          </a:p>
        </p:txBody>
      </p:sp>
      <p:sp>
        <p:nvSpPr>
          <p:cNvPr id="49"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Milestone 8 — RAG knowledge pipeline</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Documents are converted into semantic vectors that can be searched by meaning.</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M8</a:t>
            </a:r>
            <a:endParaRPr lang="en-US" sz="1200" dirty="0"/>
          </a:p>
        </p:txBody>
      </p:sp>
      <p:sp>
        <p:nvSpPr>
          <p:cNvPr id="6" name="card"/>
          <p:cNvSpPr/>
          <p:nvPr/>
        </p:nvSpPr>
        <p:spPr>
          <a:xfrm>
            <a:off x="548640" y="1463040"/>
            <a:ext cx="7863840" cy="2240280"/>
          </a:xfrm>
          <a:prstGeom prst="roundRect">
            <a:avLst>
              <a:gd name="adj" fmla="val 4082"/>
            </a:avLst>
          </a:prstGeom>
          <a:solidFill>
            <a:srgbClr val="FFFFFF"/>
          </a:solidFill>
          <a:ln/>
          <a:effectLst>
            <a:outerShdw blurRad="114300" dist="25400" dir="5400000" algn="bl" rotWithShape="0">
              <a:srgbClr val="0E3B43">
                <a:alpha val="13000"/>
              </a:srgbClr>
            </a:outerShdw>
          </a:effectLst>
        </p:spPr>
      </p:sp>
      <p:sp>
        <p:nvSpPr>
          <p:cNvPr id="7" name="Text 5"/>
          <p:cNvSpPr txBox="1"/>
          <p:nvPr/>
        </p:nvSpPr>
        <p:spPr>
          <a:xfrm>
            <a:off x="777240" y="1572768"/>
            <a:ext cx="2743200" cy="274320"/>
          </a:xfrm>
          <a:prstGeom prst="rect">
            <a:avLst/>
          </a:prstGeom>
          <a:noFill/>
          <a:ln/>
        </p:spPr>
        <p:txBody>
          <a:bodyPr wrap="square" lIns="0" tIns="0" rIns="0" bIns="0" rtlCol="0" anchor="t"/>
          <a:lstStyle/>
          <a:p>
            <a:pPr marL="0" indent="0">
              <a:buNone/>
            </a:pPr>
            <a:r>
              <a:rPr lang="en-US" sz="1100" b="1" kern="0" spc="100" dirty="0">
                <a:solidFill>
                  <a:srgbClr val="A8620A"/>
                </a:solidFill>
              </a:rPr>
              <a:t>INGESTION</a:t>
            </a:r>
            <a:endParaRPr lang="en-US" sz="1100" dirty="0"/>
          </a:p>
        </p:txBody>
      </p:sp>
      <p:sp>
        <p:nvSpPr>
          <p:cNvPr id="8" name="chip S3"/>
          <p:cNvSpPr/>
          <p:nvPr/>
        </p:nvSpPr>
        <p:spPr>
          <a:xfrm>
            <a:off x="777240" y="1938528"/>
            <a:ext cx="1051560" cy="685800"/>
          </a:xfrm>
          <a:prstGeom prst="roundRect">
            <a:avLst>
              <a:gd name="adj" fmla="val 9333"/>
            </a:avLst>
          </a:prstGeom>
          <a:solidFill>
            <a:srgbClr val="E0F3EE"/>
          </a:solidFill>
          <a:ln/>
        </p:spPr>
      </p:sp>
      <p:sp>
        <p:nvSpPr>
          <p:cNvPr id="9" name="Text 7"/>
          <p:cNvSpPr txBox="1"/>
          <p:nvPr/>
        </p:nvSpPr>
        <p:spPr>
          <a:xfrm>
            <a:off x="832104" y="1938528"/>
            <a:ext cx="941832" cy="685800"/>
          </a:xfrm>
          <a:prstGeom prst="rect">
            <a:avLst/>
          </a:prstGeom>
          <a:noFill/>
          <a:ln/>
        </p:spPr>
        <p:txBody>
          <a:bodyPr wrap="square" lIns="0" tIns="0" rIns="0" bIns="0" rtlCol="0" anchor="ctr"/>
          <a:lstStyle/>
          <a:p>
            <a:pPr marL="0" indent="0" algn="ctr">
              <a:buNone/>
            </a:pPr>
            <a:r>
              <a:rPr lang="en-US" sz="1250" b="1" dirty="0">
                <a:solidFill>
                  <a:srgbClr val="132226"/>
                </a:solidFill>
              </a:rPr>
              <a:t>S3</a:t>
            </a:r>
            <a:endParaRPr lang="en-US" sz="1400" dirty="0"/>
          </a:p>
          <a:p>
            <a:pPr marL="0" indent="0" algn="ctr">
              <a:buNone/>
            </a:pPr>
            <a:r>
              <a:rPr lang="en-US" sz="1000" dirty="0">
                <a:solidFill>
                  <a:srgbClr val="4A5B5E"/>
                </a:solidFill>
              </a:rPr>
              <a:t>knowledge file</a:t>
            </a:r>
            <a:endParaRPr lang="en-US" sz="1400" dirty="0"/>
          </a:p>
        </p:txBody>
      </p:sp>
      <p:sp>
        <p:nvSpPr>
          <p:cNvPr id="10" name="connector"/>
          <p:cNvSpPr/>
          <p:nvPr/>
        </p:nvSpPr>
        <p:spPr>
          <a:xfrm>
            <a:off x="1856232" y="2281428"/>
            <a:ext cx="128016" cy="0"/>
          </a:xfrm>
          <a:prstGeom prst="line">
            <a:avLst/>
          </a:prstGeom>
          <a:noFill/>
          <a:ln w="19050">
            <a:solidFill>
              <a:srgbClr val="A8620A"/>
            </a:solidFill>
            <a:prstDash val="solid"/>
            <a:tailEnd type="triangle"/>
          </a:ln>
        </p:spPr>
      </p:sp>
      <p:sp>
        <p:nvSpPr>
          <p:cNvPr id="11" name="chip EventBridge"/>
          <p:cNvSpPr/>
          <p:nvPr/>
        </p:nvSpPr>
        <p:spPr>
          <a:xfrm>
            <a:off x="2011680" y="1938528"/>
            <a:ext cx="1097280" cy="685800"/>
          </a:xfrm>
          <a:prstGeom prst="roundRect">
            <a:avLst>
              <a:gd name="adj" fmla="val 9333"/>
            </a:avLst>
          </a:prstGeom>
          <a:solidFill>
            <a:srgbClr val="EEF4F3"/>
          </a:solidFill>
          <a:ln/>
        </p:spPr>
      </p:sp>
      <p:sp>
        <p:nvSpPr>
          <p:cNvPr id="12" name="Text 10"/>
          <p:cNvSpPr txBox="1"/>
          <p:nvPr/>
        </p:nvSpPr>
        <p:spPr>
          <a:xfrm>
            <a:off x="2066544" y="1938528"/>
            <a:ext cx="987552" cy="685800"/>
          </a:xfrm>
          <a:prstGeom prst="rect">
            <a:avLst/>
          </a:prstGeom>
          <a:noFill/>
          <a:ln/>
        </p:spPr>
        <p:txBody>
          <a:bodyPr wrap="square" lIns="0" tIns="0" rIns="0" bIns="0" rtlCol="0" anchor="ctr"/>
          <a:lstStyle/>
          <a:p>
            <a:pPr marL="0" indent="0" algn="ctr">
              <a:buNone/>
            </a:pPr>
            <a:r>
              <a:rPr lang="en-US" sz="1250" b="1" dirty="0">
                <a:solidFill>
                  <a:srgbClr val="132226"/>
                </a:solidFill>
              </a:rPr>
              <a:t>EventBridge</a:t>
            </a:r>
            <a:endParaRPr lang="en-US" sz="1400" dirty="0"/>
          </a:p>
        </p:txBody>
      </p:sp>
      <p:sp>
        <p:nvSpPr>
          <p:cNvPr id="13" name="connector"/>
          <p:cNvSpPr/>
          <p:nvPr/>
        </p:nvSpPr>
        <p:spPr>
          <a:xfrm>
            <a:off x="3136392" y="2281428"/>
            <a:ext cx="128016" cy="0"/>
          </a:xfrm>
          <a:prstGeom prst="line">
            <a:avLst/>
          </a:prstGeom>
          <a:noFill/>
          <a:ln w="19050">
            <a:solidFill>
              <a:srgbClr val="A8620A"/>
            </a:solidFill>
            <a:prstDash val="solid"/>
            <a:tailEnd type="triangle"/>
          </a:ln>
        </p:spPr>
      </p:sp>
      <p:sp>
        <p:nvSpPr>
          <p:cNvPr id="14" name="chip SQS"/>
          <p:cNvSpPr/>
          <p:nvPr/>
        </p:nvSpPr>
        <p:spPr>
          <a:xfrm>
            <a:off x="3291840" y="1938528"/>
            <a:ext cx="640080" cy="685800"/>
          </a:xfrm>
          <a:prstGeom prst="roundRect">
            <a:avLst>
              <a:gd name="adj" fmla="val 10000"/>
            </a:avLst>
          </a:prstGeom>
          <a:solidFill>
            <a:srgbClr val="EEF4F3"/>
          </a:solidFill>
          <a:ln/>
        </p:spPr>
      </p:sp>
      <p:sp>
        <p:nvSpPr>
          <p:cNvPr id="15" name="Text 13"/>
          <p:cNvSpPr txBox="1"/>
          <p:nvPr/>
        </p:nvSpPr>
        <p:spPr>
          <a:xfrm>
            <a:off x="3346704" y="1938528"/>
            <a:ext cx="530352" cy="685800"/>
          </a:xfrm>
          <a:prstGeom prst="rect">
            <a:avLst/>
          </a:prstGeom>
          <a:noFill/>
          <a:ln/>
        </p:spPr>
        <p:txBody>
          <a:bodyPr wrap="square" lIns="0" tIns="0" rIns="0" bIns="0" rtlCol="0" anchor="ctr"/>
          <a:lstStyle/>
          <a:p>
            <a:pPr marL="0" indent="0" algn="ctr">
              <a:buNone/>
            </a:pPr>
            <a:r>
              <a:rPr lang="en-US" sz="1250" b="1" dirty="0">
                <a:solidFill>
                  <a:srgbClr val="132226"/>
                </a:solidFill>
              </a:rPr>
              <a:t>SQS</a:t>
            </a:r>
            <a:endParaRPr lang="en-US" sz="1400" dirty="0"/>
          </a:p>
        </p:txBody>
      </p:sp>
      <p:sp>
        <p:nvSpPr>
          <p:cNvPr id="16" name="connector"/>
          <p:cNvSpPr/>
          <p:nvPr/>
        </p:nvSpPr>
        <p:spPr>
          <a:xfrm>
            <a:off x="3959352" y="2281428"/>
            <a:ext cx="128016" cy="0"/>
          </a:xfrm>
          <a:prstGeom prst="line">
            <a:avLst/>
          </a:prstGeom>
          <a:noFill/>
          <a:ln w="19050">
            <a:solidFill>
              <a:srgbClr val="A8620A"/>
            </a:solidFill>
            <a:prstDash val="solid"/>
            <a:tailEnd type="triangle"/>
          </a:ln>
        </p:spPr>
      </p:sp>
      <p:sp>
        <p:nvSpPr>
          <p:cNvPr id="17" name="chip Lambda"/>
          <p:cNvSpPr/>
          <p:nvPr/>
        </p:nvSpPr>
        <p:spPr>
          <a:xfrm>
            <a:off x="4114800" y="1938528"/>
            <a:ext cx="1143000" cy="685800"/>
          </a:xfrm>
          <a:prstGeom prst="roundRect">
            <a:avLst>
              <a:gd name="adj" fmla="val 9333"/>
            </a:avLst>
          </a:prstGeom>
          <a:solidFill>
            <a:srgbClr val="FDF0DC"/>
          </a:solidFill>
          <a:ln/>
        </p:spPr>
      </p:sp>
      <p:sp>
        <p:nvSpPr>
          <p:cNvPr id="18" name="Text 16"/>
          <p:cNvSpPr txBox="1"/>
          <p:nvPr/>
        </p:nvSpPr>
        <p:spPr>
          <a:xfrm>
            <a:off x="4169664" y="1938528"/>
            <a:ext cx="1033272" cy="685800"/>
          </a:xfrm>
          <a:prstGeom prst="rect">
            <a:avLst/>
          </a:prstGeom>
          <a:noFill/>
          <a:ln/>
        </p:spPr>
        <p:txBody>
          <a:bodyPr wrap="square" lIns="0" tIns="0" rIns="0" bIns="0" rtlCol="0" anchor="ctr"/>
          <a:lstStyle/>
          <a:p>
            <a:pPr marL="0" indent="0" algn="ctr">
              <a:buNone/>
            </a:pPr>
            <a:r>
              <a:rPr lang="en-US" sz="1250" b="1" dirty="0">
                <a:solidFill>
                  <a:srgbClr val="132226"/>
                </a:solidFill>
              </a:rPr>
              <a:t>Lambda</a:t>
            </a:r>
            <a:endParaRPr lang="en-US" sz="1400" dirty="0"/>
          </a:p>
          <a:p>
            <a:pPr marL="0" indent="0" algn="ctr">
              <a:buNone/>
            </a:pPr>
            <a:r>
              <a:rPr lang="en-US" sz="1000" dirty="0">
                <a:solidFill>
                  <a:srgbClr val="4A5B5E"/>
                </a:solidFill>
              </a:rPr>
              <a:t>chunk 200 / 40</a:t>
            </a:r>
            <a:endParaRPr lang="en-US" sz="1400" dirty="0"/>
          </a:p>
        </p:txBody>
      </p:sp>
      <p:sp>
        <p:nvSpPr>
          <p:cNvPr id="19" name="connector"/>
          <p:cNvSpPr/>
          <p:nvPr/>
        </p:nvSpPr>
        <p:spPr>
          <a:xfrm>
            <a:off x="5285232" y="2281428"/>
            <a:ext cx="128016" cy="0"/>
          </a:xfrm>
          <a:prstGeom prst="line">
            <a:avLst/>
          </a:prstGeom>
          <a:noFill/>
          <a:ln w="19050">
            <a:solidFill>
              <a:srgbClr val="A8620A"/>
            </a:solidFill>
            <a:prstDash val="solid"/>
            <a:tailEnd type="triangle"/>
          </a:ln>
        </p:spPr>
      </p:sp>
      <p:sp>
        <p:nvSpPr>
          <p:cNvPr id="20" name="chip Titan"/>
          <p:cNvSpPr/>
          <p:nvPr/>
        </p:nvSpPr>
        <p:spPr>
          <a:xfrm>
            <a:off x="5440680" y="1938528"/>
            <a:ext cx="1188720" cy="685800"/>
          </a:xfrm>
          <a:prstGeom prst="roundRect">
            <a:avLst>
              <a:gd name="adj" fmla="val 9333"/>
            </a:avLst>
          </a:prstGeom>
          <a:solidFill>
            <a:srgbClr val="E7EAF2"/>
          </a:solidFill>
          <a:ln/>
        </p:spPr>
      </p:sp>
      <p:sp>
        <p:nvSpPr>
          <p:cNvPr id="21" name="Text 19"/>
          <p:cNvSpPr txBox="1"/>
          <p:nvPr/>
        </p:nvSpPr>
        <p:spPr>
          <a:xfrm>
            <a:off x="5495544" y="1938528"/>
            <a:ext cx="1078992" cy="685800"/>
          </a:xfrm>
          <a:prstGeom prst="rect">
            <a:avLst/>
          </a:prstGeom>
          <a:noFill/>
          <a:ln/>
        </p:spPr>
        <p:txBody>
          <a:bodyPr wrap="square" lIns="0" tIns="0" rIns="0" bIns="0" rtlCol="0" anchor="ctr"/>
          <a:lstStyle/>
          <a:p>
            <a:pPr marL="0" indent="0" algn="ctr">
              <a:buNone/>
            </a:pPr>
            <a:r>
              <a:rPr lang="en-US" sz="1250" b="1" dirty="0">
                <a:solidFill>
                  <a:srgbClr val="132226"/>
                </a:solidFill>
              </a:rPr>
              <a:t>Titan</a:t>
            </a:r>
            <a:endParaRPr lang="en-US" sz="1400" dirty="0"/>
          </a:p>
          <a:p>
            <a:pPr marL="0" indent="0" algn="ctr">
              <a:buNone/>
            </a:pPr>
            <a:r>
              <a:rPr lang="en-US" sz="1000" dirty="0">
                <a:solidFill>
                  <a:srgbClr val="4A5B5E"/>
                </a:solidFill>
              </a:rPr>
              <a:t>Embeddings V2</a:t>
            </a:r>
            <a:endParaRPr lang="en-US" sz="1400" dirty="0"/>
          </a:p>
        </p:txBody>
      </p:sp>
      <p:sp>
        <p:nvSpPr>
          <p:cNvPr id="22" name="connector"/>
          <p:cNvSpPr/>
          <p:nvPr/>
        </p:nvSpPr>
        <p:spPr>
          <a:xfrm>
            <a:off x="6656832" y="2281428"/>
            <a:ext cx="128016" cy="0"/>
          </a:xfrm>
          <a:prstGeom prst="line">
            <a:avLst/>
          </a:prstGeom>
          <a:noFill/>
          <a:ln w="19050">
            <a:solidFill>
              <a:srgbClr val="A8620A"/>
            </a:solidFill>
            <a:prstDash val="solid"/>
            <a:tailEnd type="triangle"/>
          </a:ln>
        </p:spPr>
      </p:sp>
      <p:sp>
        <p:nvSpPr>
          <p:cNvPr id="23" name="chip S3 Vectors"/>
          <p:cNvSpPr/>
          <p:nvPr/>
        </p:nvSpPr>
        <p:spPr>
          <a:xfrm>
            <a:off x="6812280" y="1938528"/>
            <a:ext cx="1097280" cy="685800"/>
          </a:xfrm>
          <a:prstGeom prst="roundRect">
            <a:avLst>
              <a:gd name="adj" fmla="val 9333"/>
            </a:avLst>
          </a:prstGeom>
          <a:solidFill>
            <a:srgbClr val="E1F0EF"/>
          </a:solidFill>
          <a:ln/>
        </p:spPr>
      </p:sp>
      <p:sp>
        <p:nvSpPr>
          <p:cNvPr id="24" name="Text 22"/>
          <p:cNvSpPr txBox="1"/>
          <p:nvPr/>
        </p:nvSpPr>
        <p:spPr>
          <a:xfrm>
            <a:off x="6867144" y="1938528"/>
            <a:ext cx="987552" cy="685800"/>
          </a:xfrm>
          <a:prstGeom prst="rect">
            <a:avLst/>
          </a:prstGeom>
          <a:noFill/>
          <a:ln/>
        </p:spPr>
        <p:txBody>
          <a:bodyPr wrap="square" lIns="0" tIns="0" rIns="0" bIns="0" rtlCol="0" anchor="ctr"/>
          <a:lstStyle/>
          <a:p>
            <a:pPr marL="0" indent="0" algn="ctr">
              <a:buNone/>
            </a:pPr>
            <a:r>
              <a:rPr lang="en-US" sz="1250" b="1" dirty="0">
                <a:solidFill>
                  <a:srgbClr val="132226"/>
                </a:solidFill>
              </a:rPr>
              <a:t>S3 Vectors</a:t>
            </a:r>
            <a:endParaRPr lang="en-US" sz="1400" dirty="0"/>
          </a:p>
          <a:p>
            <a:pPr marL="0" indent="0" algn="ctr">
              <a:buNone/>
            </a:pPr>
            <a:r>
              <a:rPr lang="en-US" sz="1000" dirty="0">
                <a:solidFill>
                  <a:srgbClr val="4A5B5E"/>
                </a:solidFill>
              </a:rPr>
              <a:t>vector index</a:t>
            </a:r>
            <a:endParaRPr lang="en-US" sz="1400" dirty="0"/>
          </a:p>
        </p:txBody>
      </p:sp>
      <p:sp>
        <p:nvSpPr>
          <p:cNvPr id="25" name="Text 23"/>
          <p:cNvSpPr txBox="1"/>
          <p:nvPr/>
        </p:nvSpPr>
        <p:spPr>
          <a:xfrm>
            <a:off x="777240" y="2926080"/>
            <a:ext cx="7498080" cy="457200"/>
          </a:xfrm>
          <a:prstGeom prst="rect">
            <a:avLst/>
          </a:prstGeom>
          <a:noFill/>
          <a:ln/>
        </p:spPr>
        <p:txBody>
          <a:bodyPr wrap="square" lIns="0" tIns="0" rIns="0" bIns="0" rtlCol="0" anchor="ctr"/>
          <a:lstStyle/>
          <a:p>
            <a:pPr marL="0" indent="0">
              <a:buNone/>
            </a:pPr>
            <a:r>
              <a:rPr lang="en-US" sz="1300" b="1" dirty="0">
                <a:solidFill>
                  <a:srgbClr val="0E7C7B"/>
                </a:solidFill>
              </a:rPr>
              <a:t>1024 dimensions  ·  float32  ·  cosine distance  ·  source metadata on every vector</a:t>
            </a:r>
            <a:endParaRPr lang="en-US" sz="1300" dirty="0"/>
          </a:p>
        </p:txBody>
      </p:sp>
      <p:sp>
        <p:nvSpPr>
          <p:cNvPr id="26" name="card"/>
          <p:cNvSpPr/>
          <p:nvPr/>
        </p:nvSpPr>
        <p:spPr>
          <a:xfrm>
            <a:off x="548640" y="3886200"/>
            <a:ext cx="7863840" cy="1828800"/>
          </a:xfrm>
          <a:prstGeom prst="roundRect">
            <a:avLst>
              <a:gd name="adj" fmla="val 5000"/>
            </a:avLst>
          </a:prstGeom>
          <a:solidFill>
            <a:srgbClr val="FFFFFF"/>
          </a:solidFill>
          <a:ln/>
          <a:effectLst>
            <a:outerShdw blurRad="114300" dist="25400" dir="5400000" algn="bl" rotWithShape="0">
              <a:srgbClr val="0E3B43">
                <a:alpha val="13000"/>
              </a:srgbClr>
            </a:outerShdw>
          </a:effectLst>
        </p:spPr>
      </p:sp>
      <p:sp>
        <p:nvSpPr>
          <p:cNvPr id="27" name="Text 25"/>
          <p:cNvSpPr txBox="1"/>
          <p:nvPr/>
        </p:nvSpPr>
        <p:spPr>
          <a:xfrm>
            <a:off x="777240" y="3995928"/>
            <a:ext cx="2743200" cy="274320"/>
          </a:xfrm>
          <a:prstGeom prst="rect">
            <a:avLst/>
          </a:prstGeom>
          <a:noFill/>
          <a:ln/>
        </p:spPr>
        <p:txBody>
          <a:bodyPr wrap="square" lIns="0" tIns="0" rIns="0" bIns="0" rtlCol="0" anchor="t"/>
          <a:lstStyle/>
          <a:p>
            <a:pPr marL="0" indent="0">
              <a:buNone/>
            </a:pPr>
            <a:r>
              <a:rPr lang="en-US" sz="1100" b="1" kern="0" spc="100" dirty="0">
                <a:solidFill>
                  <a:srgbClr val="0E7C7B"/>
                </a:solidFill>
              </a:rPr>
              <a:t>RETRIEVAL</a:t>
            </a:r>
            <a:endParaRPr lang="en-US" sz="1100" dirty="0"/>
          </a:p>
        </p:txBody>
      </p:sp>
      <p:sp>
        <p:nvSpPr>
          <p:cNvPr id="28" name="chip User question"/>
          <p:cNvSpPr/>
          <p:nvPr/>
        </p:nvSpPr>
        <p:spPr>
          <a:xfrm>
            <a:off x="777240" y="4389120"/>
            <a:ext cx="1417320" cy="731520"/>
          </a:xfrm>
          <a:prstGeom prst="roundRect">
            <a:avLst>
              <a:gd name="adj" fmla="val 8750"/>
            </a:avLst>
          </a:prstGeom>
          <a:solidFill>
            <a:srgbClr val="E7EAF2"/>
          </a:solidFill>
          <a:ln/>
        </p:spPr>
      </p:sp>
      <p:sp>
        <p:nvSpPr>
          <p:cNvPr id="29" name="Text 27"/>
          <p:cNvSpPr txBox="1"/>
          <p:nvPr/>
        </p:nvSpPr>
        <p:spPr>
          <a:xfrm>
            <a:off x="832104" y="4389120"/>
            <a:ext cx="1307592" cy="731520"/>
          </a:xfrm>
          <a:prstGeom prst="rect">
            <a:avLst/>
          </a:prstGeom>
          <a:noFill/>
          <a:ln/>
        </p:spPr>
        <p:txBody>
          <a:bodyPr wrap="square" lIns="0" tIns="0" rIns="0" bIns="0" rtlCol="0" anchor="ctr"/>
          <a:lstStyle/>
          <a:p>
            <a:pPr marL="0" indent="0" algn="ctr">
              <a:buNone/>
            </a:pPr>
            <a:r>
              <a:rPr lang="en-US" sz="1300" b="1" dirty="0">
                <a:solidFill>
                  <a:srgbClr val="132226"/>
                </a:solidFill>
              </a:rPr>
              <a:t>User question</a:t>
            </a:r>
            <a:endParaRPr lang="en-US" sz="1400" dirty="0"/>
          </a:p>
        </p:txBody>
      </p:sp>
      <p:sp>
        <p:nvSpPr>
          <p:cNvPr id="30" name="connector"/>
          <p:cNvSpPr/>
          <p:nvPr/>
        </p:nvSpPr>
        <p:spPr>
          <a:xfrm>
            <a:off x="2221992" y="4754880"/>
            <a:ext cx="265176" cy="0"/>
          </a:xfrm>
          <a:prstGeom prst="line">
            <a:avLst/>
          </a:prstGeom>
          <a:noFill/>
          <a:ln w="19050">
            <a:solidFill>
              <a:srgbClr val="0E7C7B"/>
            </a:solidFill>
            <a:prstDash val="solid"/>
            <a:tailEnd type="triangle"/>
          </a:ln>
        </p:spPr>
      </p:sp>
      <p:sp>
        <p:nvSpPr>
          <p:cNvPr id="31" name="chip Titan"/>
          <p:cNvSpPr/>
          <p:nvPr/>
        </p:nvSpPr>
        <p:spPr>
          <a:xfrm>
            <a:off x="2514600" y="4389120"/>
            <a:ext cx="1463040" cy="731520"/>
          </a:xfrm>
          <a:prstGeom prst="roundRect">
            <a:avLst>
              <a:gd name="adj" fmla="val 8750"/>
            </a:avLst>
          </a:prstGeom>
          <a:solidFill>
            <a:srgbClr val="E7EAF2"/>
          </a:solidFill>
          <a:ln/>
        </p:spPr>
      </p:sp>
      <p:sp>
        <p:nvSpPr>
          <p:cNvPr id="32" name="Text 30"/>
          <p:cNvSpPr txBox="1"/>
          <p:nvPr/>
        </p:nvSpPr>
        <p:spPr>
          <a:xfrm>
            <a:off x="2569464" y="4389120"/>
            <a:ext cx="1353312" cy="731520"/>
          </a:xfrm>
          <a:prstGeom prst="rect">
            <a:avLst/>
          </a:prstGeom>
          <a:noFill/>
          <a:ln/>
        </p:spPr>
        <p:txBody>
          <a:bodyPr wrap="square" lIns="0" tIns="0" rIns="0" bIns="0" rtlCol="0" anchor="ctr"/>
          <a:lstStyle/>
          <a:p>
            <a:pPr marL="0" indent="0" algn="ctr">
              <a:buNone/>
            </a:pPr>
            <a:r>
              <a:rPr lang="en-US" sz="1300" b="1" dirty="0">
                <a:solidFill>
                  <a:srgbClr val="132226"/>
                </a:solidFill>
              </a:rPr>
              <a:t>Titan</a:t>
            </a:r>
            <a:endParaRPr lang="en-US" sz="1400" dirty="0"/>
          </a:p>
          <a:p>
            <a:pPr marL="0" indent="0" algn="ctr">
              <a:buNone/>
            </a:pPr>
            <a:r>
              <a:rPr lang="en-US" sz="1050" dirty="0">
                <a:solidFill>
                  <a:srgbClr val="4A5B5E"/>
                </a:solidFill>
              </a:rPr>
              <a:t>query embedding</a:t>
            </a:r>
            <a:endParaRPr lang="en-US" sz="1400" dirty="0"/>
          </a:p>
        </p:txBody>
      </p:sp>
      <p:sp>
        <p:nvSpPr>
          <p:cNvPr id="33" name="connector"/>
          <p:cNvSpPr/>
          <p:nvPr/>
        </p:nvSpPr>
        <p:spPr>
          <a:xfrm>
            <a:off x="4005072" y="4754880"/>
            <a:ext cx="265176" cy="0"/>
          </a:xfrm>
          <a:prstGeom prst="line">
            <a:avLst/>
          </a:prstGeom>
          <a:noFill/>
          <a:ln w="19050">
            <a:solidFill>
              <a:srgbClr val="0E7C7B"/>
            </a:solidFill>
            <a:prstDash val="solid"/>
            <a:tailEnd type="triangle"/>
          </a:ln>
        </p:spPr>
      </p:sp>
      <p:sp>
        <p:nvSpPr>
          <p:cNvPr id="34" name="chip S3 Vectors"/>
          <p:cNvSpPr/>
          <p:nvPr/>
        </p:nvSpPr>
        <p:spPr>
          <a:xfrm>
            <a:off x="4297680" y="4389120"/>
            <a:ext cx="1600200" cy="731520"/>
          </a:xfrm>
          <a:prstGeom prst="roundRect">
            <a:avLst>
              <a:gd name="adj" fmla="val 8750"/>
            </a:avLst>
          </a:prstGeom>
          <a:solidFill>
            <a:srgbClr val="E1F0EF"/>
          </a:solidFill>
          <a:ln/>
        </p:spPr>
      </p:sp>
      <p:sp>
        <p:nvSpPr>
          <p:cNvPr id="35" name="Text 33"/>
          <p:cNvSpPr txBox="1"/>
          <p:nvPr/>
        </p:nvSpPr>
        <p:spPr>
          <a:xfrm>
            <a:off x="4352544" y="4389120"/>
            <a:ext cx="1490472" cy="731520"/>
          </a:xfrm>
          <a:prstGeom prst="rect">
            <a:avLst/>
          </a:prstGeom>
          <a:noFill/>
          <a:ln/>
        </p:spPr>
        <p:txBody>
          <a:bodyPr wrap="square" lIns="0" tIns="0" rIns="0" bIns="0" rtlCol="0" anchor="ctr"/>
          <a:lstStyle/>
          <a:p>
            <a:pPr marL="0" indent="0" algn="ctr">
              <a:buNone/>
            </a:pPr>
            <a:r>
              <a:rPr lang="en-US" sz="1300" b="1" dirty="0">
                <a:solidFill>
                  <a:srgbClr val="132226"/>
                </a:solidFill>
              </a:rPr>
              <a:t>S3 Vectors</a:t>
            </a:r>
            <a:endParaRPr lang="en-US" sz="1400" dirty="0"/>
          </a:p>
          <a:p>
            <a:pPr marL="0" indent="0" algn="ctr">
              <a:buNone/>
            </a:pPr>
            <a:r>
              <a:rPr lang="en-US" sz="1050" dirty="0">
                <a:solidFill>
                  <a:srgbClr val="4A5B5E"/>
                </a:solidFill>
              </a:rPr>
              <a:t>similarity search</a:t>
            </a:r>
            <a:endParaRPr lang="en-US" sz="1400" dirty="0"/>
          </a:p>
        </p:txBody>
      </p:sp>
      <p:sp>
        <p:nvSpPr>
          <p:cNvPr id="36" name="connector"/>
          <p:cNvSpPr/>
          <p:nvPr/>
        </p:nvSpPr>
        <p:spPr>
          <a:xfrm>
            <a:off x="5925312" y="4754880"/>
            <a:ext cx="265176" cy="0"/>
          </a:xfrm>
          <a:prstGeom prst="line">
            <a:avLst/>
          </a:prstGeom>
          <a:noFill/>
          <a:ln w="19050">
            <a:solidFill>
              <a:srgbClr val="0E7C7B"/>
            </a:solidFill>
            <a:prstDash val="solid"/>
            <a:tailEnd type="triangle"/>
          </a:ln>
        </p:spPr>
      </p:sp>
      <p:sp>
        <p:nvSpPr>
          <p:cNvPr id="37" name="chip Relevant"/>
          <p:cNvSpPr/>
          <p:nvPr/>
        </p:nvSpPr>
        <p:spPr>
          <a:xfrm>
            <a:off x="6217920" y="4389120"/>
            <a:ext cx="1417320" cy="731520"/>
          </a:xfrm>
          <a:prstGeom prst="roundRect">
            <a:avLst>
              <a:gd name="adj" fmla="val 8750"/>
            </a:avLst>
          </a:prstGeom>
          <a:solidFill>
            <a:srgbClr val="E0F3EE"/>
          </a:solidFill>
          <a:ln/>
        </p:spPr>
      </p:sp>
      <p:sp>
        <p:nvSpPr>
          <p:cNvPr id="38" name="Text 36"/>
          <p:cNvSpPr txBox="1"/>
          <p:nvPr/>
        </p:nvSpPr>
        <p:spPr>
          <a:xfrm>
            <a:off x="6272784" y="4389120"/>
            <a:ext cx="1307592" cy="731520"/>
          </a:xfrm>
          <a:prstGeom prst="rect">
            <a:avLst/>
          </a:prstGeom>
          <a:noFill/>
          <a:ln/>
        </p:spPr>
        <p:txBody>
          <a:bodyPr wrap="square" lIns="0" tIns="0" rIns="0" bIns="0" rtlCol="0" anchor="ctr"/>
          <a:lstStyle/>
          <a:p>
            <a:pPr marL="0" indent="0" algn="ctr">
              <a:buNone/>
            </a:pPr>
            <a:r>
              <a:rPr lang="en-US" sz="1300" b="1" dirty="0">
                <a:solidFill>
                  <a:srgbClr val="132226"/>
                </a:solidFill>
              </a:rPr>
              <a:t>Relevant</a:t>
            </a:r>
            <a:endParaRPr lang="en-US" sz="1400" dirty="0"/>
          </a:p>
          <a:p>
            <a:pPr marL="0" indent="0" algn="ctr">
              <a:buNone/>
            </a:pPr>
            <a:r>
              <a:rPr lang="en-US" sz="1050" dirty="0">
                <a:solidFill>
                  <a:srgbClr val="4A5B5E"/>
                </a:solidFill>
              </a:rPr>
              <a:t>source_text</a:t>
            </a:r>
            <a:endParaRPr lang="en-US" sz="1400" dirty="0"/>
          </a:p>
        </p:txBody>
      </p:sp>
      <p:sp>
        <p:nvSpPr>
          <p:cNvPr id="39" name="card"/>
          <p:cNvSpPr/>
          <p:nvPr/>
        </p:nvSpPr>
        <p:spPr>
          <a:xfrm>
            <a:off x="8641080" y="1463040"/>
            <a:ext cx="2999232" cy="4251960"/>
          </a:xfrm>
          <a:prstGeom prst="roundRect">
            <a:avLst>
              <a:gd name="adj" fmla="val 3049"/>
            </a:avLst>
          </a:prstGeom>
          <a:solidFill>
            <a:srgbClr val="FFFFFF"/>
          </a:solidFill>
          <a:ln/>
          <a:effectLst>
            <a:outerShdw blurRad="114300" dist="25400" dir="5400000" algn="bl" rotWithShape="0">
              <a:srgbClr val="0E3B43">
                <a:alpha val="13000"/>
              </a:srgbClr>
            </a:outerShdw>
          </a:effectLst>
        </p:spPr>
      </p:sp>
      <p:sp>
        <p:nvSpPr>
          <p:cNvPr id="40" name="proof circle"/>
          <p:cNvSpPr/>
          <p:nvPr/>
        </p:nvSpPr>
        <p:spPr>
          <a:xfrm>
            <a:off x="8869680" y="1664208"/>
            <a:ext cx="548640" cy="548640"/>
          </a:xfrm>
          <a:prstGeom prst="ellipse">
            <a:avLst/>
          </a:prstGeom>
          <a:solidFill>
            <a:schemeClr val="accent3"/>
          </a:solidFill>
          <a:ln/>
        </p:spPr>
      </p:sp>
      <p:pic>
        <p:nvPicPr>
          <p:cNvPr id="41" name="proof" descr="preencoded.png"/>
          <p:cNvPicPr>
            <a:picLocks noChangeAspect="1"/>
          </p:cNvPicPr>
          <p:nvPr/>
        </p:nvPicPr>
        <p:blipFill>
          <a:blip r:embed="rId3"/>
          <a:stretch>
            <a:fillRect/>
          </a:stretch>
        </p:blipFill>
        <p:spPr>
          <a:xfrm>
            <a:off x="9001354" y="1795882"/>
            <a:ext cx="285293" cy="285293"/>
          </a:xfrm>
          <a:prstGeom prst="rect">
            <a:avLst/>
          </a:prstGeom>
        </p:spPr>
      </p:pic>
      <p:sp>
        <p:nvSpPr>
          <p:cNvPr id="42" name="Text 39"/>
          <p:cNvSpPr txBox="1"/>
          <p:nvPr/>
        </p:nvSpPr>
        <p:spPr>
          <a:xfrm>
            <a:off x="9528048" y="1664208"/>
            <a:ext cx="2011680" cy="548640"/>
          </a:xfrm>
          <a:prstGeom prst="rect">
            <a:avLst/>
          </a:prstGeom>
          <a:noFill/>
          <a:ln/>
        </p:spPr>
        <p:txBody>
          <a:bodyPr wrap="square" lIns="0" tIns="0" rIns="0" bIns="0" rtlCol="0" anchor="ctr"/>
          <a:lstStyle/>
          <a:p>
            <a:pPr marL="0" indent="0">
              <a:buNone/>
            </a:pPr>
            <a:r>
              <a:rPr lang="en-US" sz="1600" b="1" dirty="0">
                <a:solidFill>
                  <a:srgbClr val="132226"/>
                </a:solidFill>
              </a:rPr>
              <a:t>Retrieval proof</a:t>
            </a:r>
            <a:endParaRPr lang="en-US" sz="1600" dirty="0"/>
          </a:p>
        </p:txBody>
      </p:sp>
      <p:sp>
        <p:nvSpPr>
          <p:cNvPr id="43" name="Text 40"/>
          <p:cNvSpPr txBox="1"/>
          <p:nvPr/>
        </p:nvSpPr>
        <p:spPr>
          <a:xfrm>
            <a:off x="8869680" y="2423160"/>
            <a:ext cx="2606040" cy="914400"/>
          </a:xfrm>
          <a:prstGeom prst="rect">
            <a:avLst/>
          </a:prstGeom>
          <a:noFill/>
          <a:ln/>
        </p:spPr>
        <p:txBody>
          <a:bodyPr wrap="square" lIns="0" tIns="0" rIns="0" bIns="0" rtlCol="0" anchor="t"/>
          <a:lstStyle/>
          <a:p>
            <a:pPr marL="0" indent="0">
              <a:buNone/>
            </a:pPr>
            <a:r>
              <a:rPr lang="en-US" sz="1400" dirty="0">
                <a:solidFill>
                  <a:srgbClr val="4A5B5E"/>
                </a:solidFill>
              </a:rPr>
              <a:t>Relevant LangNation knowledge was ranked ahead of an unrelated document.</a:t>
            </a:r>
            <a:endParaRPr lang="en-US" sz="1400" dirty="0"/>
          </a:p>
        </p:txBody>
      </p:sp>
      <p:sp>
        <p:nvSpPr>
          <p:cNvPr id="44" name="Text 41"/>
          <p:cNvSpPr txBox="1"/>
          <p:nvPr/>
        </p:nvSpPr>
        <p:spPr>
          <a:xfrm>
            <a:off x="8869680" y="3429000"/>
            <a:ext cx="2606040" cy="320040"/>
          </a:xfrm>
          <a:prstGeom prst="rect">
            <a:avLst/>
          </a:prstGeom>
          <a:noFill/>
          <a:ln/>
        </p:spPr>
        <p:txBody>
          <a:bodyPr wrap="square" lIns="0" tIns="0" rIns="0" bIns="0" rtlCol="0" anchor="t"/>
          <a:lstStyle/>
          <a:p>
            <a:pPr marL="0" indent="0">
              <a:buNone/>
            </a:pPr>
            <a:r>
              <a:rPr lang="en-US" sz="1400" b="1" dirty="0">
                <a:solidFill>
                  <a:srgbClr val="0E3B43"/>
                </a:solidFill>
              </a:rPr>
              <a:t>Why Titan for both?</a:t>
            </a:r>
            <a:endParaRPr lang="en-US" sz="1400" dirty="0"/>
          </a:p>
        </p:txBody>
      </p:sp>
      <p:sp>
        <p:nvSpPr>
          <p:cNvPr id="45" name="Text 42"/>
          <p:cNvSpPr txBox="1"/>
          <p:nvPr/>
        </p:nvSpPr>
        <p:spPr>
          <a:xfrm>
            <a:off x="8869680" y="3749040"/>
            <a:ext cx="2606040" cy="1280160"/>
          </a:xfrm>
          <a:prstGeom prst="rect">
            <a:avLst/>
          </a:prstGeom>
          <a:noFill/>
          <a:ln/>
        </p:spPr>
        <p:txBody>
          <a:bodyPr wrap="square" lIns="0" tIns="0" rIns="0" bIns="0" rtlCol="0" anchor="t"/>
          <a:lstStyle/>
          <a:p>
            <a:pPr marL="0" indent="0">
              <a:buNone/>
            </a:pPr>
            <a:r>
              <a:rPr lang="en-US" sz="1350" dirty="0">
                <a:solidFill>
                  <a:srgbClr val="4A5B5E"/>
                </a:solidFill>
              </a:rPr>
              <a:t>Documents and questions must live in the same semantic embedding space, or the search can’t compare them.</a:t>
            </a:r>
            <a:endParaRPr lang="en-US" sz="1350" dirty="0"/>
          </a:p>
        </p:txBody>
      </p:sp>
      <p:sp>
        <p:nvSpPr>
          <p:cNvPr id="46" name="lesson strip"/>
          <p:cNvSpPr/>
          <p:nvPr/>
        </p:nvSpPr>
        <p:spPr>
          <a:xfrm>
            <a:off x="548640" y="5852160"/>
            <a:ext cx="11091672" cy="384048"/>
          </a:xfrm>
          <a:prstGeom prst="roundRect">
            <a:avLst>
              <a:gd name="adj" fmla="val 19048"/>
            </a:avLst>
          </a:prstGeom>
          <a:solidFill>
            <a:srgbClr val="FDF0DC"/>
          </a:solidFill>
          <a:ln/>
        </p:spPr>
      </p:sp>
      <p:sp>
        <p:nvSpPr>
          <p:cNvPr id="47" name="Text 44"/>
          <p:cNvSpPr txBox="1"/>
          <p:nvPr/>
        </p:nvSpPr>
        <p:spPr>
          <a:xfrm>
            <a:off x="777240" y="5852160"/>
            <a:ext cx="10698480" cy="384048"/>
          </a:xfrm>
          <a:prstGeom prst="rect">
            <a:avLst/>
          </a:prstGeom>
          <a:noFill/>
          <a:ln/>
        </p:spPr>
        <p:txBody>
          <a:bodyPr wrap="square" lIns="0" tIns="0" rIns="0" bIns="0" rtlCol="0" anchor="ctr"/>
          <a:lstStyle/>
          <a:p>
            <a:pPr marL="0" indent="0">
              <a:buNone/>
            </a:pPr>
            <a:r>
              <a:rPr lang="en-US" sz="1350" b="1" dirty="0">
                <a:solidFill>
                  <a:srgbClr val="A8620A"/>
                </a:solidFill>
              </a:rPr>
              <a:t>Lesson:  </a:t>
            </a:r>
            <a:r>
              <a:rPr lang="en-US" sz="1350" dirty="0">
                <a:solidFill>
                  <a:srgbClr val="132226"/>
                </a:solidFill>
              </a:rPr>
              <a:t>RAG starts with retrieval quality — ingest correctly → embed consistently → prove semantic ranking.</a:t>
            </a:r>
            <a:endParaRPr lang="en-US" sz="1350" dirty="0"/>
          </a:p>
        </p:txBody>
      </p:sp>
      <p:sp>
        <p:nvSpPr>
          <p:cNvPr id="48"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Milestone 9 — Real application &amp; Lina RAG runtime</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The capstone moved from a demo API to sanitized real application data and grounded AI answers.</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M9</a:t>
            </a:r>
            <a:endParaRPr lang="en-US" sz="1200" dirty="0"/>
          </a:p>
        </p:txBody>
      </p:sp>
      <p:sp>
        <p:nvSpPr>
          <p:cNvPr id="6" name="card"/>
          <p:cNvSpPr/>
          <p:nvPr/>
        </p:nvSpPr>
        <p:spPr>
          <a:xfrm>
            <a:off x="548640" y="1463040"/>
            <a:ext cx="7635240" cy="2103120"/>
          </a:xfrm>
          <a:prstGeom prst="roundRect">
            <a:avLst>
              <a:gd name="adj" fmla="val 4348"/>
            </a:avLst>
          </a:prstGeom>
          <a:solidFill>
            <a:srgbClr val="FFFFFF"/>
          </a:solidFill>
          <a:ln/>
          <a:effectLst>
            <a:outerShdw blurRad="114300" dist="25400" dir="5400000" algn="bl" rotWithShape="0">
              <a:srgbClr val="0E3B43">
                <a:alpha val="13000"/>
              </a:srgbClr>
            </a:outerShdw>
          </a:effectLst>
        </p:spPr>
      </p:sp>
      <p:sp>
        <p:nvSpPr>
          <p:cNvPr id="7" name="Text 5"/>
          <p:cNvSpPr txBox="1"/>
          <p:nvPr/>
        </p:nvSpPr>
        <p:spPr>
          <a:xfrm>
            <a:off x="777240" y="1572768"/>
            <a:ext cx="3657600" cy="274320"/>
          </a:xfrm>
          <a:prstGeom prst="rect">
            <a:avLst/>
          </a:prstGeom>
          <a:noFill/>
          <a:ln/>
        </p:spPr>
        <p:txBody>
          <a:bodyPr wrap="square" lIns="0" tIns="0" rIns="0" bIns="0" rtlCol="0" anchor="t"/>
          <a:lstStyle/>
          <a:p>
            <a:pPr marL="0" indent="0">
              <a:buNone/>
            </a:pPr>
            <a:r>
              <a:rPr lang="en-US" sz="1100" b="1" kern="0" spc="100" dirty="0">
                <a:solidFill>
                  <a:srgbClr val="5B6C8F"/>
                </a:solidFill>
              </a:rPr>
              <a:t>DATABASE RECOVERY</a:t>
            </a:r>
            <a:endParaRPr lang="en-US" sz="1100" dirty="0"/>
          </a:p>
        </p:txBody>
      </p:sp>
      <p:sp>
        <p:nvSpPr>
          <p:cNvPr id="8" name="chip Restore image"/>
          <p:cNvSpPr/>
          <p:nvPr/>
        </p:nvSpPr>
        <p:spPr>
          <a:xfrm>
            <a:off x="777240" y="1965960"/>
            <a:ext cx="1463040" cy="713232"/>
          </a:xfrm>
          <a:prstGeom prst="roundRect">
            <a:avLst>
              <a:gd name="adj" fmla="val 8974"/>
            </a:avLst>
          </a:prstGeom>
          <a:solidFill>
            <a:srgbClr val="FDF0DC"/>
          </a:solidFill>
          <a:ln/>
        </p:spPr>
      </p:sp>
      <p:sp>
        <p:nvSpPr>
          <p:cNvPr id="9" name="Text 7"/>
          <p:cNvSpPr txBox="1"/>
          <p:nvPr/>
        </p:nvSpPr>
        <p:spPr>
          <a:xfrm>
            <a:off x="832104" y="1965960"/>
            <a:ext cx="1353312" cy="713232"/>
          </a:xfrm>
          <a:prstGeom prst="rect">
            <a:avLst/>
          </a:prstGeom>
          <a:noFill/>
          <a:ln/>
        </p:spPr>
        <p:txBody>
          <a:bodyPr wrap="square" lIns="0" tIns="0" rIns="0" bIns="0" rtlCol="0" anchor="ctr"/>
          <a:lstStyle/>
          <a:p>
            <a:pPr marL="0" indent="0" algn="ctr">
              <a:buNone/>
            </a:pPr>
            <a:r>
              <a:rPr lang="en-US" sz="1300" b="1" dirty="0">
                <a:solidFill>
                  <a:srgbClr val="132226"/>
                </a:solidFill>
              </a:rPr>
              <a:t>Restore image</a:t>
            </a:r>
            <a:endParaRPr lang="en-US" sz="1400" dirty="0"/>
          </a:p>
          <a:p>
            <a:pPr marL="0" indent="0" algn="ctr">
              <a:buNone/>
            </a:pPr>
            <a:r>
              <a:rPr lang="en-US" sz="1050" dirty="0">
                <a:solidFill>
                  <a:srgbClr val="4A5B5E"/>
                </a:solidFill>
              </a:rPr>
              <a:t>dedicated · ECR</a:t>
            </a:r>
            <a:endParaRPr lang="en-US" sz="1400" dirty="0"/>
          </a:p>
        </p:txBody>
      </p:sp>
      <p:sp>
        <p:nvSpPr>
          <p:cNvPr id="10" name="connector"/>
          <p:cNvSpPr/>
          <p:nvPr/>
        </p:nvSpPr>
        <p:spPr>
          <a:xfrm>
            <a:off x="2267712" y="2322576"/>
            <a:ext cx="219456" cy="0"/>
          </a:xfrm>
          <a:prstGeom prst="line">
            <a:avLst/>
          </a:prstGeom>
          <a:noFill/>
          <a:ln w="19050">
            <a:solidFill>
              <a:srgbClr val="5B6C8F"/>
            </a:solidFill>
            <a:prstDash val="solid"/>
            <a:tailEnd type="triangle"/>
          </a:ln>
        </p:spPr>
      </p:sp>
      <p:sp>
        <p:nvSpPr>
          <p:cNvPr id="11" name="chip One-off task"/>
          <p:cNvSpPr/>
          <p:nvPr/>
        </p:nvSpPr>
        <p:spPr>
          <a:xfrm>
            <a:off x="2514600" y="1965960"/>
            <a:ext cx="1371600" cy="713232"/>
          </a:xfrm>
          <a:prstGeom prst="roundRect">
            <a:avLst>
              <a:gd name="adj" fmla="val 8974"/>
            </a:avLst>
          </a:prstGeom>
          <a:solidFill>
            <a:srgbClr val="E1F0EF"/>
          </a:solidFill>
          <a:ln/>
        </p:spPr>
      </p:sp>
      <p:sp>
        <p:nvSpPr>
          <p:cNvPr id="12" name="Text 10"/>
          <p:cNvSpPr txBox="1"/>
          <p:nvPr/>
        </p:nvSpPr>
        <p:spPr>
          <a:xfrm>
            <a:off x="2569464" y="1965960"/>
            <a:ext cx="1261872" cy="713232"/>
          </a:xfrm>
          <a:prstGeom prst="rect">
            <a:avLst/>
          </a:prstGeom>
          <a:noFill/>
          <a:ln/>
        </p:spPr>
        <p:txBody>
          <a:bodyPr wrap="square" lIns="0" tIns="0" rIns="0" bIns="0" rtlCol="0" anchor="ctr"/>
          <a:lstStyle/>
          <a:p>
            <a:pPr marL="0" indent="0" algn="ctr">
              <a:buNone/>
            </a:pPr>
            <a:r>
              <a:rPr lang="en-US" sz="1300" b="1" dirty="0">
                <a:solidFill>
                  <a:srgbClr val="132226"/>
                </a:solidFill>
              </a:rPr>
              <a:t>One-off task</a:t>
            </a:r>
            <a:endParaRPr lang="en-US" sz="1400" dirty="0"/>
          </a:p>
          <a:p>
            <a:pPr marL="0" indent="0" algn="ctr">
              <a:buNone/>
            </a:pPr>
            <a:r>
              <a:rPr lang="en-US" sz="1050" dirty="0">
                <a:solidFill>
                  <a:srgbClr val="4A5B5E"/>
                </a:solidFill>
              </a:rPr>
              <a:t>ECS Fargate</a:t>
            </a:r>
            <a:endParaRPr lang="en-US" sz="1400" dirty="0"/>
          </a:p>
        </p:txBody>
      </p:sp>
      <p:sp>
        <p:nvSpPr>
          <p:cNvPr id="13" name="connector"/>
          <p:cNvSpPr/>
          <p:nvPr/>
        </p:nvSpPr>
        <p:spPr>
          <a:xfrm>
            <a:off x="3913632" y="2322576"/>
            <a:ext cx="219456" cy="0"/>
          </a:xfrm>
          <a:prstGeom prst="line">
            <a:avLst/>
          </a:prstGeom>
          <a:noFill/>
          <a:ln w="19050">
            <a:solidFill>
              <a:srgbClr val="5B6C8F"/>
            </a:solidFill>
            <a:prstDash val="solid"/>
            <a:tailEnd type="triangle"/>
          </a:ln>
        </p:spPr>
      </p:sp>
      <p:sp>
        <p:nvSpPr>
          <p:cNvPr id="14" name="chip Secrets Manager"/>
          <p:cNvSpPr/>
          <p:nvPr/>
        </p:nvSpPr>
        <p:spPr>
          <a:xfrm>
            <a:off x="4160520" y="1965960"/>
            <a:ext cx="1554480" cy="713232"/>
          </a:xfrm>
          <a:prstGeom prst="roundRect">
            <a:avLst>
              <a:gd name="adj" fmla="val 8974"/>
            </a:avLst>
          </a:prstGeom>
          <a:solidFill>
            <a:srgbClr val="FBE4DE"/>
          </a:solidFill>
          <a:ln/>
        </p:spPr>
      </p:sp>
      <p:sp>
        <p:nvSpPr>
          <p:cNvPr id="15" name="Text 13"/>
          <p:cNvSpPr txBox="1"/>
          <p:nvPr/>
        </p:nvSpPr>
        <p:spPr>
          <a:xfrm>
            <a:off x="4215384" y="1965960"/>
            <a:ext cx="1444752" cy="713232"/>
          </a:xfrm>
          <a:prstGeom prst="rect">
            <a:avLst/>
          </a:prstGeom>
          <a:noFill/>
          <a:ln/>
        </p:spPr>
        <p:txBody>
          <a:bodyPr wrap="square" lIns="0" tIns="0" rIns="0" bIns="0" rtlCol="0" anchor="ctr"/>
          <a:lstStyle/>
          <a:p>
            <a:pPr marL="0" indent="0" algn="ctr">
              <a:buNone/>
            </a:pPr>
            <a:r>
              <a:rPr lang="en-US" sz="1300" b="1" dirty="0">
                <a:solidFill>
                  <a:srgbClr val="132226"/>
                </a:solidFill>
              </a:rPr>
              <a:t>Secrets Manager</a:t>
            </a:r>
            <a:endParaRPr lang="en-US" sz="1400" dirty="0"/>
          </a:p>
          <a:p>
            <a:pPr marL="0" indent="0" algn="ctr">
              <a:buNone/>
            </a:pPr>
            <a:r>
              <a:rPr lang="en-US" sz="1050" dirty="0">
                <a:solidFill>
                  <a:srgbClr val="4A5B5E"/>
                </a:solidFill>
              </a:rPr>
              <a:t>credentials</a:t>
            </a:r>
            <a:endParaRPr lang="en-US" sz="1400" dirty="0"/>
          </a:p>
        </p:txBody>
      </p:sp>
      <p:sp>
        <p:nvSpPr>
          <p:cNvPr id="16" name="connector"/>
          <p:cNvSpPr/>
          <p:nvPr/>
        </p:nvSpPr>
        <p:spPr>
          <a:xfrm>
            <a:off x="5742432" y="2322576"/>
            <a:ext cx="219456" cy="0"/>
          </a:xfrm>
          <a:prstGeom prst="line">
            <a:avLst/>
          </a:prstGeom>
          <a:noFill/>
          <a:ln w="19050">
            <a:solidFill>
              <a:srgbClr val="5B6C8F"/>
            </a:solidFill>
            <a:prstDash val="solid"/>
            <a:tailEnd type="triangle"/>
          </a:ln>
        </p:spPr>
      </p:sp>
      <p:sp>
        <p:nvSpPr>
          <p:cNvPr id="17" name="chip MariaDB"/>
          <p:cNvSpPr/>
          <p:nvPr/>
        </p:nvSpPr>
        <p:spPr>
          <a:xfrm>
            <a:off x="5989320" y="1965960"/>
            <a:ext cx="1417320" cy="713232"/>
          </a:xfrm>
          <a:prstGeom prst="roundRect">
            <a:avLst>
              <a:gd name="adj" fmla="val 8974"/>
            </a:avLst>
          </a:prstGeom>
          <a:solidFill>
            <a:srgbClr val="E7EAF2"/>
          </a:solidFill>
          <a:ln/>
        </p:spPr>
      </p:sp>
      <p:sp>
        <p:nvSpPr>
          <p:cNvPr id="18" name="Text 16"/>
          <p:cNvSpPr txBox="1"/>
          <p:nvPr/>
        </p:nvSpPr>
        <p:spPr>
          <a:xfrm>
            <a:off x="6044184" y="1965960"/>
            <a:ext cx="1307592" cy="713232"/>
          </a:xfrm>
          <a:prstGeom prst="rect">
            <a:avLst/>
          </a:prstGeom>
          <a:noFill/>
          <a:ln/>
        </p:spPr>
        <p:txBody>
          <a:bodyPr wrap="square" lIns="0" tIns="0" rIns="0" bIns="0" rtlCol="0" anchor="ctr"/>
          <a:lstStyle/>
          <a:p>
            <a:pPr marL="0" indent="0" algn="ctr">
              <a:buNone/>
            </a:pPr>
            <a:r>
              <a:rPr lang="en-US" sz="1300" b="1" dirty="0">
                <a:solidFill>
                  <a:srgbClr val="132226"/>
                </a:solidFill>
              </a:rPr>
              <a:t>MariaDB</a:t>
            </a:r>
            <a:endParaRPr lang="en-US" sz="1400" dirty="0"/>
          </a:p>
          <a:p>
            <a:pPr marL="0" indent="0" algn="ctr">
              <a:buNone/>
            </a:pPr>
            <a:r>
              <a:rPr lang="en-US" sz="1050" dirty="0">
                <a:solidFill>
                  <a:srgbClr val="4A5B5E"/>
                </a:solidFill>
              </a:rPr>
              <a:t>sanitized data</a:t>
            </a:r>
            <a:endParaRPr lang="en-US" sz="1400" dirty="0"/>
          </a:p>
        </p:txBody>
      </p:sp>
      <p:sp>
        <p:nvSpPr>
          <p:cNvPr id="19" name="Text 17"/>
          <p:cNvSpPr txBox="1"/>
          <p:nvPr/>
        </p:nvSpPr>
        <p:spPr>
          <a:xfrm>
            <a:off x="777240" y="2880360"/>
            <a:ext cx="7315200" cy="457200"/>
          </a:xfrm>
          <a:prstGeom prst="rect">
            <a:avLst/>
          </a:prstGeom>
          <a:noFill/>
          <a:ln/>
        </p:spPr>
        <p:txBody>
          <a:bodyPr wrap="square" lIns="0" tIns="0" rIns="0" bIns="0" rtlCol="0" anchor="ctr"/>
          <a:lstStyle/>
          <a:p>
            <a:pPr marL="0" indent="0">
              <a:buNone/>
            </a:pPr>
            <a:r>
              <a:rPr lang="en-US" sz="1350" b="1" dirty="0">
                <a:solidFill>
                  <a:srgbClr val="0E7C7B"/>
                </a:solidFill>
              </a:rPr>
              <a:t>58 tables restored  ·  /api/health → database = true over verified RDS TLS</a:t>
            </a:r>
            <a:endParaRPr lang="en-US" sz="1350" dirty="0"/>
          </a:p>
        </p:txBody>
      </p:sp>
      <p:sp>
        <p:nvSpPr>
          <p:cNvPr id="20" name="card"/>
          <p:cNvSpPr/>
          <p:nvPr/>
        </p:nvSpPr>
        <p:spPr>
          <a:xfrm>
            <a:off x="548640" y="3749040"/>
            <a:ext cx="7635240" cy="2423160"/>
          </a:xfrm>
          <a:prstGeom prst="roundRect">
            <a:avLst>
              <a:gd name="adj" fmla="val 3774"/>
            </a:avLst>
          </a:prstGeom>
          <a:solidFill>
            <a:srgbClr val="FFFFFF"/>
          </a:solidFill>
          <a:ln/>
          <a:effectLst>
            <a:outerShdw blurRad="114300" dist="25400" dir="5400000" algn="bl" rotWithShape="0">
              <a:srgbClr val="0E3B43">
                <a:alpha val="13000"/>
              </a:srgbClr>
            </a:outerShdw>
          </a:effectLst>
        </p:spPr>
      </p:sp>
      <p:sp>
        <p:nvSpPr>
          <p:cNvPr id="21" name="Text 19"/>
          <p:cNvSpPr txBox="1"/>
          <p:nvPr/>
        </p:nvSpPr>
        <p:spPr>
          <a:xfrm>
            <a:off x="777240" y="3858768"/>
            <a:ext cx="3657600" cy="274320"/>
          </a:xfrm>
          <a:prstGeom prst="rect">
            <a:avLst/>
          </a:prstGeom>
          <a:noFill/>
          <a:ln/>
        </p:spPr>
        <p:txBody>
          <a:bodyPr wrap="square" lIns="0" tIns="0" rIns="0" bIns="0" rtlCol="0" anchor="t"/>
          <a:lstStyle/>
          <a:p>
            <a:pPr marL="0" indent="0">
              <a:buNone/>
            </a:pPr>
            <a:r>
              <a:rPr lang="en-US" sz="1100" b="1" kern="0" spc="100" dirty="0">
                <a:solidFill>
                  <a:srgbClr val="A8620A"/>
                </a:solidFill>
              </a:rPr>
              <a:t>LINA RUNTIME</a:t>
            </a:r>
            <a:endParaRPr lang="en-US" sz="1100" dirty="0"/>
          </a:p>
        </p:txBody>
      </p:sp>
      <p:sp>
        <p:nvSpPr>
          <p:cNvPr id="22" name="chip Question"/>
          <p:cNvSpPr/>
          <p:nvPr/>
        </p:nvSpPr>
        <p:spPr>
          <a:xfrm>
            <a:off x="777240" y="4251960"/>
            <a:ext cx="1051560" cy="713232"/>
          </a:xfrm>
          <a:prstGeom prst="roundRect">
            <a:avLst>
              <a:gd name="adj" fmla="val 8974"/>
            </a:avLst>
          </a:prstGeom>
          <a:solidFill>
            <a:srgbClr val="E7EAF2"/>
          </a:solidFill>
          <a:ln/>
        </p:spPr>
      </p:sp>
      <p:sp>
        <p:nvSpPr>
          <p:cNvPr id="23" name="Text 21"/>
          <p:cNvSpPr txBox="1"/>
          <p:nvPr/>
        </p:nvSpPr>
        <p:spPr>
          <a:xfrm>
            <a:off x="832104" y="4251960"/>
            <a:ext cx="941832" cy="713232"/>
          </a:xfrm>
          <a:prstGeom prst="rect">
            <a:avLst/>
          </a:prstGeom>
          <a:noFill/>
          <a:ln/>
        </p:spPr>
        <p:txBody>
          <a:bodyPr wrap="square" lIns="0" tIns="0" rIns="0" bIns="0" rtlCol="0" anchor="ctr"/>
          <a:lstStyle/>
          <a:p>
            <a:pPr marL="0" indent="0" algn="ctr">
              <a:buNone/>
            </a:pPr>
            <a:r>
              <a:rPr lang="en-US" sz="1300" b="1" dirty="0">
                <a:solidFill>
                  <a:srgbClr val="132226"/>
                </a:solidFill>
              </a:rPr>
              <a:t>Question</a:t>
            </a:r>
            <a:endParaRPr lang="en-US" sz="1400" dirty="0"/>
          </a:p>
        </p:txBody>
      </p:sp>
      <p:sp>
        <p:nvSpPr>
          <p:cNvPr id="24" name="connector"/>
          <p:cNvSpPr/>
          <p:nvPr/>
        </p:nvSpPr>
        <p:spPr>
          <a:xfrm>
            <a:off x="1856232" y="4608576"/>
            <a:ext cx="219456" cy="0"/>
          </a:xfrm>
          <a:prstGeom prst="line">
            <a:avLst/>
          </a:prstGeom>
          <a:noFill/>
          <a:ln w="19050">
            <a:solidFill>
              <a:srgbClr val="A8620A"/>
            </a:solidFill>
            <a:prstDash val="solid"/>
            <a:tailEnd type="triangle"/>
          </a:ln>
        </p:spPr>
      </p:sp>
      <p:sp>
        <p:nvSpPr>
          <p:cNvPr id="25" name="chip Titan"/>
          <p:cNvSpPr/>
          <p:nvPr/>
        </p:nvSpPr>
        <p:spPr>
          <a:xfrm>
            <a:off x="2103120" y="4251960"/>
            <a:ext cx="1143000" cy="713232"/>
          </a:xfrm>
          <a:prstGeom prst="roundRect">
            <a:avLst>
              <a:gd name="adj" fmla="val 8974"/>
            </a:avLst>
          </a:prstGeom>
          <a:solidFill>
            <a:srgbClr val="E7EAF2"/>
          </a:solidFill>
          <a:ln/>
        </p:spPr>
      </p:sp>
      <p:sp>
        <p:nvSpPr>
          <p:cNvPr id="26" name="Text 24"/>
          <p:cNvSpPr txBox="1"/>
          <p:nvPr/>
        </p:nvSpPr>
        <p:spPr>
          <a:xfrm>
            <a:off x="2157984" y="4251960"/>
            <a:ext cx="1033272" cy="713232"/>
          </a:xfrm>
          <a:prstGeom prst="rect">
            <a:avLst/>
          </a:prstGeom>
          <a:noFill/>
          <a:ln/>
        </p:spPr>
        <p:txBody>
          <a:bodyPr wrap="square" lIns="0" tIns="0" rIns="0" bIns="0" rtlCol="0" anchor="ctr"/>
          <a:lstStyle/>
          <a:p>
            <a:pPr marL="0" indent="0" algn="ctr">
              <a:buNone/>
            </a:pPr>
            <a:r>
              <a:rPr lang="en-US" sz="1300" b="1" dirty="0">
                <a:solidFill>
                  <a:srgbClr val="132226"/>
                </a:solidFill>
              </a:rPr>
              <a:t>Titan</a:t>
            </a:r>
            <a:endParaRPr lang="en-US" sz="1400" dirty="0"/>
          </a:p>
          <a:p>
            <a:pPr marL="0" indent="0" algn="ctr">
              <a:buNone/>
            </a:pPr>
            <a:r>
              <a:rPr lang="en-US" sz="1050" dirty="0">
                <a:solidFill>
                  <a:srgbClr val="4A5B5E"/>
                </a:solidFill>
              </a:rPr>
              <a:t>query vector</a:t>
            </a:r>
            <a:endParaRPr lang="en-US" sz="1400" dirty="0"/>
          </a:p>
        </p:txBody>
      </p:sp>
      <p:sp>
        <p:nvSpPr>
          <p:cNvPr id="27" name="connector"/>
          <p:cNvSpPr/>
          <p:nvPr/>
        </p:nvSpPr>
        <p:spPr>
          <a:xfrm>
            <a:off x="3273552" y="4608576"/>
            <a:ext cx="219456" cy="0"/>
          </a:xfrm>
          <a:prstGeom prst="line">
            <a:avLst/>
          </a:prstGeom>
          <a:noFill/>
          <a:ln w="19050">
            <a:solidFill>
              <a:srgbClr val="A8620A"/>
            </a:solidFill>
            <a:prstDash val="solid"/>
            <a:tailEnd type="triangle"/>
          </a:ln>
        </p:spPr>
      </p:sp>
      <p:sp>
        <p:nvSpPr>
          <p:cNvPr id="28" name="chip S3 Vectors"/>
          <p:cNvSpPr/>
          <p:nvPr/>
        </p:nvSpPr>
        <p:spPr>
          <a:xfrm>
            <a:off x="3520440" y="4251960"/>
            <a:ext cx="1280160" cy="713232"/>
          </a:xfrm>
          <a:prstGeom prst="roundRect">
            <a:avLst>
              <a:gd name="adj" fmla="val 8974"/>
            </a:avLst>
          </a:prstGeom>
          <a:solidFill>
            <a:srgbClr val="E1F0EF"/>
          </a:solidFill>
          <a:ln/>
        </p:spPr>
      </p:sp>
      <p:sp>
        <p:nvSpPr>
          <p:cNvPr id="29" name="Text 27"/>
          <p:cNvSpPr txBox="1"/>
          <p:nvPr/>
        </p:nvSpPr>
        <p:spPr>
          <a:xfrm>
            <a:off x="3575304" y="4251960"/>
            <a:ext cx="1170432" cy="713232"/>
          </a:xfrm>
          <a:prstGeom prst="rect">
            <a:avLst/>
          </a:prstGeom>
          <a:noFill/>
          <a:ln/>
        </p:spPr>
        <p:txBody>
          <a:bodyPr wrap="square" lIns="0" tIns="0" rIns="0" bIns="0" rtlCol="0" anchor="ctr"/>
          <a:lstStyle/>
          <a:p>
            <a:pPr marL="0" indent="0" algn="ctr">
              <a:buNone/>
            </a:pPr>
            <a:r>
              <a:rPr lang="en-US" sz="1300" b="1" dirty="0">
                <a:solidFill>
                  <a:srgbClr val="132226"/>
                </a:solidFill>
              </a:rPr>
              <a:t>S3 Vectors</a:t>
            </a:r>
            <a:endParaRPr lang="en-US" sz="1400" dirty="0"/>
          </a:p>
          <a:p>
            <a:pPr marL="0" indent="0" algn="ctr">
              <a:buNone/>
            </a:pPr>
            <a:r>
              <a:rPr lang="en-US" sz="1050" dirty="0">
                <a:solidFill>
                  <a:srgbClr val="4A5B5E"/>
                </a:solidFill>
              </a:rPr>
              <a:t>top matches</a:t>
            </a:r>
            <a:endParaRPr lang="en-US" sz="1400" dirty="0"/>
          </a:p>
        </p:txBody>
      </p:sp>
      <p:sp>
        <p:nvSpPr>
          <p:cNvPr id="30" name="connector"/>
          <p:cNvSpPr/>
          <p:nvPr/>
        </p:nvSpPr>
        <p:spPr>
          <a:xfrm>
            <a:off x="4828032" y="4608576"/>
            <a:ext cx="219456" cy="0"/>
          </a:xfrm>
          <a:prstGeom prst="line">
            <a:avLst/>
          </a:prstGeom>
          <a:noFill/>
          <a:ln w="19050">
            <a:solidFill>
              <a:srgbClr val="A8620A"/>
            </a:solidFill>
            <a:prstDash val="solid"/>
            <a:tailEnd type="triangle"/>
          </a:ln>
        </p:spPr>
      </p:sp>
      <p:sp>
        <p:nvSpPr>
          <p:cNvPr id="31" name="chip Claude Haiku"/>
          <p:cNvSpPr/>
          <p:nvPr/>
        </p:nvSpPr>
        <p:spPr>
          <a:xfrm>
            <a:off x="5074920" y="4251960"/>
            <a:ext cx="1325880" cy="713232"/>
          </a:xfrm>
          <a:prstGeom prst="roundRect">
            <a:avLst>
              <a:gd name="adj" fmla="val 8974"/>
            </a:avLst>
          </a:prstGeom>
          <a:solidFill>
            <a:srgbClr val="FDF0DC"/>
          </a:solidFill>
          <a:ln/>
        </p:spPr>
      </p:sp>
      <p:sp>
        <p:nvSpPr>
          <p:cNvPr id="32" name="Text 30"/>
          <p:cNvSpPr txBox="1"/>
          <p:nvPr/>
        </p:nvSpPr>
        <p:spPr>
          <a:xfrm>
            <a:off x="5129784" y="4251960"/>
            <a:ext cx="1216152" cy="713232"/>
          </a:xfrm>
          <a:prstGeom prst="rect">
            <a:avLst/>
          </a:prstGeom>
          <a:noFill/>
          <a:ln/>
        </p:spPr>
        <p:txBody>
          <a:bodyPr wrap="square" lIns="0" tIns="0" rIns="0" bIns="0" rtlCol="0" anchor="ctr"/>
          <a:lstStyle/>
          <a:p>
            <a:pPr marL="0" indent="0" algn="ctr">
              <a:buNone/>
            </a:pPr>
            <a:r>
              <a:rPr lang="en-US" sz="1300" b="1" dirty="0">
                <a:solidFill>
                  <a:srgbClr val="132226"/>
                </a:solidFill>
              </a:rPr>
              <a:t>Claude Haiku</a:t>
            </a:r>
            <a:endParaRPr lang="en-US" sz="1400" dirty="0"/>
          </a:p>
          <a:p>
            <a:pPr marL="0" indent="0" algn="ctr">
              <a:buNone/>
            </a:pPr>
            <a:r>
              <a:rPr lang="en-US" sz="1050" dirty="0">
                <a:solidFill>
                  <a:srgbClr val="4A5B5E"/>
                </a:solidFill>
              </a:rPr>
              <a:t>Bedrock</a:t>
            </a:r>
            <a:endParaRPr lang="en-US" sz="1400" dirty="0"/>
          </a:p>
        </p:txBody>
      </p:sp>
      <p:sp>
        <p:nvSpPr>
          <p:cNvPr id="33" name="connector"/>
          <p:cNvSpPr/>
          <p:nvPr/>
        </p:nvSpPr>
        <p:spPr>
          <a:xfrm>
            <a:off x="6428232" y="4608576"/>
            <a:ext cx="219456" cy="0"/>
          </a:xfrm>
          <a:prstGeom prst="line">
            <a:avLst/>
          </a:prstGeom>
          <a:noFill/>
          <a:ln w="19050">
            <a:solidFill>
              <a:srgbClr val="A8620A"/>
            </a:solidFill>
            <a:prstDash val="solid"/>
            <a:tailEnd type="triangle"/>
          </a:ln>
        </p:spPr>
      </p:sp>
      <p:sp>
        <p:nvSpPr>
          <p:cNvPr id="34" name="chip Answer"/>
          <p:cNvSpPr/>
          <p:nvPr/>
        </p:nvSpPr>
        <p:spPr>
          <a:xfrm>
            <a:off x="6675120" y="4251960"/>
            <a:ext cx="1143000" cy="713232"/>
          </a:xfrm>
          <a:prstGeom prst="roundRect">
            <a:avLst>
              <a:gd name="adj" fmla="val 8974"/>
            </a:avLst>
          </a:prstGeom>
          <a:solidFill>
            <a:srgbClr val="E0F3EE"/>
          </a:solidFill>
          <a:ln/>
        </p:spPr>
      </p:sp>
      <p:sp>
        <p:nvSpPr>
          <p:cNvPr id="35" name="Text 33"/>
          <p:cNvSpPr txBox="1"/>
          <p:nvPr/>
        </p:nvSpPr>
        <p:spPr>
          <a:xfrm>
            <a:off x="6729984" y="4251960"/>
            <a:ext cx="1033272" cy="713232"/>
          </a:xfrm>
          <a:prstGeom prst="rect">
            <a:avLst/>
          </a:prstGeom>
          <a:noFill/>
          <a:ln/>
        </p:spPr>
        <p:txBody>
          <a:bodyPr wrap="square" lIns="0" tIns="0" rIns="0" bIns="0" rtlCol="0" anchor="ctr"/>
          <a:lstStyle/>
          <a:p>
            <a:pPr marL="0" indent="0" algn="ctr">
              <a:buNone/>
            </a:pPr>
            <a:r>
              <a:rPr lang="en-US" sz="1300" b="1" dirty="0">
                <a:solidFill>
                  <a:srgbClr val="132226"/>
                </a:solidFill>
              </a:rPr>
              <a:t>Answer</a:t>
            </a:r>
            <a:endParaRPr lang="en-US" sz="1400" dirty="0"/>
          </a:p>
          <a:p>
            <a:pPr marL="0" indent="0" algn="ctr">
              <a:buNone/>
            </a:pPr>
            <a:r>
              <a:rPr lang="en-US" sz="1050" dirty="0">
                <a:solidFill>
                  <a:srgbClr val="4A5B5E"/>
                </a:solidFill>
              </a:rPr>
              <a:t>+ source</a:t>
            </a:r>
            <a:endParaRPr lang="en-US" sz="1400" dirty="0"/>
          </a:p>
        </p:txBody>
      </p:sp>
      <p:sp>
        <p:nvSpPr>
          <p:cNvPr id="36" name="Text 34"/>
          <p:cNvSpPr txBox="1"/>
          <p:nvPr/>
        </p:nvSpPr>
        <p:spPr>
          <a:xfrm>
            <a:off x="777240" y="5212080"/>
            <a:ext cx="7315200" cy="457200"/>
          </a:xfrm>
          <a:prstGeom prst="rect">
            <a:avLst/>
          </a:prstGeom>
          <a:noFill/>
          <a:ln/>
        </p:spPr>
        <p:txBody>
          <a:bodyPr wrap="square" lIns="0" tIns="0" rIns="0" bIns="0" rtlCol="0" anchor="ctr"/>
          <a:lstStyle/>
          <a:p>
            <a:pPr marL="0" indent="0">
              <a:buNone/>
            </a:pPr>
            <a:r>
              <a:rPr lang="en-US" sz="1350" b="1" dirty="0">
                <a:solidFill>
                  <a:srgbClr val="A8620A"/>
                </a:solidFill>
              </a:rPr>
              <a:t>Response includes grounded = true and the retrieved LangNation source metadata.</a:t>
            </a:r>
            <a:endParaRPr lang="en-US" sz="1350" dirty="0"/>
          </a:p>
        </p:txBody>
      </p:sp>
      <p:sp>
        <p:nvSpPr>
          <p:cNvPr id="37" name="card"/>
          <p:cNvSpPr/>
          <p:nvPr/>
        </p:nvSpPr>
        <p:spPr>
          <a:xfrm>
            <a:off x="8412480" y="1463040"/>
            <a:ext cx="3227832" cy="886968"/>
          </a:xfrm>
          <a:prstGeom prst="roundRect">
            <a:avLst>
              <a:gd name="adj" fmla="val 10309"/>
            </a:avLst>
          </a:prstGeom>
          <a:solidFill>
            <a:srgbClr val="FFFFFF"/>
          </a:solidFill>
          <a:ln/>
          <a:effectLst>
            <a:outerShdw blurRad="114300" dist="25400" dir="5400000" algn="bl" rotWithShape="0">
              <a:srgbClr val="0E3B43">
                <a:alpha val="13000"/>
              </a:srgbClr>
            </a:outerShdw>
          </a:effectLst>
        </p:spPr>
      </p:sp>
      <p:sp>
        <p:nvSpPr>
          <p:cNvPr id="38" name="Text 36"/>
          <p:cNvSpPr txBox="1"/>
          <p:nvPr/>
        </p:nvSpPr>
        <p:spPr>
          <a:xfrm>
            <a:off x="8595360" y="1536192"/>
            <a:ext cx="2834640" cy="457200"/>
          </a:xfrm>
          <a:prstGeom prst="rect">
            <a:avLst/>
          </a:prstGeom>
          <a:noFill/>
          <a:ln/>
        </p:spPr>
        <p:txBody>
          <a:bodyPr wrap="square" lIns="0" tIns="0" rIns="0" bIns="0" rtlCol="0" anchor="ctr"/>
          <a:lstStyle/>
          <a:p>
            <a:pPr marL="0" indent="0">
              <a:buNone/>
            </a:pPr>
            <a:r>
              <a:rPr lang="en-US" sz="2600" b="1" dirty="0">
                <a:solidFill>
                  <a:srgbClr val="0E3B43"/>
                </a:solidFill>
                <a:latin typeface="+mj-lt" pitchFamily="34" charset="0"/>
                <a:ea typeface="+mj-lt" pitchFamily="34" charset="-122"/>
                <a:cs typeface="+mj-lt" pitchFamily="34" charset="-120"/>
              </a:rPr>
              <a:t>58</a:t>
            </a:r>
            <a:endParaRPr lang="en-US" sz="2600" dirty="0"/>
          </a:p>
        </p:txBody>
      </p:sp>
      <p:sp>
        <p:nvSpPr>
          <p:cNvPr id="39" name="Text 37"/>
          <p:cNvSpPr txBox="1"/>
          <p:nvPr/>
        </p:nvSpPr>
        <p:spPr>
          <a:xfrm>
            <a:off x="8595360" y="1993392"/>
            <a:ext cx="2834640" cy="274320"/>
          </a:xfrm>
          <a:prstGeom prst="rect">
            <a:avLst/>
          </a:prstGeom>
          <a:noFill/>
          <a:ln/>
        </p:spPr>
        <p:txBody>
          <a:bodyPr wrap="square" lIns="0" tIns="0" rIns="0" bIns="0" rtlCol="0" anchor="t"/>
          <a:lstStyle/>
          <a:p>
            <a:pPr marL="0" indent="0">
              <a:buNone/>
            </a:pPr>
            <a:r>
              <a:rPr lang="en-US" sz="1200" dirty="0">
                <a:solidFill>
                  <a:srgbClr val="4A5B5E"/>
                </a:solidFill>
              </a:rPr>
              <a:t>tables restored</a:t>
            </a:r>
            <a:endParaRPr lang="en-US" sz="1200" dirty="0"/>
          </a:p>
        </p:txBody>
      </p:sp>
      <p:sp>
        <p:nvSpPr>
          <p:cNvPr id="40" name="card"/>
          <p:cNvSpPr/>
          <p:nvPr/>
        </p:nvSpPr>
        <p:spPr>
          <a:xfrm>
            <a:off x="8412480" y="2487168"/>
            <a:ext cx="3227832" cy="886968"/>
          </a:xfrm>
          <a:prstGeom prst="roundRect">
            <a:avLst>
              <a:gd name="adj" fmla="val 10309"/>
            </a:avLst>
          </a:prstGeom>
          <a:solidFill>
            <a:srgbClr val="FFFFFF"/>
          </a:solidFill>
          <a:ln/>
          <a:effectLst>
            <a:outerShdw blurRad="114300" dist="25400" dir="5400000" algn="bl" rotWithShape="0">
              <a:srgbClr val="0E3B43">
                <a:alpha val="13000"/>
              </a:srgbClr>
            </a:outerShdw>
          </a:effectLst>
        </p:spPr>
      </p:sp>
      <p:sp>
        <p:nvSpPr>
          <p:cNvPr id="41" name="Text 39"/>
          <p:cNvSpPr txBox="1"/>
          <p:nvPr/>
        </p:nvSpPr>
        <p:spPr>
          <a:xfrm>
            <a:off x="8595360" y="2560320"/>
            <a:ext cx="2834640" cy="457200"/>
          </a:xfrm>
          <a:prstGeom prst="rect">
            <a:avLst/>
          </a:prstGeom>
          <a:noFill/>
          <a:ln/>
        </p:spPr>
        <p:txBody>
          <a:bodyPr wrap="square" lIns="0" tIns="0" rIns="0" bIns="0" rtlCol="0" anchor="ctr"/>
          <a:lstStyle/>
          <a:p>
            <a:pPr marL="0" indent="0">
              <a:buNone/>
            </a:pPr>
            <a:r>
              <a:rPr lang="en-US" sz="2600" b="1" dirty="0">
                <a:solidFill>
                  <a:srgbClr val="1F9A82"/>
                </a:solidFill>
                <a:latin typeface="+mj-lt" pitchFamily="34" charset="0"/>
                <a:ea typeface="+mj-lt" pitchFamily="34" charset="-122"/>
                <a:cs typeface="+mj-lt" pitchFamily="34" charset="-120"/>
              </a:rPr>
              <a:t>true</a:t>
            </a:r>
            <a:endParaRPr lang="en-US" sz="2600" dirty="0"/>
          </a:p>
        </p:txBody>
      </p:sp>
      <p:sp>
        <p:nvSpPr>
          <p:cNvPr id="42" name="Text 40"/>
          <p:cNvSpPr txBox="1"/>
          <p:nvPr/>
        </p:nvSpPr>
        <p:spPr>
          <a:xfrm>
            <a:off x="8595360" y="3017520"/>
            <a:ext cx="2834640" cy="274320"/>
          </a:xfrm>
          <a:prstGeom prst="rect">
            <a:avLst/>
          </a:prstGeom>
          <a:noFill/>
          <a:ln/>
        </p:spPr>
        <p:txBody>
          <a:bodyPr wrap="square" lIns="0" tIns="0" rIns="0" bIns="0" rtlCol="0" anchor="t"/>
          <a:lstStyle/>
          <a:p>
            <a:pPr marL="0" indent="0">
              <a:buNone/>
            </a:pPr>
            <a:r>
              <a:rPr lang="en-US" sz="1200" dirty="0">
                <a:solidFill>
                  <a:srgbClr val="4A5B5E"/>
                </a:solidFill>
              </a:rPr>
              <a:t>database health over TLS</a:t>
            </a:r>
            <a:endParaRPr lang="en-US" sz="1200" dirty="0"/>
          </a:p>
        </p:txBody>
      </p:sp>
      <p:sp>
        <p:nvSpPr>
          <p:cNvPr id="43" name="card"/>
          <p:cNvSpPr/>
          <p:nvPr/>
        </p:nvSpPr>
        <p:spPr>
          <a:xfrm>
            <a:off x="8412480" y="3511296"/>
            <a:ext cx="3227832" cy="886968"/>
          </a:xfrm>
          <a:prstGeom prst="roundRect">
            <a:avLst>
              <a:gd name="adj" fmla="val 10309"/>
            </a:avLst>
          </a:prstGeom>
          <a:solidFill>
            <a:srgbClr val="FFFFFF"/>
          </a:solidFill>
          <a:ln/>
          <a:effectLst>
            <a:outerShdw blurRad="114300" dist="25400" dir="5400000" algn="bl" rotWithShape="0">
              <a:srgbClr val="0E3B43">
                <a:alpha val="13000"/>
              </a:srgbClr>
            </a:outerShdw>
          </a:effectLst>
        </p:spPr>
      </p:sp>
      <p:sp>
        <p:nvSpPr>
          <p:cNvPr id="44" name="Text 42"/>
          <p:cNvSpPr txBox="1"/>
          <p:nvPr/>
        </p:nvSpPr>
        <p:spPr>
          <a:xfrm>
            <a:off x="8595360" y="3584448"/>
            <a:ext cx="2834640" cy="457200"/>
          </a:xfrm>
          <a:prstGeom prst="rect">
            <a:avLst/>
          </a:prstGeom>
          <a:noFill/>
          <a:ln/>
        </p:spPr>
        <p:txBody>
          <a:bodyPr wrap="square" lIns="0" tIns="0" rIns="0" bIns="0" rtlCol="0" anchor="ctr"/>
          <a:lstStyle/>
          <a:p>
            <a:pPr marL="0" indent="0">
              <a:buNone/>
            </a:pPr>
            <a:r>
              <a:rPr lang="en-US" sz="2600" b="1" dirty="0">
                <a:solidFill>
                  <a:srgbClr val="A8620A"/>
                </a:solidFill>
                <a:latin typeface="+mj-lt" pitchFamily="34" charset="0"/>
                <a:ea typeface="+mj-lt" pitchFamily="34" charset="-122"/>
                <a:cs typeface="+mj-lt" pitchFamily="34" charset="-120"/>
              </a:rPr>
              <a:t>grounded</a:t>
            </a:r>
            <a:endParaRPr lang="en-US" sz="2600" dirty="0"/>
          </a:p>
        </p:txBody>
      </p:sp>
      <p:sp>
        <p:nvSpPr>
          <p:cNvPr id="45" name="Text 43"/>
          <p:cNvSpPr txBox="1"/>
          <p:nvPr/>
        </p:nvSpPr>
        <p:spPr>
          <a:xfrm>
            <a:off x="8595360" y="4041648"/>
            <a:ext cx="2834640" cy="274320"/>
          </a:xfrm>
          <a:prstGeom prst="rect">
            <a:avLst/>
          </a:prstGeom>
          <a:noFill/>
          <a:ln/>
        </p:spPr>
        <p:txBody>
          <a:bodyPr wrap="square" lIns="0" tIns="0" rIns="0" bIns="0" rtlCol="0" anchor="t"/>
          <a:lstStyle/>
          <a:p>
            <a:pPr marL="0" indent="0">
              <a:buNone/>
            </a:pPr>
            <a:r>
              <a:rPr lang="en-US" sz="1200" dirty="0">
                <a:solidFill>
                  <a:srgbClr val="4A5B5E"/>
                </a:solidFill>
              </a:rPr>
              <a:t>answers with sources</a:t>
            </a:r>
            <a:endParaRPr lang="en-US" sz="1200" dirty="0"/>
          </a:p>
        </p:txBody>
      </p:sp>
      <p:sp>
        <p:nvSpPr>
          <p:cNvPr id="46" name="card"/>
          <p:cNvSpPr/>
          <p:nvPr/>
        </p:nvSpPr>
        <p:spPr>
          <a:xfrm>
            <a:off x="8412480" y="4553712"/>
            <a:ext cx="3227832" cy="1618488"/>
          </a:xfrm>
          <a:prstGeom prst="roundRect">
            <a:avLst>
              <a:gd name="adj" fmla="val 5650"/>
            </a:avLst>
          </a:prstGeom>
          <a:solidFill>
            <a:srgbClr val="FDF0DC"/>
          </a:solidFill>
          <a:ln/>
        </p:spPr>
      </p:sp>
      <p:sp>
        <p:nvSpPr>
          <p:cNvPr id="47" name="Text 45"/>
          <p:cNvSpPr txBox="1"/>
          <p:nvPr/>
        </p:nvSpPr>
        <p:spPr>
          <a:xfrm>
            <a:off x="8595360" y="4645152"/>
            <a:ext cx="2834640" cy="320040"/>
          </a:xfrm>
          <a:prstGeom prst="rect">
            <a:avLst/>
          </a:prstGeom>
          <a:noFill/>
          <a:ln/>
        </p:spPr>
        <p:txBody>
          <a:bodyPr wrap="square" lIns="0" tIns="0" rIns="0" bIns="0" rtlCol="0" anchor="t"/>
          <a:lstStyle/>
          <a:p>
            <a:pPr marL="0" indent="0">
              <a:buNone/>
            </a:pPr>
            <a:r>
              <a:rPr lang="en-US" sz="1500" b="1" dirty="0">
                <a:solidFill>
                  <a:srgbClr val="A8620A"/>
                </a:solidFill>
              </a:rPr>
              <a:t>Key fix</a:t>
            </a:r>
            <a:endParaRPr lang="en-US" sz="1500" dirty="0"/>
          </a:p>
        </p:txBody>
      </p:sp>
      <p:sp>
        <p:nvSpPr>
          <p:cNvPr id="48" name="Text 46"/>
          <p:cNvSpPr txBox="1"/>
          <p:nvPr/>
        </p:nvSpPr>
        <p:spPr>
          <a:xfrm>
            <a:off x="8595360" y="4983480"/>
            <a:ext cx="2880360" cy="1143000"/>
          </a:xfrm>
          <a:prstGeom prst="rect">
            <a:avLst/>
          </a:prstGeom>
          <a:noFill/>
          <a:ln/>
        </p:spPr>
        <p:txBody>
          <a:bodyPr wrap="square" lIns="0" tIns="0" rIns="0" bIns="0" rtlCol="0" anchor="t"/>
          <a:lstStyle/>
          <a:p>
            <a:pPr marL="0" indent="0">
              <a:buNone/>
            </a:pPr>
            <a:r>
              <a:rPr lang="en-US" sz="1300" dirty="0">
                <a:solidFill>
                  <a:srgbClr val="132226"/>
                </a:solidFill>
              </a:rPr>
              <a:t>RDS required secure transport. I updated the application for verified TLS instead of weakening the database.</a:t>
            </a:r>
            <a:endParaRPr lang="en-US" sz="1300" dirty="0"/>
          </a:p>
        </p:txBody>
      </p:sp>
      <p:sp>
        <p:nvSpPr>
          <p:cNvPr id="49"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Milestone 10 — Monitoring, security &amp; governance</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Operational visibility and audit evidence were added around the full platform.</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M10</a:t>
            </a:r>
            <a:endParaRPr lang="en-US" sz="1200" dirty="0"/>
          </a:p>
        </p:txBody>
      </p:sp>
      <p:sp>
        <p:nvSpPr>
          <p:cNvPr id="6" name="card"/>
          <p:cNvSpPr/>
          <p:nvPr/>
        </p:nvSpPr>
        <p:spPr>
          <a:xfrm>
            <a:off x="548640" y="1463040"/>
            <a:ext cx="5394960" cy="2926080"/>
          </a:xfrm>
          <a:prstGeom prst="roundRect">
            <a:avLst>
              <a:gd name="adj" fmla="val 3125"/>
            </a:avLst>
          </a:prstGeom>
          <a:solidFill>
            <a:srgbClr val="FFFFFF"/>
          </a:solidFill>
          <a:ln/>
          <a:effectLst>
            <a:outerShdw blurRad="114300" dist="25400" dir="5400000" algn="bl" rotWithShape="0">
              <a:srgbClr val="0E3B43">
                <a:alpha val="13000"/>
              </a:srgbClr>
            </a:outerShdw>
          </a:effectLst>
        </p:spPr>
      </p:sp>
      <p:sp>
        <p:nvSpPr>
          <p:cNvPr id="7" name="CloudWatch circle"/>
          <p:cNvSpPr/>
          <p:nvPr/>
        </p:nvSpPr>
        <p:spPr>
          <a:xfrm>
            <a:off x="777240" y="1645920"/>
            <a:ext cx="566928" cy="566928"/>
          </a:xfrm>
          <a:prstGeom prst="ellipse">
            <a:avLst/>
          </a:prstGeom>
          <a:solidFill>
            <a:schemeClr val="accent1"/>
          </a:solidFill>
          <a:ln/>
        </p:spPr>
      </p:sp>
      <p:pic>
        <p:nvPicPr>
          <p:cNvPr id="8" name="CloudWatch" descr="preencoded.png"/>
          <p:cNvPicPr>
            <a:picLocks noChangeAspect="1"/>
          </p:cNvPicPr>
          <p:nvPr/>
        </p:nvPicPr>
        <p:blipFill>
          <a:blip r:embed="rId3"/>
          <a:stretch>
            <a:fillRect/>
          </a:stretch>
        </p:blipFill>
        <p:spPr>
          <a:xfrm>
            <a:off x="913303" y="1781983"/>
            <a:ext cx="294803" cy="294803"/>
          </a:xfrm>
          <a:prstGeom prst="rect">
            <a:avLst/>
          </a:prstGeom>
        </p:spPr>
      </p:pic>
      <p:sp>
        <p:nvSpPr>
          <p:cNvPr id="9" name="Text 6"/>
          <p:cNvSpPr txBox="1"/>
          <p:nvPr/>
        </p:nvSpPr>
        <p:spPr>
          <a:xfrm>
            <a:off x="1481328" y="1645920"/>
            <a:ext cx="4206240" cy="566928"/>
          </a:xfrm>
          <a:prstGeom prst="rect">
            <a:avLst/>
          </a:prstGeom>
          <a:noFill/>
          <a:ln/>
        </p:spPr>
        <p:txBody>
          <a:bodyPr wrap="square" lIns="0" tIns="0" rIns="0" bIns="0" rtlCol="0" anchor="ctr"/>
          <a:lstStyle/>
          <a:p>
            <a:pPr marL="0" indent="0">
              <a:buNone/>
            </a:pPr>
            <a:r>
              <a:rPr lang="en-US" sz="1800" b="1" dirty="0">
                <a:solidFill>
                  <a:srgbClr val="0E3B43"/>
                </a:solidFill>
                <a:latin typeface="+mj-lt" pitchFamily="34" charset="0"/>
                <a:ea typeface="+mj-lt" pitchFamily="34" charset="-122"/>
                <a:cs typeface="+mj-lt" pitchFamily="34" charset="-120"/>
              </a:rPr>
              <a:t>Amazon CloudWatch</a:t>
            </a:r>
            <a:endParaRPr lang="en-US" sz="1800" dirty="0"/>
          </a:p>
        </p:txBody>
      </p:sp>
      <p:sp>
        <p:nvSpPr>
          <p:cNvPr id="10" name="stat"/>
          <p:cNvSpPr/>
          <p:nvPr/>
        </p:nvSpPr>
        <p:spPr>
          <a:xfrm>
            <a:off x="777240" y="2423160"/>
            <a:ext cx="2331720" cy="1051560"/>
          </a:xfrm>
          <a:prstGeom prst="roundRect">
            <a:avLst>
              <a:gd name="adj" fmla="val 6957"/>
            </a:avLst>
          </a:prstGeom>
          <a:solidFill>
            <a:srgbClr val="EEF4F3"/>
          </a:solidFill>
          <a:ln/>
        </p:spPr>
      </p:sp>
      <p:sp>
        <p:nvSpPr>
          <p:cNvPr id="11" name="Text 8"/>
          <p:cNvSpPr txBox="1"/>
          <p:nvPr/>
        </p:nvSpPr>
        <p:spPr>
          <a:xfrm>
            <a:off x="960120" y="2468880"/>
            <a:ext cx="2011680" cy="548640"/>
          </a:xfrm>
          <a:prstGeom prst="rect">
            <a:avLst/>
          </a:prstGeom>
          <a:noFill/>
          <a:ln/>
        </p:spPr>
        <p:txBody>
          <a:bodyPr wrap="square" lIns="0" tIns="0" rIns="0" bIns="0" rtlCol="0" anchor="ctr"/>
          <a:lstStyle/>
          <a:p>
            <a:pPr marL="0" indent="0">
              <a:buNone/>
            </a:pPr>
            <a:r>
              <a:rPr lang="en-US" sz="3200" b="1" dirty="0">
                <a:solidFill>
                  <a:srgbClr val="D9482B"/>
                </a:solidFill>
                <a:latin typeface="+mj-lt" pitchFamily="34" charset="0"/>
                <a:ea typeface="+mj-lt" pitchFamily="34" charset="-122"/>
                <a:cs typeface="+mj-lt" pitchFamily="34" charset="-120"/>
              </a:rPr>
              <a:t>9</a:t>
            </a:r>
            <a:endParaRPr lang="en-US" sz="3200" dirty="0"/>
          </a:p>
        </p:txBody>
      </p:sp>
      <p:sp>
        <p:nvSpPr>
          <p:cNvPr id="12" name="Text 9"/>
          <p:cNvSpPr txBox="1"/>
          <p:nvPr/>
        </p:nvSpPr>
        <p:spPr>
          <a:xfrm>
            <a:off x="960120" y="3035808"/>
            <a:ext cx="2011680" cy="320040"/>
          </a:xfrm>
          <a:prstGeom prst="rect">
            <a:avLst/>
          </a:prstGeom>
          <a:noFill/>
          <a:ln/>
        </p:spPr>
        <p:txBody>
          <a:bodyPr wrap="square" lIns="0" tIns="0" rIns="0" bIns="0" rtlCol="0" anchor="t"/>
          <a:lstStyle/>
          <a:p>
            <a:pPr marL="0" indent="0">
              <a:buNone/>
            </a:pPr>
            <a:r>
              <a:rPr lang="en-US" sz="1300" dirty="0">
                <a:solidFill>
                  <a:srgbClr val="4A5B5E"/>
                </a:solidFill>
              </a:rPr>
              <a:t>custom alarms</a:t>
            </a:r>
            <a:endParaRPr lang="en-US" sz="1300" dirty="0"/>
          </a:p>
        </p:txBody>
      </p:sp>
      <p:sp>
        <p:nvSpPr>
          <p:cNvPr id="13" name="stat"/>
          <p:cNvSpPr/>
          <p:nvPr/>
        </p:nvSpPr>
        <p:spPr>
          <a:xfrm>
            <a:off x="3291840" y="2423160"/>
            <a:ext cx="2331720" cy="1051560"/>
          </a:xfrm>
          <a:prstGeom prst="roundRect">
            <a:avLst>
              <a:gd name="adj" fmla="val 6957"/>
            </a:avLst>
          </a:prstGeom>
          <a:solidFill>
            <a:srgbClr val="EEF4F3"/>
          </a:solidFill>
          <a:ln/>
        </p:spPr>
      </p:sp>
      <p:sp>
        <p:nvSpPr>
          <p:cNvPr id="14" name="Text 11"/>
          <p:cNvSpPr txBox="1"/>
          <p:nvPr/>
        </p:nvSpPr>
        <p:spPr>
          <a:xfrm>
            <a:off x="3474720" y="2468880"/>
            <a:ext cx="2011680" cy="548640"/>
          </a:xfrm>
          <a:prstGeom prst="rect">
            <a:avLst/>
          </a:prstGeom>
          <a:noFill/>
          <a:ln/>
        </p:spPr>
        <p:txBody>
          <a:bodyPr wrap="square" lIns="0" tIns="0" rIns="0" bIns="0" rtlCol="0" anchor="ctr"/>
          <a:lstStyle/>
          <a:p>
            <a:pPr marL="0" indent="0">
              <a:buNone/>
            </a:pPr>
            <a:r>
              <a:rPr lang="en-US" sz="3200" b="1" dirty="0">
                <a:solidFill>
                  <a:srgbClr val="0E7C7B"/>
                </a:solidFill>
                <a:latin typeface="+mj-lt" pitchFamily="34" charset="0"/>
                <a:ea typeface="+mj-lt" pitchFamily="34" charset="-122"/>
                <a:cs typeface="+mj-lt" pitchFamily="34" charset="-120"/>
              </a:rPr>
              <a:t>1</a:t>
            </a:r>
            <a:endParaRPr lang="en-US" sz="3200" dirty="0"/>
          </a:p>
        </p:txBody>
      </p:sp>
      <p:sp>
        <p:nvSpPr>
          <p:cNvPr id="15" name="Text 12"/>
          <p:cNvSpPr txBox="1"/>
          <p:nvPr/>
        </p:nvSpPr>
        <p:spPr>
          <a:xfrm>
            <a:off x="3474720" y="3035808"/>
            <a:ext cx="2011680" cy="320040"/>
          </a:xfrm>
          <a:prstGeom prst="rect">
            <a:avLst/>
          </a:prstGeom>
          <a:noFill/>
          <a:ln/>
        </p:spPr>
        <p:txBody>
          <a:bodyPr wrap="square" lIns="0" tIns="0" rIns="0" bIns="0" rtlCol="0" anchor="t"/>
          <a:lstStyle/>
          <a:p>
            <a:pPr marL="0" indent="0">
              <a:buNone/>
            </a:pPr>
            <a:r>
              <a:rPr lang="en-US" sz="1300" dirty="0">
                <a:solidFill>
                  <a:srgbClr val="4A5B5E"/>
                </a:solidFill>
              </a:rPr>
              <a:t>operations dashboard</a:t>
            </a:r>
            <a:endParaRPr lang="en-US" sz="1300" dirty="0"/>
          </a:p>
        </p:txBody>
      </p:sp>
      <p:sp>
        <p:nvSpPr>
          <p:cNvPr id="16" name="Text 13"/>
          <p:cNvSpPr txBox="1"/>
          <p:nvPr/>
        </p:nvSpPr>
        <p:spPr>
          <a:xfrm>
            <a:off x="777240" y="3639312"/>
            <a:ext cx="4983480" cy="640080"/>
          </a:xfrm>
          <a:prstGeom prst="rect">
            <a:avLst/>
          </a:prstGeom>
          <a:noFill/>
          <a:ln/>
        </p:spPr>
        <p:txBody>
          <a:bodyPr wrap="square" lIns="0" tIns="0" rIns="0" bIns="0" rtlCol="0" anchor="t"/>
          <a:lstStyle/>
          <a:p>
            <a:pPr marL="0" indent="0">
              <a:buNone/>
            </a:pPr>
            <a:r>
              <a:rPr lang="en-US" sz="1350" dirty="0">
                <a:solidFill>
                  <a:srgbClr val="4A5B5E"/>
                </a:solidFill>
              </a:rPr>
              <a:t>Health, performance and failure signals — including the M7 Dead Letter Queue.</a:t>
            </a:r>
            <a:endParaRPr lang="en-US" sz="1350" dirty="0"/>
          </a:p>
        </p:txBody>
      </p:sp>
      <p:sp>
        <p:nvSpPr>
          <p:cNvPr id="17" name="card"/>
          <p:cNvSpPr/>
          <p:nvPr/>
        </p:nvSpPr>
        <p:spPr>
          <a:xfrm>
            <a:off x="6172200" y="1463040"/>
            <a:ext cx="5468112" cy="2926080"/>
          </a:xfrm>
          <a:prstGeom prst="roundRect">
            <a:avLst>
              <a:gd name="adj" fmla="val 3125"/>
            </a:avLst>
          </a:prstGeom>
          <a:solidFill>
            <a:srgbClr val="FFFFFF"/>
          </a:solidFill>
          <a:ln/>
          <a:effectLst>
            <a:outerShdw blurRad="114300" dist="25400" dir="5400000" algn="bl" rotWithShape="0">
              <a:srgbClr val="0E3B43">
                <a:alpha val="13000"/>
              </a:srgbClr>
            </a:outerShdw>
          </a:effectLst>
        </p:spPr>
      </p:sp>
      <p:sp>
        <p:nvSpPr>
          <p:cNvPr id="18" name="CloudTrail circle"/>
          <p:cNvSpPr/>
          <p:nvPr/>
        </p:nvSpPr>
        <p:spPr>
          <a:xfrm>
            <a:off x="6400800" y="1645920"/>
            <a:ext cx="566928" cy="566928"/>
          </a:xfrm>
          <a:prstGeom prst="ellipse">
            <a:avLst/>
          </a:prstGeom>
          <a:solidFill>
            <a:schemeClr val="accent5"/>
          </a:solidFill>
          <a:ln/>
        </p:spPr>
      </p:sp>
      <p:pic>
        <p:nvPicPr>
          <p:cNvPr id="19" name="CloudTrail" descr="preencoded.png"/>
          <p:cNvPicPr>
            <a:picLocks noChangeAspect="1"/>
          </p:cNvPicPr>
          <p:nvPr/>
        </p:nvPicPr>
        <p:blipFill>
          <a:blip r:embed="rId4"/>
          <a:stretch>
            <a:fillRect/>
          </a:stretch>
        </p:blipFill>
        <p:spPr>
          <a:xfrm>
            <a:off x="6536863" y="1781983"/>
            <a:ext cx="294803" cy="294803"/>
          </a:xfrm>
          <a:prstGeom prst="rect">
            <a:avLst/>
          </a:prstGeom>
        </p:spPr>
      </p:pic>
      <p:sp>
        <p:nvSpPr>
          <p:cNvPr id="20" name="Text 16"/>
          <p:cNvSpPr txBox="1"/>
          <p:nvPr/>
        </p:nvSpPr>
        <p:spPr>
          <a:xfrm>
            <a:off x="7104888" y="1645920"/>
            <a:ext cx="4389120" cy="566928"/>
          </a:xfrm>
          <a:prstGeom prst="rect">
            <a:avLst/>
          </a:prstGeom>
          <a:noFill/>
          <a:ln/>
        </p:spPr>
        <p:txBody>
          <a:bodyPr wrap="square" lIns="0" tIns="0" rIns="0" bIns="0" rtlCol="0" anchor="ctr"/>
          <a:lstStyle/>
          <a:p>
            <a:pPr marL="0" indent="0">
              <a:buNone/>
            </a:pPr>
            <a:r>
              <a:rPr lang="en-US" sz="1800" b="1" dirty="0">
                <a:solidFill>
                  <a:srgbClr val="0E3B43"/>
                </a:solidFill>
                <a:latin typeface="+mj-lt" pitchFamily="34" charset="0"/>
                <a:ea typeface="+mj-lt" pitchFamily="34" charset="-122"/>
                <a:cs typeface="+mj-lt" pitchFamily="34" charset="-120"/>
              </a:rPr>
              <a:t>AWS CloudTrail &amp; audit bucket</a:t>
            </a:r>
            <a:endParaRPr lang="en-US" sz="1800" dirty="0"/>
          </a:p>
        </p:txBody>
      </p:sp>
      <p:sp>
        <p:nvSpPr>
          <p:cNvPr id="21" name="check circle"/>
          <p:cNvSpPr/>
          <p:nvPr/>
        </p:nvSpPr>
        <p:spPr>
          <a:xfrm>
            <a:off x="6400800" y="2487168"/>
            <a:ext cx="274320" cy="274320"/>
          </a:xfrm>
          <a:prstGeom prst="ellipse">
            <a:avLst/>
          </a:prstGeom>
          <a:solidFill>
            <a:schemeClr val="accent5"/>
          </a:solidFill>
          <a:ln/>
        </p:spPr>
      </p:sp>
      <p:pic>
        <p:nvPicPr>
          <p:cNvPr id="22" name="check" descr="preencoded.png"/>
          <p:cNvPicPr>
            <a:picLocks noChangeAspect="1"/>
          </p:cNvPicPr>
          <p:nvPr/>
        </p:nvPicPr>
        <p:blipFill>
          <a:blip r:embed="rId5"/>
          <a:stretch>
            <a:fillRect/>
          </a:stretch>
        </p:blipFill>
        <p:spPr>
          <a:xfrm>
            <a:off x="6466637" y="2553005"/>
            <a:ext cx="142646" cy="142646"/>
          </a:xfrm>
          <a:prstGeom prst="rect">
            <a:avLst/>
          </a:prstGeom>
        </p:spPr>
      </p:pic>
      <p:sp>
        <p:nvSpPr>
          <p:cNvPr id="23" name="Text 18"/>
          <p:cNvSpPr txBox="1"/>
          <p:nvPr/>
        </p:nvSpPr>
        <p:spPr>
          <a:xfrm>
            <a:off x="6784848" y="2423160"/>
            <a:ext cx="2194560" cy="411480"/>
          </a:xfrm>
          <a:prstGeom prst="rect">
            <a:avLst/>
          </a:prstGeom>
          <a:noFill/>
          <a:ln/>
        </p:spPr>
        <p:txBody>
          <a:bodyPr wrap="square" lIns="0" tIns="0" rIns="0" bIns="0" rtlCol="0" anchor="ctr"/>
          <a:lstStyle/>
          <a:p>
            <a:pPr marL="0" indent="0">
              <a:buNone/>
            </a:pPr>
            <a:r>
              <a:rPr lang="en-US" sz="1300" dirty="0">
                <a:solidFill>
                  <a:srgbClr val="132226"/>
                </a:solidFill>
              </a:rPr>
              <a:t>Multi-Region trail</a:t>
            </a:r>
            <a:endParaRPr lang="en-US" sz="1300" dirty="0"/>
          </a:p>
        </p:txBody>
      </p:sp>
      <p:sp>
        <p:nvSpPr>
          <p:cNvPr id="24" name="check circle"/>
          <p:cNvSpPr/>
          <p:nvPr/>
        </p:nvSpPr>
        <p:spPr>
          <a:xfrm>
            <a:off x="9006840" y="2487168"/>
            <a:ext cx="274320" cy="274320"/>
          </a:xfrm>
          <a:prstGeom prst="ellipse">
            <a:avLst/>
          </a:prstGeom>
          <a:solidFill>
            <a:schemeClr val="accent5"/>
          </a:solidFill>
          <a:ln/>
        </p:spPr>
      </p:sp>
      <p:pic>
        <p:nvPicPr>
          <p:cNvPr id="25" name="check" descr="preencoded.png"/>
          <p:cNvPicPr>
            <a:picLocks noChangeAspect="1"/>
          </p:cNvPicPr>
          <p:nvPr/>
        </p:nvPicPr>
        <p:blipFill>
          <a:blip r:embed="rId5"/>
          <a:stretch>
            <a:fillRect/>
          </a:stretch>
        </p:blipFill>
        <p:spPr>
          <a:xfrm>
            <a:off x="9072677" y="2553005"/>
            <a:ext cx="142646" cy="142646"/>
          </a:xfrm>
          <a:prstGeom prst="rect">
            <a:avLst/>
          </a:prstGeom>
        </p:spPr>
      </p:pic>
      <p:sp>
        <p:nvSpPr>
          <p:cNvPr id="26" name="Text 20"/>
          <p:cNvSpPr txBox="1"/>
          <p:nvPr/>
        </p:nvSpPr>
        <p:spPr>
          <a:xfrm>
            <a:off x="9390888" y="2423160"/>
            <a:ext cx="2194560" cy="411480"/>
          </a:xfrm>
          <a:prstGeom prst="rect">
            <a:avLst/>
          </a:prstGeom>
          <a:noFill/>
          <a:ln/>
        </p:spPr>
        <p:txBody>
          <a:bodyPr wrap="square" lIns="0" tIns="0" rIns="0" bIns="0" rtlCol="0" anchor="ctr"/>
          <a:lstStyle/>
          <a:p>
            <a:pPr marL="0" indent="0">
              <a:buNone/>
            </a:pPr>
            <a:r>
              <a:rPr lang="en-US" sz="1300" dirty="0">
                <a:solidFill>
                  <a:srgbClr val="132226"/>
                </a:solidFill>
              </a:rPr>
              <a:t>Global service events</a:t>
            </a:r>
            <a:endParaRPr lang="en-US" sz="1300" dirty="0"/>
          </a:p>
        </p:txBody>
      </p:sp>
      <p:sp>
        <p:nvSpPr>
          <p:cNvPr id="27" name="check circle"/>
          <p:cNvSpPr/>
          <p:nvPr/>
        </p:nvSpPr>
        <p:spPr>
          <a:xfrm>
            <a:off x="6400800" y="3108960"/>
            <a:ext cx="274320" cy="274320"/>
          </a:xfrm>
          <a:prstGeom prst="ellipse">
            <a:avLst/>
          </a:prstGeom>
          <a:solidFill>
            <a:schemeClr val="accent5"/>
          </a:solidFill>
          <a:ln/>
        </p:spPr>
      </p:sp>
      <p:pic>
        <p:nvPicPr>
          <p:cNvPr id="28" name="check" descr="preencoded.png"/>
          <p:cNvPicPr>
            <a:picLocks noChangeAspect="1"/>
          </p:cNvPicPr>
          <p:nvPr/>
        </p:nvPicPr>
        <p:blipFill>
          <a:blip r:embed="rId5"/>
          <a:stretch>
            <a:fillRect/>
          </a:stretch>
        </p:blipFill>
        <p:spPr>
          <a:xfrm>
            <a:off x="6466637" y="3174797"/>
            <a:ext cx="142646" cy="142646"/>
          </a:xfrm>
          <a:prstGeom prst="rect">
            <a:avLst/>
          </a:prstGeom>
        </p:spPr>
      </p:pic>
      <p:sp>
        <p:nvSpPr>
          <p:cNvPr id="29" name="Text 22"/>
          <p:cNvSpPr txBox="1"/>
          <p:nvPr/>
        </p:nvSpPr>
        <p:spPr>
          <a:xfrm>
            <a:off x="6784848" y="3044952"/>
            <a:ext cx="2194560" cy="411480"/>
          </a:xfrm>
          <a:prstGeom prst="rect">
            <a:avLst/>
          </a:prstGeom>
          <a:noFill/>
          <a:ln/>
        </p:spPr>
        <p:txBody>
          <a:bodyPr wrap="square" lIns="0" tIns="0" rIns="0" bIns="0" rtlCol="0" anchor="ctr"/>
          <a:lstStyle/>
          <a:p>
            <a:pPr marL="0" indent="0">
              <a:buNone/>
            </a:pPr>
            <a:r>
              <a:rPr lang="en-US" sz="1300" dirty="0">
                <a:solidFill>
                  <a:srgbClr val="132226"/>
                </a:solidFill>
              </a:rPr>
              <a:t>Management events</a:t>
            </a:r>
            <a:endParaRPr lang="en-US" sz="1300" dirty="0"/>
          </a:p>
        </p:txBody>
      </p:sp>
      <p:sp>
        <p:nvSpPr>
          <p:cNvPr id="30" name="check circle"/>
          <p:cNvSpPr/>
          <p:nvPr/>
        </p:nvSpPr>
        <p:spPr>
          <a:xfrm>
            <a:off x="9006840" y="3108960"/>
            <a:ext cx="274320" cy="274320"/>
          </a:xfrm>
          <a:prstGeom prst="ellipse">
            <a:avLst/>
          </a:prstGeom>
          <a:solidFill>
            <a:schemeClr val="accent5"/>
          </a:solidFill>
          <a:ln/>
        </p:spPr>
      </p:sp>
      <p:pic>
        <p:nvPicPr>
          <p:cNvPr id="31" name="check" descr="preencoded.png"/>
          <p:cNvPicPr>
            <a:picLocks noChangeAspect="1"/>
          </p:cNvPicPr>
          <p:nvPr/>
        </p:nvPicPr>
        <p:blipFill>
          <a:blip r:embed="rId5"/>
          <a:stretch>
            <a:fillRect/>
          </a:stretch>
        </p:blipFill>
        <p:spPr>
          <a:xfrm>
            <a:off x="9072677" y="3174797"/>
            <a:ext cx="142646" cy="142646"/>
          </a:xfrm>
          <a:prstGeom prst="rect">
            <a:avLst/>
          </a:prstGeom>
        </p:spPr>
      </p:pic>
      <p:sp>
        <p:nvSpPr>
          <p:cNvPr id="32" name="Text 24"/>
          <p:cNvSpPr txBox="1"/>
          <p:nvPr/>
        </p:nvSpPr>
        <p:spPr>
          <a:xfrm>
            <a:off x="9390888" y="3044952"/>
            <a:ext cx="2194560" cy="411480"/>
          </a:xfrm>
          <a:prstGeom prst="rect">
            <a:avLst/>
          </a:prstGeom>
          <a:noFill/>
          <a:ln/>
        </p:spPr>
        <p:txBody>
          <a:bodyPr wrap="square" lIns="0" tIns="0" rIns="0" bIns="0" rtlCol="0" anchor="ctr"/>
          <a:lstStyle/>
          <a:p>
            <a:pPr marL="0" indent="0">
              <a:buNone/>
            </a:pPr>
            <a:r>
              <a:rPr lang="en-US" sz="1300" dirty="0">
                <a:solidFill>
                  <a:srgbClr val="132226"/>
                </a:solidFill>
              </a:rPr>
              <a:t>Log-file validation</a:t>
            </a:r>
            <a:endParaRPr lang="en-US" sz="1300" dirty="0"/>
          </a:p>
        </p:txBody>
      </p:sp>
      <p:sp>
        <p:nvSpPr>
          <p:cNvPr id="33" name="check circle"/>
          <p:cNvSpPr/>
          <p:nvPr/>
        </p:nvSpPr>
        <p:spPr>
          <a:xfrm>
            <a:off x="6400800" y="3730752"/>
            <a:ext cx="274320" cy="274320"/>
          </a:xfrm>
          <a:prstGeom prst="ellipse">
            <a:avLst/>
          </a:prstGeom>
          <a:solidFill>
            <a:schemeClr val="accent5"/>
          </a:solidFill>
          <a:ln/>
        </p:spPr>
      </p:sp>
      <p:pic>
        <p:nvPicPr>
          <p:cNvPr id="34" name="check" descr="preencoded.png"/>
          <p:cNvPicPr>
            <a:picLocks noChangeAspect="1"/>
          </p:cNvPicPr>
          <p:nvPr/>
        </p:nvPicPr>
        <p:blipFill>
          <a:blip r:embed="rId5"/>
          <a:stretch>
            <a:fillRect/>
          </a:stretch>
        </p:blipFill>
        <p:spPr>
          <a:xfrm>
            <a:off x="6466637" y="3796589"/>
            <a:ext cx="142646" cy="142646"/>
          </a:xfrm>
          <a:prstGeom prst="rect">
            <a:avLst/>
          </a:prstGeom>
        </p:spPr>
      </p:pic>
      <p:sp>
        <p:nvSpPr>
          <p:cNvPr id="35" name="Text 26"/>
          <p:cNvSpPr txBox="1"/>
          <p:nvPr/>
        </p:nvSpPr>
        <p:spPr>
          <a:xfrm>
            <a:off x="6784848" y="3666744"/>
            <a:ext cx="2194560" cy="411480"/>
          </a:xfrm>
          <a:prstGeom prst="rect">
            <a:avLst/>
          </a:prstGeom>
          <a:noFill/>
          <a:ln/>
        </p:spPr>
        <p:txBody>
          <a:bodyPr wrap="square" lIns="0" tIns="0" rIns="0" bIns="0" rtlCol="0" anchor="ctr"/>
          <a:lstStyle/>
          <a:p>
            <a:pPr marL="0" indent="0">
              <a:buNone/>
            </a:pPr>
            <a:r>
              <a:rPr lang="en-US" sz="1300" dirty="0">
                <a:solidFill>
                  <a:srgbClr val="132226"/>
                </a:solidFill>
              </a:rPr>
              <a:t>Private AES256 + versioned bucket</a:t>
            </a:r>
            <a:endParaRPr lang="en-US" sz="1300" dirty="0"/>
          </a:p>
        </p:txBody>
      </p:sp>
      <p:sp>
        <p:nvSpPr>
          <p:cNvPr id="36" name="check circle"/>
          <p:cNvSpPr/>
          <p:nvPr/>
        </p:nvSpPr>
        <p:spPr>
          <a:xfrm>
            <a:off x="9006840" y="3730752"/>
            <a:ext cx="274320" cy="274320"/>
          </a:xfrm>
          <a:prstGeom prst="ellipse">
            <a:avLst/>
          </a:prstGeom>
          <a:solidFill>
            <a:schemeClr val="accent5"/>
          </a:solidFill>
          <a:ln/>
        </p:spPr>
      </p:sp>
      <p:pic>
        <p:nvPicPr>
          <p:cNvPr id="37" name="check" descr="preencoded.png"/>
          <p:cNvPicPr>
            <a:picLocks noChangeAspect="1"/>
          </p:cNvPicPr>
          <p:nvPr/>
        </p:nvPicPr>
        <p:blipFill>
          <a:blip r:embed="rId5"/>
          <a:stretch>
            <a:fillRect/>
          </a:stretch>
        </p:blipFill>
        <p:spPr>
          <a:xfrm>
            <a:off x="9072677" y="3796589"/>
            <a:ext cx="142646" cy="142646"/>
          </a:xfrm>
          <a:prstGeom prst="rect">
            <a:avLst/>
          </a:prstGeom>
        </p:spPr>
      </p:pic>
      <p:sp>
        <p:nvSpPr>
          <p:cNvPr id="38" name="Text 28"/>
          <p:cNvSpPr txBox="1"/>
          <p:nvPr/>
        </p:nvSpPr>
        <p:spPr>
          <a:xfrm>
            <a:off x="9390888" y="3666744"/>
            <a:ext cx="2194560" cy="411480"/>
          </a:xfrm>
          <a:prstGeom prst="rect">
            <a:avLst/>
          </a:prstGeom>
          <a:noFill/>
          <a:ln/>
        </p:spPr>
        <p:txBody>
          <a:bodyPr wrap="square" lIns="0" tIns="0" rIns="0" bIns="0" rtlCol="0" anchor="ctr"/>
          <a:lstStyle/>
          <a:p>
            <a:pPr marL="0" indent="0">
              <a:buNone/>
            </a:pPr>
            <a:r>
              <a:rPr lang="en-US" sz="1300" dirty="0">
                <a:solidFill>
                  <a:srgbClr val="132226"/>
                </a:solidFill>
              </a:rPr>
              <a:t>30-day lifecycle</a:t>
            </a:r>
            <a:endParaRPr lang="en-US" sz="1300" dirty="0"/>
          </a:p>
        </p:txBody>
      </p:sp>
      <p:sp>
        <p:nvSpPr>
          <p:cNvPr id="39" name="card"/>
          <p:cNvSpPr/>
          <p:nvPr/>
        </p:nvSpPr>
        <p:spPr>
          <a:xfrm>
            <a:off x="548640" y="4572000"/>
            <a:ext cx="3575304" cy="1600200"/>
          </a:xfrm>
          <a:prstGeom prst="roundRect">
            <a:avLst>
              <a:gd name="adj" fmla="val 5714"/>
            </a:avLst>
          </a:prstGeom>
          <a:solidFill>
            <a:srgbClr val="FFFFFF"/>
          </a:solidFill>
          <a:ln/>
          <a:effectLst>
            <a:outerShdw blurRad="114300" dist="25400" dir="5400000" algn="bl" rotWithShape="0">
              <a:srgbClr val="0E3B43">
                <a:alpha val="13000"/>
              </a:srgbClr>
            </a:outerShdw>
          </a:effectLst>
        </p:spPr>
      </p:sp>
      <p:sp>
        <p:nvSpPr>
          <p:cNvPr id="40" name="Alarm proof circle"/>
          <p:cNvSpPr/>
          <p:nvPr/>
        </p:nvSpPr>
        <p:spPr>
          <a:xfrm>
            <a:off x="749808" y="4736592"/>
            <a:ext cx="475488" cy="475488"/>
          </a:xfrm>
          <a:prstGeom prst="ellipse">
            <a:avLst/>
          </a:prstGeom>
          <a:solidFill>
            <a:schemeClr val="accent4"/>
          </a:solidFill>
          <a:ln/>
        </p:spPr>
      </p:sp>
      <p:pic>
        <p:nvPicPr>
          <p:cNvPr id="41" name="Alarm proof" descr="preencoded.png"/>
          <p:cNvPicPr>
            <a:picLocks noChangeAspect="1"/>
          </p:cNvPicPr>
          <p:nvPr/>
        </p:nvPicPr>
        <p:blipFill>
          <a:blip r:embed="rId6"/>
          <a:stretch>
            <a:fillRect/>
          </a:stretch>
        </p:blipFill>
        <p:spPr>
          <a:xfrm>
            <a:off x="863925" y="4850709"/>
            <a:ext cx="247254" cy="247254"/>
          </a:xfrm>
          <a:prstGeom prst="rect">
            <a:avLst/>
          </a:prstGeom>
        </p:spPr>
      </p:pic>
      <p:sp>
        <p:nvSpPr>
          <p:cNvPr id="42" name="Text 31"/>
          <p:cNvSpPr txBox="1"/>
          <p:nvPr/>
        </p:nvSpPr>
        <p:spPr>
          <a:xfrm>
            <a:off x="1353312" y="4736592"/>
            <a:ext cx="2651760" cy="475488"/>
          </a:xfrm>
          <a:prstGeom prst="rect">
            <a:avLst/>
          </a:prstGeom>
          <a:noFill/>
          <a:ln/>
        </p:spPr>
        <p:txBody>
          <a:bodyPr wrap="square" lIns="0" tIns="0" rIns="0" bIns="0" rtlCol="0" anchor="ctr"/>
          <a:lstStyle/>
          <a:p>
            <a:pPr marL="0" indent="0">
              <a:buNone/>
            </a:pPr>
            <a:r>
              <a:rPr lang="en-US" sz="1500" b="1" dirty="0">
                <a:solidFill>
                  <a:srgbClr val="132226"/>
                </a:solidFill>
              </a:rPr>
              <a:t>Alarm proof</a:t>
            </a:r>
            <a:endParaRPr lang="en-US" sz="1500" dirty="0"/>
          </a:p>
        </p:txBody>
      </p:sp>
      <p:sp>
        <p:nvSpPr>
          <p:cNvPr id="43" name="Text 32"/>
          <p:cNvSpPr txBox="1"/>
          <p:nvPr/>
        </p:nvSpPr>
        <p:spPr>
          <a:xfrm>
            <a:off x="749808" y="5303520"/>
            <a:ext cx="3200400" cy="822960"/>
          </a:xfrm>
          <a:prstGeom prst="rect">
            <a:avLst/>
          </a:prstGeom>
          <a:noFill/>
          <a:ln/>
        </p:spPr>
        <p:txBody>
          <a:bodyPr wrap="square" lIns="0" tIns="0" rIns="0" bIns="0" rtlCol="0" anchor="t"/>
          <a:lstStyle/>
          <a:p>
            <a:pPr marL="0" indent="0">
              <a:buNone/>
            </a:pPr>
            <a:r>
              <a:rPr lang="en-US" sz="1300" dirty="0">
                <a:solidFill>
                  <a:srgbClr val="4A5B5E"/>
                </a:solidFill>
              </a:rPr>
              <a:t>Existing DLQ test messages triggered a real ALARM state; after purging the queue the alarm returned to OK.</a:t>
            </a:r>
            <a:endParaRPr lang="en-US" sz="1300" dirty="0"/>
          </a:p>
        </p:txBody>
      </p:sp>
      <p:sp>
        <p:nvSpPr>
          <p:cNvPr id="44" name="card"/>
          <p:cNvSpPr/>
          <p:nvPr/>
        </p:nvSpPr>
        <p:spPr>
          <a:xfrm>
            <a:off x="4306824" y="4572000"/>
            <a:ext cx="3575304" cy="1600200"/>
          </a:xfrm>
          <a:prstGeom prst="roundRect">
            <a:avLst>
              <a:gd name="adj" fmla="val 5714"/>
            </a:avLst>
          </a:prstGeom>
          <a:solidFill>
            <a:srgbClr val="FFFFFF"/>
          </a:solidFill>
          <a:ln/>
          <a:effectLst>
            <a:outerShdw blurRad="114300" dist="25400" dir="5400000" algn="bl" rotWithShape="0">
              <a:srgbClr val="0E3B43">
                <a:alpha val="13000"/>
              </a:srgbClr>
            </a:outerShdw>
          </a:effectLst>
        </p:spPr>
      </p:sp>
      <p:sp>
        <p:nvSpPr>
          <p:cNvPr id="45" name="CloudTrail governance circle"/>
          <p:cNvSpPr/>
          <p:nvPr/>
        </p:nvSpPr>
        <p:spPr>
          <a:xfrm>
            <a:off x="4507992" y="4736592"/>
            <a:ext cx="475488" cy="475488"/>
          </a:xfrm>
          <a:prstGeom prst="ellipse">
            <a:avLst/>
          </a:prstGeom>
          <a:solidFill>
            <a:schemeClr val="accent5"/>
          </a:solidFill>
          <a:ln/>
        </p:spPr>
      </p:sp>
      <p:pic>
        <p:nvPicPr>
          <p:cNvPr id="46" name="CloudTrail governance" descr="preencoded.png"/>
          <p:cNvPicPr>
            <a:picLocks noChangeAspect="1"/>
          </p:cNvPicPr>
          <p:nvPr/>
        </p:nvPicPr>
        <p:blipFill>
          <a:blip r:embed="rId7"/>
          <a:stretch>
            <a:fillRect/>
          </a:stretch>
        </p:blipFill>
        <p:spPr>
          <a:xfrm>
            <a:off x="4622109" y="4850709"/>
            <a:ext cx="247254" cy="247254"/>
          </a:xfrm>
          <a:prstGeom prst="rect">
            <a:avLst/>
          </a:prstGeom>
        </p:spPr>
      </p:pic>
      <p:sp>
        <p:nvSpPr>
          <p:cNvPr id="47" name="Text 35"/>
          <p:cNvSpPr txBox="1"/>
          <p:nvPr/>
        </p:nvSpPr>
        <p:spPr>
          <a:xfrm>
            <a:off x="5111496" y="4736592"/>
            <a:ext cx="2651760" cy="475488"/>
          </a:xfrm>
          <a:prstGeom prst="rect">
            <a:avLst/>
          </a:prstGeom>
          <a:noFill/>
          <a:ln/>
        </p:spPr>
        <p:txBody>
          <a:bodyPr wrap="square" lIns="0" tIns="0" rIns="0" bIns="0" rtlCol="0" anchor="ctr"/>
          <a:lstStyle/>
          <a:p>
            <a:pPr marL="0" indent="0">
              <a:buNone/>
            </a:pPr>
            <a:r>
              <a:rPr lang="en-US" sz="1500" b="1" dirty="0">
                <a:solidFill>
                  <a:srgbClr val="132226"/>
                </a:solidFill>
              </a:rPr>
              <a:t>CloudTrail governance</a:t>
            </a:r>
            <a:endParaRPr lang="en-US" sz="1500" dirty="0"/>
          </a:p>
        </p:txBody>
      </p:sp>
      <p:sp>
        <p:nvSpPr>
          <p:cNvPr id="48" name="Text 36"/>
          <p:cNvSpPr txBox="1"/>
          <p:nvPr/>
        </p:nvSpPr>
        <p:spPr>
          <a:xfrm>
            <a:off x="4507992" y="5303520"/>
            <a:ext cx="3200400" cy="822960"/>
          </a:xfrm>
          <a:prstGeom prst="rect">
            <a:avLst/>
          </a:prstGeom>
          <a:noFill/>
          <a:ln/>
        </p:spPr>
        <p:txBody>
          <a:bodyPr wrap="square" lIns="0" tIns="0" rIns="0" bIns="0" rtlCol="0" anchor="t"/>
          <a:lstStyle/>
          <a:p>
            <a:pPr marL="0" indent="0">
              <a:buNone/>
            </a:pPr>
            <a:r>
              <a:rPr lang="en-US" sz="1300" dirty="0">
                <a:solidFill>
                  <a:srgbClr val="4A5B5E"/>
                </a:solidFill>
              </a:rPr>
              <a:t>Management activity across all Regions is recorded, including global services.</a:t>
            </a:r>
            <a:endParaRPr lang="en-US" sz="1300" dirty="0"/>
          </a:p>
        </p:txBody>
      </p:sp>
      <p:sp>
        <p:nvSpPr>
          <p:cNvPr id="49" name="card"/>
          <p:cNvSpPr/>
          <p:nvPr/>
        </p:nvSpPr>
        <p:spPr>
          <a:xfrm>
            <a:off x="8065008" y="4572000"/>
            <a:ext cx="3575304" cy="1600200"/>
          </a:xfrm>
          <a:prstGeom prst="roundRect">
            <a:avLst>
              <a:gd name="adj" fmla="val 5714"/>
            </a:avLst>
          </a:prstGeom>
          <a:solidFill>
            <a:srgbClr val="FFFFFF"/>
          </a:solidFill>
          <a:ln/>
          <a:effectLst>
            <a:outerShdw blurRad="114300" dist="25400" dir="5400000" algn="bl" rotWithShape="0">
              <a:srgbClr val="0E3B43">
                <a:alpha val="13000"/>
              </a:srgbClr>
            </a:outerShdw>
          </a:effectLst>
        </p:spPr>
      </p:sp>
      <p:sp>
        <p:nvSpPr>
          <p:cNvPr id="50" name="Audit storage circle"/>
          <p:cNvSpPr/>
          <p:nvPr/>
        </p:nvSpPr>
        <p:spPr>
          <a:xfrm>
            <a:off x="8266176" y="4736592"/>
            <a:ext cx="475488" cy="475488"/>
          </a:xfrm>
          <a:prstGeom prst="ellipse">
            <a:avLst/>
          </a:prstGeom>
          <a:solidFill>
            <a:schemeClr val="accent3"/>
          </a:solidFill>
          <a:ln/>
        </p:spPr>
      </p:sp>
      <p:pic>
        <p:nvPicPr>
          <p:cNvPr id="51" name="Audit storage" descr="preencoded.png"/>
          <p:cNvPicPr>
            <a:picLocks noChangeAspect="1"/>
          </p:cNvPicPr>
          <p:nvPr/>
        </p:nvPicPr>
        <p:blipFill>
          <a:blip r:embed="rId8"/>
          <a:stretch>
            <a:fillRect/>
          </a:stretch>
        </p:blipFill>
        <p:spPr>
          <a:xfrm>
            <a:off x="8380293" y="4850709"/>
            <a:ext cx="247254" cy="247254"/>
          </a:xfrm>
          <a:prstGeom prst="rect">
            <a:avLst/>
          </a:prstGeom>
        </p:spPr>
      </p:pic>
      <p:sp>
        <p:nvSpPr>
          <p:cNvPr id="52" name="Text 39"/>
          <p:cNvSpPr txBox="1"/>
          <p:nvPr/>
        </p:nvSpPr>
        <p:spPr>
          <a:xfrm>
            <a:off x="8869680" y="4736592"/>
            <a:ext cx="2651760" cy="475488"/>
          </a:xfrm>
          <a:prstGeom prst="rect">
            <a:avLst/>
          </a:prstGeom>
          <a:noFill/>
          <a:ln/>
        </p:spPr>
        <p:txBody>
          <a:bodyPr wrap="square" lIns="0" tIns="0" rIns="0" bIns="0" rtlCol="0" anchor="ctr"/>
          <a:lstStyle/>
          <a:p>
            <a:pPr marL="0" indent="0">
              <a:buNone/>
            </a:pPr>
            <a:r>
              <a:rPr lang="en-US" sz="1500" b="1" dirty="0">
                <a:solidFill>
                  <a:srgbClr val="132226"/>
                </a:solidFill>
              </a:rPr>
              <a:t>Audit storage</a:t>
            </a:r>
            <a:endParaRPr lang="en-US" sz="1500" dirty="0"/>
          </a:p>
        </p:txBody>
      </p:sp>
      <p:sp>
        <p:nvSpPr>
          <p:cNvPr id="53" name="Text 40"/>
          <p:cNvSpPr txBox="1"/>
          <p:nvPr/>
        </p:nvSpPr>
        <p:spPr>
          <a:xfrm>
            <a:off x="8266176" y="5303520"/>
            <a:ext cx="3200400" cy="822960"/>
          </a:xfrm>
          <a:prstGeom prst="rect">
            <a:avLst/>
          </a:prstGeom>
          <a:noFill/>
          <a:ln/>
        </p:spPr>
        <p:txBody>
          <a:bodyPr wrap="square" lIns="0" tIns="0" rIns="0" bIns="0" rtlCol="0" anchor="t"/>
          <a:lstStyle/>
          <a:p>
            <a:pPr marL="0" indent="0">
              <a:buNone/>
            </a:pPr>
            <a:r>
              <a:rPr lang="en-US" sz="1300" dirty="0">
                <a:solidFill>
                  <a:srgbClr val="4A5B5E"/>
                </a:solidFill>
              </a:rPr>
              <a:t>A real .json.gz audit log was delivered to the private, encrypted, versioned bucket.</a:t>
            </a:r>
            <a:endParaRPr lang="en-US" sz="1300" dirty="0"/>
          </a:p>
        </p:txBody>
      </p:sp>
      <p:sp>
        <p:nvSpPr>
          <p:cNvPr id="54"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Milestone 11 — CI/CD quality gates</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Release hardening: nothing ships until application, Terraform and container checks all pass.</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M11</a:t>
            </a:r>
            <a:endParaRPr lang="en-US" sz="1200" dirty="0"/>
          </a:p>
        </p:txBody>
      </p:sp>
      <p:sp>
        <p:nvSpPr>
          <p:cNvPr id="6" name="chip Push to main"/>
          <p:cNvSpPr/>
          <p:nvPr/>
        </p:nvSpPr>
        <p:spPr>
          <a:xfrm>
            <a:off x="548640" y="1600200"/>
            <a:ext cx="1417320" cy="1005840"/>
          </a:xfrm>
          <a:prstGeom prst="roundRect">
            <a:avLst>
              <a:gd name="adj" fmla="val 6364"/>
            </a:avLst>
          </a:prstGeom>
          <a:solidFill>
            <a:srgbClr val="E7EAF2"/>
          </a:solidFill>
          <a:ln/>
        </p:spPr>
      </p:sp>
      <p:sp>
        <p:nvSpPr>
          <p:cNvPr id="7" name="Text 5"/>
          <p:cNvSpPr txBox="1"/>
          <p:nvPr/>
        </p:nvSpPr>
        <p:spPr>
          <a:xfrm>
            <a:off x="603504" y="1600200"/>
            <a:ext cx="1307592" cy="1005840"/>
          </a:xfrm>
          <a:prstGeom prst="rect">
            <a:avLst/>
          </a:prstGeom>
          <a:noFill/>
          <a:ln/>
        </p:spPr>
        <p:txBody>
          <a:bodyPr wrap="square" lIns="0" tIns="0" rIns="0" bIns="0" rtlCol="0" anchor="ctr"/>
          <a:lstStyle/>
          <a:p>
            <a:pPr marL="0" indent="0" algn="ctr">
              <a:buNone/>
            </a:pPr>
            <a:r>
              <a:rPr lang="en-US" sz="1300" b="1" dirty="0">
                <a:solidFill>
                  <a:srgbClr val="132226"/>
                </a:solidFill>
              </a:rPr>
              <a:t>Push to main</a:t>
            </a:r>
            <a:endParaRPr lang="en-US" sz="1400" dirty="0"/>
          </a:p>
          <a:p>
            <a:pPr marL="0" indent="0" algn="ctr">
              <a:buNone/>
            </a:pPr>
            <a:r>
              <a:rPr lang="en-US" sz="1050" dirty="0">
                <a:solidFill>
                  <a:srgbClr val="4A5B5E"/>
                </a:solidFill>
              </a:rPr>
              <a:t>code · Terraform · Dockerfile</a:t>
            </a:r>
            <a:endParaRPr lang="en-US" sz="1400" dirty="0"/>
          </a:p>
        </p:txBody>
      </p:sp>
      <p:sp>
        <p:nvSpPr>
          <p:cNvPr id="8" name="connector"/>
          <p:cNvSpPr/>
          <p:nvPr/>
        </p:nvSpPr>
        <p:spPr>
          <a:xfrm>
            <a:off x="1993392" y="2103120"/>
            <a:ext cx="292608" cy="0"/>
          </a:xfrm>
          <a:prstGeom prst="line">
            <a:avLst/>
          </a:prstGeom>
          <a:noFill/>
          <a:ln w="19050">
            <a:solidFill>
              <a:srgbClr val="0E7C7B"/>
            </a:solidFill>
            <a:prstDash val="solid"/>
            <a:tailEnd type="triangle"/>
          </a:ln>
        </p:spPr>
      </p:sp>
      <p:sp>
        <p:nvSpPr>
          <p:cNvPr id="9" name="card"/>
          <p:cNvSpPr/>
          <p:nvPr/>
        </p:nvSpPr>
        <p:spPr>
          <a:xfrm>
            <a:off x="2331720" y="1463040"/>
            <a:ext cx="6400800" cy="3017520"/>
          </a:xfrm>
          <a:prstGeom prst="roundRect">
            <a:avLst>
              <a:gd name="adj" fmla="val 3030"/>
            </a:avLst>
          </a:prstGeom>
          <a:solidFill>
            <a:srgbClr val="E0F3EE"/>
          </a:solidFill>
          <a:ln/>
        </p:spPr>
      </p:sp>
      <p:sp>
        <p:nvSpPr>
          <p:cNvPr id="10" name="Text 8"/>
          <p:cNvSpPr txBox="1"/>
          <p:nvPr/>
        </p:nvSpPr>
        <p:spPr>
          <a:xfrm>
            <a:off x="2514600" y="1554480"/>
            <a:ext cx="6035040" cy="320040"/>
          </a:xfrm>
          <a:prstGeom prst="rect">
            <a:avLst/>
          </a:prstGeom>
          <a:noFill/>
          <a:ln/>
        </p:spPr>
        <p:txBody>
          <a:bodyPr wrap="square" lIns="0" tIns="0" rIns="0" bIns="0" rtlCol="0" anchor="t"/>
          <a:lstStyle/>
          <a:p>
            <a:pPr marL="0" indent="0">
              <a:buNone/>
            </a:pPr>
            <a:r>
              <a:rPr lang="en-US" sz="1300" b="1" dirty="0">
                <a:solidFill>
                  <a:srgbClr val="1F9A82"/>
                </a:solidFill>
                <a:latin typeface="Courier New" pitchFamily="34" charset="0"/>
                <a:ea typeface="Courier New" pitchFamily="34" charset="-122"/>
                <a:cs typeface="Courier New" pitchFamily="34" charset="-120"/>
              </a:rPr>
              <a:t>quality-gates.yml  ·  all three must pass</a:t>
            </a:r>
            <a:endParaRPr lang="en-US" sz="1300" dirty="0"/>
          </a:p>
        </p:txBody>
      </p:sp>
      <p:sp>
        <p:nvSpPr>
          <p:cNvPr id="11" name="card"/>
          <p:cNvSpPr/>
          <p:nvPr/>
        </p:nvSpPr>
        <p:spPr>
          <a:xfrm>
            <a:off x="2514600" y="1965960"/>
            <a:ext cx="1938528" cy="2377440"/>
          </a:xfrm>
          <a:prstGeom prst="roundRect">
            <a:avLst>
              <a:gd name="adj" fmla="val 4717"/>
            </a:avLst>
          </a:prstGeom>
          <a:solidFill>
            <a:srgbClr val="FFFFFF"/>
          </a:solidFill>
          <a:ln/>
          <a:effectLst>
            <a:outerShdw blurRad="114300" dist="25400" dir="5400000" algn="bl" rotWithShape="0">
              <a:srgbClr val="0E3B43">
                <a:alpha val="13000"/>
              </a:srgbClr>
            </a:outerShdw>
          </a:effectLst>
        </p:spPr>
      </p:sp>
      <p:sp>
        <p:nvSpPr>
          <p:cNvPr id="12" name="Application gate circle"/>
          <p:cNvSpPr/>
          <p:nvPr/>
        </p:nvSpPr>
        <p:spPr>
          <a:xfrm>
            <a:off x="2651760" y="2084832"/>
            <a:ext cx="457200" cy="457200"/>
          </a:xfrm>
          <a:prstGeom prst="ellipse">
            <a:avLst/>
          </a:prstGeom>
          <a:solidFill>
            <a:schemeClr val="accent3"/>
          </a:solidFill>
          <a:ln/>
        </p:spPr>
      </p:sp>
      <p:pic>
        <p:nvPicPr>
          <p:cNvPr id="13" name="Application gate" descr="preencoded.png"/>
          <p:cNvPicPr>
            <a:picLocks noChangeAspect="1"/>
          </p:cNvPicPr>
          <p:nvPr/>
        </p:nvPicPr>
        <p:blipFill>
          <a:blip r:embed="rId3"/>
          <a:stretch>
            <a:fillRect/>
          </a:stretch>
        </p:blipFill>
        <p:spPr>
          <a:xfrm>
            <a:off x="2761488" y="2194560"/>
            <a:ext cx="237744" cy="237744"/>
          </a:xfrm>
          <a:prstGeom prst="rect">
            <a:avLst/>
          </a:prstGeom>
        </p:spPr>
      </p:pic>
      <p:sp>
        <p:nvSpPr>
          <p:cNvPr id="14" name="Text 11"/>
          <p:cNvSpPr txBox="1"/>
          <p:nvPr/>
        </p:nvSpPr>
        <p:spPr>
          <a:xfrm>
            <a:off x="3172968" y="2084832"/>
            <a:ext cx="1234440" cy="457200"/>
          </a:xfrm>
          <a:prstGeom prst="rect">
            <a:avLst/>
          </a:prstGeom>
          <a:noFill/>
          <a:ln/>
        </p:spPr>
        <p:txBody>
          <a:bodyPr wrap="square" lIns="0" tIns="0" rIns="0" bIns="0" rtlCol="0" anchor="ctr"/>
          <a:lstStyle/>
          <a:p>
            <a:pPr marL="0" indent="0">
              <a:buNone/>
            </a:pPr>
            <a:r>
              <a:rPr lang="en-US" sz="1300" b="1" dirty="0">
                <a:solidFill>
                  <a:srgbClr val="132226"/>
                </a:solidFill>
              </a:rPr>
              <a:t>Application gate</a:t>
            </a:r>
            <a:endParaRPr lang="en-US" sz="1300" dirty="0"/>
          </a:p>
        </p:txBody>
      </p:sp>
      <p:sp>
        <p:nvSpPr>
          <p:cNvPr id="15" name="Text 12"/>
          <p:cNvSpPr txBox="1"/>
          <p:nvPr/>
        </p:nvSpPr>
        <p:spPr>
          <a:xfrm>
            <a:off x="2651760" y="2697480"/>
            <a:ext cx="1755648" cy="365760"/>
          </a:xfrm>
          <a:prstGeom prst="rect">
            <a:avLst/>
          </a:prstGeom>
          <a:noFill/>
          <a:ln/>
        </p:spPr>
        <p:txBody>
          <a:bodyPr wrap="square" lIns="0" tIns="0" rIns="0" bIns="0" rtlCol="0" anchor="ctr"/>
          <a:lstStyle/>
          <a:p>
            <a:pPr marL="0" indent="0">
              <a:buNone/>
            </a:pPr>
            <a:r>
              <a:rPr lang="en-US" sz="1150" dirty="0">
                <a:solidFill>
                  <a:srgbClr val="132226"/>
                </a:solidFill>
              </a:rPr>
              <a:t>Node.js 24</a:t>
            </a:r>
            <a:endParaRPr lang="en-US" sz="1150" dirty="0"/>
          </a:p>
        </p:txBody>
      </p:sp>
      <p:sp>
        <p:nvSpPr>
          <p:cNvPr id="16" name="Text 13"/>
          <p:cNvSpPr txBox="1"/>
          <p:nvPr/>
        </p:nvSpPr>
        <p:spPr>
          <a:xfrm>
            <a:off x="2651760" y="3081528"/>
            <a:ext cx="1755648" cy="365760"/>
          </a:xfrm>
          <a:prstGeom prst="rect">
            <a:avLst/>
          </a:prstGeom>
          <a:noFill/>
          <a:ln/>
        </p:spPr>
        <p:txBody>
          <a:bodyPr wrap="square" lIns="0" tIns="0" rIns="0" bIns="0" rtlCol="0" anchor="ctr"/>
          <a:lstStyle/>
          <a:p>
            <a:pPr marL="0" indent="0">
              <a:buNone/>
            </a:pPr>
            <a:r>
              <a:rPr lang="en-US" sz="1150" dirty="0">
                <a:solidFill>
                  <a:srgbClr val="132226"/>
                </a:solidFill>
              </a:rPr>
              <a:t>npm ci (locked deps)</a:t>
            </a:r>
            <a:endParaRPr lang="en-US" sz="1150" dirty="0"/>
          </a:p>
        </p:txBody>
      </p:sp>
      <p:sp>
        <p:nvSpPr>
          <p:cNvPr id="17" name="Text 14"/>
          <p:cNvSpPr txBox="1"/>
          <p:nvPr/>
        </p:nvSpPr>
        <p:spPr>
          <a:xfrm>
            <a:off x="2651760" y="3465576"/>
            <a:ext cx="1755648" cy="365760"/>
          </a:xfrm>
          <a:prstGeom prst="rect">
            <a:avLst/>
          </a:prstGeom>
          <a:noFill/>
          <a:ln/>
        </p:spPr>
        <p:txBody>
          <a:bodyPr wrap="square" lIns="0" tIns="0" rIns="0" bIns="0" rtlCol="0" anchor="ctr"/>
          <a:lstStyle/>
          <a:p>
            <a:pPr marL="0" indent="0">
              <a:buNone/>
            </a:pPr>
            <a:r>
              <a:rPr lang="en-US" sz="1150" dirty="0">
                <a:solidFill>
                  <a:srgbClr val="132226"/>
                </a:solidFill>
              </a:rPr>
              <a:t>npm run check</a:t>
            </a:r>
            <a:endParaRPr lang="en-US" sz="1150" dirty="0"/>
          </a:p>
        </p:txBody>
      </p:sp>
      <p:sp>
        <p:nvSpPr>
          <p:cNvPr id="18" name="Text 15"/>
          <p:cNvSpPr txBox="1"/>
          <p:nvPr/>
        </p:nvSpPr>
        <p:spPr>
          <a:xfrm>
            <a:off x="2651760" y="3849624"/>
            <a:ext cx="1755648" cy="365760"/>
          </a:xfrm>
          <a:prstGeom prst="rect">
            <a:avLst/>
          </a:prstGeom>
          <a:noFill/>
          <a:ln/>
        </p:spPr>
        <p:txBody>
          <a:bodyPr wrap="square" lIns="0" tIns="0" rIns="0" bIns="0" rtlCol="0" anchor="ctr"/>
          <a:lstStyle/>
          <a:p>
            <a:pPr marL="0" indent="0">
              <a:buNone/>
            </a:pPr>
            <a:r>
              <a:rPr lang="en-US" sz="1150" dirty="0">
                <a:solidFill>
                  <a:srgbClr val="132226"/>
                </a:solidFill>
              </a:rPr>
              <a:t>npm audit --omit=dev</a:t>
            </a:r>
            <a:endParaRPr lang="en-US" sz="1150" dirty="0"/>
          </a:p>
        </p:txBody>
      </p:sp>
      <p:sp>
        <p:nvSpPr>
          <p:cNvPr id="19" name="card"/>
          <p:cNvSpPr/>
          <p:nvPr/>
        </p:nvSpPr>
        <p:spPr>
          <a:xfrm>
            <a:off x="4590288" y="1965960"/>
            <a:ext cx="1938528" cy="2377440"/>
          </a:xfrm>
          <a:prstGeom prst="roundRect">
            <a:avLst>
              <a:gd name="adj" fmla="val 4717"/>
            </a:avLst>
          </a:prstGeom>
          <a:solidFill>
            <a:srgbClr val="FFFFFF"/>
          </a:solidFill>
          <a:ln/>
          <a:effectLst>
            <a:outerShdw blurRad="114300" dist="25400" dir="5400000" algn="bl" rotWithShape="0">
              <a:srgbClr val="0E3B43">
                <a:alpha val="13000"/>
              </a:srgbClr>
            </a:outerShdw>
          </a:effectLst>
        </p:spPr>
      </p:sp>
      <p:sp>
        <p:nvSpPr>
          <p:cNvPr id="20" name="Infrastructure gate circle"/>
          <p:cNvSpPr/>
          <p:nvPr/>
        </p:nvSpPr>
        <p:spPr>
          <a:xfrm>
            <a:off x="4727448" y="2084832"/>
            <a:ext cx="457200" cy="457200"/>
          </a:xfrm>
          <a:prstGeom prst="ellipse">
            <a:avLst/>
          </a:prstGeom>
          <a:solidFill>
            <a:schemeClr val="accent5"/>
          </a:solidFill>
          <a:ln/>
        </p:spPr>
      </p:sp>
      <p:pic>
        <p:nvPicPr>
          <p:cNvPr id="21" name="Infrastructure gate" descr="preencoded.png"/>
          <p:cNvPicPr>
            <a:picLocks noChangeAspect="1"/>
          </p:cNvPicPr>
          <p:nvPr/>
        </p:nvPicPr>
        <p:blipFill>
          <a:blip r:embed="rId4"/>
          <a:stretch>
            <a:fillRect/>
          </a:stretch>
        </p:blipFill>
        <p:spPr>
          <a:xfrm>
            <a:off x="4837176" y="2194560"/>
            <a:ext cx="237744" cy="237744"/>
          </a:xfrm>
          <a:prstGeom prst="rect">
            <a:avLst/>
          </a:prstGeom>
        </p:spPr>
      </p:pic>
      <p:sp>
        <p:nvSpPr>
          <p:cNvPr id="22" name="Text 18"/>
          <p:cNvSpPr txBox="1"/>
          <p:nvPr/>
        </p:nvSpPr>
        <p:spPr>
          <a:xfrm>
            <a:off x="5248656" y="2084832"/>
            <a:ext cx="1234440" cy="457200"/>
          </a:xfrm>
          <a:prstGeom prst="rect">
            <a:avLst/>
          </a:prstGeom>
          <a:noFill/>
          <a:ln/>
        </p:spPr>
        <p:txBody>
          <a:bodyPr wrap="square" lIns="0" tIns="0" rIns="0" bIns="0" rtlCol="0" anchor="ctr"/>
          <a:lstStyle/>
          <a:p>
            <a:pPr marL="0" indent="0">
              <a:buNone/>
            </a:pPr>
            <a:r>
              <a:rPr lang="en-US" sz="1300" b="1" dirty="0">
                <a:solidFill>
                  <a:srgbClr val="132226"/>
                </a:solidFill>
              </a:rPr>
              <a:t>Infrastructure gate</a:t>
            </a:r>
            <a:endParaRPr lang="en-US" sz="1300" dirty="0"/>
          </a:p>
        </p:txBody>
      </p:sp>
      <p:sp>
        <p:nvSpPr>
          <p:cNvPr id="23" name="Text 19"/>
          <p:cNvSpPr txBox="1"/>
          <p:nvPr/>
        </p:nvSpPr>
        <p:spPr>
          <a:xfrm>
            <a:off x="4727448" y="2697480"/>
            <a:ext cx="1755648" cy="365760"/>
          </a:xfrm>
          <a:prstGeom prst="rect">
            <a:avLst/>
          </a:prstGeom>
          <a:noFill/>
          <a:ln/>
        </p:spPr>
        <p:txBody>
          <a:bodyPr wrap="square" lIns="0" tIns="0" rIns="0" bIns="0" rtlCol="0" anchor="ctr"/>
          <a:lstStyle/>
          <a:p>
            <a:pPr marL="0" indent="0">
              <a:buNone/>
            </a:pPr>
            <a:r>
              <a:rPr lang="en-US" sz="1150" dirty="0">
                <a:solidFill>
                  <a:srgbClr val="132226"/>
                </a:solidFill>
              </a:rPr>
              <a:t>Terraform 1.16.2</a:t>
            </a:r>
            <a:endParaRPr lang="en-US" sz="1150" dirty="0"/>
          </a:p>
        </p:txBody>
      </p:sp>
      <p:sp>
        <p:nvSpPr>
          <p:cNvPr id="24" name="Text 20"/>
          <p:cNvSpPr txBox="1"/>
          <p:nvPr/>
        </p:nvSpPr>
        <p:spPr>
          <a:xfrm>
            <a:off x="4727448" y="3081528"/>
            <a:ext cx="1755648" cy="365760"/>
          </a:xfrm>
          <a:prstGeom prst="rect">
            <a:avLst/>
          </a:prstGeom>
          <a:noFill/>
          <a:ln/>
        </p:spPr>
        <p:txBody>
          <a:bodyPr wrap="square" lIns="0" tIns="0" rIns="0" bIns="0" rtlCol="0" anchor="ctr"/>
          <a:lstStyle/>
          <a:p>
            <a:pPr marL="0" indent="0">
              <a:buNone/>
            </a:pPr>
            <a:r>
              <a:rPr lang="en-US" sz="1150" dirty="0">
                <a:solidFill>
                  <a:srgbClr val="132226"/>
                </a:solidFill>
              </a:rPr>
              <a:t>fmt -check -recursive</a:t>
            </a:r>
            <a:endParaRPr lang="en-US" sz="1150" dirty="0"/>
          </a:p>
        </p:txBody>
      </p:sp>
      <p:sp>
        <p:nvSpPr>
          <p:cNvPr id="25" name="Text 21"/>
          <p:cNvSpPr txBox="1"/>
          <p:nvPr/>
        </p:nvSpPr>
        <p:spPr>
          <a:xfrm>
            <a:off x="4727448" y="3465576"/>
            <a:ext cx="1755648" cy="365760"/>
          </a:xfrm>
          <a:prstGeom prst="rect">
            <a:avLst/>
          </a:prstGeom>
          <a:noFill/>
          <a:ln/>
        </p:spPr>
        <p:txBody>
          <a:bodyPr wrap="square" lIns="0" tIns="0" rIns="0" bIns="0" rtlCol="0" anchor="ctr"/>
          <a:lstStyle/>
          <a:p>
            <a:pPr marL="0" indent="0">
              <a:buNone/>
            </a:pPr>
            <a:r>
              <a:rPr lang="en-US" sz="1150" dirty="0">
                <a:solidFill>
                  <a:srgbClr val="132226"/>
                </a:solidFill>
              </a:rPr>
              <a:t>init -backend=false</a:t>
            </a:r>
            <a:endParaRPr lang="en-US" sz="1150" dirty="0"/>
          </a:p>
        </p:txBody>
      </p:sp>
      <p:sp>
        <p:nvSpPr>
          <p:cNvPr id="26" name="Text 22"/>
          <p:cNvSpPr txBox="1"/>
          <p:nvPr/>
        </p:nvSpPr>
        <p:spPr>
          <a:xfrm>
            <a:off x="4727448" y="3849624"/>
            <a:ext cx="1755648" cy="365760"/>
          </a:xfrm>
          <a:prstGeom prst="rect">
            <a:avLst/>
          </a:prstGeom>
          <a:noFill/>
          <a:ln/>
        </p:spPr>
        <p:txBody>
          <a:bodyPr wrap="square" lIns="0" tIns="0" rIns="0" bIns="0" rtlCol="0" anchor="ctr"/>
          <a:lstStyle/>
          <a:p>
            <a:pPr marL="0" indent="0">
              <a:buNone/>
            </a:pPr>
            <a:r>
              <a:rPr lang="en-US" sz="1150" dirty="0">
                <a:solidFill>
                  <a:srgbClr val="132226"/>
                </a:solidFill>
              </a:rPr>
              <a:t>validate (environments/dev)</a:t>
            </a:r>
            <a:endParaRPr lang="en-US" sz="1150" dirty="0"/>
          </a:p>
        </p:txBody>
      </p:sp>
      <p:sp>
        <p:nvSpPr>
          <p:cNvPr id="27" name="card"/>
          <p:cNvSpPr/>
          <p:nvPr/>
        </p:nvSpPr>
        <p:spPr>
          <a:xfrm>
            <a:off x="6665976" y="1965960"/>
            <a:ext cx="1938528" cy="2377440"/>
          </a:xfrm>
          <a:prstGeom prst="roundRect">
            <a:avLst>
              <a:gd name="adj" fmla="val 4717"/>
            </a:avLst>
          </a:prstGeom>
          <a:solidFill>
            <a:srgbClr val="FFFFFF"/>
          </a:solidFill>
          <a:ln/>
          <a:effectLst>
            <a:outerShdw blurRad="114300" dist="25400" dir="5400000" algn="bl" rotWithShape="0">
              <a:srgbClr val="0E3B43">
                <a:alpha val="13000"/>
              </a:srgbClr>
            </a:outerShdw>
          </a:effectLst>
        </p:spPr>
      </p:sp>
      <p:sp>
        <p:nvSpPr>
          <p:cNvPr id="28" name="Container gate circle"/>
          <p:cNvSpPr/>
          <p:nvPr/>
        </p:nvSpPr>
        <p:spPr>
          <a:xfrm>
            <a:off x="6803136" y="2084832"/>
            <a:ext cx="457200" cy="457200"/>
          </a:xfrm>
          <a:prstGeom prst="ellipse">
            <a:avLst/>
          </a:prstGeom>
          <a:solidFill>
            <a:schemeClr val="accent1"/>
          </a:solidFill>
          <a:ln/>
        </p:spPr>
      </p:sp>
      <p:pic>
        <p:nvPicPr>
          <p:cNvPr id="29" name="Container gate" descr="preencoded.png"/>
          <p:cNvPicPr>
            <a:picLocks noChangeAspect="1"/>
          </p:cNvPicPr>
          <p:nvPr/>
        </p:nvPicPr>
        <p:blipFill>
          <a:blip r:embed="rId5"/>
          <a:stretch>
            <a:fillRect/>
          </a:stretch>
        </p:blipFill>
        <p:spPr>
          <a:xfrm>
            <a:off x="6912864" y="2194560"/>
            <a:ext cx="237744" cy="237744"/>
          </a:xfrm>
          <a:prstGeom prst="rect">
            <a:avLst/>
          </a:prstGeom>
        </p:spPr>
      </p:pic>
      <p:sp>
        <p:nvSpPr>
          <p:cNvPr id="30" name="Text 25"/>
          <p:cNvSpPr txBox="1"/>
          <p:nvPr/>
        </p:nvSpPr>
        <p:spPr>
          <a:xfrm>
            <a:off x="7324344" y="2084832"/>
            <a:ext cx="1234440" cy="457200"/>
          </a:xfrm>
          <a:prstGeom prst="rect">
            <a:avLst/>
          </a:prstGeom>
          <a:noFill/>
          <a:ln/>
        </p:spPr>
        <p:txBody>
          <a:bodyPr wrap="square" lIns="0" tIns="0" rIns="0" bIns="0" rtlCol="0" anchor="ctr"/>
          <a:lstStyle/>
          <a:p>
            <a:pPr marL="0" indent="0">
              <a:buNone/>
            </a:pPr>
            <a:r>
              <a:rPr lang="en-US" sz="1300" b="1" dirty="0">
                <a:solidFill>
                  <a:srgbClr val="132226"/>
                </a:solidFill>
              </a:rPr>
              <a:t>Container gate</a:t>
            </a:r>
            <a:endParaRPr lang="en-US" sz="1300" dirty="0"/>
          </a:p>
        </p:txBody>
      </p:sp>
      <p:sp>
        <p:nvSpPr>
          <p:cNvPr id="31" name="Text 26"/>
          <p:cNvSpPr txBox="1"/>
          <p:nvPr/>
        </p:nvSpPr>
        <p:spPr>
          <a:xfrm>
            <a:off x="6803136" y="2697480"/>
            <a:ext cx="1755648" cy="365760"/>
          </a:xfrm>
          <a:prstGeom prst="rect">
            <a:avLst/>
          </a:prstGeom>
          <a:noFill/>
          <a:ln/>
        </p:spPr>
        <p:txBody>
          <a:bodyPr wrap="square" lIns="0" tIns="0" rIns="0" bIns="0" rtlCol="0" anchor="ctr"/>
          <a:lstStyle/>
          <a:p>
            <a:pPr marL="0" indent="0">
              <a:buNone/>
            </a:pPr>
            <a:r>
              <a:rPr lang="en-US" sz="1150" dirty="0">
                <a:solidFill>
                  <a:srgbClr val="132226"/>
                </a:solidFill>
              </a:rPr>
              <a:t>docker build (node:24-alpine)</a:t>
            </a:r>
            <a:endParaRPr lang="en-US" sz="1150" dirty="0"/>
          </a:p>
        </p:txBody>
      </p:sp>
      <p:sp>
        <p:nvSpPr>
          <p:cNvPr id="32" name="Text 27"/>
          <p:cNvSpPr txBox="1"/>
          <p:nvPr/>
        </p:nvSpPr>
        <p:spPr>
          <a:xfrm>
            <a:off x="6803136" y="3081528"/>
            <a:ext cx="1755648" cy="365760"/>
          </a:xfrm>
          <a:prstGeom prst="rect">
            <a:avLst/>
          </a:prstGeom>
          <a:noFill/>
          <a:ln/>
        </p:spPr>
        <p:txBody>
          <a:bodyPr wrap="square" lIns="0" tIns="0" rIns="0" bIns="0" rtlCol="0" anchor="ctr"/>
          <a:lstStyle/>
          <a:p>
            <a:pPr marL="0" indent="0">
              <a:buNone/>
            </a:pPr>
            <a:r>
              <a:rPr lang="en-US" sz="1150" dirty="0">
                <a:solidFill>
                  <a:srgbClr val="132226"/>
                </a:solidFill>
              </a:rPr>
              <a:t>run + /health smoke test</a:t>
            </a:r>
            <a:endParaRPr lang="en-US" sz="1150" dirty="0"/>
          </a:p>
        </p:txBody>
      </p:sp>
      <p:sp>
        <p:nvSpPr>
          <p:cNvPr id="33" name="Text 28"/>
          <p:cNvSpPr txBox="1"/>
          <p:nvPr/>
        </p:nvSpPr>
        <p:spPr>
          <a:xfrm>
            <a:off x="6803136" y="3465576"/>
            <a:ext cx="1755648" cy="365760"/>
          </a:xfrm>
          <a:prstGeom prst="rect">
            <a:avLst/>
          </a:prstGeom>
          <a:noFill/>
          <a:ln/>
        </p:spPr>
        <p:txBody>
          <a:bodyPr wrap="square" lIns="0" tIns="0" rIns="0" bIns="0" rtlCol="0" anchor="ctr"/>
          <a:lstStyle/>
          <a:p>
            <a:pPr marL="0" indent="0">
              <a:buNone/>
            </a:pPr>
            <a:r>
              <a:rPr lang="en-US" sz="1150" dirty="0">
                <a:solidFill>
                  <a:srgbClr val="132226"/>
                </a:solidFill>
              </a:rPr>
              <a:t>Trivy image scan</a:t>
            </a:r>
            <a:endParaRPr lang="en-US" sz="1150" dirty="0"/>
          </a:p>
        </p:txBody>
      </p:sp>
      <p:sp>
        <p:nvSpPr>
          <p:cNvPr id="34" name="Text 29"/>
          <p:cNvSpPr txBox="1"/>
          <p:nvPr/>
        </p:nvSpPr>
        <p:spPr>
          <a:xfrm>
            <a:off x="6803136" y="3849624"/>
            <a:ext cx="1755648" cy="365760"/>
          </a:xfrm>
          <a:prstGeom prst="rect">
            <a:avLst/>
          </a:prstGeom>
          <a:noFill/>
          <a:ln/>
        </p:spPr>
        <p:txBody>
          <a:bodyPr wrap="square" lIns="0" tIns="0" rIns="0" bIns="0" rtlCol="0" anchor="ctr"/>
          <a:lstStyle/>
          <a:p>
            <a:pPr marL="0" indent="0">
              <a:buNone/>
            </a:pPr>
            <a:r>
              <a:rPr lang="en-US" sz="1150" dirty="0">
                <a:solidFill>
                  <a:srgbClr val="132226"/>
                </a:solidFill>
              </a:rPr>
              <a:t>no CRITICAL findings</a:t>
            </a:r>
            <a:endParaRPr lang="en-US" sz="1150" dirty="0"/>
          </a:p>
        </p:txBody>
      </p:sp>
      <p:sp>
        <p:nvSpPr>
          <p:cNvPr id="35" name="connector"/>
          <p:cNvSpPr/>
          <p:nvPr/>
        </p:nvSpPr>
        <p:spPr>
          <a:xfrm>
            <a:off x="8759952" y="2971800"/>
            <a:ext cx="292608" cy="0"/>
          </a:xfrm>
          <a:prstGeom prst="line">
            <a:avLst/>
          </a:prstGeom>
          <a:noFill/>
          <a:ln w="25400">
            <a:solidFill>
              <a:srgbClr val="1F9A82"/>
            </a:solidFill>
            <a:prstDash val="solid"/>
            <a:tailEnd type="triangle"/>
          </a:ln>
        </p:spPr>
      </p:sp>
      <p:sp>
        <p:nvSpPr>
          <p:cNvPr id="36" name="card"/>
          <p:cNvSpPr/>
          <p:nvPr/>
        </p:nvSpPr>
        <p:spPr>
          <a:xfrm>
            <a:off x="9098280" y="1463040"/>
            <a:ext cx="2542032" cy="3017520"/>
          </a:xfrm>
          <a:prstGeom prst="roundRect">
            <a:avLst>
              <a:gd name="adj" fmla="val 3597"/>
            </a:avLst>
          </a:prstGeom>
          <a:solidFill>
            <a:srgbClr val="FFFFFF"/>
          </a:solidFill>
          <a:ln/>
          <a:effectLst>
            <a:outerShdw blurRad="114300" dist="25400" dir="5400000" algn="bl" rotWithShape="0">
              <a:srgbClr val="0E3B43">
                <a:alpha val="13000"/>
              </a:srgbClr>
            </a:outerShdw>
          </a:effectLst>
        </p:spPr>
      </p:sp>
      <p:sp>
        <p:nvSpPr>
          <p:cNvPr id="37" name="passed circle"/>
          <p:cNvSpPr/>
          <p:nvPr/>
        </p:nvSpPr>
        <p:spPr>
          <a:xfrm>
            <a:off x="9326880" y="1627632"/>
            <a:ext cx="475488" cy="475488"/>
          </a:xfrm>
          <a:prstGeom prst="ellipse">
            <a:avLst/>
          </a:prstGeom>
          <a:solidFill>
            <a:schemeClr val="accent3"/>
          </a:solidFill>
          <a:ln/>
        </p:spPr>
      </p:sp>
      <p:pic>
        <p:nvPicPr>
          <p:cNvPr id="38" name="passed" descr="preencoded.png"/>
          <p:cNvPicPr>
            <a:picLocks noChangeAspect="1"/>
          </p:cNvPicPr>
          <p:nvPr/>
        </p:nvPicPr>
        <p:blipFill>
          <a:blip r:embed="rId6"/>
          <a:stretch>
            <a:fillRect/>
          </a:stretch>
        </p:blipFill>
        <p:spPr>
          <a:xfrm>
            <a:off x="9440997" y="1741749"/>
            <a:ext cx="247254" cy="247254"/>
          </a:xfrm>
          <a:prstGeom prst="rect">
            <a:avLst/>
          </a:prstGeom>
        </p:spPr>
      </p:pic>
      <p:sp>
        <p:nvSpPr>
          <p:cNvPr id="39" name="Text 33"/>
          <p:cNvSpPr txBox="1"/>
          <p:nvPr/>
        </p:nvSpPr>
        <p:spPr>
          <a:xfrm>
            <a:off x="9921240" y="1627632"/>
            <a:ext cx="1645920" cy="475488"/>
          </a:xfrm>
          <a:prstGeom prst="rect">
            <a:avLst/>
          </a:prstGeom>
          <a:noFill/>
          <a:ln/>
        </p:spPr>
        <p:txBody>
          <a:bodyPr wrap="square" lIns="0" tIns="0" rIns="0" bIns="0" rtlCol="0" anchor="ctr"/>
          <a:lstStyle/>
          <a:p>
            <a:pPr marL="0" indent="0">
              <a:buNone/>
            </a:pPr>
            <a:r>
              <a:rPr lang="en-US" sz="1400" b="1" dirty="0">
                <a:solidFill>
                  <a:srgbClr val="0E3B43"/>
                </a:solidFill>
                <a:latin typeface="Courier New" pitchFamily="34" charset="0"/>
                <a:ea typeface="Courier New" pitchFamily="34" charset="-122"/>
                <a:cs typeface="Courier New" pitchFamily="34" charset="-120"/>
              </a:rPr>
              <a:t>deploy.yml</a:t>
            </a:r>
            <a:endParaRPr lang="en-US" sz="1400" dirty="0"/>
          </a:p>
        </p:txBody>
      </p:sp>
      <p:sp>
        <p:nvSpPr>
          <p:cNvPr id="40" name="Text 34"/>
          <p:cNvSpPr txBox="1"/>
          <p:nvPr/>
        </p:nvSpPr>
        <p:spPr>
          <a:xfrm>
            <a:off x="9326880" y="2286000"/>
            <a:ext cx="2240280" cy="411480"/>
          </a:xfrm>
          <a:prstGeom prst="rect">
            <a:avLst/>
          </a:prstGeom>
          <a:noFill/>
          <a:ln/>
        </p:spPr>
        <p:txBody>
          <a:bodyPr wrap="square" lIns="0" tIns="0" rIns="0" bIns="0" rtlCol="0" anchor="ctr"/>
          <a:lstStyle/>
          <a:p>
            <a:pPr marL="0" indent="0">
              <a:buNone/>
            </a:pPr>
            <a:r>
              <a:rPr lang="en-US" sz="1300" dirty="0">
                <a:solidFill>
                  <a:srgbClr val="132226"/>
                </a:solidFill>
              </a:rPr>
              <a:t>1.  Calls quality gates first</a:t>
            </a:r>
            <a:endParaRPr lang="en-US" sz="1300" dirty="0"/>
          </a:p>
        </p:txBody>
      </p:sp>
      <p:sp>
        <p:nvSpPr>
          <p:cNvPr id="41" name="Text 35"/>
          <p:cNvSpPr txBox="1"/>
          <p:nvPr/>
        </p:nvSpPr>
        <p:spPr>
          <a:xfrm>
            <a:off x="9326880" y="2788920"/>
            <a:ext cx="2240280" cy="411480"/>
          </a:xfrm>
          <a:prstGeom prst="rect">
            <a:avLst/>
          </a:prstGeom>
          <a:noFill/>
          <a:ln/>
        </p:spPr>
        <p:txBody>
          <a:bodyPr wrap="square" lIns="0" tIns="0" rIns="0" bIns="0" rtlCol="0" anchor="ctr"/>
          <a:lstStyle/>
          <a:p>
            <a:pPr marL="0" indent="0">
              <a:buNone/>
            </a:pPr>
            <a:r>
              <a:rPr lang="en-US" sz="1300" dirty="0">
                <a:solidFill>
                  <a:srgbClr val="132226"/>
                </a:solidFill>
              </a:rPr>
              <a:t>2.  Build &amp; push to ECR</a:t>
            </a:r>
            <a:endParaRPr lang="en-US" sz="1300" dirty="0"/>
          </a:p>
        </p:txBody>
      </p:sp>
      <p:sp>
        <p:nvSpPr>
          <p:cNvPr id="42" name="Text 36"/>
          <p:cNvSpPr txBox="1"/>
          <p:nvPr/>
        </p:nvSpPr>
        <p:spPr>
          <a:xfrm>
            <a:off x="9326880" y="3291840"/>
            <a:ext cx="2240280" cy="411480"/>
          </a:xfrm>
          <a:prstGeom prst="rect">
            <a:avLst/>
          </a:prstGeom>
          <a:noFill/>
          <a:ln/>
        </p:spPr>
        <p:txBody>
          <a:bodyPr wrap="square" lIns="0" tIns="0" rIns="0" bIns="0" rtlCol="0" anchor="ctr"/>
          <a:lstStyle/>
          <a:p>
            <a:pPr marL="0" indent="0">
              <a:buNone/>
            </a:pPr>
            <a:r>
              <a:rPr lang="en-US" sz="1300" dirty="0">
                <a:solidFill>
                  <a:srgbClr val="132226"/>
                </a:solidFill>
              </a:rPr>
              <a:t>3.  Deploy ECS (Fargate)</a:t>
            </a:r>
            <a:endParaRPr lang="en-US" sz="1300" dirty="0"/>
          </a:p>
        </p:txBody>
      </p:sp>
      <p:sp>
        <p:nvSpPr>
          <p:cNvPr id="43" name="Text 37"/>
          <p:cNvSpPr txBox="1"/>
          <p:nvPr/>
        </p:nvSpPr>
        <p:spPr>
          <a:xfrm>
            <a:off x="9326880" y="3794760"/>
            <a:ext cx="2240280" cy="411480"/>
          </a:xfrm>
          <a:prstGeom prst="rect">
            <a:avLst/>
          </a:prstGeom>
          <a:noFill/>
          <a:ln/>
        </p:spPr>
        <p:txBody>
          <a:bodyPr wrap="square" lIns="0" tIns="0" rIns="0" bIns="0" rtlCol="0" anchor="ctr"/>
          <a:lstStyle/>
          <a:p>
            <a:pPr marL="0" indent="0">
              <a:buNone/>
            </a:pPr>
            <a:r>
              <a:rPr lang="en-US" sz="1300" dirty="0">
                <a:solidFill>
                  <a:srgbClr val="132226"/>
                </a:solidFill>
              </a:rPr>
              <a:t>4.  Serve via CloudFront</a:t>
            </a:r>
            <a:endParaRPr lang="en-US" sz="1300" dirty="0"/>
          </a:p>
        </p:txBody>
      </p:sp>
      <p:sp>
        <p:nvSpPr>
          <p:cNvPr id="44" name="card"/>
          <p:cNvSpPr/>
          <p:nvPr/>
        </p:nvSpPr>
        <p:spPr>
          <a:xfrm>
            <a:off x="548640" y="4709160"/>
            <a:ext cx="11091672" cy="1325880"/>
          </a:xfrm>
          <a:prstGeom prst="roundRect">
            <a:avLst>
              <a:gd name="adj" fmla="val 6897"/>
            </a:avLst>
          </a:prstGeom>
          <a:solidFill>
            <a:srgbClr val="FBE4DE"/>
          </a:solidFill>
          <a:ln/>
        </p:spPr>
      </p:sp>
      <p:sp>
        <p:nvSpPr>
          <p:cNvPr id="45" name="Trivy circle"/>
          <p:cNvSpPr/>
          <p:nvPr/>
        </p:nvSpPr>
        <p:spPr>
          <a:xfrm>
            <a:off x="777240" y="5047488"/>
            <a:ext cx="640080" cy="640080"/>
          </a:xfrm>
          <a:prstGeom prst="ellipse">
            <a:avLst/>
          </a:prstGeom>
          <a:solidFill>
            <a:schemeClr val="accent4"/>
          </a:solidFill>
          <a:ln/>
        </p:spPr>
      </p:sp>
      <p:pic>
        <p:nvPicPr>
          <p:cNvPr id="46" name="Trivy" descr="preencoded.png"/>
          <p:cNvPicPr>
            <a:picLocks noChangeAspect="1"/>
          </p:cNvPicPr>
          <p:nvPr/>
        </p:nvPicPr>
        <p:blipFill>
          <a:blip r:embed="rId7"/>
          <a:stretch>
            <a:fillRect/>
          </a:stretch>
        </p:blipFill>
        <p:spPr>
          <a:xfrm>
            <a:off x="930859" y="5201107"/>
            <a:ext cx="332842" cy="332842"/>
          </a:xfrm>
          <a:prstGeom prst="rect">
            <a:avLst/>
          </a:prstGeom>
        </p:spPr>
      </p:pic>
      <p:sp>
        <p:nvSpPr>
          <p:cNvPr id="47" name="Text 40"/>
          <p:cNvSpPr txBox="1"/>
          <p:nvPr/>
        </p:nvSpPr>
        <p:spPr>
          <a:xfrm>
            <a:off x="1645920" y="4846320"/>
            <a:ext cx="5486400" cy="365760"/>
          </a:xfrm>
          <a:prstGeom prst="rect">
            <a:avLst/>
          </a:prstGeom>
          <a:noFill/>
          <a:ln/>
        </p:spPr>
        <p:txBody>
          <a:bodyPr wrap="square" lIns="0" tIns="0" rIns="0" bIns="0" rtlCol="0" anchor="t"/>
          <a:lstStyle/>
          <a:p>
            <a:pPr marL="0" indent="0">
              <a:buNone/>
            </a:pPr>
            <a:r>
              <a:rPr lang="en-US" sz="1700" b="1" dirty="0">
                <a:solidFill>
                  <a:srgbClr val="D9482B"/>
                </a:solidFill>
                <a:latin typeface="+mj-lt" pitchFamily="34" charset="0"/>
                <a:ea typeface="+mj-lt" pitchFamily="34" charset="-122"/>
                <a:cs typeface="+mj-lt" pitchFamily="34" charset="-120"/>
              </a:rPr>
              <a:t>Real security outcome</a:t>
            </a:r>
            <a:endParaRPr lang="en-US" sz="1700" dirty="0"/>
          </a:p>
        </p:txBody>
      </p:sp>
      <p:sp>
        <p:nvSpPr>
          <p:cNvPr id="48" name="Text 41"/>
          <p:cNvSpPr txBox="1"/>
          <p:nvPr/>
        </p:nvSpPr>
        <p:spPr>
          <a:xfrm>
            <a:off x="1645920" y="5230368"/>
            <a:ext cx="9784080" cy="731520"/>
          </a:xfrm>
          <a:prstGeom prst="rect">
            <a:avLst/>
          </a:prstGeom>
          <a:noFill/>
          <a:ln/>
        </p:spPr>
        <p:txBody>
          <a:bodyPr wrap="square" lIns="0" tIns="0" rIns="0" bIns="0" rtlCol="0" anchor="t"/>
          <a:lstStyle/>
          <a:p>
            <a:pPr marL="0" indent="0">
              <a:buNone/>
            </a:pPr>
            <a:r>
              <a:rPr lang="en-US" sz="1400" dirty="0">
                <a:solidFill>
                  <a:srgbClr val="132226"/>
                </a:solidFill>
              </a:rPr>
              <a:t>Trivy blocked a CRITICAL vulnerability in the tar package of the old base image. I fixed it by upgrading the production base image to Node 24 — the gate was not weakened.</a:t>
            </a:r>
            <a:endParaRPr lang="en-US" sz="1400" dirty="0"/>
          </a:p>
        </p:txBody>
      </p:sp>
      <p:sp>
        <p:nvSpPr>
          <p:cNvPr id="49"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Milestone 12 — Resilience tested through failure</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I intentionally stopped a running ECS service task and observed the actual recovery.</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M12</a:t>
            </a:r>
            <a:endParaRPr lang="en-US" sz="1200" dirty="0"/>
          </a:p>
        </p:txBody>
      </p:sp>
      <p:sp>
        <p:nvSpPr>
          <p:cNvPr id="6" name="card"/>
          <p:cNvSpPr/>
          <p:nvPr/>
        </p:nvSpPr>
        <p:spPr>
          <a:xfrm>
            <a:off x="548640" y="1463040"/>
            <a:ext cx="3575304" cy="3657600"/>
          </a:xfrm>
          <a:prstGeom prst="roundRect">
            <a:avLst>
              <a:gd name="adj" fmla="val 2558"/>
            </a:avLst>
          </a:prstGeom>
          <a:solidFill>
            <a:srgbClr val="FFFFFF"/>
          </a:solidFill>
          <a:ln/>
          <a:effectLst>
            <a:outerShdw blurRad="114300" dist="25400" dir="5400000" algn="bl" rotWithShape="0">
              <a:srgbClr val="0E3B43">
                <a:alpha val="13000"/>
              </a:srgbClr>
            </a:outerShdw>
          </a:effectLst>
        </p:spPr>
      </p:sp>
      <p:sp>
        <p:nvSpPr>
          <p:cNvPr id="7" name="screen"/>
          <p:cNvSpPr/>
          <p:nvPr/>
        </p:nvSpPr>
        <p:spPr>
          <a:xfrm>
            <a:off x="685800" y="1600200"/>
            <a:ext cx="3300984" cy="2377440"/>
          </a:xfrm>
          <a:prstGeom prst="rect">
            <a:avLst/>
          </a:prstGeom>
          <a:solidFill>
            <a:srgbClr val="0C1117"/>
          </a:solidFill>
          <a:ln/>
        </p:spPr>
      </p:sp>
      <p:pic>
        <p:nvPicPr>
          <p:cNvPr id="8" name="M12 evidence 1" descr="Terminal output: 2 desired / 2 running / 0 pending"/>
          <p:cNvPicPr>
            <a:picLocks noChangeAspect="1"/>
          </p:cNvPicPr>
          <p:nvPr/>
        </p:nvPicPr>
        <p:blipFill>
          <a:blip r:embed="rId3"/>
          <a:stretch>
            <a:fillRect/>
          </a:stretch>
        </p:blipFill>
        <p:spPr>
          <a:xfrm>
            <a:off x="685800" y="1683608"/>
            <a:ext cx="3300984" cy="2210624"/>
          </a:xfrm>
          <a:prstGeom prst="rect">
            <a:avLst/>
          </a:prstGeom>
        </p:spPr>
      </p:pic>
      <p:sp>
        <p:nvSpPr>
          <p:cNvPr id="9" name="Text 6"/>
          <p:cNvSpPr txBox="1"/>
          <p:nvPr/>
        </p:nvSpPr>
        <p:spPr>
          <a:xfrm>
            <a:off x="731520" y="4087368"/>
            <a:ext cx="3209544" cy="347472"/>
          </a:xfrm>
          <a:prstGeom prst="rect">
            <a:avLst/>
          </a:prstGeom>
          <a:noFill/>
          <a:ln/>
        </p:spPr>
        <p:txBody>
          <a:bodyPr wrap="square" lIns="0" tIns="0" rIns="0" bIns="0" rtlCol="0" anchor="t"/>
          <a:lstStyle/>
          <a:p>
            <a:pPr marL="0" indent="0">
              <a:buNone/>
            </a:pPr>
            <a:r>
              <a:rPr lang="en-US" sz="1600" b="1" dirty="0">
                <a:solidFill>
                  <a:srgbClr val="0E7C7B"/>
                </a:solidFill>
              </a:rPr>
              <a:t>1 · Baseline</a:t>
            </a:r>
            <a:endParaRPr lang="en-US" sz="1600" dirty="0"/>
          </a:p>
        </p:txBody>
      </p:sp>
      <p:sp>
        <p:nvSpPr>
          <p:cNvPr id="10" name="Text 7"/>
          <p:cNvSpPr txBox="1"/>
          <p:nvPr/>
        </p:nvSpPr>
        <p:spPr>
          <a:xfrm>
            <a:off x="731520" y="4434840"/>
            <a:ext cx="3209544" cy="594360"/>
          </a:xfrm>
          <a:prstGeom prst="rect">
            <a:avLst/>
          </a:prstGeom>
          <a:noFill/>
          <a:ln/>
        </p:spPr>
        <p:txBody>
          <a:bodyPr wrap="square" lIns="0" tIns="0" rIns="0" bIns="0" rtlCol="0" anchor="t"/>
          <a:lstStyle/>
          <a:p>
            <a:pPr marL="0" indent="0">
              <a:buNone/>
            </a:pPr>
            <a:r>
              <a:rPr lang="en-US" sz="1300" b="1" dirty="0">
                <a:solidFill>
                  <a:srgbClr val="132226"/>
                </a:solidFill>
              </a:rPr>
              <a:t>2 desired / 2 running / 0 pending</a:t>
            </a:r>
            <a:endParaRPr lang="en-US" sz="1300" dirty="0"/>
          </a:p>
          <a:p>
            <a:pPr marL="0" indent="0">
              <a:buNone/>
            </a:pPr>
            <a:r>
              <a:rPr lang="en-US" sz="1300" dirty="0">
                <a:solidFill>
                  <a:srgbClr val="4A5B5E"/>
                </a:solidFill>
              </a:rPr>
              <a:t>Tasks across both AZs · HTTP 200</a:t>
            </a:r>
            <a:endParaRPr lang="en-US" sz="1300" dirty="0"/>
          </a:p>
        </p:txBody>
      </p:sp>
      <p:pic>
        <p:nvPicPr>
          <p:cNvPr id="11" name="next" descr="preencoded.png"/>
          <p:cNvPicPr>
            <a:picLocks noChangeAspect="1"/>
          </p:cNvPicPr>
          <p:nvPr/>
        </p:nvPicPr>
        <p:blipFill>
          <a:blip r:embed="rId4"/>
          <a:stretch>
            <a:fillRect/>
          </a:stretch>
        </p:blipFill>
        <p:spPr>
          <a:xfrm>
            <a:off x="4151376" y="2743200"/>
            <a:ext cx="137160" cy="137160"/>
          </a:xfrm>
          <a:prstGeom prst="rect">
            <a:avLst/>
          </a:prstGeom>
        </p:spPr>
      </p:pic>
      <p:sp>
        <p:nvSpPr>
          <p:cNvPr id="12" name="card"/>
          <p:cNvSpPr/>
          <p:nvPr/>
        </p:nvSpPr>
        <p:spPr>
          <a:xfrm>
            <a:off x="4306824" y="1463040"/>
            <a:ext cx="3575304" cy="3657600"/>
          </a:xfrm>
          <a:prstGeom prst="roundRect">
            <a:avLst>
              <a:gd name="adj" fmla="val 2558"/>
            </a:avLst>
          </a:prstGeom>
          <a:solidFill>
            <a:srgbClr val="FFFFFF"/>
          </a:solidFill>
          <a:ln/>
          <a:effectLst>
            <a:outerShdw blurRad="114300" dist="25400" dir="5400000" algn="bl" rotWithShape="0">
              <a:srgbClr val="0E3B43">
                <a:alpha val="13000"/>
              </a:srgbClr>
            </a:outerShdw>
          </a:effectLst>
        </p:spPr>
      </p:sp>
      <p:sp>
        <p:nvSpPr>
          <p:cNvPr id="13" name="screen"/>
          <p:cNvSpPr/>
          <p:nvPr/>
        </p:nvSpPr>
        <p:spPr>
          <a:xfrm>
            <a:off x="4443984" y="1600200"/>
            <a:ext cx="3300984" cy="2377440"/>
          </a:xfrm>
          <a:prstGeom prst="rect">
            <a:avLst/>
          </a:prstGeom>
          <a:solidFill>
            <a:srgbClr val="0C1117"/>
          </a:solidFill>
          <a:ln/>
        </p:spPr>
      </p:sp>
      <p:pic>
        <p:nvPicPr>
          <p:cNvPr id="14" name="M12 evidence 2" descr="Terminal output: 2 desired / 1 running / 1 pending"/>
          <p:cNvPicPr>
            <a:picLocks noChangeAspect="1"/>
          </p:cNvPicPr>
          <p:nvPr/>
        </p:nvPicPr>
        <p:blipFill>
          <a:blip r:embed="rId5"/>
          <a:stretch>
            <a:fillRect/>
          </a:stretch>
        </p:blipFill>
        <p:spPr>
          <a:xfrm>
            <a:off x="4443984" y="1888527"/>
            <a:ext cx="3300984" cy="1800785"/>
          </a:xfrm>
          <a:prstGeom prst="rect">
            <a:avLst/>
          </a:prstGeom>
        </p:spPr>
      </p:pic>
      <p:sp>
        <p:nvSpPr>
          <p:cNvPr id="15" name="Text 10"/>
          <p:cNvSpPr txBox="1"/>
          <p:nvPr/>
        </p:nvSpPr>
        <p:spPr>
          <a:xfrm>
            <a:off x="4489704" y="4087368"/>
            <a:ext cx="3209544" cy="347472"/>
          </a:xfrm>
          <a:prstGeom prst="rect">
            <a:avLst/>
          </a:prstGeom>
          <a:noFill/>
          <a:ln/>
        </p:spPr>
        <p:txBody>
          <a:bodyPr wrap="square" lIns="0" tIns="0" rIns="0" bIns="0" rtlCol="0" anchor="t"/>
          <a:lstStyle/>
          <a:p>
            <a:pPr marL="0" indent="0">
              <a:buNone/>
            </a:pPr>
            <a:r>
              <a:rPr lang="en-US" sz="1600" b="1" dirty="0">
                <a:solidFill>
                  <a:srgbClr val="D9482B"/>
                </a:solidFill>
              </a:rPr>
              <a:t>2 · Controlled stop</a:t>
            </a:r>
            <a:endParaRPr lang="en-US" sz="1600" dirty="0"/>
          </a:p>
        </p:txBody>
      </p:sp>
      <p:sp>
        <p:nvSpPr>
          <p:cNvPr id="16" name="Text 11"/>
          <p:cNvSpPr txBox="1"/>
          <p:nvPr/>
        </p:nvSpPr>
        <p:spPr>
          <a:xfrm>
            <a:off x="4489704" y="4434840"/>
            <a:ext cx="3209544" cy="594360"/>
          </a:xfrm>
          <a:prstGeom prst="rect">
            <a:avLst/>
          </a:prstGeom>
          <a:noFill/>
          <a:ln/>
        </p:spPr>
        <p:txBody>
          <a:bodyPr wrap="square" lIns="0" tIns="0" rIns="0" bIns="0" rtlCol="0" anchor="t"/>
          <a:lstStyle/>
          <a:p>
            <a:pPr marL="0" indent="0">
              <a:buNone/>
            </a:pPr>
            <a:r>
              <a:rPr lang="en-US" sz="1300" b="1" dirty="0">
                <a:solidFill>
                  <a:srgbClr val="132226"/>
                </a:solidFill>
              </a:rPr>
              <a:t>2 desired / 1 running / 1 pending</a:t>
            </a:r>
            <a:endParaRPr lang="en-US" sz="1300" dirty="0"/>
          </a:p>
          <a:p>
            <a:pPr marL="0" indent="0">
              <a:buNone/>
            </a:pPr>
            <a:r>
              <a:rPr lang="en-US" sz="1300" dirty="0">
                <a:solidFill>
                  <a:srgbClr val="4A5B5E"/>
                </a:solidFill>
              </a:rPr>
              <a:t>Public endpoint still HTTP 200</a:t>
            </a:r>
            <a:endParaRPr lang="en-US" sz="1300" dirty="0"/>
          </a:p>
        </p:txBody>
      </p:sp>
      <p:pic>
        <p:nvPicPr>
          <p:cNvPr id="17" name="next" descr="preencoded.png"/>
          <p:cNvPicPr>
            <a:picLocks noChangeAspect="1"/>
          </p:cNvPicPr>
          <p:nvPr/>
        </p:nvPicPr>
        <p:blipFill>
          <a:blip r:embed="rId4"/>
          <a:stretch>
            <a:fillRect/>
          </a:stretch>
        </p:blipFill>
        <p:spPr>
          <a:xfrm>
            <a:off x="7909560" y="2743200"/>
            <a:ext cx="137160" cy="137160"/>
          </a:xfrm>
          <a:prstGeom prst="rect">
            <a:avLst/>
          </a:prstGeom>
        </p:spPr>
      </p:pic>
      <p:sp>
        <p:nvSpPr>
          <p:cNvPr id="18" name="card"/>
          <p:cNvSpPr/>
          <p:nvPr/>
        </p:nvSpPr>
        <p:spPr>
          <a:xfrm>
            <a:off x="8065008" y="1463040"/>
            <a:ext cx="3575304" cy="3657600"/>
          </a:xfrm>
          <a:prstGeom prst="roundRect">
            <a:avLst>
              <a:gd name="adj" fmla="val 2558"/>
            </a:avLst>
          </a:prstGeom>
          <a:solidFill>
            <a:srgbClr val="FFFFFF"/>
          </a:solidFill>
          <a:ln/>
          <a:effectLst>
            <a:outerShdw blurRad="114300" dist="25400" dir="5400000" algn="bl" rotWithShape="0">
              <a:srgbClr val="0E3B43">
                <a:alpha val="13000"/>
              </a:srgbClr>
            </a:outerShdw>
          </a:effectLst>
        </p:spPr>
      </p:sp>
      <p:sp>
        <p:nvSpPr>
          <p:cNvPr id="19" name="screen"/>
          <p:cNvSpPr/>
          <p:nvPr/>
        </p:nvSpPr>
        <p:spPr>
          <a:xfrm>
            <a:off x="8202168" y="1600200"/>
            <a:ext cx="3300984" cy="2377440"/>
          </a:xfrm>
          <a:prstGeom prst="rect">
            <a:avLst/>
          </a:prstGeom>
          <a:solidFill>
            <a:srgbClr val="0C1117"/>
          </a:solidFill>
          <a:ln/>
        </p:spPr>
      </p:sp>
      <p:pic>
        <p:nvPicPr>
          <p:cNvPr id="20" name="M12 evidence 3" descr="Terminal output: Replacement task healthy"/>
          <p:cNvPicPr>
            <a:picLocks noChangeAspect="1"/>
          </p:cNvPicPr>
          <p:nvPr/>
        </p:nvPicPr>
        <p:blipFill>
          <a:blip r:embed="rId6"/>
          <a:stretch>
            <a:fillRect/>
          </a:stretch>
        </p:blipFill>
        <p:spPr>
          <a:xfrm>
            <a:off x="8202168" y="1920435"/>
            <a:ext cx="3300984" cy="1736970"/>
          </a:xfrm>
          <a:prstGeom prst="rect">
            <a:avLst/>
          </a:prstGeom>
        </p:spPr>
      </p:pic>
      <p:sp>
        <p:nvSpPr>
          <p:cNvPr id="21" name="Text 14"/>
          <p:cNvSpPr txBox="1"/>
          <p:nvPr/>
        </p:nvSpPr>
        <p:spPr>
          <a:xfrm>
            <a:off x="8247888" y="4087368"/>
            <a:ext cx="3209544" cy="347472"/>
          </a:xfrm>
          <a:prstGeom prst="rect">
            <a:avLst/>
          </a:prstGeom>
          <a:noFill/>
          <a:ln/>
        </p:spPr>
        <p:txBody>
          <a:bodyPr wrap="square" lIns="0" tIns="0" rIns="0" bIns="0" rtlCol="0" anchor="t"/>
          <a:lstStyle/>
          <a:p>
            <a:pPr marL="0" indent="0">
              <a:buNone/>
            </a:pPr>
            <a:r>
              <a:rPr lang="en-US" sz="1600" b="1" dirty="0">
                <a:solidFill>
                  <a:srgbClr val="1F9A82"/>
                </a:solidFill>
              </a:rPr>
              <a:t>3 · Recovery</a:t>
            </a:r>
            <a:endParaRPr lang="en-US" sz="1600" dirty="0"/>
          </a:p>
        </p:txBody>
      </p:sp>
      <p:sp>
        <p:nvSpPr>
          <p:cNvPr id="22" name="Text 15"/>
          <p:cNvSpPr txBox="1"/>
          <p:nvPr/>
        </p:nvSpPr>
        <p:spPr>
          <a:xfrm>
            <a:off x="8247888" y="4434840"/>
            <a:ext cx="3209544" cy="594360"/>
          </a:xfrm>
          <a:prstGeom prst="rect">
            <a:avLst/>
          </a:prstGeom>
          <a:noFill/>
          <a:ln/>
        </p:spPr>
        <p:txBody>
          <a:bodyPr wrap="square" lIns="0" tIns="0" rIns="0" bIns="0" rtlCol="0" anchor="t"/>
          <a:lstStyle/>
          <a:p>
            <a:pPr marL="0" indent="0">
              <a:buNone/>
            </a:pPr>
            <a:r>
              <a:rPr lang="en-US" sz="1300" b="1" dirty="0">
                <a:solidFill>
                  <a:srgbClr val="132226"/>
                </a:solidFill>
              </a:rPr>
              <a:t>Replacement task healthy</a:t>
            </a:r>
            <a:endParaRPr lang="en-US" sz="1300" dirty="0"/>
          </a:p>
          <a:p>
            <a:pPr marL="0" indent="0">
              <a:buNone/>
            </a:pPr>
            <a:r>
              <a:rPr lang="en-US" sz="1300" dirty="0">
                <a:solidFill>
                  <a:srgbClr val="4A5B5E"/>
                </a:solidFill>
              </a:rPr>
              <a:t>Final state 2 / 2 / 0</a:t>
            </a:r>
            <a:endParaRPr lang="en-US" sz="1300" dirty="0"/>
          </a:p>
        </p:txBody>
      </p:sp>
      <p:sp>
        <p:nvSpPr>
          <p:cNvPr id="23" name="result band"/>
          <p:cNvSpPr/>
          <p:nvPr/>
        </p:nvSpPr>
        <p:spPr>
          <a:xfrm>
            <a:off x="548640" y="5303520"/>
            <a:ext cx="11091672" cy="868680"/>
          </a:xfrm>
          <a:prstGeom prst="roundRect">
            <a:avLst>
              <a:gd name="adj" fmla="val 10526"/>
            </a:avLst>
          </a:prstGeom>
          <a:solidFill>
            <a:schemeClr val="tx2"/>
          </a:solidFill>
          <a:ln/>
          <a:effectLst>
            <a:outerShdw blurRad="114300" dist="25400" dir="5400000" algn="bl" rotWithShape="0">
              <a:srgbClr val="0E3B43">
                <a:alpha val="13000"/>
              </a:srgbClr>
            </a:outerShdw>
          </a:effectLst>
        </p:spPr>
      </p:sp>
      <p:sp>
        <p:nvSpPr>
          <p:cNvPr id="24" name="Text 17"/>
          <p:cNvSpPr txBox="1"/>
          <p:nvPr/>
        </p:nvSpPr>
        <p:spPr>
          <a:xfrm>
            <a:off x="822960" y="5303520"/>
            <a:ext cx="3017520" cy="868680"/>
          </a:xfrm>
          <a:prstGeom prst="rect">
            <a:avLst/>
          </a:prstGeom>
          <a:noFill/>
          <a:ln/>
        </p:spPr>
        <p:txBody>
          <a:bodyPr wrap="square" lIns="0" tIns="0" rIns="0" bIns="0" rtlCol="0" anchor="ctr"/>
          <a:lstStyle/>
          <a:p>
            <a:pPr marL="0" indent="0">
              <a:buNone/>
            </a:pPr>
            <a:r>
              <a:rPr lang="en-US" sz="3200" b="1" dirty="0">
                <a:solidFill>
                  <a:srgbClr val="F2A541"/>
                </a:solidFill>
                <a:latin typeface="+mj-lt" pitchFamily="34" charset="0"/>
                <a:ea typeface="+mj-lt" pitchFamily="34" charset="-122"/>
                <a:cs typeface="+mj-lt" pitchFamily="34" charset="-120"/>
              </a:rPr>
              <a:t>≈ 44 seconds</a:t>
            </a:r>
            <a:endParaRPr lang="en-US" sz="3200" dirty="0"/>
          </a:p>
        </p:txBody>
      </p:sp>
      <p:sp>
        <p:nvSpPr>
          <p:cNvPr id="25" name="Text 18"/>
          <p:cNvSpPr txBox="1"/>
          <p:nvPr/>
        </p:nvSpPr>
        <p:spPr>
          <a:xfrm>
            <a:off x="3840480" y="5303520"/>
            <a:ext cx="7589520" cy="868680"/>
          </a:xfrm>
          <a:prstGeom prst="rect">
            <a:avLst/>
          </a:prstGeom>
          <a:noFill/>
          <a:ln/>
        </p:spPr>
        <p:txBody>
          <a:bodyPr wrap="square" lIns="0" tIns="0" rIns="0" bIns="0" rtlCol="0" anchor="ctr"/>
          <a:lstStyle/>
          <a:p>
            <a:pPr marL="0" indent="0">
              <a:buNone/>
            </a:pPr>
            <a:r>
              <a:rPr lang="en-US" sz="1500" dirty="0">
                <a:solidFill>
                  <a:srgbClr val="FFFFFF"/>
                </a:solidFill>
              </a:rPr>
              <a:t>observed recovery back to the two-task baseline — while the public endpoint kept answering HTTP 200.</a:t>
            </a:r>
            <a:endParaRPr lang="en-US" sz="1500" dirty="0"/>
          </a:p>
        </p:txBody>
      </p:sp>
      <p:sp>
        <p:nvSpPr>
          <p:cNvPr id="26"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Real AWS cost analysis — October 2026</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Cost Explorer was used to find actual service and usage-type drivers, not theoretical list prices.</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M12 Cost</a:t>
            </a:r>
            <a:endParaRPr lang="en-US" sz="1200" dirty="0"/>
          </a:p>
        </p:txBody>
      </p:sp>
      <p:sp>
        <p:nvSpPr>
          <p:cNvPr id="6" name="card"/>
          <p:cNvSpPr/>
          <p:nvPr/>
        </p:nvSpPr>
        <p:spPr>
          <a:xfrm>
            <a:off x="548640" y="1463040"/>
            <a:ext cx="6949440" cy="4709160"/>
          </a:xfrm>
          <a:prstGeom prst="roundRect">
            <a:avLst>
              <a:gd name="adj" fmla="val 1942"/>
            </a:avLst>
          </a:prstGeom>
          <a:solidFill>
            <a:srgbClr val="FFFFFF"/>
          </a:solidFill>
          <a:ln/>
          <a:effectLst>
            <a:outerShdw blurRad="114300" dist="25400" dir="5400000" algn="bl" rotWithShape="0">
              <a:srgbClr val="0E3B43">
                <a:alpha val="13000"/>
              </a:srgbClr>
            </a:outerShdw>
          </a:effectLst>
        </p:spPr>
      </p:sp>
      <p:sp>
        <p:nvSpPr>
          <p:cNvPr id="7" name="Text 5"/>
          <p:cNvSpPr txBox="1"/>
          <p:nvPr/>
        </p:nvSpPr>
        <p:spPr>
          <a:xfrm>
            <a:off x="777240" y="1600200"/>
            <a:ext cx="4572000" cy="365760"/>
          </a:xfrm>
          <a:prstGeom prst="rect">
            <a:avLst/>
          </a:prstGeom>
          <a:noFill/>
          <a:ln/>
        </p:spPr>
        <p:txBody>
          <a:bodyPr wrap="square" lIns="0" tIns="0" rIns="0" bIns="0" rtlCol="0" anchor="t"/>
          <a:lstStyle/>
          <a:p>
            <a:pPr marL="0" indent="0">
              <a:buNone/>
            </a:pPr>
            <a:r>
              <a:rPr lang="en-US" sz="1700" b="1" dirty="0">
                <a:solidFill>
                  <a:srgbClr val="0E3B43"/>
                </a:solidFill>
                <a:latin typeface="+mj-lt" pitchFamily="34" charset="0"/>
                <a:ea typeface="+mj-lt" pitchFamily="34" charset="-122"/>
                <a:cs typeface="+mj-lt" pitchFamily="34" charset="-120"/>
              </a:rPr>
              <a:t>Cost by service</a:t>
            </a:r>
            <a:endParaRPr lang="en-US" sz="1700" dirty="0"/>
          </a:p>
        </p:txBody>
      </p:sp>
      <p:sp>
        <p:nvSpPr>
          <p:cNvPr id="8" name="Text 6"/>
          <p:cNvSpPr txBox="1"/>
          <p:nvPr/>
        </p:nvSpPr>
        <p:spPr>
          <a:xfrm>
            <a:off x="6035040" y="1600200"/>
            <a:ext cx="1280160" cy="365760"/>
          </a:xfrm>
          <a:prstGeom prst="rect">
            <a:avLst/>
          </a:prstGeom>
          <a:noFill/>
          <a:ln/>
        </p:spPr>
        <p:txBody>
          <a:bodyPr wrap="square" lIns="0" tIns="0" rIns="0" bIns="0" rtlCol="0" anchor="ctr"/>
          <a:lstStyle/>
          <a:p>
            <a:pPr marL="0" indent="0" algn="r">
              <a:buNone/>
            </a:pPr>
            <a:r>
              <a:rPr lang="en-US" sz="1200" dirty="0">
                <a:solidFill>
                  <a:srgbClr val="6B7C7F"/>
                </a:solidFill>
              </a:rPr>
              <a:t>USD</a:t>
            </a:r>
            <a:endParaRPr lang="en-US" sz="1200" dirty="0"/>
          </a:p>
        </p:txBody>
      </p:sp>
      <p:sp>
        <p:nvSpPr>
          <p:cNvPr id="9" name="Text 7"/>
          <p:cNvSpPr txBox="1"/>
          <p:nvPr/>
        </p:nvSpPr>
        <p:spPr>
          <a:xfrm>
            <a:off x="777240" y="2039112"/>
            <a:ext cx="2331720" cy="457200"/>
          </a:xfrm>
          <a:prstGeom prst="rect">
            <a:avLst/>
          </a:prstGeom>
          <a:noFill/>
          <a:ln/>
        </p:spPr>
        <p:txBody>
          <a:bodyPr wrap="square" lIns="0" tIns="0" rIns="0" bIns="0" rtlCol="0" anchor="ctr"/>
          <a:lstStyle/>
          <a:p>
            <a:pPr marL="0" indent="0">
              <a:buNone/>
            </a:pPr>
            <a:r>
              <a:rPr lang="en-US" sz="1300" b="1" dirty="0">
                <a:solidFill>
                  <a:srgbClr val="132226"/>
                </a:solidFill>
              </a:rPr>
              <a:t>EC2 – Other</a:t>
            </a:r>
            <a:endParaRPr lang="en-US" sz="1300" dirty="0"/>
          </a:p>
          <a:p>
            <a:pPr marL="0" indent="0">
              <a:buNone/>
            </a:pPr>
            <a:r>
              <a:rPr lang="en-US" sz="1000" dirty="0">
                <a:solidFill>
                  <a:srgbClr val="6B7C7F"/>
                </a:solidFill>
              </a:rPr>
              <a:t>mainly NAT Gateway hours</a:t>
            </a:r>
            <a:endParaRPr lang="en-US" sz="1300" dirty="0"/>
          </a:p>
        </p:txBody>
      </p:sp>
      <p:sp>
        <p:nvSpPr>
          <p:cNvPr id="10" name="bar track"/>
          <p:cNvSpPr/>
          <p:nvPr/>
        </p:nvSpPr>
        <p:spPr>
          <a:xfrm>
            <a:off x="3154680" y="2148840"/>
            <a:ext cx="3200400" cy="256032"/>
          </a:xfrm>
          <a:prstGeom prst="rect">
            <a:avLst/>
          </a:prstGeom>
          <a:solidFill>
            <a:srgbClr val="EEF4F3"/>
          </a:solidFill>
          <a:ln/>
        </p:spPr>
      </p:sp>
      <p:sp>
        <p:nvSpPr>
          <p:cNvPr id="11" name="bar EC2 – Other"/>
          <p:cNvSpPr/>
          <p:nvPr/>
        </p:nvSpPr>
        <p:spPr>
          <a:xfrm>
            <a:off x="3154680" y="2148840"/>
            <a:ext cx="3200400" cy="256032"/>
          </a:xfrm>
          <a:prstGeom prst="rect">
            <a:avLst/>
          </a:prstGeom>
          <a:solidFill>
            <a:schemeClr val="accent4"/>
          </a:solidFill>
          <a:ln/>
        </p:spPr>
      </p:sp>
      <p:sp>
        <p:nvSpPr>
          <p:cNvPr id="12" name="Text 10"/>
          <p:cNvSpPr txBox="1"/>
          <p:nvPr/>
        </p:nvSpPr>
        <p:spPr>
          <a:xfrm>
            <a:off x="6446520" y="2057400"/>
            <a:ext cx="685800" cy="438912"/>
          </a:xfrm>
          <a:prstGeom prst="rect">
            <a:avLst/>
          </a:prstGeom>
          <a:noFill/>
          <a:ln/>
        </p:spPr>
        <p:txBody>
          <a:bodyPr wrap="square" lIns="0" tIns="0" rIns="0" bIns="0" rtlCol="0" anchor="ctr"/>
          <a:lstStyle/>
          <a:p>
            <a:pPr marL="0" indent="0">
              <a:buNone/>
            </a:pPr>
            <a:r>
              <a:rPr lang="en-US" sz="1400" b="1" dirty="0">
                <a:solidFill>
                  <a:srgbClr val="132226"/>
                </a:solidFill>
              </a:rPr>
              <a:t>$12.22</a:t>
            </a:r>
            <a:endParaRPr lang="en-US" sz="1400" dirty="0"/>
          </a:p>
        </p:txBody>
      </p:sp>
      <p:sp>
        <p:nvSpPr>
          <p:cNvPr id="13" name="Text 11"/>
          <p:cNvSpPr txBox="1"/>
          <p:nvPr/>
        </p:nvSpPr>
        <p:spPr>
          <a:xfrm>
            <a:off x="777240" y="2542032"/>
            <a:ext cx="2331720" cy="457200"/>
          </a:xfrm>
          <a:prstGeom prst="rect">
            <a:avLst/>
          </a:prstGeom>
          <a:noFill/>
          <a:ln/>
        </p:spPr>
        <p:txBody>
          <a:bodyPr wrap="square" lIns="0" tIns="0" rIns="0" bIns="0" rtlCol="0" anchor="ctr"/>
          <a:lstStyle/>
          <a:p>
            <a:pPr marL="0" indent="0">
              <a:buNone/>
            </a:pPr>
            <a:r>
              <a:rPr lang="en-US" sz="1300" b="1" dirty="0">
                <a:solidFill>
                  <a:srgbClr val="132226"/>
                </a:solidFill>
              </a:rPr>
              <a:t>Amazon RDS</a:t>
            </a:r>
            <a:endParaRPr lang="en-US" sz="1300" dirty="0"/>
          </a:p>
          <a:p>
            <a:pPr marL="0" indent="0">
              <a:buNone/>
            </a:pPr>
            <a:r>
              <a:rPr lang="en-US" sz="1000" dirty="0">
                <a:solidFill>
                  <a:srgbClr val="6B7C7F"/>
                </a:solidFill>
              </a:rPr>
              <a:t>Multi-AZ MariaDB</a:t>
            </a:r>
            <a:endParaRPr lang="en-US" sz="1300" dirty="0"/>
          </a:p>
        </p:txBody>
      </p:sp>
      <p:sp>
        <p:nvSpPr>
          <p:cNvPr id="14" name="bar track"/>
          <p:cNvSpPr/>
          <p:nvPr/>
        </p:nvSpPr>
        <p:spPr>
          <a:xfrm>
            <a:off x="3154680" y="2651760"/>
            <a:ext cx="3200400" cy="256032"/>
          </a:xfrm>
          <a:prstGeom prst="rect">
            <a:avLst/>
          </a:prstGeom>
          <a:solidFill>
            <a:srgbClr val="EEF4F3"/>
          </a:solidFill>
          <a:ln/>
        </p:spPr>
      </p:sp>
      <p:sp>
        <p:nvSpPr>
          <p:cNvPr id="15" name="bar Amazon RDS"/>
          <p:cNvSpPr/>
          <p:nvPr/>
        </p:nvSpPr>
        <p:spPr>
          <a:xfrm>
            <a:off x="3154680" y="2651760"/>
            <a:ext cx="824980" cy="256032"/>
          </a:xfrm>
          <a:prstGeom prst="rect">
            <a:avLst/>
          </a:prstGeom>
          <a:solidFill>
            <a:schemeClr val="accent5"/>
          </a:solidFill>
          <a:ln/>
        </p:spPr>
      </p:sp>
      <p:sp>
        <p:nvSpPr>
          <p:cNvPr id="16" name="Text 14"/>
          <p:cNvSpPr txBox="1"/>
          <p:nvPr/>
        </p:nvSpPr>
        <p:spPr>
          <a:xfrm>
            <a:off x="6446520" y="2560320"/>
            <a:ext cx="685800" cy="438912"/>
          </a:xfrm>
          <a:prstGeom prst="rect">
            <a:avLst/>
          </a:prstGeom>
          <a:noFill/>
          <a:ln/>
        </p:spPr>
        <p:txBody>
          <a:bodyPr wrap="square" lIns="0" tIns="0" rIns="0" bIns="0" rtlCol="0" anchor="ctr"/>
          <a:lstStyle/>
          <a:p>
            <a:pPr marL="0" indent="0">
              <a:buNone/>
            </a:pPr>
            <a:r>
              <a:rPr lang="en-US" sz="1400" b="1" dirty="0">
                <a:solidFill>
                  <a:srgbClr val="132226"/>
                </a:solidFill>
              </a:rPr>
              <a:t>$3.15</a:t>
            </a:r>
            <a:endParaRPr lang="en-US" sz="1400" dirty="0"/>
          </a:p>
        </p:txBody>
      </p:sp>
      <p:sp>
        <p:nvSpPr>
          <p:cNvPr id="17" name="Text 15"/>
          <p:cNvSpPr txBox="1"/>
          <p:nvPr/>
        </p:nvSpPr>
        <p:spPr>
          <a:xfrm>
            <a:off x="777240" y="3044952"/>
            <a:ext cx="2331720" cy="457200"/>
          </a:xfrm>
          <a:prstGeom prst="rect">
            <a:avLst/>
          </a:prstGeom>
          <a:noFill/>
          <a:ln/>
        </p:spPr>
        <p:txBody>
          <a:bodyPr wrap="square" lIns="0" tIns="0" rIns="0" bIns="0" rtlCol="0" anchor="ctr"/>
          <a:lstStyle/>
          <a:p>
            <a:pPr marL="0" indent="0">
              <a:buNone/>
            </a:pPr>
            <a:r>
              <a:rPr lang="en-US" sz="1300" b="1" dirty="0">
                <a:solidFill>
                  <a:srgbClr val="132226"/>
                </a:solidFill>
              </a:rPr>
              <a:t>Amazon ECS</a:t>
            </a:r>
            <a:endParaRPr lang="en-US" sz="1300" dirty="0"/>
          </a:p>
          <a:p>
            <a:pPr marL="0" indent="0">
              <a:buNone/>
            </a:pPr>
            <a:r>
              <a:rPr lang="en-US" sz="1000" dirty="0">
                <a:solidFill>
                  <a:srgbClr val="6B7C7F"/>
                </a:solidFill>
              </a:rPr>
              <a:t>2 baseline Fargate tasks</a:t>
            </a:r>
            <a:endParaRPr lang="en-US" sz="1300" dirty="0"/>
          </a:p>
        </p:txBody>
      </p:sp>
      <p:sp>
        <p:nvSpPr>
          <p:cNvPr id="18" name="bar track"/>
          <p:cNvSpPr/>
          <p:nvPr/>
        </p:nvSpPr>
        <p:spPr>
          <a:xfrm>
            <a:off x="3154680" y="3154680"/>
            <a:ext cx="3200400" cy="256032"/>
          </a:xfrm>
          <a:prstGeom prst="rect">
            <a:avLst/>
          </a:prstGeom>
          <a:solidFill>
            <a:srgbClr val="EEF4F3"/>
          </a:solidFill>
          <a:ln/>
        </p:spPr>
      </p:sp>
      <p:sp>
        <p:nvSpPr>
          <p:cNvPr id="19" name="bar Amazon ECS"/>
          <p:cNvSpPr/>
          <p:nvPr/>
        </p:nvSpPr>
        <p:spPr>
          <a:xfrm>
            <a:off x="3154680" y="3154680"/>
            <a:ext cx="607605" cy="256032"/>
          </a:xfrm>
          <a:prstGeom prst="rect">
            <a:avLst/>
          </a:prstGeom>
          <a:solidFill>
            <a:schemeClr val="accent1"/>
          </a:solidFill>
          <a:ln/>
        </p:spPr>
      </p:sp>
      <p:sp>
        <p:nvSpPr>
          <p:cNvPr id="20" name="Text 18"/>
          <p:cNvSpPr txBox="1"/>
          <p:nvPr/>
        </p:nvSpPr>
        <p:spPr>
          <a:xfrm>
            <a:off x="6446520" y="3063240"/>
            <a:ext cx="685800" cy="438912"/>
          </a:xfrm>
          <a:prstGeom prst="rect">
            <a:avLst/>
          </a:prstGeom>
          <a:noFill/>
          <a:ln/>
        </p:spPr>
        <p:txBody>
          <a:bodyPr wrap="square" lIns="0" tIns="0" rIns="0" bIns="0" rtlCol="0" anchor="ctr"/>
          <a:lstStyle/>
          <a:p>
            <a:pPr marL="0" indent="0">
              <a:buNone/>
            </a:pPr>
            <a:r>
              <a:rPr lang="en-US" sz="1400" b="1" dirty="0">
                <a:solidFill>
                  <a:srgbClr val="132226"/>
                </a:solidFill>
              </a:rPr>
              <a:t>$2.32</a:t>
            </a:r>
            <a:endParaRPr lang="en-US" sz="1400" dirty="0"/>
          </a:p>
        </p:txBody>
      </p:sp>
      <p:sp>
        <p:nvSpPr>
          <p:cNvPr id="21" name="Text 19"/>
          <p:cNvSpPr txBox="1"/>
          <p:nvPr/>
        </p:nvSpPr>
        <p:spPr>
          <a:xfrm>
            <a:off x="777240" y="3547872"/>
            <a:ext cx="2331720" cy="457200"/>
          </a:xfrm>
          <a:prstGeom prst="rect">
            <a:avLst/>
          </a:prstGeom>
          <a:noFill/>
          <a:ln/>
        </p:spPr>
        <p:txBody>
          <a:bodyPr wrap="square" lIns="0" tIns="0" rIns="0" bIns="0" rtlCol="0" anchor="ctr"/>
          <a:lstStyle/>
          <a:p>
            <a:pPr marL="0" indent="0">
              <a:buNone/>
            </a:pPr>
            <a:r>
              <a:rPr lang="en-US" sz="1300" b="1" dirty="0">
                <a:solidFill>
                  <a:srgbClr val="132226"/>
                </a:solidFill>
              </a:rPr>
              <a:t>Elastic Load Balancing</a:t>
            </a:r>
            <a:endParaRPr lang="en-US" sz="1300" dirty="0"/>
          </a:p>
          <a:p>
            <a:pPr marL="0" indent="0">
              <a:buNone/>
            </a:pPr>
            <a:r>
              <a:rPr lang="en-US" sz="1000" dirty="0">
                <a:solidFill>
                  <a:srgbClr val="6B7C7F"/>
                </a:solidFill>
              </a:rPr>
              <a:t>Application Load Balancer</a:t>
            </a:r>
            <a:endParaRPr lang="en-US" sz="1300" dirty="0"/>
          </a:p>
        </p:txBody>
      </p:sp>
      <p:sp>
        <p:nvSpPr>
          <p:cNvPr id="22" name="bar track"/>
          <p:cNvSpPr/>
          <p:nvPr/>
        </p:nvSpPr>
        <p:spPr>
          <a:xfrm>
            <a:off x="3154680" y="3657600"/>
            <a:ext cx="3200400" cy="256032"/>
          </a:xfrm>
          <a:prstGeom prst="rect">
            <a:avLst/>
          </a:prstGeom>
          <a:solidFill>
            <a:srgbClr val="EEF4F3"/>
          </a:solidFill>
          <a:ln/>
        </p:spPr>
      </p:sp>
      <p:sp>
        <p:nvSpPr>
          <p:cNvPr id="23" name="bar Elastic Load Balancing"/>
          <p:cNvSpPr/>
          <p:nvPr/>
        </p:nvSpPr>
        <p:spPr>
          <a:xfrm>
            <a:off x="3154680" y="3657600"/>
            <a:ext cx="584034" cy="256032"/>
          </a:xfrm>
          <a:prstGeom prst="rect">
            <a:avLst/>
          </a:prstGeom>
          <a:solidFill>
            <a:schemeClr val="accent1"/>
          </a:solidFill>
          <a:ln/>
        </p:spPr>
      </p:sp>
      <p:sp>
        <p:nvSpPr>
          <p:cNvPr id="24" name="Text 22"/>
          <p:cNvSpPr txBox="1"/>
          <p:nvPr/>
        </p:nvSpPr>
        <p:spPr>
          <a:xfrm>
            <a:off x="6446520" y="3566160"/>
            <a:ext cx="685800" cy="438912"/>
          </a:xfrm>
          <a:prstGeom prst="rect">
            <a:avLst/>
          </a:prstGeom>
          <a:noFill/>
          <a:ln/>
        </p:spPr>
        <p:txBody>
          <a:bodyPr wrap="square" lIns="0" tIns="0" rIns="0" bIns="0" rtlCol="0" anchor="ctr"/>
          <a:lstStyle/>
          <a:p>
            <a:pPr marL="0" indent="0">
              <a:buNone/>
            </a:pPr>
            <a:r>
              <a:rPr lang="en-US" sz="1400" b="1" dirty="0">
                <a:solidFill>
                  <a:srgbClr val="132226"/>
                </a:solidFill>
              </a:rPr>
              <a:t>$2.23</a:t>
            </a:r>
            <a:endParaRPr lang="en-US" sz="1400" dirty="0"/>
          </a:p>
        </p:txBody>
      </p:sp>
      <p:sp>
        <p:nvSpPr>
          <p:cNvPr id="25" name="Text 23"/>
          <p:cNvSpPr txBox="1"/>
          <p:nvPr/>
        </p:nvSpPr>
        <p:spPr>
          <a:xfrm>
            <a:off x="777240" y="4050792"/>
            <a:ext cx="2331720" cy="457200"/>
          </a:xfrm>
          <a:prstGeom prst="rect">
            <a:avLst/>
          </a:prstGeom>
          <a:noFill/>
          <a:ln/>
        </p:spPr>
        <p:txBody>
          <a:bodyPr wrap="square" lIns="0" tIns="0" rIns="0" bIns="0" rtlCol="0" anchor="ctr"/>
          <a:lstStyle/>
          <a:p>
            <a:pPr marL="0" indent="0">
              <a:buNone/>
            </a:pPr>
            <a:r>
              <a:rPr lang="en-US" sz="1300" b="1" dirty="0">
                <a:solidFill>
                  <a:srgbClr val="132226"/>
                </a:solidFill>
              </a:rPr>
              <a:t>Amazon VPC</a:t>
            </a:r>
            <a:endParaRPr lang="en-US" sz="1300" dirty="0"/>
          </a:p>
        </p:txBody>
      </p:sp>
      <p:sp>
        <p:nvSpPr>
          <p:cNvPr id="26" name="bar track"/>
          <p:cNvSpPr/>
          <p:nvPr/>
        </p:nvSpPr>
        <p:spPr>
          <a:xfrm>
            <a:off x="3154680" y="4160520"/>
            <a:ext cx="3200400" cy="256032"/>
          </a:xfrm>
          <a:prstGeom prst="rect">
            <a:avLst/>
          </a:prstGeom>
          <a:solidFill>
            <a:srgbClr val="EEF4F3"/>
          </a:solidFill>
          <a:ln/>
        </p:spPr>
      </p:sp>
      <p:sp>
        <p:nvSpPr>
          <p:cNvPr id="27" name="bar Amazon VPC"/>
          <p:cNvSpPr/>
          <p:nvPr/>
        </p:nvSpPr>
        <p:spPr>
          <a:xfrm>
            <a:off x="3154680" y="4160520"/>
            <a:ext cx="565701" cy="256032"/>
          </a:xfrm>
          <a:prstGeom prst="rect">
            <a:avLst/>
          </a:prstGeom>
          <a:solidFill>
            <a:schemeClr val="accent4"/>
          </a:solidFill>
          <a:ln/>
        </p:spPr>
      </p:sp>
      <p:sp>
        <p:nvSpPr>
          <p:cNvPr id="28" name="Text 26"/>
          <p:cNvSpPr txBox="1"/>
          <p:nvPr/>
        </p:nvSpPr>
        <p:spPr>
          <a:xfrm>
            <a:off x="6446520" y="4069080"/>
            <a:ext cx="685800" cy="438912"/>
          </a:xfrm>
          <a:prstGeom prst="rect">
            <a:avLst/>
          </a:prstGeom>
          <a:noFill/>
          <a:ln/>
        </p:spPr>
        <p:txBody>
          <a:bodyPr wrap="square" lIns="0" tIns="0" rIns="0" bIns="0" rtlCol="0" anchor="ctr"/>
          <a:lstStyle/>
          <a:p>
            <a:pPr marL="0" indent="0">
              <a:buNone/>
            </a:pPr>
            <a:r>
              <a:rPr lang="en-US" sz="1400" b="1" dirty="0">
                <a:solidFill>
                  <a:srgbClr val="132226"/>
                </a:solidFill>
              </a:rPr>
              <a:t>$2.16</a:t>
            </a:r>
            <a:endParaRPr lang="en-US" sz="1400" dirty="0"/>
          </a:p>
        </p:txBody>
      </p:sp>
      <p:sp>
        <p:nvSpPr>
          <p:cNvPr id="29" name="Text 27"/>
          <p:cNvSpPr txBox="1"/>
          <p:nvPr/>
        </p:nvSpPr>
        <p:spPr>
          <a:xfrm>
            <a:off x="777240" y="4553712"/>
            <a:ext cx="2331720" cy="457200"/>
          </a:xfrm>
          <a:prstGeom prst="rect">
            <a:avLst/>
          </a:prstGeom>
          <a:noFill/>
          <a:ln/>
        </p:spPr>
        <p:txBody>
          <a:bodyPr wrap="square" lIns="0" tIns="0" rIns="0" bIns="0" rtlCol="0" anchor="ctr"/>
          <a:lstStyle/>
          <a:p>
            <a:pPr marL="0" indent="0">
              <a:buNone/>
            </a:pPr>
            <a:r>
              <a:rPr lang="en-US" sz="1300" b="1" dirty="0">
                <a:solidFill>
                  <a:srgbClr val="132226"/>
                </a:solidFill>
              </a:rPr>
              <a:t>AWS WAF</a:t>
            </a:r>
            <a:endParaRPr lang="en-US" sz="1300" dirty="0"/>
          </a:p>
        </p:txBody>
      </p:sp>
      <p:sp>
        <p:nvSpPr>
          <p:cNvPr id="30" name="bar track"/>
          <p:cNvSpPr/>
          <p:nvPr/>
        </p:nvSpPr>
        <p:spPr>
          <a:xfrm>
            <a:off x="3154680" y="4663440"/>
            <a:ext cx="3200400" cy="256032"/>
          </a:xfrm>
          <a:prstGeom prst="rect">
            <a:avLst/>
          </a:prstGeom>
          <a:solidFill>
            <a:srgbClr val="EEF4F3"/>
          </a:solidFill>
          <a:ln/>
        </p:spPr>
      </p:sp>
      <p:sp>
        <p:nvSpPr>
          <p:cNvPr id="31" name="bar AWS WAF"/>
          <p:cNvSpPr/>
          <p:nvPr/>
        </p:nvSpPr>
        <p:spPr>
          <a:xfrm>
            <a:off x="3154680" y="4663440"/>
            <a:ext cx="227852" cy="256032"/>
          </a:xfrm>
          <a:prstGeom prst="rect">
            <a:avLst/>
          </a:prstGeom>
          <a:solidFill>
            <a:schemeClr val="accent2"/>
          </a:solidFill>
          <a:ln/>
        </p:spPr>
      </p:sp>
      <p:sp>
        <p:nvSpPr>
          <p:cNvPr id="32" name="Text 30"/>
          <p:cNvSpPr txBox="1"/>
          <p:nvPr/>
        </p:nvSpPr>
        <p:spPr>
          <a:xfrm>
            <a:off x="6446520" y="4572000"/>
            <a:ext cx="685800" cy="438912"/>
          </a:xfrm>
          <a:prstGeom prst="rect">
            <a:avLst/>
          </a:prstGeom>
          <a:noFill/>
          <a:ln/>
        </p:spPr>
        <p:txBody>
          <a:bodyPr wrap="square" lIns="0" tIns="0" rIns="0" bIns="0" rtlCol="0" anchor="ctr"/>
          <a:lstStyle/>
          <a:p>
            <a:pPr marL="0" indent="0">
              <a:buNone/>
            </a:pPr>
            <a:r>
              <a:rPr lang="en-US" sz="1400" b="1" dirty="0">
                <a:solidFill>
                  <a:srgbClr val="132226"/>
                </a:solidFill>
              </a:rPr>
              <a:t>$0.87</a:t>
            </a:r>
            <a:endParaRPr lang="en-US" sz="1400" dirty="0"/>
          </a:p>
        </p:txBody>
      </p:sp>
      <p:sp>
        <p:nvSpPr>
          <p:cNvPr id="33" name="Text 31"/>
          <p:cNvSpPr txBox="1"/>
          <p:nvPr/>
        </p:nvSpPr>
        <p:spPr>
          <a:xfrm>
            <a:off x="777240" y="5056632"/>
            <a:ext cx="2331720" cy="457200"/>
          </a:xfrm>
          <a:prstGeom prst="rect">
            <a:avLst/>
          </a:prstGeom>
          <a:noFill/>
          <a:ln/>
        </p:spPr>
        <p:txBody>
          <a:bodyPr wrap="square" lIns="0" tIns="0" rIns="0" bIns="0" rtlCol="0" anchor="ctr"/>
          <a:lstStyle/>
          <a:p>
            <a:pPr marL="0" indent="0">
              <a:buNone/>
            </a:pPr>
            <a:r>
              <a:rPr lang="en-US" sz="1300" b="1" dirty="0">
                <a:solidFill>
                  <a:srgbClr val="132226"/>
                </a:solidFill>
              </a:rPr>
              <a:t>CloudWatch</a:t>
            </a:r>
            <a:endParaRPr lang="en-US" sz="1300" dirty="0"/>
          </a:p>
        </p:txBody>
      </p:sp>
      <p:sp>
        <p:nvSpPr>
          <p:cNvPr id="34" name="bar track"/>
          <p:cNvSpPr/>
          <p:nvPr/>
        </p:nvSpPr>
        <p:spPr>
          <a:xfrm>
            <a:off x="3154680" y="5166360"/>
            <a:ext cx="3200400" cy="256032"/>
          </a:xfrm>
          <a:prstGeom prst="rect">
            <a:avLst/>
          </a:prstGeom>
          <a:solidFill>
            <a:srgbClr val="EEF4F3"/>
          </a:solidFill>
          <a:ln/>
        </p:spPr>
      </p:sp>
      <p:sp>
        <p:nvSpPr>
          <p:cNvPr id="35" name="bar CloudWatch"/>
          <p:cNvSpPr/>
          <p:nvPr/>
        </p:nvSpPr>
        <p:spPr>
          <a:xfrm>
            <a:off x="3154680" y="5166360"/>
            <a:ext cx="159758" cy="256032"/>
          </a:xfrm>
          <a:prstGeom prst="rect">
            <a:avLst/>
          </a:prstGeom>
          <a:solidFill>
            <a:schemeClr val="accent5"/>
          </a:solidFill>
          <a:ln/>
        </p:spPr>
      </p:sp>
      <p:sp>
        <p:nvSpPr>
          <p:cNvPr id="36" name="Text 34"/>
          <p:cNvSpPr txBox="1"/>
          <p:nvPr/>
        </p:nvSpPr>
        <p:spPr>
          <a:xfrm>
            <a:off x="6446520" y="5074920"/>
            <a:ext cx="685800" cy="438912"/>
          </a:xfrm>
          <a:prstGeom prst="rect">
            <a:avLst/>
          </a:prstGeom>
          <a:noFill/>
          <a:ln/>
        </p:spPr>
        <p:txBody>
          <a:bodyPr wrap="square" lIns="0" tIns="0" rIns="0" bIns="0" rtlCol="0" anchor="ctr"/>
          <a:lstStyle/>
          <a:p>
            <a:pPr marL="0" indent="0">
              <a:buNone/>
            </a:pPr>
            <a:r>
              <a:rPr lang="en-US" sz="1400" b="1" dirty="0">
                <a:solidFill>
                  <a:srgbClr val="132226"/>
                </a:solidFill>
              </a:rPr>
              <a:t>$0.61</a:t>
            </a:r>
            <a:endParaRPr lang="en-US" sz="1400" dirty="0"/>
          </a:p>
        </p:txBody>
      </p:sp>
      <p:sp>
        <p:nvSpPr>
          <p:cNvPr id="37" name="decision strip"/>
          <p:cNvSpPr/>
          <p:nvPr/>
        </p:nvSpPr>
        <p:spPr>
          <a:xfrm>
            <a:off x="777240" y="5650992"/>
            <a:ext cx="6492240" cy="384048"/>
          </a:xfrm>
          <a:prstGeom prst="roundRect">
            <a:avLst>
              <a:gd name="adj" fmla="val 14286"/>
            </a:avLst>
          </a:prstGeom>
          <a:solidFill>
            <a:srgbClr val="FDF0DC"/>
          </a:solidFill>
          <a:ln/>
        </p:spPr>
      </p:sp>
      <p:sp>
        <p:nvSpPr>
          <p:cNvPr id="38" name="Text 36"/>
          <p:cNvSpPr txBox="1"/>
          <p:nvPr/>
        </p:nvSpPr>
        <p:spPr>
          <a:xfrm>
            <a:off x="914400" y="5650992"/>
            <a:ext cx="6309360" cy="384048"/>
          </a:xfrm>
          <a:prstGeom prst="rect">
            <a:avLst/>
          </a:prstGeom>
          <a:noFill/>
          <a:ln/>
        </p:spPr>
        <p:txBody>
          <a:bodyPr wrap="square" lIns="0" tIns="0" rIns="0" bIns="0" rtlCol="0" anchor="ctr"/>
          <a:lstStyle/>
          <a:p>
            <a:pPr marL="0" indent="0">
              <a:buNone/>
            </a:pPr>
            <a:r>
              <a:rPr lang="en-US" sz="1250" b="1" dirty="0">
                <a:solidFill>
                  <a:srgbClr val="A8620A"/>
                </a:solidFill>
              </a:rPr>
              <a:t>Decision:  </a:t>
            </a:r>
            <a:r>
              <a:rPr lang="en-US" sz="1250" dirty="0">
                <a:solidFill>
                  <a:srgbClr val="132226"/>
                </a:solidFill>
              </a:rPr>
              <a:t>document cheaper dev options — don’t weaken the final architecture.</a:t>
            </a:r>
            <a:endParaRPr lang="en-US" sz="1250" dirty="0"/>
          </a:p>
        </p:txBody>
      </p:sp>
      <p:sp>
        <p:nvSpPr>
          <p:cNvPr id="39" name="total card"/>
          <p:cNvSpPr/>
          <p:nvPr/>
        </p:nvSpPr>
        <p:spPr>
          <a:xfrm>
            <a:off x="7726680" y="1463040"/>
            <a:ext cx="3913632" cy="1600200"/>
          </a:xfrm>
          <a:prstGeom prst="roundRect">
            <a:avLst>
              <a:gd name="adj" fmla="val 5714"/>
            </a:avLst>
          </a:prstGeom>
          <a:solidFill>
            <a:schemeClr val="tx2"/>
          </a:solidFill>
          <a:ln/>
          <a:effectLst>
            <a:outerShdw blurRad="114300" dist="25400" dir="5400000" algn="bl" rotWithShape="0">
              <a:srgbClr val="0E3B43">
                <a:alpha val="13000"/>
              </a:srgbClr>
            </a:outerShdw>
          </a:effectLst>
        </p:spPr>
      </p:sp>
      <p:sp>
        <p:nvSpPr>
          <p:cNvPr id="40" name="Text 38"/>
          <p:cNvSpPr txBox="1"/>
          <p:nvPr/>
        </p:nvSpPr>
        <p:spPr>
          <a:xfrm>
            <a:off x="8001000" y="1536192"/>
            <a:ext cx="3383280" cy="685800"/>
          </a:xfrm>
          <a:prstGeom prst="rect">
            <a:avLst/>
          </a:prstGeom>
          <a:noFill/>
          <a:ln/>
        </p:spPr>
        <p:txBody>
          <a:bodyPr wrap="square" lIns="0" tIns="0" rIns="0" bIns="0" rtlCol="0" anchor="ctr"/>
          <a:lstStyle/>
          <a:p>
            <a:pPr marL="0" indent="0">
              <a:buNone/>
            </a:pPr>
            <a:r>
              <a:rPr lang="en-US" sz="4000" b="1" dirty="0">
                <a:solidFill>
                  <a:srgbClr val="F2A541"/>
                </a:solidFill>
                <a:latin typeface="+mj-lt" pitchFamily="34" charset="0"/>
                <a:ea typeface="+mj-lt" pitchFamily="34" charset="-122"/>
                <a:cs typeface="+mj-lt" pitchFamily="34" charset="-120"/>
              </a:rPr>
              <a:t>$28.07</a:t>
            </a:r>
            <a:endParaRPr lang="en-US" sz="4000" dirty="0"/>
          </a:p>
        </p:txBody>
      </p:sp>
      <p:sp>
        <p:nvSpPr>
          <p:cNvPr id="41" name="Text 39"/>
          <p:cNvSpPr txBox="1"/>
          <p:nvPr/>
        </p:nvSpPr>
        <p:spPr>
          <a:xfrm>
            <a:off x="8001000" y="2212848"/>
            <a:ext cx="3383280" cy="301752"/>
          </a:xfrm>
          <a:prstGeom prst="rect">
            <a:avLst/>
          </a:prstGeom>
          <a:noFill/>
          <a:ln/>
        </p:spPr>
        <p:txBody>
          <a:bodyPr wrap="square" lIns="0" tIns="0" rIns="0" bIns="0" rtlCol="0" anchor="t"/>
          <a:lstStyle/>
          <a:p>
            <a:pPr marL="0" indent="0">
              <a:buNone/>
            </a:pPr>
            <a:r>
              <a:rPr lang="en-US" sz="1400" dirty="0">
                <a:solidFill>
                  <a:srgbClr val="FFFFFF"/>
                </a:solidFill>
              </a:rPr>
              <a:t>total incl. shown tax</a:t>
            </a:r>
            <a:endParaRPr lang="en-US" sz="1400" dirty="0"/>
          </a:p>
        </p:txBody>
      </p:sp>
      <p:sp>
        <p:nvSpPr>
          <p:cNvPr id="42" name="Text 40"/>
          <p:cNvSpPr txBox="1"/>
          <p:nvPr/>
        </p:nvSpPr>
        <p:spPr>
          <a:xfrm>
            <a:off x="8001000" y="2560320"/>
            <a:ext cx="3383280" cy="347472"/>
          </a:xfrm>
          <a:prstGeom prst="rect">
            <a:avLst/>
          </a:prstGeom>
          <a:noFill/>
          <a:ln/>
        </p:spPr>
        <p:txBody>
          <a:bodyPr wrap="square" lIns="0" tIns="0" rIns="0" bIns="0" rtlCol="0" anchor="t"/>
          <a:lstStyle/>
          <a:p>
            <a:pPr marL="0" indent="0">
              <a:buNone/>
            </a:pPr>
            <a:r>
              <a:rPr lang="en-US" sz="1350" b="1" dirty="0">
                <a:solidFill>
                  <a:srgbClr val="9AD1D4"/>
                </a:solidFill>
              </a:rPr>
              <a:t>$23.78 usage subtotal  +  $4.29 tax</a:t>
            </a:r>
            <a:endParaRPr lang="en-US" sz="1350" dirty="0"/>
          </a:p>
        </p:txBody>
      </p:sp>
      <p:sp>
        <p:nvSpPr>
          <p:cNvPr id="43" name="card"/>
          <p:cNvSpPr/>
          <p:nvPr/>
        </p:nvSpPr>
        <p:spPr>
          <a:xfrm>
            <a:off x="7726680" y="3200400"/>
            <a:ext cx="3913632" cy="896112"/>
          </a:xfrm>
          <a:prstGeom prst="roundRect">
            <a:avLst>
              <a:gd name="adj" fmla="val 10204"/>
            </a:avLst>
          </a:prstGeom>
          <a:solidFill>
            <a:srgbClr val="FFFFFF"/>
          </a:solidFill>
          <a:ln/>
          <a:effectLst>
            <a:outerShdw blurRad="114300" dist="25400" dir="5400000" algn="bl" rotWithShape="0">
              <a:srgbClr val="0E3B43">
                <a:alpha val="13000"/>
              </a:srgbClr>
            </a:outerShdw>
          </a:effectLst>
        </p:spPr>
      </p:sp>
      <p:sp>
        <p:nvSpPr>
          <p:cNvPr id="44" name="Text 42"/>
          <p:cNvSpPr txBox="1"/>
          <p:nvPr/>
        </p:nvSpPr>
        <p:spPr>
          <a:xfrm>
            <a:off x="7909560" y="3273552"/>
            <a:ext cx="3566160" cy="292608"/>
          </a:xfrm>
          <a:prstGeom prst="rect">
            <a:avLst/>
          </a:prstGeom>
          <a:noFill/>
          <a:ln/>
        </p:spPr>
        <p:txBody>
          <a:bodyPr wrap="square" lIns="0" tIns="0" rIns="0" bIns="0" rtlCol="0" anchor="t"/>
          <a:lstStyle/>
          <a:p>
            <a:pPr marL="0" indent="0">
              <a:buNone/>
            </a:pPr>
            <a:r>
              <a:rPr lang="en-US" sz="1400" b="1" dirty="0">
                <a:solidFill>
                  <a:srgbClr val="D9482B"/>
                </a:solidFill>
              </a:rPr>
              <a:t>Key finding</a:t>
            </a:r>
            <a:endParaRPr lang="en-US" sz="1400" dirty="0"/>
          </a:p>
        </p:txBody>
      </p:sp>
      <p:sp>
        <p:nvSpPr>
          <p:cNvPr id="45" name="Text 43"/>
          <p:cNvSpPr txBox="1"/>
          <p:nvPr/>
        </p:nvSpPr>
        <p:spPr>
          <a:xfrm>
            <a:off x="7909560" y="3566160"/>
            <a:ext cx="3611880" cy="502920"/>
          </a:xfrm>
          <a:prstGeom prst="rect">
            <a:avLst/>
          </a:prstGeom>
          <a:noFill/>
          <a:ln/>
        </p:spPr>
        <p:txBody>
          <a:bodyPr wrap="square" lIns="0" tIns="0" rIns="0" bIns="0" rtlCol="0" anchor="t"/>
          <a:lstStyle/>
          <a:p>
            <a:pPr marL="0" indent="0">
              <a:buNone/>
            </a:pPr>
            <a:r>
              <a:rPr lang="en-US" sz="1200" dirty="0">
                <a:solidFill>
                  <a:srgbClr val="4A5B5E"/>
                </a:solidFill>
              </a:rPr>
              <a:t>The largest driver was NAT Gateway hourly runtime — not high traffic volume.</a:t>
            </a:r>
            <a:endParaRPr lang="en-US" sz="1200" dirty="0"/>
          </a:p>
        </p:txBody>
      </p:sp>
      <p:sp>
        <p:nvSpPr>
          <p:cNvPr id="46" name="card"/>
          <p:cNvSpPr/>
          <p:nvPr/>
        </p:nvSpPr>
        <p:spPr>
          <a:xfrm>
            <a:off x="7726680" y="4206240"/>
            <a:ext cx="3913632" cy="896112"/>
          </a:xfrm>
          <a:prstGeom prst="roundRect">
            <a:avLst>
              <a:gd name="adj" fmla="val 10204"/>
            </a:avLst>
          </a:prstGeom>
          <a:solidFill>
            <a:srgbClr val="FFFFFF"/>
          </a:solidFill>
          <a:ln/>
          <a:effectLst>
            <a:outerShdw blurRad="114300" dist="25400" dir="5400000" algn="bl" rotWithShape="0">
              <a:srgbClr val="0E3B43">
                <a:alpha val="13000"/>
              </a:srgbClr>
            </a:outerShdw>
          </a:effectLst>
        </p:spPr>
      </p:sp>
      <p:sp>
        <p:nvSpPr>
          <p:cNvPr id="47" name="Text 45"/>
          <p:cNvSpPr txBox="1"/>
          <p:nvPr/>
        </p:nvSpPr>
        <p:spPr>
          <a:xfrm>
            <a:off x="7909560" y="4279392"/>
            <a:ext cx="3566160" cy="292608"/>
          </a:xfrm>
          <a:prstGeom prst="rect">
            <a:avLst/>
          </a:prstGeom>
          <a:noFill/>
          <a:ln/>
        </p:spPr>
        <p:txBody>
          <a:bodyPr wrap="square" lIns="0" tIns="0" rIns="0" bIns="0" rtlCol="0" anchor="t"/>
          <a:lstStyle/>
          <a:p>
            <a:pPr marL="0" indent="0">
              <a:buNone/>
            </a:pPr>
            <a:r>
              <a:rPr lang="en-US" sz="1400" b="1" dirty="0">
                <a:solidFill>
                  <a:srgbClr val="0E7C7B"/>
                </a:solidFill>
              </a:rPr>
              <a:t>Why I kept the architecture</a:t>
            </a:r>
            <a:endParaRPr lang="en-US" sz="1400" dirty="0"/>
          </a:p>
        </p:txBody>
      </p:sp>
      <p:sp>
        <p:nvSpPr>
          <p:cNvPr id="48" name="Text 46"/>
          <p:cNvSpPr txBox="1"/>
          <p:nvPr/>
        </p:nvSpPr>
        <p:spPr>
          <a:xfrm>
            <a:off x="7909560" y="4572000"/>
            <a:ext cx="3611880" cy="502920"/>
          </a:xfrm>
          <a:prstGeom prst="rect">
            <a:avLst/>
          </a:prstGeom>
          <a:noFill/>
          <a:ln/>
        </p:spPr>
        <p:txBody>
          <a:bodyPr wrap="square" lIns="0" tIns="0" rIns="0" bIns="0" rtlCol="0" anchor="t"/>
          <a:lstStyle/>
          <a:p>
            <a:pPr marL="0" indent="0">
              <a:buNone/>
            </a:pPr>
            <a:r>
              <a:rPr lang="en-US" sz="1200" dirty="0">
                <a:solidFill>
                  <a:srgbClr val="4A5B5E"/>
                </a:solidFill>
              </a:rPr>
              <a:t>Two NAT Gateways, Multi-AZ RDS and two baseline ECS tasks preserve the resilience story.</a:t>
            </a:r>
            <a:endParaRPr lang="en-US" sz="1200" dirty="0"/>
          </a:p>
        </p:txBody>
      </p:sp>
      <p:sp>
        <p:nvSpPr>
          <p:cNvPr id="49" name="card"/>
          <p:cNvSpPr/>
          <p:nvPr/>
        </p:nvSpPr>
        <p:spPr>
          <a:xfrm>
            <a:off x="7726680" y="5212080"/>
            <a:ext cx="3913632" cy="896112"/>
          </a:xfrm>
          <a:prstGeom prst="roundRect">
            <a:avLst>
              <a:gd name="adj" fmla="val 10204"/>
            </a:avLst>
          </a:prstGeom>
          <a:solidFill>
            <a:srgbClr val="FFFFFF"/>
          </a:solidFill>
          <a:ln/>
          <a:effectLst>
            <a:outerShdw blurRad="114300" dist="25400" dir="5400000" algn="bl" rotWithShape="0">
              <a:srgbClr val="0E3B43">
                <a:alpha val="13000"/>
              </a:srgbClr>
            </a:outerShdw>
          </a:effectLst>
        </p:spPr>
      </p:sp>
      <p:sp>
        <p:nvSpPr>
          <p:cNvPr id="50" name="Text 48"/>
          <p:cNvSpPr txBox="1"/>
          <p:nvPr/>
        </p:nvSpPr>
        <p:spPr>
          <a:xfrm>
            <a:off x="7909560" y="5285232"/>
            <a:ext cx="3566160" cy="292608"/>
          </a:xfrm>
          <a:prstGeom prst="rect">
            <a:avLst/>
          </a:prstGeom>
          <a:noFill/>
          <a:ln/>
        </p:spPr>
        <p:txBody>
          <a:bodyPr wrap="square" lIns="0" tIns="0" rIns="0" bIns="0" rtlCol="0" anchor="t"/>
          <a:lstStyle/>
          <a:p>
            <a:pPr marL="0" indent="0">
              <a:buNone/>
            </a:pPr>
            <a:r>
              <a:rPr lang="en-US" sz="1400" b="1" dirty="0">
                <a:solidFill>
                  <a:srgbClr val="A8620A"/>
                </a:solidFill>
              </a:rPr>
              <a:t>Dev-only options</a:t>
            </a:r>
            <a:endParaRPr lang="en-US" sz="1400" dirty="0"/>
          </a:p>
        </p:txBody>
      </p:sp>
      <p:sp>
        <p:nvSpPr>
          <p:cNvPr id="51" name="Text 49"/>
          <p:cNvSpPr txBox="1"/>
          <p:nvPr/>
        </p:nvSpPr>
        <p:spPr>
          <a:xfrm>
            <a:off x="7909560" y="5577840"/>
            <a:ext cx="3611880" cy="502920"/>
          </a:xfrm>
          <a:prstGeom prst="rect">
            <a:avLst/>
          </a:prstGeom>
          <a:noFill/>
          <a:ln/>
        </p:spPr>
        <p:txBody>
          <a:bodyPr wrap="square" lIns="0" tIns="0" rIns="0" bIns="0" rtlCol="0" anchor="t"/>
          <a:lstStyle/>
          <a:p>
            <a:pPr marL="0" indent="0">
              <a:buNone/>
            </a:pPr>
            <a:r>
              <a:rPr lang="en-US" sz="1200" dirty="0">
                <a:solidFill>
                  <a:srgbClr val="4A5B5E"/>
                </a:solidFill>
              </a:rPr>
              <a:t>Single NAT, Single-AZ RDS, scheduled non-production runtime, careful IPv4 reduction.</a:t>
            </a:r>
            <a:endParaRPr lang="en-US" sz="1200" dirty="0"/>
          </a:p>
        </p:txBody>
      </p:sp>
      <p:sp>
        <p:nvSpPr>
          <p:cNvPr id="52"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OP01 — Automated morning sandbox recovery</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After Auto sandbox activation, recovery coordinates infrastructure, data, application and DNS.</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Operations</a:t>
            </a:r>
            <a:endParaRPr lang="en-US" sz="1200" dirty="0"/>
          </a:p>
        </p:txBody>
      </p:sp>
      <p:sp>
        <p:nvSpPr>
          <p:cNvPr id="6" name="card"/>
          <p:cNvSpPr/>
          <p:nvPr/>
        </p:nvSpPr>
        <p:spPr>
          <a:xfrm>
            <a:off x="548640" y="1463040"/>
            <a:ext cx="2286000" cy="3063240"/>
          </a:xfrm>
          <a:prstGeom prst="roundRect">
            <a:avLst>
              <a:gd name="adj" fmla="val 4000"/>
            </a:avLst>
          </a:prstGeom>
          <a:solidFill>
            <a:schemeClr val="tx2"/>
          </a:solidFill>
          <a:ln/>
        </p:spPr>
      </p:sp>
      <p:sp>
        <p:nvSpPr>
          <p:cNvPr id="7" name="schedule circle"/>
          <p:cNvSpPr/>
          <p:nvPr/>
        </p:nvSpPr>
        <p:spPr>
          <a:xfrm>
            <a:off x="777240" y="1645920"/>
            <a:ext cx="502920" cy="502920"/>
          </a:xfrm>
          <a:prstGeom prst="ellipse">
            <a:avLst/>
          </a:prstGeom>
          <a:solidFill>
            <a:schemeClr val="accent2"/>
          </a:solidFill>
          <a:ln/>
        </p:spPr>
      </p:sp>
      <p:pic>
        <p:nvPicPr>
          <p:cNvPr id="8" name="schedule" descr="preencoded.png"/>
          <p:cNvPicPr>
            <a:picLocks noChangeAspect="1"/>
          </p:cNvPicPr>
          <p:nvPr/>
        </p:nvPicPr>
        <p:blipFill>
          <a:blip r:embed="rId3"/>
          <a:stretch>
            <a:fillRect/>
          </a:stretch>
        </p:blipFill>
        <p:spPr>
          <a:xfrm>
            <a:off x="897941" y="1766621"/>
            <a:ext cx="261518" cy="261518"/>
          </a:xfrm>
          <a:prstGeom prst="rect">
            <a:avLst/>
          </a:prstGeom>
        </p:spPr>
      </p:pic>
      <p:sp>
        <p:nvSpPr>
          <p:cNvPr id="9" name="Text 6"/>
          <p:cNvSpPr txBox="1"/>
          <p:nvPr/>
        </p:nvSpPr>
        <p:spPr>
          <a:xfrm>
            <a:off x="777240" y="2286000"/>
            <a:ext cx="1920240" cy="502920"/>
          </a:xfrm>
          <a:prstGeom prst="rect">
            <a:avLst/>
          </a:prstGeom>
          <a:noFill/>
          <a:ln/>
        </p:spPr>
        <p:txBody>
          <a:bodyPr wrap="square" lIns="0" tIns="0" rIns="0" bIns="0" rtlCol="0" anchor="ctr"/>
          <a:lstStyle/>
          <a:p>
            <a:pPr marL="0" indent="0">
              <a:buNone/>
            </a:pPr>
            <a:r>
              <a:rPr lang="en-US" sz="3000" b="1" dirty="0">
                <a:solidFill>
                  <a:srgbClr val="F2A541"/>
                </a:solidFill>
                <a:latin typeface="+mj-lt" pitchFamily="34" charset="0"/>
                <a:ea typeface="+mj-lt" pitchFamily="34" charset="-122"/>
                <a:cs typeface="+mj-lt" pitchFamily="34" charset="-120"/>
              </a:rPr>
              <a:t>07:37</a:t>
            </a:r>
            <a:endParaRPr lang="en-US" sz="3000" dirty="0"/>
          </a:p>
        </p:txBody>
      </p:sp>
      <p:sp>
        <p:nvSpPr>
          <p:cNvPr id="10" name="Text 7"/>
          <p:cNvSpPr txBox="1"/>
          <p:nvPr/>
        </p:nvSpPr>
        <p:spPr>
          <a:xfrm>
            <a:off x="777240" y="2761488"/>
            <a:ext cx="1920240" cy="274320"/>
          </a:xfrm>
          <a:prstGeom prst="rect">
            <a:avLst/>
          </a:prstGeom>
          <a:noFill/>
          <a:ln/>
        </p:spPr>
        <p:txBody>
          <a:bodyPr wrap="square" lIns="0" tIns="0" rIns="0" bIns="0" rtlCol="0" anchor="t"/>
          <a:lstStyle/>
          <a:p>
            <a:pPr marL="0" indent="0">
              <a:buNone/>
            </a:pPr>
            <a:r>
              <a:rPr lang="en-US" sz="1200" dirty="0">
                <a:solidFill>
                  <a:srgbClr val="D5E7E8"/>
                </a:solidFill>
              </a:rPr>
              <a:t>primary · Europe/Berlin</a:t>
            </a:r>
            <a:endParaRPr lang="en-US" sz="1200" dirty="0"/>
          </a:p>
        </p:txBody>
      </p:sp>
      <p:sp>
        <p:nvSpPr>
          <p:cNvPr id="11" name="Text 8"/>
          <p:cNvSpPr txBox="1"/>
          <p:nvPr/>
        </p:nvSpPr>
        <p:spPr>
          <a:xfrm>
            <a:off x="777240" y="3108960"/>
            <a:ext cx="1920240" cy="502920"/>
          </a:xfrm>
          <a:prstGeom prst="rect">
            <a:avLst/>
          </a:prstGeom>
          <a:noFill/>
          <a:ln/>
        </p:spPr>
        <p:txBody>
          <a:bodyPr wrap="square" lIns="0" tIns="0" rIns="0" bIns="0" rtlCol="0" anchor="ctr"/>
          <a:lstStyle/>
          <a:p>
            <a:pPr marL="0" indent="0">
              <a:buNone/>
            </a:pPr>
            <a:r>
              <a:rPr lang="en-US" sz="3000" b="1" dirty="0">
                <a:solidFill>
                  <a:srgbClr val="FFFFFF"/>
                </a:solidFill>
                <a:latin typeface="+mj-lt" pitchFamily="34" charset="0"/>
                <a:ea typeface="+mj-lt" pitchFamily="34" charset="-122"/>
                <a:cs typeface="+mj-lt" pitchFamily="34" charset="-120"/>
              </a:rPr>
              <a:t>08:17</a:t>
            </a:r>
            <a:endParaRPr lang="en-US" sz="3000" dirty="0"/>
          </a:p>
        </p:txBody>
      </p:sp>
      <p:sp>
        <p:nvSpPr>
          <p:cNvPr id="12" name="Text 9"/>
          <p:cNvSpPr txBox="1"/>
          <p:nvPr/>
        </p:nvSpPr>
        <p:spPr>
          <a:xfrm>
            <a:off x="777240" y="3584448"/>
            <a:ext cx="1920240" cy="274320"/>
          </a:xfrm>
          <a:prstGeom prst="rect">
            <a:avLst/>
          </a:prstGeom>
          <a:noFill/>
          <a:ln/>
        </p:spPr>
        <p:txBody>
          <a:bodyPr wrap="square" lIns="0" tIns="0" rIns="0" bIns="0" rtlCol="0" anchor="t"/>
          <a:lstStyle/>
          <a:p>
            <a:pPr marL="0" indent="0">
              <a:buNone/>
            </a:pPr>
            <a:r>
              <a:rPr lang="en-US" sz="1200" dirty="0">
                <a:solidFill>
                  <a:srgbClr val="D5E7E8"/>
                </a:solidFill>
              </a:rPr>
              <a:t>fallback · Europe/Berlin</a:t>
            </a:r>
            <a:endParaRPr lang="en-US" sz="1200" dirty="0"/>
          </a:p>
        </p:txBody>
      </p:sp>
      <p:sp>
        <p:nvSpPr>
          <p:cNvPr id="13" name="Text 10"/>
          <p:cNvSpPr txBox="1"/>
          <p:nvPr/>
        </p:nvSpPr>
        <p:spPr>
          <a:xfrm>
            <a:off x="777240" y="3977640"/>
            <a:ext cx="1920240" cy="457200"/>
          </a:xfrm>
          <a:prstGeom prst="rect">
            <a:avLst/>
          </a:prstGeom>
          <a:noFill/>
          <a:ln/>
        </p:spPr>
        <p:txBody>
          <a:bodyPr wrap="square" lIns="0" tIns="0" rIns="0" bIns="0" rtlCol="0" anchor="t"/>
          <a:lstStyle/>
          <a:p>
            <a:pPr marL="0" indent="0">
              <a:buNone/>
            </a:pPr>
            <a:r>
              <a:rPr lang="en-US" sz="1150" i="1" dirty="0">
                <a:solidFill>
                  <a:srgbClr val="9AD1D4"/>
                </a:solidFill>
              </a:rPr>
              <a:t>Auto sandbox activation first</a:t>
            </a:r>
            <a:endParaRPr lang="en-US" sz="1150" dirty="0"/>
          </a:p>
        </p:txBody>
      </p:sp>
      <p:sp>
        <p:nvSpPr>
          <p:cNvPr id="14" name="card"/>
          <p:cNvSpPr/>
          <p:nvPr/>
        </p:nvSpPr>
        <p:spPr>
          <a:xfrm>
            <a:off x="3017520" y="1463040"/>
            <a:ext cx="8622792"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15" name="Text 12"/>
          <p:cNvSpPr txBox="1"/>
          <p:nvPr/>
        </p:nvSpPr>
        <p:spPr>
          <a:xfrm>
            <a:off x="3200400" y="1554480"/>
            <a:ext cx="4572000" cy="274320"/>
          </a:xfrm>
          <a:prstGeom prst="rect">
            <a:avLst/>
          </a:prstGeom>
          <a:noFill/>
          <a:ln/>
        </p:spPr>
        <p:txBody>
          <a:bodyPr wrap="square" lIns="0" tIns="0" rIns="0" bIns="0" rtlCol="0" anchor="t"/>
          <a:lstStyle/>
          <a:p>
            <a:pPr marL="0" indent="0">
              <a:buNone/>
            </a:pPr>
            <a:r>
              <a:rPr lang="en-US" sz="1100" b="1" kern="0" spc="100" dirty="0">
                <a:solidFill>
                  <a:srgbClr val="0E7C7B"/>
                </a:solidFill>
              </a:rPr>
              <a:t>PHASE 1  ·  INFRASTRUCTURE</a:t>
            </a:r>
            <a:endParaRPr lang="en-US" sz="1100" dirty="0"/>
          </a:p>
        </p:txBody>
      </p:sp>
      <p:sp>
        <p:nvSpPr>
          <p:cNvPr id="16" name="chip GitHub Actions"/>
          <p:cNvSpPr/>
          <p:nvPr/>
        </p:nvSpPr>
        <p:spPr>
          <a:xfrm>
            <a:off x="3200400" y="1938528"/>
            <a:ext cx="1463040" cy="713232"/>
          </a:xfrm>
          <a:prstGeom prst="roundRect">
            <a:avLst>
              <a:gd name="adj" fmla="val 8974"/>
            </a:avLst>
          </a:prstGeom>
          <a:solidFill>
            <a:srgbClr val="E7EAF2"/>
          </a:solidFill>
          <a:ln/>
        </p:spPr>
      </p:sp>
      <p:sp>
        <p:nvSpPr>
          <p:cNvPr id="17" name="Text 14"/>
          <p:cNvSpPr txBox="1"/>
          <p:nvPr/>
        </p:nvSpPr>
        <p:spPr>
          <a:xfrm>
            <a:off x="3255264" y="1938528"/>
            <a:ext cx="1353312" cy="713232"/>
          </a:xfrm>
          <a:prstGeom prst="rect">
            <a:avLst/>
          </a:prstGeom>
          <a:noFill/>
          <a:ln/>
        </p:spPr>
        <p:txBody>
          <a:bodyPr wrap="square" lIns="0" tIns="0" rIns="0" bIns="0" rtlCol="0" anchor="ctr"/>
          <a:lstStyle/>
          <a:p>
            <a:pPr marL="0" indent="0" algn="ctr">
              <a:buNone/>
            </a:pPr>
            <a:r>
              <a:rPr lang="en-US" sz="1250" b="1" dirty="0">
                <a:solidFill>
                  <a:srgbClr val="132226"/>
                </a:solidFill>
              </a:rPr>
              <a:t>GitHub Actions</a:t>
            </a:r>
            <a:endParaRPr lang="en-US" sz="1400" dirty="0"/>
          </a:p>
          <a:p>
            <a:pPr marL="0" indent="0" algn="ctr">
              <a:buNone/>
            </a:pPr>
            <a:r>
              <a:rPr lang="en-US" sz="1000" dirty="0">
                <a:solidFill>
                  <a:srgbClr val="4A5B5E"/>
                </a:solidFill>
              </a:rPr>
              <a:t>scheduled run</a:t>
            </a:r>
            <a:endParaRPr lang="en-US" sz="1400" dirty="0"/>
          </a:p>
        </p:txBody>
      </p:sp>
      <p:sp>
        <p:nvSpPr>
          <p:cNvPr id="18" name="connector"/>
          <p:cNvSpPr/>
          <p:nvPr/>
        </p:nvSpPr>
        <p:spPr>
          <a:xfrm>
            <a:off x="4690872" y="2295144"/>
            <a:ext cx="246888" cy="0"/>
          </a:xfrm>
          <a:prstGeom prst="line">
            <a:avLst/>
          </a:prstGeom>
          <a:noFill/>
          <a:ln w="19050">
            <a:solidFill>
              <a:srgbClr val="0E7C7B"/>
            </a:solidFill>
            <a:prstDash val="solid"/>
            <a:tailEnd type="triangle"/>
          </a:ln>
        </p:spPr>
      </p:sp>
      <p:sp>
        <p:nvSpPr>
          <p:cNvPr id="19" name="chip HCP Terraform API"/>
          <p:cNvSpPr/>
          <p:nvPr/>
        </p:nvSpPr>
        <p:spPr>
          <a:xfrm>
            <a:off x="4965192" y="1938528"/>
            <a:ext cx="1691640" cy="713232"/>
          </a:xfrm>
          <a:prstGeom prst="roundRect">
            <a:avLst>
              <a:gd name="adj" fmla="val 8974"/>
            </a:avLst>
          </a:prstGeom>
          <a:solidFill>
            <a:srgbClr val="EEF4F3"/>
          </a:solidFill>
          <a:ln/>
        </p:spPr>
      </p:sp>
      <p:sp>
        <p:nvSpPr>
          <p:cNvPr id="20" name="Text 17"/>
          <p:cNvSpPr txBox="1"/>
          <p:nvPr/>
        </p:nvSpPr>
        <p:spPr>
          <a:xfrm>
            <a:off x="5020056" y="1938528"/>
            <a:ext cx="1581912" cy="713232"/>
          </a:xfrm>
          <a:prstGeom prst="rect">
            <a:avLst/>
          </a:prstGeom>
          <a:noFill/>
          <a:ln/>
        </p:spPr>
        <p:txBody>
          <a:bodyPr wrap="square" lIns="0" tIns="0" rIns="0" bIns="0" rtlCol="0" anchor="ctr"/>
          <a:lstStyle/>
          <a:p>
            <a:pPr marL="0" indent="0" algn="ctr">
              <a:buNone/>
            </a:pPr>
            <a:r>
              <a:rPr lang="en-US" sz="1250" b="1" dirty="0">
                <a:solidFill>
                  <a:srgbClr val="132226"/>
                </a:solidFill>
              </a:rPr>
              <a:t>HCP Terraform API</a:t>
            </a:r>
            <a:endParaRPr lang="en-US" sz="1400" dirty="0"/>
          </a:p>
          <a:p>
            <a:pPr marL="0" indent="0" algn="ctr">
              <a:buNone/>
            </a:pPr>
            <a:r>
              <a:rPr lang="en-US" sz="1000" dirty="0">
                <a:solidFill>
                  <a:srgbClr val="4A5B5E"/>
                </a:solidFill>
              </a:rPr>
              <a:t>recovery run</a:t>
            </a:r>
            <a:endParaRPr lang="en-US" sz="1400" dirty="0"/>
          </a:p>
        </p:txBody>
      </p:sp>
      <p:sp>
        <p:nvSpPr>
          <p:cNvPr id="21" name="connector"/>
          <p:cNvSpPr/>
          <p:nvPr/>
        </p:nvSpPr>
        <p:spPr>
          <a:xfrm>
            <a:off x="6684264" y="2295144"/>
            <a:ext cx="246888" cy="0"/>
          </a:xfrm>
          <a:prstGeom prst="line">
            <a:avLst/>
          </a:prstGeom>
          <a:noFill/>
          <a:ln w="19050">
            <a:solidFill>
              <a:srgbClr val="0E7C7B"/>
            </a:solidFill>
            <a:prstDash val="solid"/>
            <a:tailEnd type="triangle"/>
          </a:ln>
        </p:spPr>
      </p:sp>
      <p:sp>
        <p:nvSpPr>
          <p:cNvPr id="22" name="chip Plan + auto-apply"/>
          <p:cNvSpPr/>
          <p:nvPr/>
        </p:nvSpPr>
        <p:spPr>
          <a:xfrm>
            <a:off x="6958584" y="1938528"/>
            <a:ext cx="2103120" cy="713232"/>
          </a:xfrm>
          <a:prstGeom prst="roundRect">
            <a:avLst>
              <a:gd name="adj" fmla="val 8974"/>
            </a:avLst>
          </a:prstGeom>
          <a:solidFill>
            <a:srgbClr val="EEF4F3"/>
          </a:solidFill>
          <a:ln/>
        </p:spPr>
      </p:sp>
      <p:sp>
        <p:nvSpPr>
          <p:cNvPr id="23" name="Text 20"/>
          <p:cNvSpPr txBox="1"/>
          <p:nvPr/>
        </p:nvSpPr>
        <p:spPr>
          <a:xfrm>
            <a:off x="7013448" y="1938528"/>
            <a:ext cx="1993392" cy="713232"/>
          </a:xfrm>
          <a:prstGeom prst="rect">
            <a:avLst/>
          </a:prstGeom>
          <a:noFill/>
          <a:ln/>
        </p:spPr>
        <p:txBody>
          <a:bodyPr wrap="square" lIns="0" tIns="0" rIns="0" bIns="0" rtlCol="0" anchor="ctr"/>
          <a:lstStyle/>
          <a:p>
            <a:pPr marL="0" indent="0" algn="ctr">
              <a:buNone/>
            </a:pPr>
            <a:r>
              <a:rPr lang="en-US" sz="1250" b="1" dirty="0">
                <a:solidFill>
                  <a:srgbClr val="132226"/>
                </a:solidFill>
              </a:rPr>
              <a:t>Plan + auto-apply</a:t>
            </a:r>
            <a:endParaRPr lang="en-US" sz="1400" dirty="0"/>
          </a:p>
          <a:p>
            <a:pPr marL="0" indent="0" algn="ctr">
              <a:buNone/>
            </a:pPr>
            <a:r>
              <a:rPr lang="en-US" sz="1000" dirty="0">
                <a:solidFill>
                  <a:srgbClr val="4A5B5E"/>
                </a:solidFill>
              </a:rPr>
              <a:t>langnation-capstone-dev</a:t>
            </a:r>
            <a:endParaRPr lang="en-US" sz="1400" dirty="0"/>
          </a:p>
        </p:txBody>
      </p:sp>
      <p:sp>
        <p:nvSpPr>
          <p:cNvPr id="24" name="connector"/>
          <p:cNvSpPr/>
          <p:nvPr/>
        </p:nvSpPr>
        <p:spPr>
          <a:xfrm>
            <a:off x="9089136" y="2295144"/>
            <a:ext cx="246888" cy="0"/>
          </a:xfrm>
          <a:prstGeom prst="line">
            <a:avLst/>
          </a:prstGeom>
          <a:noFill/>
          <a:ln w="19050">
            <a:solidFill>
              <a:srgbClr val="0E7C7B"/>
            </a:solidFill>
            <a:prstDash val="solid"/>
            <a:tailEnd type="triangle"/>
          </a:ln>
        </p:spPr>
      </p:sp>
      <p:sp>
        <p:nvSpPr>
          <p:cNvPr id="25" name="chip Infrastructure"/>
          <p:cNvSpPr/>
          <p:nvPr/>
        </p:nvSpPr>
        <p:spPr>
          <a:xfrm>
            <a:off x="9363456" y="1938528"/>
            <a:ext cx="1600200" cy="713232"/>
          </a:xfrm>
          <a:prstGeom prst="roundRect">
            <a:avLst>
              <a:gd name="adj" fmla="val 8974"/>
            </a:avLst>
          </a:prstGeom>
          <a:solidFill>
            <a:srgbClr val="E0F3EE"/>
          </a:solidFill>
          <a:ln/>
        </p:spPr>
      </p:sp>
      <p:sp>
        <p:nvSpPr>
          <p:cNvPr id="26" name="Text 23"/>
          <p:cNvSpPr txBox="1"/>
          <p:nvPr/>
        </p:nvSpPr>
        <p:spPr>
          <a:xfrm>
            <a:off x="9418320" y="1938528"/>
            <a:ext cx="1490472" cy="713232"/>
          </a:xfrm>
          <a:prstGeom prst="rect">
            <a:avLst/>
          </a:prstGeom>
          <a:noFill/>
          <a:ln/>
        </p:spPr>
        <p:txBody>
          <a:bodyPr wrap="square" lIns="0" tIns="0" rIns="0" bIns="0" rtlCol="0" anchor="ctr"/>
          <a:lstStyle/>
          <a:p>
            <a:pPr marL="0" indent="0" algn="ctr">
              <a:buNone/>
            </a:pPr>
            <a:r>
              <a:rPr lang="en-US" sz="1250" b="1" dirty="0">
                <a:solidFill>
                  <a:srgbClr val="132226"/>
                </a:solidFill>
              </a:rPr>
              <a:t>Infrastructure</a:t>
            </a:r>
            <a:endParaRPr lang="en-US" sz="1400" dirty="0"/>
          </a:p>
          <a:p>
            <a:pPr marL="0" indent="0" algn="ctr">
              <a:buNone/>
            </a:pPr>
            <a:r>
              <a:rPr lang="en-US" sz="1000" dirty="0">
                <a:solidFill>
                  <a:srgbClr val="4A5B5E"/>
                </a:solidFill>
              </a:rPr>
              <a:t>recreated</a:t>
            </a:r>
            <a:endParaRPr lang="en-US" sz="1400" dirty="0"/>
          </a:p>
        </p:txBody>
      </p:sp>
      <p:sp>
        <p:nvSpPr>
          <p:cNvPr id="27" name="card"/>
          <p:cNvSpPr/>
          <p:nvPr/>
        </p:nvSpPr>
        <p:spPr>
          <a:xfrm>
            <a:off x="3017520" y="3017520"/>
            <a:ext cx="8622792" cy="1508760"/>
          </a:xfrm>
          <a:prstGeom prst="roundRect">
            <a:avLst>
              <a:gd name="adj" fmla="val 6061"/>
            </a:avLst>
          </a:prstGeom>
          <a:solidFill>
            <a:srgbClr val="FFFFFF"/>
          </a:solidFill>
          <a:ln/>
          <a:effectLst>
            <a:outerShdw blurRad="114300" dist="25400" dir="5400000" algn="bl" rotWithShape="0">
              <a:srgbClr val="0E3B43">
                <a:alpha val="13000"/>
              </a:srgbClr>
            </a:outerShdw>
          </a:effectLst>
        </p:spPr>
      </p:sp>
      <p:sp>
        <p:nvSpPr>
          <p:cNvPr id="28" name="Text 25"/>
          <p:cNvSpPr txBox="1"/>
          <p:nvPr/>
        </p:nvSpPr>
        <p:spPr>
          <a:xfrm>
            <a:off x="3200400" y="3108960"/>
            <a:ext cx="5486400" cy="274320"/>
          </a:xfrm>
          <a:prstGeom prst="rect">
            <a:avLst/>
          </a:prstGeom>
          <a:noFill/>
          <a:ln/>
        </p:spPr>
        <p:txBody>
          <a:bodyPr wrap="square" lIns="0" tIns="0" rIns="0" bIns="0" rtlCol="0" anchor="t"/>
          <a:lstStyle/>
          <a:p>
            <a:pPr marL="0" indent="0">
              <a:buNone/>
            </a:pPr>
            <a:r>
              <a:rPr lang="en-US" sz="1100" b="1" kern="0" spc="100" dirty="0">
                <a:solidFill>
                  <a:srgbClr val="A8620A"/>
                </a:solidFill>
              </a:rPr>
              <a:t>PHASE 2  ·  DATA, APPLICATION &amp; DNS</a:t>
            </a:r>
            <a:endParaRPr lang="en-US" sz="1100" dirty="0"/>
          </a:p>
        </p:txBody>
      </p:sp>
      <p:sp>
        <p:nvSpPr>
          <p:cNvPr id="29" name="chip Build image"/>
          <p:cNvSpPr/>
          <p:nvPr/>
        </p:nvSpPr>
        <p:spPr>
          <a:xfrm>
            <a:off x="3200400" y="3520440"/>
            <a:ext cx="1463040" cy="731520"/>
          </a:xfrm>
          <a:prstGeom prst="roundRect">
            <a:avLst>
              <a:gd name="adj" fmla="val 8750"/>
            </a:avLst>
          </a:prstGeom>
          <a:solidFill>
            <a:srgbClr val="E7EAF2"/>
          </a:solidFill>
          <a:ln/>
        </p:spPr>
      </p:sp>
      <p:sp>
        <p:nvSpPr>
          <p:cNvPr id="30" name="Text 27"/>
          <p:cNvSpPr txBox="1"/>
          <p:nvPr/>
        </p:nvSpPr>
        <p:spPr>
          <a:xfrm>
            <a:off x="3255264" y="3520440"/>
            <a:ext cx="1353312" cy="731520"/>
          </a:xfrm>
          <a:prstGeom prst="rect">
            <a:avLst/>
          </a:prstGeom>
          <a:noFill/>
          <a:ln/>
        </p:spPr>
        <p:txBody>
          <a:bodyPr wrap="square" lIns="0" tIns="0" rIns="0" bIns="0" rtlCol="0" anchor="ctr"/>
          <a:lstStyle/>
          <a:p>
            <a:pPr marL="0" indent="0" algn="ctr">
              <a:buNone/>
            </a:pPr>
            <a:r>
              <a:rPr lang="en-US" sz="1250" b="1" dirty="0">
                <a:solidFill>
                  <a:srgbClr val="132226"/>
                </a:solidFill>
              </a:rPr>
              <a:t>Build image</a:t>
            </a:r>
            <a:endParaRPr lang="en-US" sz="1400" dirty="0"/>
          </a:p>
          <a:p>
            <a:pPr marL="0" indent="0" algn="ctr">
              <a:buNone/>
            </a:pPr>
            <a:r>
              <a:rPr lang="en-US" sz="1000" dirty="0">
                <a:solidFill>
                  <a:srgbClr val="4A5B5E"/>
                </a:solidFill>
              </a:rPr>
              <a:t>OIDC · Git SHA → ECR</a:t>
            </a:r>
            <a:endParaRPr lang="en-US" sz="1400" dirty="0"/>
          </a:p>
        </p:txBody>
      </p:sp>
      <p:sp>
        <p:nvSpPr>
          <p:cNvPr id="31" name="connector"/>
          <p:cNvSpPr/>
          <p:nvPr/>
        </p:nvSpPr>
        <p:spPr>
          <a:xfrm>
            <a:off x="4690872" y="3886200"/>
            <a:ext cx="237744" cy="0"/>
          </a:xfrm>
          <a:prstGeom prst="line">
            <a:avLst/>
          </a:prstGeom>
          <a:noFill/>
          <a:ln w="19050">
            <a:solidFill>
              <a:srgbClr val="A8620A"/>
            </a:solidFill>
            <a:prstDash val="solid"/>
            <a:tailEnd type="triangle"/>
          </a:ln>
        </p:spPr>
      </p:sp>
      <p:sp>
        <p:nvSpPr>
          <p:cNvPr id="32" name="chip Restore DB"/>
          <p:cNvSpPr/>
          <p:nvPr/>
        </p:nvSpPr>
        <p:spPr>
          <a:xfrm>
            <a:off x="4956048" y="3520440"/>
            <a:ext cx="1508760" cy="731520"/>
          </a:xfrm>
          <a:prstGeom prst="roundRect">
            <a:avLst>
              <a:gd name="adj" fmla="val 8750"/>
            </a:avLst>
          </a:prstGeom>
          <a:solidFill>
            <a:srgbClr val="FDF0DC"/>
          </a:solidFill>
          <a:ln/>
        </p:spPr>
      </p:sp>
      <p:sp>
        <p:nvSpPr>
          <p:cNvPr id="33" name="Text 30"/>
          <p:cNvSpPr txBox="1"/>
          <p:nvPr/>
        </p:nvSpPr>
        <p:spPr>
          <a:xfrm>
            <a:off x="5010912" y="3520440"/>
            <a:ext cx="1399032" cy="731520"/>
          </a:xfrm>
          <a:prstGeom prst="rect">
            <a:avLst/>
          </a:prstGeom>
          <a:noFill/>
          <a:ln/>
        </p:spPr>
        <p:txBody>
          <a:bodyPr wrap="square" lIns="0" tIns="0" rIns="0" bIns="0" rtlCol="0" anchor="ctr"/>
          <a:lstStyle/>
          <a:p>
            <a:pPr marL="0" indent="0" algn="ctr">
              <a:buNone/>
            </a:pPr>
            <a:r>
              <a:rPr lang="en-US" sz="1250" b="1" dirty="0">
                <a:solidFill>
                  <a:srgbClr val="132226"/>
                </a:solidFill>
              </a:rPr>
              <a:t>Restore DB</a:t>
            </a:r>
            <a:endParaRPr lang="en-US" sz="1400" dirty="0"/>
          </a:p>
          <a:p>
            <a:pPr marL="0" indent="0" algn="ctr">
              <a:buNone/>
            </a:pPr>
            <a:r>
              <a:rPr lang="en-US" sz="1000" dirty="0">
                <a:solidFill>
                  <a:srgbClr val="4A5B5E"/>
                </a:solidFill>
              </a:rPr>
              <a:t>one-off task · 58 tables</a:t>
            </a:r>
            <a:endParaRPr lang="en-US" sz="1400" dirty="0"/>
          </a:p>
        </p:txBody>
      </p:sp>
      <p:sp>
        <p:nvSpPr>
          <p:cNvPr id="34" name="connector"/>
          <p:cNvSpPr/>
          <p:nvPr/>
        </p:nvSpPr>
        <p:spPr>
          <a:xfrm>
            <a:off x="6492240" y="3886200"/>
            <a:ext cx="237744" cy="0"/>
          </a:xfrm>
          <a:prstGeom prst="line">
            <a:avLst/>
          </a:prstGeom>
          <a:noFill/>
          <a:ln w="19050">
            <a:solidFill>
              <a:srgbClr val="A8620A"/>
            </a:solidFill>
            <a:prstDash val="solid"/>
            <a:tailEnd type="triangle"/>
          </a:ln>
        </p:spPr>
      </p:sp>
      <p:sp>
        <p:nvSpPr>
          <p:cNvPr id="35" name="chip Deploy ECS"/>
          <p:cNvSpPr/>
          <p:nvPr/>
        </p:nvSpPr>
        <p:spPr>
          <a:xfrm>
            <a:off x="6757416" y="3520440"/>
            <a:ext cx="1371600" cy="731520"/>
          </a:xfrm>
          <a:prstGeom prst="roundRect">
            <a:avLst>
              <a:gd name="adj" fmla="val 8750"/>
            </a:avLst>
          </a:prstGeom>
          <a:solidFill>
            <a:srgbClr val="E1F0EF"/>
          </a:solidFill>
          <a:ln/>
        </p:spPr>
      </p:sp>
      <p:sp>
        <p:nvSpPr>
          <p:cNvPr id="36" name="Text 33"/>
          <p:cNvSpPr txBox="1"/>
          <p:nvPr/>
        </p:nvSpPr>
        <p:spPr>
          <a:xfrm>
            <a:off x="6812280" y="3520440"/>
            <a:ext cx="1261872" cy="731520"/>
          </a:xfrm>
          <a:prstGeom prst="rect">
            <a:avLst/>
          </a:prstGeom>
          <a:noFill/>
          <a:ln/>
        </p:spPr>
        <p:txBody>
          <a:bodyPr wrap="square" lIns="0" tIns="0" rIns="0" bIns="0" rtlCol="0" anchor="ctr"/>
          <a:lstStyle/>
          <a:p>
            <a:pPr marL="0" indent="0" algn="ctr">
              <a:buNone/>
            </a:pPr>
            <a:r>
              <a:rPr lang="en-US" sz="1250" b="1" dirty="0">
                <a:solidFill>
                  <a:srgbClr val="132226"/>
                </a:solidFill>
              </a:rPr>
              <a:t>Deploy ECS</a:t>
            </a:r>
            <a:endParaRPr lang="en-US" sz="1400" dirty="0"/>
          </a:p>
          <a:p>
            <a:pPr marL="0" indent="0" algn="ctr">
              <a:buNone/>
            </a:pPr>
            <a:r>
              <a:rPr lang="en-US" sz="1000" dirty="0">
                <a:solidFill>
                  <a:srgbClr val="4A5B5E"/>
                </a:solidFill>
              </a:rPr>
              <a:t>new revision · stable</a:t>
            </a:r>
            <a:endParaRPr lang="en-US" sz="1400" dirty="0"/>
          </a:p>
        </p:txBody>
      </p:sp>
      <p:sp>
        <p:nvSpPr>
          <p:cNvPr id="37" name="connector"/>
          <p:cNvSpPr/>
          <p:nvPr/>
        </p:nvSpPr>
        <p:spPr>
          <a:xfrm>
            <a:off x="8156448" y="3886200"/>
            <a:ext cx="237744" cy="0"/>
          </a:xfrm>
          <a:prstGeom prst="line">
            <a:avLst/>
          </a:prstGeom>
          <a:noFill/>
          <a:ln w="19050">
            <a:solidFill>
              <a:srgbClr val="A8620A"/>
            </a:solidFill>
            <a:prstDash val="solid"/>
            <a:tailEnd type="triangle"/>
          </a:ln>
        </p:spPr>
      </p:sp>
      <p:sp>
        <p:nvSpPr>
          <p:cNvPr id="38" name="chip Sync DNS"/>
          <p:cNvSpPr/>
          <p:nvPr/>
        </p:nvSpPr>
        <p:spPr>
          <a:xfrm>
            <a:off x="8421624" y="3520440"/>
            <a:ext cx="1463040" cy="731520"/>
          </a:xfrm>
          <a:prstGeom prst="roundRect">
            <a:avLst>
              <a:gd name="adj" fmla="val 8750"/>
            </a:avLst>
          </a:prstGeom>
          <a:solidFill>
            <a:srgbClr val="FDF0DC"/>
          </a:solidFill>
          <a:ln/>
        </p:spPr>
      </p:sp>
      <p:sp>
        <p:nvSpPr>
          <p:cNvPr id="39" name="Text 36"/>
          <p:cNvSpPr txBox="1"/>
          <p:nvPr/>
        </p:nvSpPr>
        <p:spPr>
          <a:xfrm>
            <a:off x="8476488" y="3520440"/>
            <a:ext cx="1353312" cy="731520"/>
          </a:xfrm>
          <a:prstGeom prst="rect">
            <a:avLst/>
          </a:prstGeom>
          <a:noFill/>
          <a:ln/>
        </p:spPr>
        <p:txBody>
          <a:bodyPr wrap="square" lIns="0" tIns="0" rIns="0" bIns="0" rtlCol="0" anchor="ctr"/>
          <a:lstStyle/>
          <a:p>
            <a:pPr marL="0" indent="0" algn="ctr">
              <a:buNone/>
            </a:pPr>
            <a:r>
              <a:rPr lang="en-US" sz="1250" b="1" dirty="0">
                <a:solidFill>
                  <a:srgbClr val="132226"/>
                </a:solidFill>
              </a:rPr>
              <a:t>Sync DNS</a:t>
            </a:r>
            <a:endParaRPr lang="en-US" sz="1400" dirty="0"/>
          </a:p>
          <a:p>
            <a:pPr marL="0" indent="0" algn="ctr">
              <a:buNone/>
            </a:pPr>
            <a:r>
              <a:rPr lang="en-US" sz="1000" dirty="0">
                <a:solidFill>
                  <a:srgbClr val="4A5B5E"/>
                </a:solidFill>
              </a:rPr>
              <a:t>CloudFront → Route 53</a:t>
            </a:r>
            <a:endParaRPr lang="en-US" sz="1400" dirty="0"/>
          </a:p>
        </p:txBody>
      </p:sp>
      <p:sp>
        <p:nvSpPr>
          <p:cNvPr id="40" name="connector"/>
          <p:cNvSpPr/>
          <p:nvPr/>
        </p:nvSpPr>
        <p:spPr>
          <a:xfrm>
            <a:off x="9912096" y="3886200"/>
            <a:ext cx="237744" cy="0"/>
          </a:xfrm>
          <a:prstGeom prst="line">
            <a:avLst/>
          </a:prstGeom>
          <a:noFill/>
          <a:ln w="19050">
            <a:solidFill>
              <a:srgbClr val="A8620A"/>
            </a:solidFill>
            <a:prstDash val="solid"/>
            <a:tailEnd type="triangle"/>
          </a:ln>
        </p:spPr>
      </p:sp>
      <p:sp>
        <p:nvSpPr>
          <p:cNvPr id="41" name="chip GET /health"/>
          <p:cNvSpPr/>
          <p:nvPr/>
        </p:nvSpPr>
        <p:spPr>
          <a:xfrm>
            <a:off x="10177272" y="3520440"/>
            <a:ext cx="1188720" cy="731520"/>
          </a:xfrm>
          <a:prstGeom prst="roundRect">
            <a:avLst>
              <a:gd name="adj" fmla="val 8750"/>
            </a:avLst>
          </a:prstGeom>
          <a:solidFill>
            <a:srgbClr val="E0F3EE"/>
          </a:solidFill>
          <a:ln/>
        </p:spPr>
      </p:sp>
      <p:sp>
        <p:nvSpPr>
          <p:cNvPr id="42" name="Text 39"/>
          <p:cNvSpPr txBox="1"/>
          <p:nvPr/>
        </p:nvSpPr>
        <p:spPr>
          <a:xfrm>
            <a:off x="10232136" y="3520440"/>
            <a:ext cx="1078992" cy="731520"/>
          </a:xfrm>
          <a:prstGeom prst="rect">
            <a:avLst/>
          </a:prstGeom>
          <a:noFill/>
          <a:ln/>
        </p:spPr>
        <p:txBody>
          <a:bodyPr wrap="square" lIns="0" tIns="0" rIns="0" bIns="0" rtlCol="0" anchor="ctr"/>
          <a:lstStyle/>
          <a:p>
            <a:pPr marL="0" indent="0" algn="ctr">
              <a:buNone/>
            </a:pPr>
            <a:r>
              <a:rPr lang="en-US" sz="1250" b="1" dirty="0">
                <a:solidFill>
                  <a:srgbClr val="132226"/>
                </a:solidFill>
              </a:rPr>
              <a:t>GET /health</a:t>
            </a:r>
            <a:endParaRPr lang="en-US" sz="1400" dirty="0"/>
          </a:p>
          <a:p>
            <a:pPr marL="0" indent="0" algn="ctr">
              <a:buNone/>
            </a:pPr>
            <a:r>
              <a:rPr lang="en-US" sz="1000" dirty="0">
                <a:solidFill>
                  <a:srgbClr val="4A5B5E"/>
                </a:solidFill>
              </a:rPr>
              <a:t>→ READY</a:t>
            </a:r>
            <a:endParaRPr lang="en-US" sz="1400" dirty="0"/>
          </a:p>
        </p:txBody>
      </p:sp>
      <p:sp>
        <p:nvSpPr>
          <p:cNvPr id="43" name="card"/>
          <p:cNvSpPr/>
          <p:nvPr/>
        </p:nvSpPr>
        <p:spPr>
          <a:xfrm>
            <a:off x="548640" y="4709160"/>
            <a:ext cx="2633472" cy="1463040"/>
          </a:xfrm>
          <a:prstGeom prst="roundRect">
            <a:avLst>
              <a:gd name="adj" fmla="val 6250"/>
            </a:avLst>
          </a:prstGeom>
          <a:solidFill>
            <a:srgbClr val="FFFFFF"/>
          </a:solidFill>
          <a:ln/>
          <a:effectLst>
            <a:outerShdw blurRad="114300" dist="25400" dir="5400000" algn="bl" rotWithShape="0">
              <a:srgbClr val="0E3B43">
                <a:alpha val="13000"/>
              </a:srgbClr>
            </a:outerShdw>
          </a:effectLst>
        </p:spPr>
      </p:sp>
      <p:sp>
        <p:nvSpPr>
          <p:cNvPr id="44" name="Normal runs stay manual circle"/>
          <p:cNvSpPr/>
          <p:nvPr/>
        </p:nvSpPr>
        <p:spPr>
          <a:xfrm>
            <a:off x="731520" y="4846320"/>
            <a:ext cx="438912" cy="438912"/>
          </a:xfrm>
          <a:prstGeom prst="ellipse">
            <a:avLst/>
          </a:prstGeom>
          <a:solidFill>
            <a:schemeClr val="accent5"/>
          </a:solidFill>
          <a:ln/>
        </p:spPr>
      </p:sp>
      <p:pic>
        <p:nvPicPr>
          <p:cNvPr id="45" name="Normal runs stay manual" descr="preencoded.png"/>
          <p:cNvPicPr>
            <a:picLocks noChangeAspect="1"/>
          </p:cNvPicPr>
          <p:nvPr/>
        </p:nvPicPr>
        <p:blipFill>
          <a:blip r:embed="rId4"/>
          <a:stretch>
            <a:fillRect/>
          </a:stretch>
        </p:blipFill>
        <p:spPr>
          <a:xfrm>
            <a:off x="836859" y="4951659"/>
            <a:ext cx="228234" cy="228234"/>
          </a:xfrm>
          <a:prstGeom prst="rect">
            <a:avLst/>
          </a:prstGeom>
        </p:spPr>
      </p:pic>
      <p:sp>
        <p:nvSpPr>
          <p:cNvPr id="46" name="Text 42"/>
          <p:cNvSpPr txBox="1"/>
          <p:nvPr/>
        </p:nvSpPr>
        <p:spPr>
          <a:xfrm>
            <a:off x="1280160" y="4846320"/>
            <a:ext cx="1810512" cy="438912"/>
          </a:xfrm>
          <a:prstGeom prst="rect">
            <a:avLst/>
          </a:prstGeom>
          <a:noFill/>
          <a:ln/>
        </p:spPr>
        <p:txBody>
          <a:bodyPr wrap="square" lIns="0" tIns="0" rIns="0" bIns="0" rtlCol="0" anchor="ctr"/>
          <a:lstStyle/>
          <a:p>
            <a:pPr marL="0" indent="0">
              <a:buNone/>
            </a:pPr>
            <a:r>
              <a:rPr lang="en-US" sz="1350" b="1" dirty="0">
                <a:solidFill>
                  <a:srgbClr val="132226"/>
                </a:solidFill>
              </a:rPr>
              <a:t>Normal runs stay manual</a:t>
            </a:r>
            <a:endParaRPr lang="en-US" sz="1350" dirty="0"/>
          </a:p>
        </p:txBody>
      </p:sp>
      <p:sp>
        <p:nvSpPr>
          <p:cNvPr id="47" name="Text 43"/>
          <p:cNvSpPr txBox="1"/>
          <p:nvPr/>
        </p:nvSpPr>
        <p:spPr>
          <a:xfrm>
            <a:off x="731520" y="5376672"/>
            <a:ext cx="2331720" cy="749808"/>
          </a:xfrm>
          <a:prstGeom prst="rect">
            <a:avLst/>
          </a:prstGeom>
          <a:noFill/>
          <a:ln/>
        </p:spPr>
        <p:txBody>
          <a:bodyPr wrap="square" lIns="0" tIns="0" rIns="0" bIns="0" rtlCol="0" anchor="t"/>
          <a:lstStyle/>
          <a:p>
            <a:pPr marL="0" indent="0">
              <a:buNone/>
            </a:pPr>
            <a:r>
              <a:rPr lang="en-US" sz="1250" dirty="0">
                <a:solidFill>
                  <a:srgbClr val="4A5B5E"/>
                </a:solidFill>
              </a:rPr>
              <a:t>Regular Terraform changes still go through the standard approval.</a:t>
            </a:r>
            <a:endParaRPr lang="en-US" sz="1250" dirty="0"/>
          </a:p>
        </p:txBody>
      </p:sp>
      <p:sp>
        <p:nvSpPr>
          <p:cNvPr id="48" name="card"/>
          <p:cNvSpPr/>
          <p:nvPr/>
        </p:nvSpPr>
        <p:spPr>
          <a:xfrm>
            <a:off x="3364992" y="4709160"/>
            <a:ext cx="2633472" cy="1463040"/>
          </a:xfrm>
          <a:prstGeom prst="roundRect">
            <a:avLst>
              <a:gd name="adj" fmla="val 6250"/>
            </a:avLst>
          </a:prstGeom>
          <a:solidFill>
            <a:srgbClr val="FFFFFF"/>
          </a:solidFill>
          <a:ln/>
          <a:effectLst>
            <a:outerShdw blurRad="114300" dist="25400" dir="5400000" algn="bl" rotWithShape="0">
              <a:srgbClr val="0E3B43">
                <a:alpha val="13000"/>
              </a:srgbClr>
            </a:outerShdw>
          </a:effectLst>
        </p:spPr>
      </p:sp>
      <p:sp>
        <p:nvSpPr>
          <p:cNvPr id="49" name="Recovery auto-applies circle"/>
          <p:cNvSpPr/>
          <p:nvPr/>
        </p:nvSpPr>
        <p:spPr>
          <a:xfrm>
            <a:off x="3547872" y="4846320"/>
            <a:ext cx="438912" cy="438912"/>
          </a:xfrm>
          <a:prstGeom prst="ellipse">
            <a:avLst/>
          </a:prstGeom>
          <a:solidFill>
            <a:schemeClr val="accent2"/>
          </a:solidFill>
          <a:ln/>
        </p:spPr>
      </p:sp>
      <p:pic>
        <p:nvPicPr>
          <p:cNvPr id="50" name="Recovery auto-applies" descr="preencoded.png"/>
          <p:cNvPicPr>
            <a:picLocks noChangeAspect="1"/>
          </p:cNvPicPr>
          <p:nvPr/>
        </p:nvPicPr>
        <p:blipFill>
          <a:blip r:embed="rId5"/>
          <a:stretch>
            <a:fillRect/>
          </a:stretch>
        </p:blipFill>
        <p:spPr>
          <a:xfrm>
            <a:off x="3653211" y="4951659"/>
            <a:ext cx="228234" cy="228234"/>
          </a:xfrm>
          <a:prstGeom prst="rect">
            <a:avLst/>
          </a:prstGeom>
        </p:spPr>
      </p:pic>
      <p:sp>
        <p:nvSpPr>
          <p:cNvPr id="51" name="Text 46"/>
          <p:cNvSpPr txBox="1"/>
          <p:nvPr/>
        </p:nvSpPr>
        <p:spPr>
          <a:xfrm>
            <a:off x="4096512" y="4846320"/>
            <a:ext cx="1810512" cy="438912"/>
          </a:xfrm>
          <a:prstGeom prst="rect">
            <a:avLst/>
          </a:prstGeom>
          <a:noFill/>
          <a:ln/>
        </p:spPr>
        <p:txBody>
          <a:bodyPr wrap="square" lIns="0" tIns="0" rIns="0" bIns="0" rtlCol="0" anchor="ctr"/>
          <a:lstStyle/>
          <a:p>
            <a:pPr marL="0" indent="0">
              <a:buNone/>
            </a:pPr>
            <a:r>
              <a:rPr lang="en-US" sz="1350" b="1" dirty="0">
                <a:solidFill>
                  <a:srgbClr val="132226"/>
                </a:solidFill>
              </a:rPr>
              <a:t>Recovery auto-applies</a:t>
            </a:r>
            <a:endParaRPr lang="en-US" sz="1350" dirty="0"/>
          </a:p>
        </p:txBody>
      </p:sp>
      <p:sp>
        <p:nvSpPr>
          <p:cNvPr id="52" name="Text 47"/>
          <p:cNvSpPr txBox="1"/>
          <p:nvPr/>
        </p:nvSpPr>
        <p:spPr>
          <a:xfrm>
            <a:off x="3547872" y="5376672"/>
            <a:ext cx="2331720" cy="749808"/>
          </a:xfrm>
          <a:prstGeom prst="rect">
            <a:avLst/>
          </a:prstGeom>
          <a:noFill/>
          <a:ln/>
        </p:spPr>
        <p:txBody>
          <a:bodyPr wrap="square" lIns="0" tIns="0" rIns="0" bIns="0" rtlCol="0" anchor="t"/>
          <a:lstStyle/>
          <a:p>
            <a:pPr marL="0" indent="0">
              <a:buNone/>
            </a:pPr>
            <a:r>
              <a:rPr lang="en-US" sz="1250" dirty="0">
                <a:solidFill>
                  <a:srgbClr val="4A5B5E"/>
                </a:solidFill>
              </a:rPr>
              <a:t>Only the morning recovery uses a dedicated auto-apply run.</a:t>
            </a:r>
            <a:endParaRPr lang="en-US" sz="1250" dirty="0"/>
          </a:p>
        </p:txBody>
      </p:sp>
      <p:sp>
        <p:nvSpPr>
          <p:cNvPr id="53" name="card"/>
          <p:cNvSpPr/>
          <p:nvPr/>
        </p:nvSpPr>
        <p:spPr>
          <a:xfrm>
            <a:off x="6181344" y="4709160"/>
            <a:ext cx="2633472" cy="1463040"/>
          </a:xfrm>
          <a:prstGeom prst="roundRect">
            <a:avLst>
              <a:gd name="adj" fmla="val 6250"/>
            </a:avLst>
          </a:prstGeom>
          <a:solidFill>
            <a:srgbClr val="FFFFFF"/>
          </a:solidFill>
          <a:ln/>
          <a:effectLst>
            <a:outerShdw blurRad="114300" dist="25400" dir="5400000" algn="bl" rotWithShape="0">
              <a:srgbClr val="0E3B43">
                <a:alpha val="13000"/>
              </a:srgbClr>
            </a:outerShdw>
          </a:effectLst>
        </p:spPr>
      </p:sp>
      <p:sp>
        <p:nvSpPr>
          <p:cNvPr id="54" name="No long-lived keys circle"/>
          <p:cNvSpPr/>
          <p:nvPr/>
        </p:nvSpPr>
        <p:spPr>
          <a:xfrm>
            <a:off x="6364224" y="4846320"/>
            <a:ext cx="438912" cy="438912"/>
          </a:xfrm>
          <a:prstGeom prst="ellipse">
            <a:avLst/>
          </a:prstGeom>
          <a:solidFill>
            <a:schemeClr val="accent3"/>
          </a:solidFill>
          <a:ln/>
        </p:spPr>
      </p:sp>
      <p:pic>
        <p:nvPicPr>
          <p:cNvPr id="55" name="No long-lived keys" descr="preencoded.png"/>
          <p:cNvPicPr>
            <a:picLocks noChangeAspect="1"/>
          </p:cNvPicPr>
          <p:nvPr/>
        </p:nvPicPr>
        <p:blipFill>
          <a:blip r:embed="rId6"/>
          <a:stretch>
            <a:fillRect/>
          </a:stretch>
        </p:blipFill>
        <p:spPr>
          <a:xfrm>
            <a:off x="6469563" y="4951659"/>
            <a:ext cx="228234" cy="228234"/>
          </a:xfrm>
          <a:prstGeom prst="rect">
            <a:avLst/>
          </a:prstGeom>
        </p:spPr>
      </p:pic>
      <p:sp>
        <p:nvSpPr>
          <p:cNvPr id="56" name="Text 50"/>
          <p:cNvSpPr txBox="1"/>
          <p:nvPr/>
        </p:nvSpPr>
        <p:spPr>
          <a:xfrm>
            <a:off x="6912864" y="4846320"/>
            <a:ext cx="1810512" cy="438912"/>
          </a:xfrm>
          <a:prstGeom prst="rect">
            <a:avLst/>
          </a:prstGeom>
          <a:noFill/>
          <a:ln/>
        </p:spPr>
        <p:txBody>
          <a:bodyPr wrap="square" lIns="0" tIns="0" rIns="0" bIns="0" rtlCol="0" anchor="ctr"/>
          <a:lstStyle/>
          <a:p>
            <a:pPr marL="0" indent="0">
              <a:buNone/>
            </a:pPr>
            <a:r>
              <a:rPr lang="en-US" sz="1350" b="1" dirty="0">
                <a:solidFill>
                  <a:srgbClr val="132226"/>
                </a:solidFill>
              </a:rPr>
              <a:t>No long-lived keys</a:t>
            </a:r>
            <a:endParaRPr lang="en-US" sz="1350" dirty="0"/>
          </a:p>
        </p:txBody>
      </p:sp>
      <p:sp>
        <p:nvSpPr>
          <p:cNvPr id="57" name="Text 51"/>
          <p:cNvSpPr txBox="1"/>
          <p:nvPr/>
        </p:nvSpPr>
        <p:spPr>
          <a:xfrm>
            <a:off x="6364224" y="5376672"/>
            <a:ext cx="2331720" cy="749808"/>
          </a:xfrm>
          <a:prstGeom prst="rect">
            <a:avLst/>
          </a:prstGeom>
          <a:noFill/>
          <a:ln/>
        </p:spPr>
        <p:txBody>
          <a:bodyPr wrap="square" lIns="0" tIns="0" rIns="0" bIns="0" rtlCol="0" anchor="t"/>
          <a:lstStyle/>
          <a:p>
            <a:pPr marL="0" indent="0">
              <a:buNone/>
            </a:pPr>
            <a:r>
              <a:rPr lang="en-US" sz="1250" dirty="0">
                <a:solidFill>
                  <a:srgbClr val="4A5B5E"/>
                </a:solidFill>
              </a:rPr>
              <a:t>GitHub OIDC + AWS STS, short-lived credentials.</a:t>
            </a:r>
            <a:endParaRPr lang="en-US" sz="1250" dirty="0"/>
          </a:p>
        </p:txBody>
      </p:sp>
      <p:sp>
        <p:nvSpPr>
          <p:cNvPr id="58" name="card"/>
          <p:cNvSpPr/>
          <p:nvPr/>
        </p:nvSpPr>
        <p:spPr>
          <a:xfrm>
            <a:off x="8997696" y="4709160"/>
            <a:ext cx="2633472" cy="1463040"/>
          </a:xfrm>
          <a:prstGeom prst="roundRect">
            <a:avLst>
              <a:gd name="adj" fmla="val 6250"/>
            </a:avLst>
          </a:prstGeom>
          <a:solidFill>
            <a:srgbClr val="FFFFFF"/>
          </a:solidFill>
          <a:ln/>
          <a:effectLst>
            <a:outerShdw blurRad="114300" dist="25400" dir="5400000" algn="bl" rotWithShape="0">
              <a:srgbClr val="0E3B43">
                <a:alpha val="13000"/>
              </a:srgbClr>
            </a:outerShdw>
          </a:effectLst>
        </p:spPr>
      </p:sp>
      <p:sp>
        <p:nvSpPr>
          <p:cNvPr id="59" name="Dynamic DNS circle"/>
          <p:cNvSpPr/>
          <p:nvPr/>
        </p:nvSpPr>
        <p:spPr>
          <a:xfrm>
            <a:off x="9180576" y="4846320"/>
            <a:ext cx="438912" cy="438912"/>
          </a:xfrm>
          <a:prstGeom prst="ellipse">
            <a:avLst/>
          </a:prstGeom>
          <a:solidFill>
            <a:schemeClr val="accent1"/>
          </a:solidFill>
          <a:ln/>
        </p:spPr>
      </p:sp>
      <p:pic>
        <p:nvPicPr>
          <p:cNvPr id="60" name="Dynamic DNS" descr="preencoded.png"/>
          <p:cNvPicPr>
            <a:picLocks noChangeAspect="1"/>
          </p:cNvPicPr>
          <p:nvPr/>
        </p:nvPicPr>
        <p:blipFill>
          <a:blip r:embed="rId7"/>
          <a:stretch>
            <a:fillRect/>
          </a:stretch>
        </p:blipFill>
        <p:spPr>
          <a:xfrm>
            <a:off x="9285915" y="4951659"/>
            <a:ext cx="228234" cy="228234"/>
          </a:xfrm>
          <a:prstGeom prst="rect">
            <a:avLst/>
          </a:prstGeom>
        </p:spPr>
      </p:pic>
      <p:sp>
        <p:nvSpPr>
          <p:cNvPr id="61" name="Text 54"/>
          <p:cNvSpPr txBox="1"/>
          <p:nvPr/>
        </p:nvSpPr>
        <p:spPr>
          <a:xfrm>
            <a:off x="9729216" y="4846320"/>
            <a:ext cx="1810512" cy="438912"/>
          </a:xfrm>
          <a:prstGeom prst="rect">
            <a:avLst/>
          </a:prstGeom>
          <a:noFill/>
          <a:ln/>
        </p:spPr>
        <p:txBody>
          <a:bodyPr wrap="square" lIns="0" tIns="0" rIns="0" bIns="0" rtlCol="0" anchor="ctr"/>
          <a:lstStyle/>
          <a:p>
            <a:pPr marL="0" indent="0">
              <a:buNone/>
            </a:pPr>
            <a:r>
              <a:rPr lang="en-US" sz="1350" b="1" dirty="0">
                <a:solidFill>
                  <a:srgbClr val="132226"/>
                </a:solidFill>
              </a:rPr>
              <a:t>Dynamic DNS</a:t>
            </a:r>
            <a:endParaRPr lang="en-US" sz="1350" dirty="0"/>
          </a:p>
        </p:txBody>
      </p:sp>
      <p:sp>
        <p:nvSpPr>
          <p:cNvPr id="62" name="Text 55"/>
          <p:cNvSpPr txBox="1"/>
          <p:nvPr/>
        </p:nvSpPr>
        <p:spPr>
          <a:xfrm>
            <a:off x="9180576" y="5376672"/>
            <a:ext cx="2331720" cy="749808"/>
          </a:xfrm>
          <a:prstGeom prst="rect">
            <a:avLst/>
          </a:prstGeom>
          <a:noFill/>
          <a:ln/>
        </p:spPr>
        <p:txBody>
          <a:bodyPr wrap="square" lIns="0" tIns="0" rIns="0" bIns="0" rtlCol="0" anchor="t"/>
          <a:lstStyle/>
          <a:p>
            <a:pPr marL="0" indent="0">
              <a:buNone/>
            </a:pPr>
            <a:r>
              <a:rPr lang="en-US" sz="1250" dirty="0">
                <a:solidFill>
                  <a:srgbClr val="4A5B5E"/>
                </a:solidFill>
              </a:rPr>
              <a:t>CloudFront domain read from Terraform outputs, synced to Route 53.</a:t>
            </a:r>
            <a:endParaRPr lang="en-US" sz="1250" dirty="0"/>
          </a:p>
        </p:txBody>
      </p:sp>
      <p:sp>
        <p:nvSpPr>
          <p:cNvPr id="63"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Security and ownership model</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The platform stays maintainable because each system has a clear trust boundary and owner.</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Design</a:t>
            </a:r>
            <a:endParaRPr lang="en-US" sz="1200" dirty="0"/>
          </a:p>
        </p:txBody>
      </p:sp>
      <p:sp>
        <p:nvSpPr>
          <p:cNvPr id="6" name="card"/>
          <p:cNvSpPr/>
          <p:nvPr/>
        </p:nvSpPr>
        <p:spPr>
          <a:xfrm>
            <a:off x="548640" y="1463040"/>
            <a:ext cx="2633472" cy="4023360"/>
          </a:xfrm>
          <a:prstGeom prst="roundRect">
            <a:avLst>
              <a:gd name="adj" fmla="val 3472"/>
            </a:avLst>
          </a:prstGeom>
          <a:solidFill>
            <a:srgbClr val="FFFFFF"/>
          </a:solidFill>
          <a:ln/>
          <a:effectLst>
            <a:outerShdw blurRad="114300" dist="25400" dir="5400000" algn="bl" rotWithShape="0">
              <a:srgbClr val="0E3B43">
                <a:alpha val="13000"/>
              </a:srgbClr>
            </a:outerShdw>
          </a:effectLst>
        </p:spPr>
      </p:sp>
      <p:sp>
        <p:nvSpPr>
          <p:cNvPr id="7" name="Public edge circle"/>
          <p:cNvSpPr/>
          <p:nvPr/>
        </p:nvSpPr>
        <p:spPr>
          <a:xfrm>
            <a:off x="749808" y="1645920"/>
            <a:ext cx="530352" cy="530352"/>
          </a:xfrm>
          <a:prstGeom prst="ellipse">
            <a:avLst/>
          </a:prstGeom>
          <a:solidFill>
            <a:schemeClr val="accent4"/>
          </a:solidFill>
          <a:ln/>
        </p:spPr>
      </p:sp>
      <p:pic>
        <p:nvPicPr>
          <p:cNvPr id="8" name="Public edge" descr="preencoded.png"/>
          <p:cNvPicPr>
            <a:picLocks noChangeAspect="1"/>
          </p:cNvPicPr>
          <p:nvPr/>
        </p:nvPicPr>
        <p:blipFill>
          <a:blip r:embed="rId3"/>
          <a:stretch>
            <a:fillRect/>
          </a:stretch>
        </p:blipFill>
        <p:spPr>
          <a:xfrm>
            <a:off x="877092" y="1773204"/>
            <a:ext cx="275783" cy="275783"/>
          </a:xfrm>
          <a:prstGeom prst="rect">
            <a:avLst/>
          </a:prstGeom>
        </p:spPr>
      </p:pic>
      <p:sp>
        <p:nvSpPr>
          <p:cNvPr id="9" name="Text 6"/>
          <p:cNvSpPr txBox="1"/>
          <p:nvPr/>
        </p:nvSpPr>
        <p:spPr>
          <a:xfrm>
            <a:off x="1389888" y="1645920"/>
            <a:ext cx="1691640" cy="530352"/>
          </a:xfrm>
          <a:prstGeom prst="rect">
            <a:avLst/>
          </a:prstGeom>
          <a:noFill/>
          <a:ln/>
        </p:spPr>
        <p:txBody>
          <a:bodyPr wrap="square" lIns="0" tIns="0" rIns="0" bIns="0" rtlCol="0" anchor="ctr"/>
          <a:lstStyle/>
          <a:p>
            <a:pPr marL="0" indent="0">
              <a:buNone/>
            </a:pPr>
            <a:r>
              <a:rPr lang="en-US" sz="1600" b="1" dirty="0">
                <a:solidFill>
                  <a:srgbClr val="0E3B43"/>
                </a:solidFill>
                <a:latin typeface="+mj-lt" pitchFamily="34" charset="0"/>
                <a:ea typeface="+mj-lt" pitchFamily="34" charset="-122"/>
                <a:cs typeface="+mj-lt" pitchFamily="34" charset="-120"/>
              </a:rPr>
              <a:t>Public edge</a:t>
            </a:r>
            <a:endParaRPr lang="en-US" sz="1600" dirty="0"/>
          </a:p>
        </p:txBody>
      </p:sp>
      <p:sp>
        <p:nvSpPr>
          <p:cNvPr id="10" name="check circle"/>
          <p:cNvSpPr/>
          <p:nvPr/>
        </p:nvSpPr>
        <p:spPr>
          <a:xfrm>
            <a:off x="749808" y="2450592"/>
            <a:ext cx="274320" cy="274320"/>
          </a:xfrm>
          <a:prstGeom prst="ellipse">
            <a:avLst/>
          </a:prstGeom>
          <a:solidFill>
            <a:schemeClr val="accent4"/>
          </a:solidFill>
          <a:ln/>
        </p:spPr>
      </p:sp>
      <p:pic>
        <p:nvPicPr>
          <p:cNvPr id="11" name="check" descr="preencoded.png"/>
          <p:cNvPicPr>
            <a:picLocks noChangeAspect="1"/>
          </p:cNvPicPr>
          <p:nvPr/>
        </p:nvPicPr>
        <p:blipFill>
          <a:blip r:embed="rId4"/>
          <a:stretch>
            <a:fillRect/>
          </a:stretch>
        </p:blipFill>
        <p:spPr>
          <a:xfrm>
            <a:off x="815645" y="2516429"/>
            <a:ext cx="142646" cy="142646"/>
          </a:xfrm>
          <a:prstGeom prst="rect">
            <a:avLst/>
          </a:prstGeom>
        </p:spPr>
      </p:pic>
      <p:sp>
        <p:nvSpPr>
          <p:cNvPr id="12" name="Text 8"/>
          <p:cNvSpPr txBox="1"/>
          <p:nvPr/>
        </p:nvSpPr>
        <p:spPr>
          <a:xfrm>
            <a:off x="1143000" y="2377440"/>
            <a:ext cx="1920240" cy="658368"/>
          </a:xfrm>
          <a:prstGeom prst="rect">
            <a:avLst/>
          </a:prstGeom>
          <a:noFill/>
          <a:ln/>
        </p:spPr>
        <p:txBody>
          <a:bodyPr wrap="square" lIns="0" tIns="0" rIns="0" bIns="0" rtlCol="0" anchor="t"/>
          <a:lstStyle/>
          <a:p>
            <a:pPr marL="0" indent="0">
              <a:buNone/>
            </a:pPr>
            <a:r>
              <a:rPr lang="en-US" sz="1300" dirty="0">
                <a:solidFill>
                  <a:srgbClr val="132226"/>
                </a:solidFill>
              </a:rPr>
              <a:t>Route 53 persists outside the sandbox</a:t>
            </a:r>
            <a:endParaRPr lang="en-US" sz="1300" dirty="0"/>
          </a:p>
        </p:txBody>
      </p:sp>
      <p:sp>
        <p:nvSpPr>
          <p:cNvPr id="13" name="check circle"/>
          <p:cNvSpPr/>
          <p:nvPr/>
        </p:nvSpPr>
        <p:spPr>
          <a:xfrm>
            <a:off x="749808" y="3200400"/>
            <a:ext cx="274320" cy="274320"/>
          </a:xfrm>
          <a:prstGeom prst="ellipse">
            <a:avLst/>
          </a:prstGeom>
          <a:solidFill>
            <a:schemeClr val="accent4"/>
          </a:solidFill>
          <a:ln/>
        </p:spPr>
      </p:sp>
      <p:pic>
        <p:nvPicPr>
          <p:cNvPr id="14" name="check" descr="preencoded.png"/>
          <p:cNvPicPr>
            <a:picLocks noChangeAspect="1"/>
          </p:cNvPicPr>
          <p:nvPr/>
        </p:nvPicPr>
        <p:blipFill>
          <a:blip r:embed="rId4"/>
          <a:stretch>
            <a:fillRect/>
          </a:stretch>
        </p:blipFill>
        <p:spPr>
          <a:xfrm>
            <a:off x="815645" y="3266237"/>
            <a:ext cx="142646" cy="142646"/>
          </a:xfrm>
          <a:prstGeom prst="rect">
            <a:avLst/>
          </a:prstGeom>
        </p:spPr>
      </p:pic>
      <p:sp>
        <p:nvSpPr>
          <p:cNvPr id="15" name="Text 10"/>
          <p:cNvSpPr txBox="1"/>
          <p:nvPr/>
        </p:nvSpPr>
        <p:spPr>
          <a:xfrm>
            <a:off x="1143000" y="3127248"/>
            <a:ext cx="1920240" cy="658368"/>
          </a:xfrm>
          <a:prstGeom prst="rect">
            <a:avLst/>
          </a:prstGeom>
          <a:noFill/>
          <a:ln/>
        </p:spPr>
        <p:txBody>
          <a:bodyPr wrap="square" lIns="0" tIns="0" rIns="0" bIns="0" rtlCol="0" anchor="t"/>
          <a:lstStyle/>
          <a:p>
            <a:pPr marL="0" indent="0">
              <a:buNone/>
            </a:pPr>
            <a:r>
              <a:rPr lang="en-US" sz="1300" dirty="0">
                <a:solidFill>
                  <a:srgbClr val="132226"/>
                </a:solidFill>
              </a:rPr>
              <a:t>CloudFront terminates HTTPS</a:t>
            </a:r>
            <a:endParaRPr lang="en-US" sz="1300" dirty="0"/>
          </a:p>
        </p:txBody>
      </p:sp>
      <p:sp>
        <p:nvSpPr>
          <p:cNvPr id="16" name="check circle"/>
          <p:cNvSpPr/>
          <p:nvPr/>
        </p:nvSpPr>
        <p:spPr>
          <a:xfrm>
            <a:off x="749808" y="3950208"/>
            <a:ext cx="274320" cy="274320"/>
          </a:xfrm>
          <a:prstGeom prst="ellipse">
            <a:avLst/>
          </a:prstGeom>
          <a:solidFill>
            <a:schemeClr val="accent4"/>
          </a:solidFill>
          <a:ln/>
        </p:spPr>
      </p:sp>
      <p:pic>
        <p:nvPicPr>
          <p:cNvPr id="17" name="check" descr="preencoded.png"/>
          <p:cNvPicPr>
            <a:picLocks noChangeAspect="1"/>
          </p:cNvPicPr>
          <p:nvPr/>
        </p:nvPicPr>
        <p:blipFill>
          <a:blip r:embed="rId4"/>
          <a:stretch>
            <a:fillRect/>
          </a:stretch>
        </p:blipFill>
        <p:spPr>
          <a:xfrm>
            <a:off x="815645" y="4016045"/>
            <a:ext cx="142646" cy="142646"/>
          </a:xfrm>
          <a:prstGeom prst="rect">
            <a:avLst/>
          </a:prstGeom>
        </p:spPr>
      </p:pic>
      <p:sp>
        <p:nvSpPr>
          <p:cNvPr id="18" name="Text 12"/>
          <p:cNvSpPr txBox="1"/>
          <p:nvPr/>
        </p:nvSpPr>
        <p:spPr>
          <a:xfrm>
            <a:off x="1143000" y="3877056"/>
            <a:ext cx="1920240" cy="658368"/>
          </a:xfrm>
          <a:prstGeom prst="rect">
            <a:avLst/>
          </a:prstGeom>
          <a:noFill/>
          <a:ln/>
        </p:spPr>
        <p:txBody>
          <a:bodyPr wrap="square" lIns="0" tIns="0" rIns="0" bIns="0" rtlCol="0" anchor="t"/>
          <a:lstStyle/>
          <a:p>
            <a:pPr marL="0" indent="0">
              <a:buNone/>
            </a:pPr>
            <a:r>
              <a:rPr lang="en-US" sz="1300" dirty="0">
                <a:solidFill>
                  <a:srgbClr val="132226"/>
                </a:solidFill>
              </a:rPr>
              <a:t>WAF filters requests</a:t>
            </a:r>
            <a:endParaRPr lang="en-US" sz="1300" dirty="0"/>
          </a:p>
        </p:txBody>
      </p:sp>
      <p:sp>
        <p:nvSpPr>
          <p:cNvPr id="19" name="check circle"/>
          <p:cNvSpPr/>
          <p:nvPr/>
        </p:nvSpPr>
        <p:spPr>
          <a:xfrm>
            <a:off x="749808" y="4700016"/>
            <a:ext cx="274320" cy="274320"/>
          </a:xfrm>
          <a:prstGeom prst="ellipse">
            <a:avLst/>
          </a:prstGeom>
          <a:solidFill>
            <a:schemeClr val="accent4"/>
          </a:solidFill>
          <a:ln/>
        </p:spPr>
      </p:sp>
      <p:pic>
        <p:nvPicPr>
          <p:cNvPr id="20" name="check" descr="preencoded.png"/>
          <p:cNvPicPr>
            <a:picLocks noChangeAspect="1"/>
          </p:cNvPicPr>
          <p:nvPr/>
        </p:nvPicPr>
        <p:blipFill>
          <a:blip r:embed="rId4"/>
          <a:stretch>
            <a:fillRect/>
          </a:stretch>
        </p:blipFill>
        <p:spPr>
          <a:xfrm>
            <a:off x="815645" y="4765853"/>
            <a:ext cx="142646" cy="142646"/>
          </a:xfrm>
          <a:prstGeom prst="rect">
            <a:avLst/>
          </a:prstGeom>
        </p:spPr>
      </p:pic>
      <p:sp>
        <p:nvSpPr>
          <p:cNvPr id="21" name="Text 14"/>
          <p:cNvSpPr txBox="1"/>
          <p:nvPr/>
        </p:nvSpPr>
        <p:spPr>
          <a:xfrm>
            <a:off x="1143000" y="4626864"/>
            <a:ext cx="1920240" cy="658368"/>
          </a:xfrm>
          <a:prstGeom prst="rect">
            <a:avLst/>
          </a:prstGeom>
          <a:noFill/>
          <a:ln/>
        </p:spPr>
        <p:txBody>
          <a:bodyPr wrap="square" lIns="0" tIns="0" rIns="0" bIns="0" rtlCol="0" anchor="t"/>
          <a:lstStyle/>
          <a:p>
            <a:pPr marL="0" indent="0">
              <a:buNone/>
            </a:pPr>
            <a:r>
              <a:rPr lang="en-US" sz="1300" dirty="0">
                <a:solidFill>
                  <a:srgbClr val="132226"/>
                </a:solidFill>
              </a:rPr>
              <a:t>ALB accepts CloudFront origin only</a:t>
            </a:r>
            <a:endParaRPr lang="en-US" sz="1300" dirty="0"/>
          </a:p>
        </p:txBody>
      </p:sp>
      <p:sp>
        <p:nvSpPr>
          <p:cNvPr id="22" name="card"/>
          <p:cNvSpPr/>
          <p:nvPr/>
        </p:nvSpPr>
        <p:spPr>
          <a:xfrm>
            <a:off x="3364992" y="1463040"/>
            <a:ext cx="2633472" cy="4023360"/>
          </a:xfrm>
          <a:prstGeom prst="roundRect">
            <a:avLst>
              <a:gd name="adj" fmla="val 3472"/>
            </a:avLst>
          </a:prstGeom>
          <a:solidFill>
            <a:srgbClr val="FFFFFF"/>
          </a:solidFill>
          <a:ln/>
          <a:effectLst>
            <a:outerShdw blurRad="114300" dist="25400" dir="5400000" algn="bl" rotWithShape="0">
              <a:srgbClr val="0E3B43">
                <a:alpha val="13000"/>
              </a:srgbClr>
            </a:outerShdw>
          </a:effectLst>
        </p:spPr>
      </p:sp>
      <p:sp>
        <p:nvSpPr>
          <p:cNvPr id="23" name="Private runtime circle"/>
          <p:cNvSpPr/>
          <p:nvPr/>
        </p:nvSpPr>
        <p:spPr>
          <a:xfrm>
            <a:off x="3566160" y="1645920"/>
            <a:ext cx="530352" cy="530352"/>
          </a:xfrm>
          <a:prstGeom prst="ellipse">
            <a:avLst/>
          </a:prstGeom>
          <a:solidFill>
            <a:schemeClr val="accent1"/>
          </a:solidFill>
          <a:ln/>
        </p:spPr>
      </p:sp>
      <p:pic>
        <p:nvPicPr>
          <p:cNvPr id="24" name="Private runtime" descr="preencoded.png"/>
          <p:cNvPicPr>
            <a:picLocks noChangeAspect="1"/>
          </p:cNvPicPr>
          <p:nvPr/>
        </p:nvPicPr>
        <p:blipFill>
          <a:blip r:embed="rId5"/>
          <a:stretch>
            <a:fillRect/>
          </a:stretch>
        </p:blipFill>
        <p:spPr>
          <a:xfrm>
            <a:off x="3693444" y="1773204"/>
            <a:ext cx="275783" cy="275783"/>
          </a:xfrm>
          <a:prstGeom prst="rect">
            <a:avLst/>
          </a:prstGeom>
        </p:spPr>
      </p:pic>
      <p:sp>
        <p:nvSpPr>
          <p:cNvPr id="25" name="Text 17"/>
          <p:cNvSpPr txBox="1"/>
          <p:nvPr/>
        </p:nvSpPr>
        <p:spPr>
          <a:xfrm>
            <a:off x="4206240" y="1645920"/>
            <a:ext cx="1691640" cy="530352"/>
          </a:xfrm>
          <a:prstGeom prst="rect">
            <a:avLst/>
          </a:prstGeom>
          <a:noFill/>
          <a:ln/>
        </p:spPr>
        <p:txBody>
          <a:bodyPr wrap="square" lIns="0" tIns="0" rIns="0" bIns="0" rtlCol="0" anchor="ctr"/>
          <a:lstStyle/>
          <a:p>
            <a:pPr marL="0" indent="0">
              <a:buNone/>
            </a:pPr>
            <a:r>
              <a:rPr lang="en-US" sz="1600" b="1" dirty="0">
                <a:solidFill>
                  <a:srgbClr val="0E3B43"/>
                </a:solidFill>
                <a:latin typeface="+mj-lt" pitchFamily="34" charset="0"/>
                <a:ea typeface="+mj-lt" pitchFamily="34" charset="-122"/>
                <a:cs typeface="+mj-lt" pitchFamily="34" charset="-120"/>
              </a:rPr>
              <a:t>Private runtime</a:t>
            </a:r>
            <a:endParaRPr lang="en-US" sz="1600" dirty="0"/>
          </a:p>
        </p:txBody>
      </p:sp>
      <p:sp>
        <p:nvSpPr>
          <p:cNvPr id="26" name="check circle"/>
          <p:cNvSpPr/>
          <p:nvPr/>
        </p:nvSpPr>
        <p:spPr>
          <a:xfrm>
            <a:off x="3566160" y="2450592"/>
            <a:ext cx="274320" cy="274320"/>
          </a:xfrm>
          <a:prstGeom prst="ellipse">
            <a:avLst/>
          </a:prstGeom>
          <a:solidFill>
            <a:schemeClr val="accent1"/>
          </a:solidFill>
          <a:ln/>
        </p:spPr>
      </p:sp>
      <p:pic>
        <p:nvPicPr>
          <p:cNvPr id="27" name="check" descr="preencoded.png"/>
          <p:cNvPicPr>
            <a:picLocks noChangeAspect="1"/>
          </p:cNvPicPr>
          <p:nvPr/>
        </p:nvPicPr>
        <p:blipFill>
          <a:blip r:embed="rId4"/>
          <a:stretch>
            <a:fillRect/>
          </a:stretch>
        </p:blipFill>
        <p:spPr>
          <a:xfrm>
            <a:off x="3631997" y="2516429"/>
            <a:ext cx="142646" cy="142646"/>
          </a:xfrm>
          <a:prstGeom prst="rect">
            <a:avLst/>
          </a:prstGeom>
        </p:spPr>
      </p:pic>
      <p:sp>
        <p:nvSpPr>
          <p:cNvPr id="28" name="Text 19"/>
          <p:cNvSpPr txBox="1"/>
          <p:nvPr/>
        </p:nvSpPr>
        <p:spPr>
          <a:xfrm>
            <a:off x="3959352" y="2377440"/>
            <a:ext cx="1920240" cy="658368"/>
          </a:xfrm>
          <a:prstGeom prst="rect">
            <a:avLst/>
          </a:prstGeom>
          <a:noFill/>
          <a:ln/>
        </p:spPr>
        <p:txBody>
          <a:bodyPr wrap="square" lIns="0" tIns="0" rIns="0" bIns="0" rtlCol="0" anchor="t"/>
          <a:lstStyle/>
          <a:p>
            <a:pPr marL="0" indent="0">
              <a:buNone/>
            </a:pPr>
            <a:r>
              <a:rPr lang="en-US" sz="1300" dirty="0">
                <a:solidFill>
                  <a:srgbClr val="132226"/>
                </a:solidFill>
              </a:rPr>
              <a:t>ECS tasks have no public IP</a:t>
            </a:r>
            <a:endParaRPr lang="en-US" sz="1300" dirty="0"/>
          </a:p>
        </p:txBody>
      </p:sp>
      <p:sp>
        <p:nvSpPr>
          <p:cNvPr id="29" name="check circle"/>
          <p:cNvSpPr/>
          <p:nvPr/>
        </p:nvSpPr>
        <p:spPr>
          <a:xfrm>
            <a:off x="3566160" y="3200400"/>
            <a:ext cx="274320" cy="274320"/>
          </a:xfrm>
          <a:prstGeom prst="ellipse">
            <a:avLst/>
          </a:prstGeom>
          <a:solidFill>
            <a:schemeClr val="accent1"/>
          </a:solidFill>
          <a:ln/>
        </p:spPr>
      </p:sp>
      <p:pic>
        <p:nvPicPr>
          <p:cNvPr id="30" name="check" descr="preencoded.png"/>
          <p:cNvPicPr>
            <a:picLocks noChangeAspect="1"/>
          </p:cNvPicPr>
          <p:nvPr/>
        </p:nvPicPr>
        <p:blipFill>
          <a:blip r:embed="rId4"/>
          <a:stretch>
            <a:fillRect/>
          </a:stretch>
        </p:blipFill>
        <p:spPr>
          <a:xfrm>
            <a:off x="3631997" y="3266237"/>
            <a:ext cx="142646" cy="142646"/>
          </a:xfrm>
          <a:prstGeom prst="rect">
            <a:avLst/>
          </a:prstGeom>
        </p:spPr>
      </p:pic>
      <p:sp>
        <p:nvSpPr>
          <p:cNvPr id="31" name="Text 21"/>
          <p:cNvSpPr txBox="1"/>
          <p:nvPr/>
        </p:nvSpPr>
        <p:spPr>
          <a:xfrm>
            <a:off x="3959352" y="3127248"/>
            <a:ext cx="1920240" cy="658368"/>
          </a:xfrm>
          <a:prstGeom prst="rect">
            <a:avLst/>
          </a:prstGeom>
          <a:noFill/>
          <a:ln/>
        </p:spPr>
        <p:txBody>
          <a:bodyPr wrap="square" lIns="0" tIns="0" rIns="0" bIns="0" rtlCol="0" anchor="t"/>
          <a:lstStyle/>
          <a:p>
            <a:pPr marL="0" indent="0">
              <a:buNone/>
            </a:pPr>
            <a:r>
              <a:rPr lang="en-US" sz="1300" dirty="0">
                <a:solidFill>
                  <a:srgbClr val="132226"/>
                </a:solidFill>
              </a:rPr>
              <a:t>DB sits in private DB subnets</a:t>
            </a:r>
            <a:endParaRPr lang="en-US" sz="1300" dirty="0"/>
          </a:p>
        </p:txBody>
      </p:sp>
      <p:sp>
        <p:nvSpPr>
          <p:cNvPr id="32" name="check circle"/>
          <p:cNvSpPr/>
          <p:nvPr/>
        </p:nvSpPr>
        <p:spPr>
          <a:xfrm>
            <a:off x="3566160" y="3950208"/>
            <a:ext cx="274320" cy="274320"/>
          </a:xfrm>
          <a:prstGeom prst="ellipse">
            <a:avLst/>
          </a:prstGeom>
          <a:solidFill>
            <a:schemeClr val="accent1"/>
          </a:solidFill>
          <a:ln/>
        </p:spPr>
      </p:sp>
      <p:pic>
        <p:nvPicPr>
          <p:cNvPr id="33" name="check" descr="preencoded.png"/>
          <p:cNvPicPr>
            <a:picLocks noChangeAspect="1"/>
          </p:cNvPicPr>
          <p:nvPr/>
        </p:nvPicPr>
        <p:blipFill>
          <a:blip r:embed="rId4"/>
          <a:stretch>
            <a:fillRect/>
          </a:stretch>
        </p:blipFill>
        <p:spPr>
          <a:xfrm>
            <a:off x="3631997" y="4016045"/>
            <a:ext cx="142646" cy="142646"/>
          </a:xfrm>
          <a:prstGeom prst="rect">
            <a:avLst/>
          </a:prstGeom>
        </p:spPr>
      </p:pic>
      <p:sp>
        <p:nvSpPr>
          <p:cNvPr id="34" name="Text 23"/>
          <p:cNvSpPr txBox="1"/>
          <p:nvPr/>
        </p:nvSpPr>
        <p:spPr>
          <a:xfrm>
            <a:off x="3959352" y="3877056"/>
            <a:ext cx="1920240" cy="658368"/>
          </a:xfrm>
          <a:prstGeom prst="rect">
            <a:avLst/>
          </a:prstGeom>
          <a:noFill/>
          <a:ln/>
        </p:spPr>
        <p:txBody>
          <a:bodyPr wrap="square" lIns="0" tIns="0" rIns="0" bIns="0" rtlCol="0" anchor="t"/>
          <a:lstStyle/>
          <a:p>
            <a:pPr marL="0" indent="0">
              <a:buNone/>
            </a:pPr>
            <a:r>
              <a:rPr lang="en-US" sz="1300" dirty="0">
                <a:solidFill>
                  <a:srgbClr val="132226"/>
                </a:solidFill>
              </a:rPr>
              <a:t>ECS → DB only on 3306</a:t>
            </a:r>
            <a:endParaRPr lang="en-US" sz="1300" dirty="0"/>
          </a:p>
        </p:txBody>
      </p:sp>
      <p:sp>
        <p:nvSpPr>
          <p:cNvPr id="35" name="check circle"/>
          <p:cNvSpPr/>
          <p:nvPr/>
        </p:nvSpPr>
        <p:spPr>
          <a:xfrm>
            <a:off x="3566160" y="4700016"/>
            <a:ext cx="274320" cy="274320"/>
          </a:xfrm>
          <a:prstGeom prst="ellipse">
            <a:avLst/>
          </a:prstGeom>
          <a:solidFill>
            <a:schemeClr val="accent1"/>
          </a:solidFill>
          <a:ln/>
        </p:spPr>
      </p:sp>
      <p:pic>
        <p:nvPicPr>
          <p:cNvPr id="36" name="check" descr="preencoded.png"/>
          <p:cNvPicPr>
            <a:picLocks noChangeAspect="1"/>
          </p:cNvPicPr>
          <p:nvPr/>
        </p:nvPicPr>
        <p:blipFill>
          <a:blip r:embed="rId4"/>
          <a:stretch>
            <a:fillRect/>
          </a:stretch>
        </p:blipFill>
        <p:spPr>
          <a:xfrm>
            <a:off x="3631997" y="4765853"/>
            <a:ext cx="142646" cy="142646"/>
          </a:xfrm>
          <a:prstGeom prst="rect">
            <a:avLst/>
          </a:prstGeom>
        </p:spPr>
      </p:pic>
      <p:sp>
        <p:nvSpPr>
          <p:cNvPr id="37" name="Text 25"/>
          <p:cNvSpPr txBox="1"/>
          <p:nvPr/>
        </p:nvSpPr>
        <p:spPr>
          <a:xfrm>
            <a:off x="3959352" y="4626864"/>
            <a:ext cx="1920240" cy="658368"/>
          </a:xfrm>
          <a:prstGeom prst="rect">
            <a:avLst/>
          </a:prstGeom>
          <a:noFill/>
          <a:ln/>
        </p:spPr>
        <p:txBody>
          <a:bodyPr wrap="square" lIns="0" tIns="0" rIns="0" bIns="0" rtlCol="0" anchor="t"/>
          <a:lstStyle/>
          <a:p>
            <a:pPr marL="0" indent="0">
              <a:buNone/>
            </a:pPr>
            <a:r>
              <a:rPr lang="en-US" sz="1300" dirty="0">
                <a:solidFill>
                  <a:srgbClr val="132226"/>
                </a:solidFill>
              </a:rPr>
              <a:t>Secrets Manager supplies credentials</a:t>
            </a:r>
            <a:endParaRPr lang="en-US" sz="1300" dirty="0"/>
          </a:p>
        </p:txBody>
      </p:sp>
      <p:sp>
        <p:nvSpPr>
          <p:cNvPr id="38" name="card"/>
          <p:cNvSpPr/>
          <p:nvPr/>
        </p:nvSpPr>
        <p:spPr>
          <a:xfrm>
            <a:off x="6181344" y="1463040"/>
            <a:ext cx="2633472" cy="4023360"/>
          </a:xfrm>
          <a:prstGeom prst="roundRect">
            <a:avLst>
              <a:gd name="adj" fmla="val 3472"/>
            </a:avLst>
          </a:prstGeom>
          <a:solidFill>
            <a:srgbClr val="FFFFFF"/>
          </a:solidFill>
          <a:ln/>
          <a:effectLst>
            <a:outerShdw blurRad="114300" dist="25400" dir="5400000" algn="bl" rotWithShape="0">
              <a:srgbClr val="0E3B43">
                <a:alpha val="13000"/>
              </a:srgbClr>
            </a:outerShdw>
          </a:effectLst>
        </p:spPr>
      </p:sp>
      <p:sp>
        <p:nvSpPr>
          <p:cNvPr id="39" name="Identity circle"/>
          <p:cNvSpPr/>
          <p:nvPr/>
        </p:nvSpPr>
        <p:spPr>
          <a:xfrm>
            <a:off x="6382512" y="1645920"/>
            <a:ext cx="530352" cy="530352"/>
          </a:xfrm>
          <a:prstGeom prst="ellipse">
            <a:avLst/>
          </a:prstGeom>
          <a:solidFill>
            <a:schemeClr val="accent5"/>
          </a:solidFill>
          <a:ln/>
        </p:spPr>
      </p:sp>
      <p:pic>
        <p:nvPicPr>
          <p:cNvPr id="40" name="Identity" descr="preencoded.png"/>
          <p:cNvPicPr>
            <a:picLocks noChangeAspect="1"/>
          </p:cNvPicPr>
          <p:nvPr/>
        </p:nvPicPr>
        <p:blipFill>
          <a:blip r:embed="rId6"/>
          <a:stretch>
            <a:fillRect/>
          </a:stretch>
        </p:blipFill>
        <p:spPr>
          <a:xfrm>
            <a:off x="6509796" y="1773204"/>
            <a:ext cx="275783" cy="275783"/>
          </a:xfrm>
          <a:prstGeom prst="rect">
            <a:avLst/>
          </a:prstGeom>
        </p:spPr>
      </p:pic>
      <p:sp>
        <p:nvSpPr>
          <p:cNvPr id="41" name="Text 28"/>
          <p:cNvSpPr txBox="1"/>
          <p:nvPr/>
        </p:nvSpPr>
        <p:spPr>
          <a:xfrm>
            <a:off x="7022592" y="1645920"/>
            <a:ext cx="1691640" cy="530352"/>
          </a:xfrm>
          <a:prstGeom prst="rect">
            <a:avLst/>
          </a:prstGeom>
          <a:noFill/>
          <a:ln/>
        </p:spPr>
        <p:txBody>
          <a:bodyPr wrap="square" lIns="0" tIns="0" rIns="0" bIns="0" rtlCol="0" anchor="ctr"/>
          <a:lstStyle/>
          <a:p>
            <a:pPr marL="0" indent="0">
              <a:buNone/>
            </a:pPr>
            <a:r>
              <a:rPr lang="en-US" sz="1600" b="1" dirty="0">
                <a:solidFill>
                  <a:srgbClr val="0E3B43"/>
                </a:solidFill>
                <a:latin typeface="+mj-lt" pitchFamily="34" charset="0"/>
                <a:ea typeface="+mj-lt" pitchFamily="34" charset="-122"/>
                <a:cs typeface="+mj-lt" pitchFamily="34" charset="-120"/>
              </a:rPr>
              <a:t>Identity</a:t>
            </a:r>
            <a:endParaRPr lang="en-US" sz="1600" dirty="0"/>
          </a:p>
        </p:txBody>
      </p:sp>
      <p:sp>
        <p:nvSpPr>
          <p:cNvPr id="42" name="check circle"/>
          <p:cNvSpPr/>
          <p:nvPr/>
        </p:nvSpPr>
        <p:spPr>
          <a:xfrm>
            <a:off x="6382512" y="2450592"/>
            <a:ext cx="274320" cy="274320"/>
          </a:xfrm>
          <a:prstGeom prst="ellipse">
            <a:avLst/>
          </a:prstGeom>
          <a:solidFill>
            <a:schemeClr val="accent5"/>
          </a:solidFill>
          <a:ln/>
        </p:spPr>
      </p:sp>
      <p:pic>
        <p:nvPicPr>
          <p:cNvPr id="43" name="check" descr="preencoded.png"/>
          <p:cNvPicPr>
            <a:picLocks noChangeAspect="1"/>
          </p:cNvPicPr>
          <p:nvPr/>
        </p:nvPicPr>
        <p:blipFill>
          <a:blip r:embed="rId4"/>
          <a:stretch>
            <a:fillRect/>
          </a:stretch>
        </p:blipFill>
        <p:spPr>
          <a:xfrm>
            <a:off x="6448349" y="2516429"/>
            <a:ext cx="142646" cy="142646"/>
          </a:xfrm>
          <a:prstGeom prst="rect">
            <a:avLst/>
          </a:prstGeom>
        </p:spPr>
      </p:pic>
      <p:sp>
        <p:nvSpPr>
          <p:cNvPr id="44" name="Text 30"/>
          <p:cNvSpPr txBox="1"/>
          <p:nvPr/>
        </p:nvSpPr>
        <p:spPr>
          <a:xfrm>
            <a:off x="6775704" y="2377440"/>
            <a:ext cx="1920240" cy="658368"/>
          </a:xfrm>
          <a:prstGeom prst="rect">
            <a:avLst/>
          </a:prstGeom>
          <a:noFill/>
          <a:ln/>
        </p:spPr>
        <p:txBody>
          <a:bodyPr wrap="square" lIns="0" tIns="0" rIns="0" bIns="0" rtlCol="0" anchor="t"/>
          <a:lstStyle/>
          <a:p>
            <a:pPr marL="0" indent="0">
              <a:buNone/>
            </a:pPr>
            <a:r>
              <a:rPr lang="en-US" sz="1300" dirty="0">
                <a:solidFill>
                  <a:srgbClr val="132226"/>
                </a:solidFill>
              </a:rPr>
              <a:t>GitHub OIDC → temporary STS credentials</a:t>
            </a:r>
            <a:endParaRPr lang="en-US" sz="1300" dirty="0"/>
          </a:p>
        </p:txBody>
      </p:sp>
      <p:sp>
        <p:nvSpPr>
          <p:cNvPr id="45" name="check circle"/>
          <p:cNvSpPr/>
          <p:nvPr/>
        </p:nvSpPr>
        <p:spPr>
          <a:xfrm>
            <a:off x="6382512" y="3200400"/>
            <a:ext cx="274320" cy="274320"/>
          </a:xfrm>
          <a:prstGeom prst="ellipse">
            <a:avLst/>
          </a:prstGeom>
          <a:solidFill>
            <a:schemeClr val="accent5"/>
          </a:solidFill>
          <a:ln/>
        </p:spPr>
      </p:sp>
      <p:pic>
        <p:nvPicPr>
          <p:cNvPr id="46" name="check" descr="preencoded.png"/>
          <p:cNvPicPr>
            <a:picLocks noChangeAspect="1"/>
          </p:cNvPicPr>
          <p:nvPr/>
        </p:nvPicPr>
        <p:blipFill>
          <a:blip r:embed="rId4"/>
          <a:stretch>
            <a:fillRect/>
          </a:stretch>
        </p:blipFill>
        <p:spPr>
          <a:xfrm>
            <a:off x="6448349" y="3266237"/>
            <a:ext cx="142646" cy="142646"/>
          </a:xfrm>
          <a:prstGeom prst="rect">
            <a:avLst/>
          </a:prstGeom>
        </p:spPr>
      </p:pic>
      <p:sp>
        <p:nvSpPr>
          <p:cNvPr id="47" name="Text 32"/>
          <p:cNvSpPr txBox="1"/>
          <p:nvPr/>
        </p:nvSpPr>
        <p:spPr>
          <a:xfrm>
            <a:off x="6775704" y="3127248"/>
            <a:ext cx="1920240" cy="658368"/>
          </a:xfrm>
          <a:prstGeom prst="rect">
            <a:avLst/>
          </a:prstGeom>
          <a:noFill/>
          <a:ln/>
        </p:spPr>
        <p:txBody>
          <a:bodyPr wrap="square" lIns="0" tIns="0" rIns="0" bIns="0" rtlCol="0" anchor="t"/>
          <a:lstStyle/>
          <a:p>
            <a:pPr marL="0" indent="0">
              <a:buNone/>
            </a:pPr>
            <a:r>
              <a:rPr lang="en-US" sz="1300" dirty="0">
                <a:solidFill>
                  <a:srgbClr val="132226"/>
                </a:solidFill>
              </a:rPr>
              <a:t>No static AWS deployment keys</a:t>
            </a:r>
            <a:endParaRPr lang="en-US" sz="1300" dirty="0"/>
          </a:p>
        </p:txBody>
      </p:sp>
      <p:sp>
        <p:nvSpPr>
          <p:cNvPr id="48" name="check circle"/>
          <p:cNvSpPr/>
          <p:nvPr/>
        </p:nvSpPr>
        <p:spPr>
          <a:xfrm>
            <a:off x="6382512" y="3950208"/>
            <a:ext cx="274320" cy="274320"/>
          </a:xfrm>
          <a:prstGeom prst="ellipse">
            <a:avLst/>
          </a:prstGeom>
          <a:solidFill>
            <a:schemeClr val="accent5"/>
          </a:solidFill>
          <a:ln/>
        </p:spPr>
      </p:sp>
      <p:pic>
        <p:nvPicPr>
          <p:cNvPr id="49" name="check" descr="preencoded.png"/>
          <p:cNvPicPr>
            <a:picLocks noChangeAspect="1"/>
          </p:cNvPicPr>
          <p:nvPr/>
        </p:nvPicPr>
        <p:blipFill>
          <a:blip r:embed="rId4"/>
          <a:stretch>
            <a:fillRect/>
          </a:stretch>
        </p:blipFill>
        <p:spPr>
          <a:xfrm>
            <a:off x="6448349" y="4016045"/>
            <a:ext cx="142646" cy="142646"/>
          </a:xfrm>
          <a:prstGeom prst="rect">
            <a:avLst/>
          </a:prstGeom>
        </p:spPr>
      </p:pic>
      <p:sp>
        <p:nvSpPr>
          <p:cNvPr id="50" name="Text 34"/>
          <p:cNvSpPr txBox="1"/>
          <p:nvPr/>
        </p:nvSpPr>
        <p:spPr>
          <a:xfrm>
            <a:off x="6775704" y="3877056"/>
            <a:ext cx="1920240" cy="658368"/>
          </a:xfrm>
          <a:prstGeom prst="rect">
            <a:avLst/>
          </a:prstGeom>
          <a:noFill/>
          <a:ln/>
        </p:spPr>
        <p:txBody>
          <a:bodyPr wrap="square" lIns="0" tIns="0" rIns="0" bIns="0" rtlCol="0" anchor="t"/>
          <a:lstStyle/>
          <a:p>
            <a:pPr marL="0" indent="0">
              <a:buNone/>
            </a:pPr>
            <a:r>
              <a:rPr lang="en-US" sz="1300" dirty="0">
                <a:solidFill>
                  <a:srgbClr val="132226"/>
                </a:solidFill>
              </a:rPr>
              <a:t>Cognito issues access tokens</a:t>
            </a:r>
            <a:endParaRPr lang="en-US" sz="1300" dirty="0"/>
          </a:p>
        </p:txBody>
      </p:sp>
      <p:sp>
        <p:nvSpPr>
          <p:cNvPr id="51" name="check circle"/>
          <p:cNvSpPr/>
          <p:nvPr/>
        </p:nvSpPr>
        <p:spPr>
          <a:xfrm>
            <a:off x="6382512" y="4700016"/>
            <a:ext cx="274320" cy="274320"/>
          </a:xfrm>
          <a:prstGeom prst="ellipse">
            <a:avLst/>
          </a:prstGeom>
          <a:solidFill>
            <a:schemeClr val="accent5"/>
          </a:solidFill>
          <a:ln/>
        </p:spPr>
      </p:sp>
      <p:pic>
        <p:nvPicPr>
          <p:cNvPr id="52" name="check" descr="preencoded.png"/>
          <p:cNvPicPr>
            <a:picLocks noChangeAspect="1"/>
          </p:cNvPicPr>
          <p:nvPr/>
        </p:nvPicPr>
        <p:blipFill>
          <a:blip r:embed="rId4"/>
          <a:stretch>
            <a:fillRect/>
          </a:stretch>
        </p:blipFill>
        <p:spPr>
          <a:xfrm>
            <a:off x="6448349" y="4765853"/>
            <a:ext cx="142646" cy="142646"/>
          </a:xfrm>
          <a:prstGeom prst="rect">
            <a:avLst/>
          </a:prstGeom>
        </p:spPr>
      </p:pic>
      <p:sp>
        <p:nvSpPr>
          <p:cNvPr id="53" name="Text 36"/>
          <p:cNvSpPr txBox="1"/>
          <p:nvPr/>
        </p:nvSpPr>
        <p:spPr>
          <a:xfrm>
            <a:off x="6775704" y="4626864"/>
            <a:ext cx="1920240" cy="658368"/>
          </a:xfrm>
          <a:prstGeom prst="rect">
            <a:avLst/>
          </a:prstGeom>
          <a:noFill/>
          <a:ln/>
        </p:spPr>
        <p:txBody>
          <a:bodyPr wrap="square" lIns="0" tIns="0" rIns="0" bIns="0" rtlCol="0" anchor="t"/>
          <a:lstStyle/>
          <a:p>
            <a:pPr marL="0" indent="0">
              <a:buNone/>
            </a:pPr>
            <a:r>
              <a:rPr lang="en-US" sz="1300" dirty="0">
                <a:solidFill>
                  <a:srgbClr val="132226"/>
                </a:solidFill>
              </a:rPr>
              <a:t>JWT protects application routes</a:t>
            </a:r>
            <a:endParaRPr lang="en-US" sz="1300" dirty="0"/>
          </a:p>
        </p:txBody>
      </p:sp>
      <p:sp>
        <p:nvSpPr>
          <p:cNvPr id="54" name="card"/>
          <p:cNvSpPr/>
          <p:nvPr/>
        </p:nvSpPr>
        <p:spPr>
          <a:xfrm>
            <a:off x="8997696" y="1463040"/>
            <a:ext cx="2633472" cy="4023360"/>
          </a:xfrm>
          <a:prstGeom prst="roundRect">
            <a:avLst>
              <a:gd name="adj" fmla="val 3472"/>
            </a:avLst>
          </a:prstGeom>
          <a:solidFill>
            <a:srgbClr val="FFFFFF"/>
          </a:solidFill>
          <a:ln/>
          <a:effectLst>
            <a:outerShdw blurRad="114300" dist="25400" dir="5400000" algn="bl" rotWithShape="0">
              <a:srgbClr val="0E3B43">
                <a:alpha val="13000"/>
              </a:srgbClr>
            </a:outerShdw>
          </a:effectLst>
        </p:spPr>
      </p:sp>
      <p:sp>
        <p:nvSpPr>
          <p:cNvPr id="55" name="Ownership circle"/>
          <p:cNvSpPr/>
          <p:nvPr/>
        </p:nvSpPr>
        <p:spPr>
          <a:xfrm>
            <a:off x="9198864" y="1645920"/>
            <a:ext cx="530352" cy="530352"/>
          </a:xfrm>
          <a:prstGeom prst="ellipse">
            <a:avLst/>
          </a:prstGeom>
          <a:solidFill>
            <a:schemeClr val="accent3"/>
          </a:solidFill>
          <a:ln/>
        </p:spPr>
      </p:sp>
      <p:pic>
        <p:nvPicPr>
          <p:cNvPr id="56" name="Ownership" descr="preencoded.png"/>
          <p:cNvPicPr>
            <a:picLocks noChangeAspect="1"/>
          </p:cNvPicPr>
          <p:nvPr/>
        </p:nvPicPr>
        <p:blipFill>
          <a:blip r:embed="rId7"/>
          <a:stretch>
            <a:fillRect/>
          </a:stretch>
        </p:blipFill>
        <p:spPr>
          <a:xfrm>
            <a:off x="9326148" y="1773204"/>
            <a:ext cx="275783" cy="275783"/>
          </a:xfrm>
          <a:prstGeom prst="rect">
            <a:avLst/>
          </a:prstGeom>
        </p:spPr>
      </p:pic>
      <p:sp>
        <p:nvSpPr>
          <p:cNvPr id="57" name="Text 39"/>
          <p:cNvSpPr txBox="1"/>
          <p:nvPr/>
        </p:nvSpPr>
        <p:spPr>
          <a:xfrm>
            <a:off x="9838944" y="1645920"/>
            <a:ext cx="1691640" cy="530352"/>
          </a:xfrm>
          <a:prstGeom prst="rect">
            <a:avLst/>
          </a:prstGeom>
          <a:noFill/>
          <a:ln/>
        </p:spPr>
        <p:txBody>
          <a:bodyPr wrap="square" lIns="0" tIns="0" rIns="0" bIns="0" rtlCol="0" anchor="ctr"/>
          <a:lstStyle/>
          <a:p>
            <a:pPr marL="0" indent="0">
              <a:buNone/>
            </a:pPr>
            <a:r>
              <a:rPr lang="en-US" sz="1600" b="1" dirty="0">
                <a:solidFill>
                  <a:srgbClr val="0E3B43"/>
                </a:solidFill>
                <a:latin typeface="+mj-lt" pitchFamily="34" charset="0"/>
                <a:ea typeface="+mj-lt" pitchFamily="34" charset="-122"/>
                <a:cs typeface="+mj-lt" pitchFamily="34" charset="-120"/>
              </a:rPr>
              <a:t>Ownership</a:t>
            </a:r>
            <a:endParaRPr lang="en-US" sz="1600" dirty="0"/>
          </a:p>
        </p:txBody>
      </p:sp>
      <p:sp>
        <p:nvSpPr>
          <p:cNvPr id="58" name="check circle"/>
          <p:cNvSpPr/>
          <p:nvPr/>
        </p:nvSpPr>
        <p:spPr>
          <a:xfrm>
            <a:off x="9198864" y="2450592"/>
            <a:ext cx="274320" cy="274320"/>
          </a:xfrm>
          <a:prstGeom prst="ellipse">
            <a:avLst/>
          </a:prstGeom>
          <a:solidFill>
            <a:schemeClr val="accent3"/>
          </a:solidFill>
          <a:ln/>
        </p:spPr>
      </p:sp>
      <p:pic>
        <p:nvPicPr>
          <p:cNvPr id="59" name="check" descr="preencoded.png"/>
          <p:cNvPicPr>
            <a:picLocks noChangeAspect="1"/>
          </p:cNvPicPr>
          <p:nvPr/>
        </p:nvPicPr>
        <p:blipFill>
          <a:blip r:embed="rId4"/>
          <a:stretch>
            <a:fillRect/>
          </a:stretch>
        </p:blipFill>
        <p:spPr>
          <a:xfrm>
            <a:off x="9264701" y="2516429"/>
            <a:ext cx="142646" cy="142646"/>
          </a:xfrm>
          <a:prstGeom prst="rect">
            <a:avLst/>
          </a:prstGeom>
        </p:spPr>
      </p:pic>
      <p:sp>
        <p:nvSpPr>
          <p:cNvPr id="60" name="Text 41"/>
          <p:cNvSpPr txBox="1"/>
          <p:nvPr/>
        </p:nvSpPr>
        <p:spPr>
          <a:xfrm>
            <a:off x="9592056" y="2377440"/>
            <a:ext cx="1920240" cy="658368"/>
          </a:xfrm>
          <a:prstGeom prst="rect">
            <a:avLst/>
          </a:prstGeom>
          <a:noFill/>
          <a:ln/>
        </p:spPr>
        <p:txBody>
          <a:bodyPr wrap="square" lIns="0" tIns="0" rIns="0" bIns="0" rtlCol="0" anchor="t"/>
          <a:lstStyle/>
          <a:p>
            <a:pPr marL="0" indent="0">
              <a:buNone/>
            </a:pPr>
            <a:r>
              <a:rPr lang="en-US" sz="1300" dirty="0">
                <a:solidFill>
                  <a:srgbClr val="132226"/>
                </a:solidFill>
              </a:rPr>
              <a:t>HCP Terraform → infrastructure &amp; state</a:t>
            </a:r>
            <a:endParaRPr lang="en-US" sz="1300" dirty="0"/>
          </a:p>
        </p:txBody>
      </p:sp>
      <p:sp>
        <p:nvSpPr>
          <p:cNvPr id="61" name="check circle"/>
          <p:cNvSpPr/>
          <p:nvPr/>
        </p:nvSpPr>
        <p:spPr>
          <a:xfrm>
            <a:off x="9198864" y="3200400"/>
            <a:ext cx="274320" cy="274320"/>
          </a:xfrm>
          <a:prstGeom prst="ellipse">
            <a:avLst/>
          </a:prstGeom>
          <a:solidFill>
            <a:schemeClr val="accent3"/>
          </a:solidFill>
          <a:ln/>
        </p:spPr>
      </p:sp>
      <p:pic>
        <p:nvPicPr>
          <p:cNvPr id="62" name="check" descr="preencoded.png"/>
          <p:cNvPicPr>
            <a:picLocks noChangeAspect="1"/>
          </p:cNvPicPr>
          <p:nvPr/>
        </p:nvPicPr>
        <p:blipFill>
          <a:blip r:embed="rId4"/>
          <a:stretch>
            <a:fillRect/>
          </a:stretch>
        </p:blipFill>
        <p:spPr>
          <a:xfrm>
            <a:off x="9264701" y="3266237"/>
            <a:ext cx="142646" cy="142646"/>
          </a:xfrm>
          <a:prstGeom prst="rect">
            <a:avLst/>
          </a:prstGeom>
        </p:spPr>
      </p:pic>
      <p:sp>
        <p:nvSpPr>
          <p:cNvPr id="63" name="Text 43"/>
          <p:cNvSpPr txBox="1"/>
          <p:nvPr/>
        </p:nvSpPr>
        <p:spPr>
          <a:xfrm>
            <a:off x="9592056" y="3127248"/>
            <a:ext cx="1920240" cy="658368"/>
          </a:xfrm>
          <a:prstGeom prst="rect">
            <a:avLst/>
          </a:prstGeom>
          <a:noFill/>
          <a:ln/>
        </p:spPr>
        <p:txBody>
          <a:bodyPr wrap="square" lIns="0" tIns="0" rIns="0" bIns="0" rtlCol="0" anchor="t"/>
          <a:lstStyle/>
          <a:p>
            <a:pPr marL="0" indent="0">
              <a:buNone/>
            </a:pPr>
            <a:r>
              <a:rPr lang="en-US" sz="1300" dirty="0">
                <a:solidFill>
                  <a:srgbClr val="132226"/>
                </a:solidFill>
              </a:rPr>
              <a:t>GitHub Actions → releases</a:t>
            </a:r>
            <a:endParaRPr lang="en-US" sz="1300" dirty="0"/>
          </a:p>
        </p:txBody>
      </p:sp>
      <p:sp>
        <p:nvSpPr>
          <p:cNvPr id="64" name="check circle"/>
          <p:cNvSpPr/>
          <p:nvPr/>
        </p:nvSpPr>
        <p:spPr>
          <a:xfrm>
            <a:off x="9198864" y="3950208"/>
            <a:ext cx="274320" cy="274320"/>
          </a:xfrm>
          <a:prstGeom prst="ellipse">
            <a:avLst/>
          </a:prstGeom>
          <a:solidFill>
            <a:schemeClr val="accent3"/>
          </a:solidFill>
          <a:ln/>
        </p:spPr>
      </p:sp>
      <p:pic>
        <p:nvPicPr>
          <p:cNvPr id="65" name="check" descr="preencoded.png"/>
          <p:cNvPicPr>
            <a:picLocks noChangeAspect="1"/>
          </p:cNvPicPr>
          <p:nvPr/>
        </p:nvPicPr>
        <p:blipFill>
          <a:blip r:embed="rId4"/>
          <a:stretch>
            <a:fillRect/>
          </a:stretch>
        </p:blipFill>
        <p:spPr>
          <a:xfrm>
            <a:off x="9264701" y="4016045"/>
            <a:ext cx="142646" cy="142646"/>
          </a:xfrm>
          <a:prstGeom prst="rect">
            <a:avLst/>
          </a:prstGeom>
        </p:spPr>
      </p:pic>
      <p:sp>
        <p:nvSpPr>
          <p:cNvPr id="66" name="Text 45"/>
          <p:cNvSpPr txBox="1"/>
          <p:nvPr/>
        </p:nvSpPr>
        <p:spPr>
          <a:xfrm>
            <a:off x="9592056" y="3877056"/>
            <a:ext cx="1920240" cy="658368"/>
          </a:xfrm>
          <a:prstGeom prst="rect">
            <a:avLst/>
          </a:prstGeom>
          <a:noFill/>
          <a:ln/>
        </p:spPr>
        <p:txBody>
          <a:bodyPr wrap="square" lIns="0" tIns="0" rIns="0" bIns="0" rtlCol="0" anchor="t"/>
          <a:lstStyle/>
          <a:p>
            <a:pPr marL="0" indent="0">
              <a:buNone/>
            </a:pPr>
            <a:r>
              <a:rPr lang="en-US" sz="1300" dirty="0">
                <a:solidFill>
                  <a:srgbClr val="132226"/>
                </a:solidFill>
              </a:rPr>
              <a:t>Auto Scaling → live desired count</a:t>
            </a:r>
            <a:endParaRPr lang="en-US" sz="1300" dirty="0"/>
          </a:p>
        </p:txBody>
      </p:sp>
      <p:sp>
        <p:nvSpPr>
          <p:cNvPr id="67" name="check circle"/>
          <p:cNvSpPr/>
          <p:nvPr/>
        </p:nvSpPr>
        <p:spPr>
          <a:xfrm>
            <a:off x="9198864" y="4700016"/>
            <a:ext cx="274320" cy="274320"/>
          </a:xfrm>
          <a:prstGeom prst="ellipse">
            <a:avLst/>
          </a:prstGeom>
          <a:solidFill>
            <a:schemeClr val="accent3"/>
          </a:solidFill>
          <a:ln/>
        </p:spPr>
      </p:sp>
      <p:pic>
        <p:nvPicPr>
          <p:cNvPr id="68" name="check" descr="preencoded.png"/>
          <p:cNvPicPr>
            <a:picLocks noChangeAspect="1"/>
          </p:cNvPicPr>
          <p:nvPr/>
        </p:nvPicPr>
        <p:blipFill>
          <a:blip r:embed="rId4"/>
          <a:stretch>
            <a:fillRect/>
          </a:stretch>
        </p:blipFill>
        <p:spPr>
          <a:xfrm>
            <a:off x="9264701" y="4765853"/>
            <a:ext cx="142646" cy="142646"/>
          </a:xfrm>
          <a:prstGeom prst="rect">
            <a:avLst/>
          </a:prstGeom>
        </p:spPr>
      </p:pic>
      <p:sp>
        <p:nvSpPr>
          <p:cNvPr id="69" name="Text 47"/>
          <p:cNvSpPr txBox="1"/>
          <p:nvPr/>
        </p:nvSpPr>
        <p:spPr>
          <a:xfrm>
            <a:off x="9592056" y="4626864"/>
            <a:ext cx="1920240" cy="658368"/>
          </a:xfrm>
          <a:prstGeom prst="rect">
            <a:avLst/>
          </a:prstGeom>
          <a:noFill/>
          <a:ln/>
        </p:spPr>
        <p:txBody>
          <a:bodyPr wrap="square" lIns="0" tIns="0" rIns="0" bIns="0" rtlCol="0" anchor="t"/>
          <a:lstStyle/>
          <a:p>
            <a:pPr marL="0" indent="0">
              <a:buNone/>
            </a:pPr>
            <a:r>
              <a:rPr lang="en-US" sz="1300" dirty="0">
                <a:solidFill>
                  <a:srgbClr val="132226"/>
                </a:solidFill>
              </a:rPr>
              <a:t>Recovery workflow → rebuild, data, DNS</a:t>
            </a:r>
            <a:endParaRPr lang="en-US" sz="1300" dirty="0"/>
          </a:p>
        </p:txBody>
      </p:sp>
      <p:sp>
        <p:nvSpPr>
          <p:cNvPr id="70" name="core path"/>
          <p:cNvSpPr/>
          <p:nvPr/>
        </p:nvSpPr>
        <p:spPr>
          <a:xfrm>
            <a:off x="548640" y="5669280"/>
            <a:ext cx="11091672" cy="502920"/>
          </a:xfrm>
          <a:prstGeom prst="roundRect">
            <a:avLst>
              <a:gd name="adj" fmla="val 14545"/>
            </a:avLst>
          </a:prstGeom>
          <a:solidFill>
            <a:schemeClr val="tx2"/>
          </a:solidFill>
          <a:ln/>
        </p:spPr>
      </p:sp>
      <p:sp>
        <p:nvSpPr>
          <p:cNvPr id="71" name="Text 49"/>
          <p:cNvSpPr txBox="1"/>
          <p:nvPr/>
        </p:nvSpPr>
        <p:spPr>
          <a:xfrm>
            <a:off x="777240" y="5669280"/>
            <a:ext cx="10698480" cy="502920"/>
          </a:xfrm>
          <a:prstGeom prst="rect">
            <a:avLst/>
          </a:prstGeom>
          <a:noFill/>
          <a:ln/>
        </p:spPr>
        <p:txBody>
          <a:bodyPr wrap="square" lIns="0" tIns="0" rIns="0" bIns="0" rtlCol="0" anchor="ctr"/>
          <a:lstStyle/>
          <a:p>
            <a:pPr marL="0" indent="0">
              <a:buNone/>
            </a:pPr>
            <a:r>
              <a:rPr lang="en-US" sz="1500" b="1" dirty="0">
                <a:solidFill>
                  <a:srgbClr val="F2A541"/>
                </a:solidFill>
              </a:rPr>
              <a:t>Core security path:  </a:t>
            </a:r>
            <a:r>
              <a:rPr lang="en-US" sz="1500" dirty="0">
                <a:solidFill>
                  <a:srgbClr val="FFFFFF"/>
                </a:solidFill>
              </a:rPr>
              <a:t>Internet → CloudFront / WAF → ALB → ECS → MariaDB</a:t>
            </a:r>
            <a:endParaRPr lang="en-US" sz="1500" dirty="0"/>
          </a:p>
        </p:txBody>
      </p:sp>
      <p:sp>
        <p:nvSpPr>
          <p:cNvPr id="72"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Evidence — tested, not just configured</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The project includes controlled success, failure and recovery validation across the stack.</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Validation</a:t>
            </a:r>
            <a:endParaRPr lang="en-US" sz="1200" dirty="0"/>
          </a:p>
        </p:txBody>
      </p:sp>
      <p:sp>
        <p:nvSpPr>
          <p:cNvPr id="6" name="card"/>
          <p:cNvSpPr/>
          <p:nvPr/>
        </p:nvSpPr>
        <p:spPr>
          <a:xfrm>
            <a:off x="548640" y="1463040"/>
            <a:ext cx="3575304"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7" name="accent"/>
          <p:cNvSpPr/>
          <p:nvPr/>
        </p:nvSpPr>
        <p:spPr>
          <a:xfrm>
            <a:off x="548640" y="1572768"/>
            <a:ext cx="73152" cy="1225296"/>
          </a:xfrm>
          <a:prstGeom prst="rect">
            <a:avLst/>
          </a:prstGeom>
          <a:solidFill>
            <a:srgbClr val="1F9A82"/>
          </a:solidFill>
          <a:ln/>
        </p:spPr>
      </p:sp>
      <p:sp>
        <p:nvSpPr>
          <p:cNvPr id="8" name="Text 6"/>
          <p:cNvSpPr txBox="1"/>
          <p:nvPr/>
        </p:nvSpPr>
        <p:spPr>
          <a:xfrm>
            <a:off x="822960" y="1627632"/>
            <a:ext cx="3154680" cy="548640"/>
          </a:xfrm>
          <a:prstGeom prst="rect">
            <a:avLst/>
          </a:prstGeom>
          <a:noFill/>
          <a:ln/>
        </p:spPr>
        <p:txBody>
          <a:bodyPr wrap="square" lIns="0" tIns="0" rIns="0" bIns="0" rtlCol="0" anchor="ctr"/>
          <a:lstStyle/>
          <a:p>
            <a:pPr marL="0" indent="0">
              <a:buNone/>
            </a:pPr>
            <a:r>
              <a:rPr lang="en-US" sz="2600" b="1" dirty="0">
                <a:solidFill>
                  <a:srgbClr val="1F9A82"/>
                </a:solidFill>
                <a:latin typeface="+mj-lt" pitchFamily="34" charset="0"/>
                <a:ea typeface="+mj-lt" pitchFamily="34" charset="-122"/>
                <a:cs typeface="+mj-lt" pitchFamily="34" charset="-120"/>
              </a:rPr>
              <a:t>HTTP 200</a:t>
            </a:r>
            <a:endParaRPr lang="en-US" sz="2600" dirty="0"/>
          </a:p>
        </p:txBody>
      </p:sp>
      <p:sp>
        <p:nvSpPr>
          <p:cNvPr id="9" name="Text 7"/>
          <p:cNvSpPr txBox="1"/>
          <p:nvPr/>
        </p:nvSpPr>
        <p:spPr>
          <a:xfrm>
            <a:off x="822960" y="2240280"/>
            <a:ext cx="3154680" cy="548640"/>
          </a:xfrm>
          <a:prstGeom prst="rect">
            <a:avLst/>
          </a:prstGeom>
          <a:noFill/>
          <a:ln/>
        </p:spPr>
        <p:txBody>
          <a:bodyPr wrap="square" lIns="0" tIns="0" rIns="0" bIns="0" rtlCol="0" anchor="t"/>
          <a:lstStyle/>
          <a:p>
            <a:pPr marL="0" indent="0">
              <a:buNone/>
            </a:pPr>
            <a:r>
              <a:rPr lang="en-US" sz="1400" dirty="0">
                <a:solidFill>
                  <a:srgbClr val="4A5B5E"/>
                </a:solidFill>
              </a:rPr>
              <a:t>Public /health through CloudFront</a:t>
            </a:r>
            <a:endParaRPr lang="en-US" sz="1400" dirty="0"/>
          </a:p>
        </p:txBody>
      </p:sp>
      <p:sp>
        <p:nvSpPr>
          <p:cNvPr id="10" name="card"/>
          <p:cNvSpPr/>
          <p:nvPr/>
        </p:nvSpPr>
        <p:spPr>
          <a:xfrm>
            <a:off x="4306824" y="1463040"/>
            <a:ext cx="3575304"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11" name="accent"/>
          <p:cNvSpPr/>
          <p:nvPr/>
        </p:nvSpPr>
        <p:spPr>
          <a:xfrm>
            <a:off x="4306824" y="1572768"/>
            <a:ext cx="73152" cy="1225296"/>
          </a:xfrm>
          <a:prstGeom prst="rect">
            <a:avLst/>
          </a:prstGeom>
          <a:solidFill>
            <a:srgbClr val="D9482B"/>
          </a:solidFill>
          <a:ln/>
        </p:spPr>
      </p:sp>
      <p:sp>
        <p:nvSpPr>
          <p:cNvPr id="12" name="Text 10"/>
          <p:cNvSpPr txBox="1"/>
          <p:nvPr/>
        </p:nvSpPr>
        <p:spPr>
          <a:xfrm>
            <a:off x="4581144" y="1627632"/>
            <a:ext cx="3154680" cy="548640"/>
          </a:xfrm>
          <a:prstGeom prst="rect">
            <a:avLst/>
          </a:prstGeom>
          <a:noFill/>
          <a:ln/>
        </p:spPr>
        <p:txBody>
          <a:bodyPr wrap="square" lIns="0" tIns="0" rIns="0" bIns="0" rtlCol="0" anchor="ctr"/>
          <a:lstStyle/>
          <a:p>
            <a:pPr marL="0" indent="0">
              <a:buNone/>
            </a:pPr>
            <a:r>
              <a:rPr lang="en-US" sz="2600" b="1" dirty="0">
                <a:solidFill>
                  <a:srgbClr val="D9482B"/>
                </a:solidFill>
                <a:latin typeface="+mj-lt" pitchFamily="34" charset="0"/>
                <a:ea typeface="+mj-lt" pitchFamily="34" charset="-122"/>
                <a:cs typeface="+mj-lt" pitchFamily="34" charset="-120"/>
              </a:rPr>
              <a:t>WAF 403</a:t>
            </a:r>
            <a:endParaRPr lang="en-US" sz="2600" dirty="0"/>
          </a:p>
        </p:txBody>
      </p:sp>
      <p:sp>
        <p:nvSpPr>
          <p:cNvPr id="13" name="Text 11"/>
          <p:cNvSpPr txBox="1"/>
          <p:nvPr/>
        </p:nvSpPr>
        <p:spPr>
          <a:xfrm>
            <a:off x="4581144" y="2240280"/>
            <a:ext cx="3154680" cy="548640"/>
          </a:xfrm>
          <a:prstGeom prst="rect">
            <a:avLst/>
          </a:prstGeom>
          <a:noFill/>
          <a:ln/>
        </p:spPr>
        <p:txBody>
          <a:bodyPr wrap="square" lIns="0" tIns="0" rIns="0" bIns="0" rtlCol="0" anchor="t"/>
          <a:lstStyle/>
          <a:p>
            <a:pPr marL="0" indent="0">
              <a:buNone/>
            </a:pPr>
            <a:r>
              <a:rPr lang="en-US" sz="1400" dirty="0">
                <a:solidFill>
                  <a:srgbClr val="4A5B5E"/>
                </a:solidFill>
              </a:rPr>
              <a:t>Controlled malicious-style request blocked</a:t>
            </a:r>
            <a:endParaRPr lang="en-US" sz="1400" dirty="0"/>
          </a:p>
        </p:txBody>
      </p:sp>
      <p:sp>
        <p:nvSpPr>
          <p:cNvPr id="14" name="card"/>
          <p:cNvSpPr/>
          <p:nvPr/>
        </p:nvSpPr>
        <p:spPr>
          <a:xfrm>
            <a:off x="8065008" y="1463040"/>
            <a:ext cx="3575304"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15" name="accent"/>
          <p:cNvSpPr/>
          <p:nvPr/>
        </p:nvSpPr>
        <p:spPr>
          <a:xfrm>
            <a:off x="8065008" y="1572768"/>
            <a:ext cx="73152" cy="1225296"/>
          </a:xfrm>
          <a:prstGeom prst="rect">
            <a:avLst/>
          </a:prstGeom>
          <a:solidFill>
            <a:srgbClr val="D9482B"/>
          </a:solidFill>
          <a:ln/>
        </p:spPr>
      </p:sp>
      <p:sp>
        <p:nvSpPr>
          <p:cNvPr id="16" name="Text 14"/>
          <p:cNvSpPr txBox="1"/>
          <p:nvPr/>
        </p:nvSpPr>
        <p:spPr>
          <a:xfrm>
            <a:off x="8339328" y="1627632"/>
            <a:ext cx="3154680" cy="548640"/>
          </a:xfrm>
          <a:prstGeom prst="rect">
            <a:avLst/>
          </a:prstGeom>
          <a:noFill/>
          <a:ln/>
        </p:spPr>
        <p:txBody>
          <a:bodyPr wrap="square" lIns="0" tIns="0" rIns="0" bIns="0" rtlCol="0" anchor="ctr"/>
          <a:lstStyle/>
          <a:p>
            <a:pPr marL="0" indent="0">
              <a:buNone/>
            </a:pPr>
            <a:r>
              <a:rPr lang="en-US" sz="2600" b="1" dirty="0">
                <a:solidFill>
                  <a:srgbClr val="D9482B"/>
                </a:solidFill>
                <a:latin typeface="+mj-lt" pitchFamily="34" charset="0"/>
                <a:ea typeface="+mj-lt" pitchFamily="34" charset="-122"/>
                <a:cs typeface="+mj-lt" pitchFamily="34" charset="-120"/>
              </a:rPr>
              <a:t>ALB blocked</a:t>
            </a:r>
            <a:endParaRPr lang="en-US" sz="2600" dirty="0"/>
          </a:p>
        </p:txBody>
      </p:sp>
      <p:sp>
        <p:nvSpPr>
          <p:cNvPr id="17" name="Text 15"/>
          <p:cNvSpPr txBox="1"/>
          <p:nvPr/>
        </p:nvSpPr>
        <p:spPr>
          <a:xfrm>
            <a:off x="8339328" y="2240280"/>
            <a:ext cx="3154680" cy="548640"/>
          </a:xfrm>
          <a:prstGeom prst="rect">
            <a:avLst/>
          </a:prstGeom>
          <a:noFill/>
          <a:ln/>
        </p:spPr>
        <p:txBody>
          <a:bodyPr wrap="square" lIns="0" tIns="0" rIns="0" bIns="0" rtlCol="0" anchor="t"/>
          <a:lstStyle/>
          <a:p>
            <a:pPr marL="0" indent="0">
              <a:buNone/>
            </a:pPr>
            <a:r>
              <a:rPr lang="en-US" sz="1400" dirty="0">
                <a:solidFill>
                  <a:srgbClr val="4A5B5E"/>
                </a:solidFill>
              </a:rPr>
              <a:t>Direct origin bypass prevented</a:t>
            </a:r>
            <a:endParaRPr lang="en-US" sz="1400" dirty="0"/>
          </a:p>
        </p:txBody>
      </p:sp>
      <p:sp>
        <p:nvSpPr>
          <p:cNvPr id="18" name="card"/>
          <p:cNvSpPr/>
          <p:nvPr/>
        </p:nvSpPr>
        <p:spPr>
          <a:xfrm>
            <a:off x="548640" y="3063240"/>
            <a:ext cx="3575304"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19" name="accent"/>
          <p:cNvSpPr/>
          <p:nvPr/>
        </p:nvSpPr>
        <p:spPr>
          <a:xfrm>
            <a:off x="548640" y="3172968"/>
            <a:ext cx="73152" cy="1225296"/>
          </a:xfrm>
          <a:prstGeom prst="rect">
            <a:avLst/>
          </a:prstGeom>
          <a:solidFill>
            <a:srgbClr val="0E7C7B"/>
          </a:solidFill>
          <a:ln/>
        </p:spPr>
      </p:sp>
      <p:sp>
        <p:nvSpPr>
          <p:cNvPr id="20" name="Text 18"/>
          <p:cNvSpPr txBox="1"/>
          <p:nvPr/>
        </p:nvSpPr>
        <p:spPr>
          <a:xfrm>
            <a:off x="822960" y="3227832"/>
            <a:ext cx="3154680" cy="548640"/>
          </a:xfrm>
          <a:prstGeom prst="rect">
            <a:avLst/>
          </a:prstGeom>
          <a:noFill/>
          <a:ln/>
        </p:spPr>
        <p:txBody>
          <a:bodyPr wrap="square" lIns="0" tIns="0" rIns="0" bIns="0" rtlCol="0" anchor="ctr"/>
          <a:lstStyle/>
          <a:p>
            <a:pPr marL="0" indent="0">
              <a:buNone/>
            </a:pPr>
            <a:r>
              <a:rPr lang="en-US" sz="2600" b="1" dirty="0">
                <a:solidFill>
                  <a:srgbClr val="0E7C7B"/>
                </a:solidFill>
              </a:rPr>
              <a:t>JWT 401 → 200</a:t>
            </a:r>
            <a:endParaRPr lang="en-US" sz="2600" dirty="0"/>
          </a:p>
        </p:txBody>
      </p:sp>
      <p:sp>
        <p:nvSpPr>
          <p:cNvPr id="21" name="Text 19"/>
          <p:cNvSpPr txBox="1"/>
          <p:nvPr/>
        </p:nvSpPr>
        <p:spPr>
          <a:xfrm>
            <a:off x="822960" y="3840480"/>
            <a:ext cx="3154680" cy="548640"/>
          </a:xfrm>
          <a:prstGeom prst="rect">
            <a:avLst/>
          </a:prstGeom>
          <a:noFill/>
          <a:ln/>
        </p:spPr>
        <p:txBody>
          <a:bodyPr wrap="square" lIns="0" tIns="0" rIns="0" bIns="0" rtlCol="0" anchor="t"/>
          <a:lstStyle/>
          <a:p>
            <a:pPr marL="0" indent="0">
              <a:buNone/>
            </a:pPr>
            <a:r>
              <a:rPr lang="en-US" sz="1400" dirty="0">
                <a:solidFill>
                  <a:srgbClr val="4A5B5E"/>
                </a:solidFill>
              </a:rPr>
              <a:t>Protected API without / with token</a:t>
            </a:r>
            <a:endParaRPr lang="en-US" sz="1400" dirty="0"/>
          </a:p>
        </p:txBody>
      </p:sp>
      <p:sp>
        <p:nvSpPr>
          <p:cNvPr id="22" name="card"/>
          <p:cNvSpPr/>
          <p:nvPr/>
        </p:nvSpPr>
        <p:spPr>
          <a:xfrm>
            <a:off x="4306824" y="3063240"/>
            <a:ext cx="3575304"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23" name="accent"/>
          <p:cNvSpPr/>
          <p:nvPr/>
        </p:nvSpPr>
        <p:spPr>
          <a:xfrm>
            <a:off x="4306824" y="3172968"/>
            <a:ext cx="73152" cy="1225296"/>
          </a:xfrm>
          <a:prstGeom prst="rect">
            <a:avLst/>
          </a:prstGeom>
          <a:solidFill>
            <a:srgbClr val="A8620A"/>
          </a:solidFill>
          <a:ln/>
        </p:spPr>
      </p:sp>
      <p:sp>
        <p:nvSpPr>
          <p:cNvPr id="24" name="Text 22"/>
          <p:cNvSpPr txBox="1"/>
          <p:nvPr/>
        </p:nvSpPr>
        <p:spPr>
          <a:xfrm>
            <a:off x="4581144" y="3227832"/>
            <a:ext cx="3154680" cy="548640"/>
          </a:xfrm>
          <a:prstGeom prst="rect">
            <a:avLst/>
          </a:prstGeom>
          <a:noFill/>
          <a:ln/>
        </p:spPr>
        <p:txBody>
          <a:bodyPr wrap="square" lIns="0" tIns="0" rIns="0" bIns="0" rtlCol="0" anchor="ctr"/>
          <a:lstStyle/>
          <a:p>
            <a:pPr marL="0" indent="0">
              <a:buNone/>
            </a:pPr>
            <a:r>
              <a:rPr lang="en-US" sz="2600" b="1" dirty="0">
                <a:solidFill>
                  <a:srgbClr val="A8620A"/>
                </a:solidFill>
                <a:latin typeface="+mj-lt" pitchFamily="34" charset="0"/>
                <a:ea typeface="+mj-lt" pitchFamily="34" charset="-122"/>
                <a:cs typeface="+mj-lt" pitchFamily="34" charset="-120"/>
              </a:rPr>
              <a:t>DLQ retry</a:t>
            </a:r>
            <a:endParaRPr lang="en-US" sz="2600" dirty="0"/>
          </a:p>
        </p:txBody>
      </p:sp>
      <p:sp>
        <p:nvSpPr>
          <p:cNvPr id="25" name="Text 23"/>
          <p:cNvSpPr txBox="1"/>
          <p:nvPr/>
        </p:nvSpPr>
        <p:spPr>
          <a:xfrm>
            <a:off x="4581144" y="3840480"/>
            <a:ext cx="3154680" cy="548640"/>
          </a:xfrm>
          <a:prstGeom prst="rect">
            <a:avLst/>
          </a:prstGeom>
          <a:noFill/>
          <a:ln/>
        </p:spPr>
        <p:txBody>
          <a:bodyPr wrap="square" lIns="0" tIns="0" rIns="0" bIns="0" rtlCol="0" anchor="t"/>
          <a:lstStyle/>
          <a:p>
            <a:pPr marL="0" indent="0">
              <a:buNone/>
            </a:pPr>
            <a:r>
              <a:rPr lang="en-US" sz="1400" dirty="0">
                <a:solidFill>
                  <a:srgbClr val="4A5B5E"/>
                </a:solidFill>
              </a:rPr>
              <a:t>Controlled Lambda failure reached the DLQ</a:t>
            </a:r>
            <a:endParaRPr lang="en-US" sz="1400" dirty="0"/>
          </a:p>
        </p:txBody>
      </p:sp>
      <p:sp>
        <p:nvSpPr>
          <p:cNvPr id="26" name="card"/>
          <p:cNvSpPr/>
          <p:nvPr/>
        </p:nvSpPr>
        <p:spPr>
          <a:xfrm>
            <a:off x="8065008" y="3063240"/>
            <a:ext cx="3575304"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27" name="accent"/>
          <p:cNvSpPr/>
          <p:nvPr/>
        </p:nvSpPr>
        <p:spPr>
          <a:xfrm>
            <a:off x="8065008" y="3172968"/>
            <a:ext cx="73152" cy="1225296"/>
          </a:xfrm>
          <a:prstGeom prst="rect">
            <a:avLst/>
          </a:prstGeom>
          <a:solidFill>
            <a:srgbClr val="A8620A"/>
          </a:solidFill>
          <a:ln/>
        </p:spPr>
      </p:sp>
      <p:sp>
        <p:nvSpPr>
          <p:cNvPr id="28" name="Text 26"/>
          <p:cNvSpPr txBox="1"/>
          <p:nvPr/>
        </p:nvSpPr>
        <p:spPr>
          <a:xfrm>
            <a:off x="8339328" y="3227832"/>
            <a:ext cx="3154680" cy="548640"/>
          </a:xfrm>
          <a:prstGeom prst="rect">
            <a:avLst/>
          </a:prstGeom>
          <a:noFill/>
          <a:ln/>
        </p:spPr>
        <p:txBody>
          <a:bodyPr wrap="square" lIns="0" tIns="0" rIns="0" bIns="0" rtlCol="0" anchor="ctr"/>
          <a:lstStyle/>
          <a:p>
            <a:pPr marL="0" indent="0">
              <a:buNone/>
            </a:pPr>
            <a:r>
              <a:rPr lang="en-US" sz="2600" b="1" dirty="0">
                <a:solidFill>
                  <a:srgbClr val="A8620A"/>
                </a:solidFill>
                <a:latin typeface="+mj-lt" pitchFamily="34" charset="0"/>
                <a:ea typeface="+mj-lt" pitchFamily="34" charset="-122"/>
                <a:cs typeface="+mj-lt" pitchFamily="34" charset="-120"/>
              </a:rPr>
              <a:t>RAG retrieval</a:t>
            </a:r>
            <a:endParaRPr lang="en-US" sz="2600" dirty="0"/>
          </a:p>
        </p:txBody>
      </p:sp>
      <p:sp>
        <p:nvSpPr>
          <p:cNvPr id="29" name="Text 27"/>
          <p:cNvSpPr txBox="1"/>
          <p:nvPr/>
        </p:nvSpPr>
        <p:spPr>
          <a:xfrm>
            <a:off x="8339328" y="3840480"/>
            <a:ext cx="3154680" cy="548640"/>
          </a:xfrm>
          <a:prstGeom prst="rect">
            <a:avLst/>
          </a:prstGeom>
          <a:noFill/>
          <a:ln/>
        </p:spPr>
        <p:txBody>
          <a:bodyPr wrap="square" lIns="0" tIns="0" rIns="0" bIns="0" rtlCol="0" anchor="t"/>
          <a:lstStyle/>
          <a:p>
            <a:pPr marL="0" indent="0">
              <a:buNone/>
            </a:pPr>
            <a:r>
              <a:rPr lang="en-US" sz="1400" dirty="0">
                <a:solidFill>
                  <a:srgbClr val="4A5B5E"/>
                </a:solidFill>
              </a:rPr>
              <a:t>Relevant knowledge ranked first</a:t>
            </a:r>
            <a:endParaRPr lang="en-US" sz="1400" dirty="0"/>
          </a:p>
        </p:txBody>
      </p:sp>
      <p:sp>
        <p:nvSpPr>
          <p:cNvPr id="30" name="card"/>
          <p:cNvSpPr/>
          <p:nvPr/>
        </p:nvSpPr>
        <p:spPr>
          <a:xfrm>
            <a:off x="548640" y="4663440"/>
            <a:ext cx="3575304"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31" name="accent"/>
          <p:cNvSpPr/>
          <p:nvPr/>
        </p:nvSpPr>
        <p:spPr>
          <a:xfrm>
            <a:off x="548640" y="4773168"/>
            <a:ext cx="73152" cy="1225296"/>
          </a:xfrm>
          <a:prstGeom prst="rect">
            <a:avLst/>
          </a:prstGeom>
          <a:solidFill>
            <a:srgbClr val="5B6C8F"/>
          </a:solidFill>
          <a:ln/>
        </p:spPr>
      </p:sp>
      <p:sp>
        <p:nvSpPr>
          <p:cNvPr id="32" name="Text 30"/>
          <p:cNvSpPr txBox="1"/>
          <p:nvPr/>
        </p:nvSpPr>
        <p:spPr>
          <a:xfrm>
            <a:off x="822960" y="4828032"/>
            <a:ext cx="3154680" cy="548640"/>
          </a:xfrm>
          <a:prstGeom prst="rect">
            <a:avLst/>
          </a:prstGeom>
          <a:noFill/>
          <a:ln/>
        </p:spPr>
        <p:txBody>
          <a:bodyPr wrap="square" lIns="0" tIns="0" rIns="0" bIns="0" rtlCol="0" anchor="ctr"/>
          <a:lstStyle/>
          <a:p>
            <a:pPr marL="0" indent="0">
              <a:buNone/>
            </a:pPr>
            <a:r>
              <a:rPr lang="en-US" sz="2600" b="1" dirty="0">
                <a:solidFill>
                  <a:srgbClr val="5B6C8F"/>
                </a:solidFill>
              </a:rPr>
              <a:t>ALARM → OK</a:t>
            </a:r>
            <a:endParaRPr lang="en-US" sz="2600" dirty="0"/>
          </a:p>
        </p:txBody>
      </p:sp>
      <p:sp>
        <p:nvSpPr>
          <p:cNvPr id="33" name="Text 31"/>
          <p:cNvSpPr txBox="1"/>
          <p:nvPr/>
        </p:nvSpPr>
        <p:spPr>
          <a:xfrm>
            <a:off x="822960" y="5440680"/>
            <a:ext cx="3154680" cy="548640"/>
          </a:xfrm>
          <a:prstGeom prst="rect">
            <a:avLst/>
          </a:prstGeom>
          <a:noFill/>
          <a:ln/>
        </p:spPr>
        <p:txBody>
          <a:bodyPr wrap="square" lIns="0" tIns="0" rIns="0" bIns="0" rtlCol="0" anchor="t"/>
          <a:lstStyle/>
          <a:p>
            <a:pPr marL="0" indent="0">
              <a:buNone/>
            </a:pPr>
            <a:r>
              <a:rPr lang="en-US" sz="1400" dirty="0">
                <a:solidFill>
                  <a:srgbClr val="4A5B5E"/>
                </a:solidFill>
              </a:rPr>
              <a:t>DLQ backlog detected, then cleared</a:t>
            </a:r>
            <a:endParaRPr lang="en-US" sz="1400" dirty="0"/>
          </a:p>
        </p:txBody>
      </p:sp>
      <p:sp>
        <p:nvSpPr>
          <p:cNvPr id="34" name="card"/>
          <p:cNvSpPr/>
          <p:nvPr/>
        </p:nvSpPr>
        <p:spPr>
          <a:xfrm>
            <a:off x="4306824" y="4663440"/>
            <a:ext cx="3575304"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35" name="accent"/>
          <p:cNvSpPr/>
          <p:nvPr/>
        </p:nvSpPr>
        <p:spPr>
          <a:xfrm>
            <a:off x="4306824" y="4773168"/>
            <a:ext cx="73152" cy="1225296"/>
          </a:xfrm>
          <a:prstGeom prst="rect">
            <a:avLst/>
          </a:prstGeom>
          <a:solidFill>
            <a:srgbClr val="D9482B"/>
          </a:solidFill>
          <a:ln/>
        </p:spPr>
      </p:sp>
      <p:sp>
        <p:nvSpPr>
          <p:cNvPr id="36" name="Text 34"/>
          <p:cNvSpPr txBox="1"/>
          <p:nvPr/>
        </p:nvSpPr>
        <p:spPr>
          <a:xfrm>
            <a:off x="4581144" y="4828032"/>
            <a:ext cx="3154680" cy="548640"/>
          </a:xfrm>
          <a:prstGeom prst="rect">
            <a:avLst/>
          </a:prstGeom>
          <a:noFill/>
          <a:ln/>
        </p:spPr>
        <p:txBody>
          <a:bodyPr wrap="square" lIns="0" tIns="0" rIns="0" bIns="0" rtlCol="0" anchor="ctr"/>
          <a:lstStyle/>
          <a:p>
            <a:pPr marL="0" indent="0">
              <a:buNone/>
            </a:pPr>
            <a:r>
              <a:rPr lang="en-US" sz="2600" b="1" dirty="0">
                <a:solidFill>
                  <a:srgbClr val="D9482B"/>
                </a:solidFill>
                <a:latin typeface="+mj-lt" pitchFamily="34" charset="0"/>
                <a:ea typeface="+mj-lt" pitchFamily="34" charset="-122"/>
                <a:cs typeface="+mj-lt" pitchFamily="34" charset="-120"/>
              </a:rPr>
              <a:t>Trivy block</a:t>
            </a:r>
            <a:endParaRPr lang="en-US" sz="2600" dirty="0"/>
          </a:p>
        </p:txBody>
      </p:sp>
      <p:sp>
        <p:nvSpPr>
          <p:cNvPr id="37" name="Text 35"/>
          <p:cNvSpPr txBox="1"/>
          <p:nvPr/>
        </p:nvSpPr>
        <p:spPr>
          <a:xfrm>
            <a:off x="4581144" y="5440680"/>
            <a:ext cx="3154680" cy="548640"/>
          </a:xfrm>
          <a:prstGeom prst="rect">
            <a:avLst/>
          </a:prstGeom>
          <a:noFill/>
          <a:ln/>
        </p:spPr>
        <p:txBody>
          <a:bodyPr wrap="square" lIns="0" tIns="0" rIns="0" bIns="0" rtlCol="0" anchor="t"/>
          <a:lstStyle/>
          <a:p>
            <a:pPr marL="0" indent="0">
              <a:buNone/>
            </a:pPr>
            <a:r>
              <a:rPr lang="en-US" sz="1400" dirty="0">
                <a:solidFill>
                  <a:srgbClr val="4A5B5E"/>
                </a:solidFill>
              </a:rPr>
              <a:t>CRITICAL vulnerability prevented release</a:t>
            </a:r>
            <a:endParaRPr lang="en-US" sz="1400" dirty="0"/>
          </a:p>
        </p:txBody>
      </p:sp>
      <p:sp>
        <p:nvSpPr>
          <p:cNvPr id="38" name="card"/>
          <p:cNvSpPr/>
          <p:nvPr/>
        </p:nvSpPr>
        <p:spPr>
          <a:xfrm>
            <a:off x="8065008" y="4663440"/>
            <a:ext cx="3575304"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39" name="accent"/>
          <p:cNvSpPr/>
          <p:nvPr/>
        </p:nvSpPr>
        <p:spPr>
          <a:xfrm>
            <a:off x="8065008" y="4773168"/>
            <a:ext cx="73152" cy="1225296"/>
          </a:xfrm>
          <a:prstGeom prst="rect">
            <a:avLst/>
          </a:prstGeom>
          <a:solidFill>
            <a:srgbClr val="1F9A82"/>
          </a:solidFill>
          <a:ln/>
        </p:spPr>
      </p:sp>
      <p:sp>
        <p:nvSpPr>
          <p:cNvPr id="40" name="Text 38"/>
          <p:cNvSpPr txBox="1"/>
          <p:nvPr/>
        </p:nvSpPr>
        <p:spPr>
          <a:xfrm>
            <a:off x="8339328" y="4828032"/>
            <a:ext cx="3154680" cy="548640"/>
          </a:xfrm>
          <a:prstGeom prst="rect">
            <a:avLst/>
          </a:prstGeom>
          <a:noFill/>
          <a:ln/>
        </p:spPr>
        <p:txBody>
          <a:bodyPr wrap="square" lIns="0" tIns="0" rIns="0" bIns="0" rtlCol="0" anchor="ctr"/>
          <a:lstStyle/>
          <a:p>
            <a:pPr marL="0" indent="0">
              <a:buNone/>
            </a:pPr>
            <a:r>
              <a:rPr lang="en-US" sz="2600" b="1" dirty="0">
                <a:solidFill>
                  <a:srgbClr val="1F9A82"/>
                </a:solidFill>
              </a:rPr>
              <a:t>2/1/1 → 2/2/0</a:t>
            </a:r>
            <a:endParaRPr lang="en-US" sz="2600" dirty="0"/>
          </a:p>
        </p:txBody>
      </p:sp>
      <p:sp>
        <p:nvSpPr>
          <p:cNvPr id="41" name="Text 39"/>
          <p:cNvSpPr txBox="1"/>
          <p:nvPr/>
        </p:nvSpPr>
        <p:spPr>
          <a:xfrm>
            <a:off x="8339328" y="5440680"/>
            <a:ext cx="3154680" cy="548640"/>
          </a:xfrm>
          <a:prstGeom prst="rect">
            <a:avLst/>
          </a:prstGeom>
          <a:noFill/>
          <a:ln/>
        </p:spPr>
        <p:txBody>
          <a:bodyPr wrap="square" lIns="0" tIns="0" rIns="0" bIns="0" rtlCol="0" anchor="t"/>
          <a:lstStyle/>
          <a:p>
            <a:pPr marL="0" indent="0">
              <a:buNone/>
            </a:pPr>
            <a:r>
              <a:rPr lang="en-US" sz="1400" dirty="0">
                <a:solidFill>
                  <a:srgbClr val="4A5B5E"/>
                </a:solidFill>
              </a:rPr>
              <a:t>ECS self-healed while the endpoint stayed up</a:t>
            </a:r>
            <a:endParaRPr lang="en-US" sz="1400" dirty="0"/>
          </a:p>
        </p:txBody>
      </p:sp>
      <p:sp>
        <p:nvSpPr>
          <p:cNvPr id="42"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Engineering challenges I solved</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Real troubleshooting — each symptom traced to a root cause and fixed permanently.</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Lessons</a:t>
            </a:r>
            <a:endParaRPr lang="en-US" sz="1200" dirty="0"/>
          </a:p>
        </p:txBody>
      </p:sp>
      <p:sp>
        <p:nvSpPr>
          <p:cNvPr id="6" name="card"/>
          <p:cNvSpPr/>
          <p:nvPr/>
        </p:nvSpPr>
        <p:spPr>
          <a:xfrm>
            <a:off x="548640" y="1463040"/>
            <a:ext cx="5454396"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7" name="number"/>
          <p:cNvSpPr/>
          <p:nvPr/>
        </p:nvSpPr>
        <p:spPr>
          <a:xfrm>
            <a:off x="749808" y="1627632"/>
            <a:ext cx="420624" cy="420624"/>
          </a:xfrm>
          <a:prstGeom prst="ellipse">
            <a:avLst/>
          </a:prstGeom>
          <a:solidFill>
            <a:schemeClr val="tx2"/>
          </a:solidFill>
          <a:ln/>
        </p:spPr>
      </p:sp>
      <p:sp>
        <p:nvSpPr>
          <p:cNvPr id="8" name="Text 6"/>
          <p:cNvSpPr txBox="1"/>
          <p:nvPr/>
        </p:nvSpPr>
        <p:spPr>
          <a:xfrm>
            <a:off x="749808" y="1627632"/>
            <a:ext cx="420624" cy="420624"/>
          </a:xfrm>
          <a:prstGeom prst="rect">
            <a:avLst/>
          </a:prstGeom>
          <a:noFill/>
          <a:ln/>
        </p:spPr>
        <p:txBody>
          <a:bodyPr wrap="square" lIns="0" tIns="0" rIns="0" bIns="0" rtlCol="0" anchor="ctr"/>
          <a:lstStyle/>
          <a:p>
            <a:pPr marL="0" indent="0" algn="ctr">
              <a:buNone/>
            </a:pPr>
            <a:r>
              <a:rPr lang="en-US" sz="1250" b="1" dirty="0">
                <a:solidFill>
                  <a:srgbClr val="F2A541"/>
                </a:solidFill>
              </a:rPr>
              <a:t>01</a:t>
            </a:r>
            <a:endParaRPr lang="en-US" sz="1250" dirty="0"/>
          </a:p>
        </p:txBody>
      </p:sp>
      <p:sp>
        <p:nvSpPr>
          <p:cNvPr id="9" name="Text 7"/>
          <p:cNvSpPr txBox="1"/>
          <p:nvPr/>
        </p:nvSpPr>
        <p:spPr>
          <a:xfrm>
            <a:off x="1325880" y="1627632"/>
            <a:ext cx="4526280" cy="420624"/>
          </a:xfrm>
          <a:prstGeom prst="rect">
            <a:avLst/>
          </a:prstGeom>
          <a:noFill/>
          <a:ln/>
        </p:spPr>
        <p:txBody>
          <a:bodyPr wrap="square" lIns="0" tIns="0" rIns="0" bIns="0" rtlCol="0" anchor="ctr"/>
          <a:lstStyle/>
          <a:p>
            <a:pPr marL="0" indent="0">
              <a:buNone/>
            </a:pPr>
            <a:r>
              <a:rPr lang="en-US" sz="1550" b="1" dirty="0">
                <a:solidFill>
                  <a:srgbClr val="132226"/>
                </a:solidFill>
              </a:rPr>
              <a:t>Nightly sandbox cleanup</a:t>
            </a:r>
            <a:endParaRPr lang="en-US" sz="1550" dirty="0"/>
          </a:p>
        </p:txBody>
      </p:sp>
      <p:sp>
        <p:nvSpPr>
          <p:cNvPr id="10" name="Text 8"/>
          <p:cNvSpPr txBox="1"/>
          <p:nvPr/>
        </p:nvSpPr>
        <p:spPr>
          <a:xfrm>
            <a:off x="1325880" y="2139696"/>
            <a:ext cx="594360" cy="274320"/>
          </a:xfrm>
          <a:prstGeom prst="rect">
            <a:avLst/>
          </a:prstGeom>
          <a:noFill/>
          <a:ln/>
        </p:spPr>
        <p:txBody>
          <a:bodyPr wrap="square" lIns="0" tIns="0" rIns="0" bIns="0" rtlCol="0" anchor="ctr"/>
          <a:lstStyle/>
          <a:p>
            <a:pPr marL="0" indent="0">
              <a:buNone/>
            </a:pPr>
            <a:r>
              <a:rPr lang="en-US" sz="1000" b="1" kern="0" spc="100" dirty="0">
                <a:solidFill>
                  <a:srgbClr val="D9482B"/>
                </a:solidFill>
              </a:rPr>
              <a:t>CAUSE</a:t>
            </a:r>
            <a:endParaRPr lang="en-US" sz="1000" dirty="0"/>
          </a:p>
        </p:txBody>
      </p:sp>
      <p:sp>
        <p:nvSpPr>
          <p:cNvPr id="11" name="Text 9"/>
          <p:cNvSpPr txBox="1"/>
          <p:nvPr/>
        </p:nvSpPr>
        <p:spPr>
          <a:xfrm>
            <a:off x="1965960" y="2121408"/>
            <a:ext cx="3886200" cy="329184"/>
          </a:xfrm>
          <a:prstGeom prst="rect">
            <a:avLst/>
          </a:prstGeom>
          <a:noFill/>
          <a:ln/>
        </p:spPr>
        <p:txBody>
          <a:bodyPr wrap="square" lIns="0" tIns="0" rIns="0" bIns="0" rtlCol="0" anchor="ctr"/>
          <a:lstStyle/>
          <a:p>
            <a:pPr marL="0" indent="0">
              <a:buNone/>
            </a:pPr>
            <a:r>
              <a:rPr lang="en-US" sz="1250" dirty="0">
                <a:solidFill>
                  <a:srgbClr val="4A5B5E"/>
                </a:solidFill>
              </a:rPr>
              <a:t>Disposable training environment</a:t>
            </a:r>
            <a:endParaRPr lang="en-US" sz="1250" dirty="0"/>
          </a:p>
        </p:txBody>
      </p:sp>
      <p:sp>
        <p:nvSpPr>
          <p:cNvPr id="12" name="Text 10"/>
          <p:cNvSpPr txBox="1"/>
          <p:nvPr/>
        </p:nvSpPr>
        <p:spPr>
          <a:xfrm>
            <a:off x="1325880" y="2468880"/>
            <a:ext cx="594360" cy="274320"/>
          </a:xfrm>
          <a:prstGeom prst="rect">
            <a:avLst/>
          </a:prstGeom>
          <a:noFill/>
          <a:ln/>
        </p:spPr>
        <p:txBody>
          <a:bodyPr wrap="square" lIns="0" tIns="0" rIns="0" bIns="0" rtlCol="0" anchor="ctr"/>
          <a:lstStyle/>
          <a:p>
            <a:pPr marL="0" indent="0">
              <a:buNone/>
            </a:pPr>
            <a:r>
              <a:rPr lang="en-US" sz="1000" b="1" kern="0" spc="100" dirty="0">
                <a:solidFill>
                  <a:srgbClr val="1F9A82"/>
                </a:solidFill>
              </a:rPr>
              <a:t>FIX</a:t>
            </a:r>
            <a:endParaRPr lang="en-US" sz="1000" dirty="0"/>
          </a:p>
        </p:txBody>
      </p:sp>
      <p:sp>
        <p:nvSpPr>
          <p:cNvPr id="13" name="Text 11"/>
          <p:cNvSpPr txBox="1"/>
          <p:nvPr/>
        </p:nvSpPr>
        <p:spPr>
          <a:xfrm>
            <a:off x="1965960" y="2450592"/>
            <a:ext cx="3886200" cy="329184"/>
          </a:xfrm>
          <a:prstGeom prst="rect">
            <a:avLst/>
          </a:prstGeom>
          <a:noFill/>
          <a:ln/>
        </p:spPr>
        <p:txBody>
          <a:bodyPr wrap="square" lIns="0" tIns="0" rIns="0" bIns="0" rtlCol="0" anchor="ctr"/>
          <a:lstStyle/>
          <a:p>
            <a:pPr marL="0" indent="0">
              <a:buNone/>
            </a:pPr>
            <a:r>
              <a:rPr lang="en-US" sz="1250" dirty="0">
                <a:solidFill>
                  <a:srgbClr val="132226"/>
                </a:solidFill>
              </a:rPr>
              <a:t>Terraform / HCP rebuild + OP01 recovery</a:t>
            </a:r>
            <a:endParaRPr lang="en-US" sz="1250" dirty="0"/>
          </a:p>
        </p:txBody>
      </p:sp>
      <p:sp>
        <p:nvSpPr>
          <p:cNvPr id="14" name="card"/>
          <p:cNvSpPr/>
          <p:nvPr/>
        </p:nvSpPr>
        <p:spPr>
          <a:xfrm>
            <a:off x="6185916" y="1463040"/>
            <a:ext cx="5454396"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15" name="number"/>
          <p:cNvSpPr/>
          <p:nvPr/>
        </p:nvSpPr>
        <p:spPr>
          <a:xfrm>
            <a:off x="6387084" y="1627632"/>
            <a:ext cx="420624" cy="420624"/>
          </a:xfrm>
          <a:prstGeom prst="ellipse">
            <a:avLst/>
          </a:prstGeom>
          <a:solidFill>
            <a:schemeClr val="tx2"/>
          </a:solidFill>
          <a:ln/>
        </p:spPr>
      </p:sp>
      <p:sp>
        <p:nvSpPr>
          <p:cNvPr id="16" name="Text 14"/>
          <p:cNvSpPr txBox="1"/>
          <p:nvPr/>
        </p:nvSpPr>
        <p:spPr>
          <a:xfrm>
            <a:off x="6387084" y="1627632"/>
            <a:ext cx="420624" cy="420624"/>
          </a:xfrm>
          <a:prstGeom prst="rect">
            <a:avLst/>
          </a:prstGeom>
          <a:noFill/>
          <a:ln/>
        </p:spPr>
        <p:txBody>
          <a:bodyPr wrap="square" lIns="0" tIns="0" rIns="0" bIns="0" rtlCol="0" anchor="ctr"/>
          <a:lstStyle/>
          <a:p>
            <a:pPr marL="0" indent="0" algn="ctr">
              <a:buNone/>
            </a:pPr>
            <a:r>
              <a:rPr lang="en-US" sz="1250" b="1" dirty="0">
                <a:solidFill>
                  <a:srgbClr val="F2A541"/>
                </a:solidFill>
              </a:rPr>
              <a:t>02</a:t>
            </a:r>
            <a:endParaRPr lang="en-US" sz="1250" dirty="0"/>
          </a:p>
        </p:txBody>
      </p:sp>
      <p:sp>
        <p:nvSpPr>
          <p:cNvPr id="17" name="Text 15"/>
          <p:cNvSpPr txBox="1"/>
          <p:nvPr/>
        </p:nvSpPr>
        <p:spPr>
          <a:xfrm>
            <a:off x="6963156" y="1627632"/>
            <a:ext cx="4526280" cy="420624"/>
          </a:xfrm>
          <a:prstGeom prst="rect">
            <a:avLst/>
          </a:prstGeom>
          <a:noFill/>
          <a:ln/>
        </p:spPr>
        <p:txBody>
          <a:bodyPr wrap="square" lIns="0" tIns="0" rIns="0" bIns="0" rtlCol="0" anchor="ctr"/>
          <a:lstStyle/>
          <a:p>
            <a:pPr marL="0" indent="0">
              <a:buNone/>
            </a:pPr>
            <a:r>
              <a:rPr lang="en-US" sz="1550" b="1" dirty="0">
                <a:solidFill>
                  <a:srgbClr val="132226"/>
                </a:solidFill>
              </a:rPr>
              <a:t>OIDC role assumption denied</a:t>
            </a:r>
            <a:endParaRPr lang="en-US" sz="1550" dirty="0"/>
          </a:p>
        </p:txBody>
      </p:sp>
      <p:sp>
        <p:nvSpPr>
          <p:cNvPr id="18" name="Text 16"/>
          <p:cNvSpPr txBox="1"/>
          <p:nvPr/>
        </p:nvSpPr>
        <p:spPr>
          <a:xfrm>
            <a:off x="6963156" y="2139696"/>
            <a:ext cx="594360" cy="274320"/>
          </a:xfrm>
          <a:prstGeom prst="rect">
            <a:avLst/>
          </a:prstGeom>
          <a:noFill/>
          <a:ln/>
        </p:spPr>
        <p:txBody>
          <a:bodyPr wrap="square" lIns="0" tIns="0" rIns="0" bIns="0" rtlCol="0" anchor="ctr"/>
          <a:lstStyle/>
          <a:p>
            <a:pPr marL="0" indent="0">
              <a:buNone/>
            </a:pPr>
            <a:r>
              <a:rPr lang="en-US" sz="1000" b="1" kern="0" spc="100" dirty="0">
                <a:solidFill>
                  <a:srgbClr val="D9482B"/>
                </a:solidFill>
              </a:rPr>
              <a:t>CAUSE</a:t>
            </a:r>
            <a:endParaRPr lang="en-US" sz="1000" dirty="0"/>
          </a:p>
        </p:txBody>
      </p:sp>
      <p:sp>
        <p:nvSpPr>
          <p:cNvPr id="19" name="Text 17"/>
          <p:cNvSpPr txBox="1"/>
          <p:nvPr/>
        </p:nvSpPr>
        <p:spPr>
          <a:xfrm>
            <a:off x="7603236" y="2121408"/>
            <a:ext cx="3886200" cy="329184"/>
          </a:xfrm>
          <a:prstGeom prst="rect">
            <a:avLst/>
          </a:prstGeom>
          <a:noFill/>
          <a:ln/>
        </p:spPr>
        <p:txBody>
          <a:bodyPr wrap="square" lIns="0" tIns="0" rIns="0" bIns="0" rtlCol="0" anchor="ctr"/>
          <a:lstStyle/>
          <a:p>
            <a:pPr marL="0" indent="0">
              <a:buNone/>
            </a:pPr>
            <a:r>
              <a:rPr lang="en-US" sz="1250" dirty="0">
                <a:solidFill>
                  <a:srgbClr val="4A5B5E"/>
                </a:solidFill>
              </a:rPr>
              <a:t>Trust policy did not match the immutable GitHub identity</a:t>
            </a:r>
            <a:endParaRPr lang="en-US" sz="1250" dirty="0"/>
          </a:p>
        </p:txBody>
      </p:sp>
      <p:sp>
        <p:nvSpPr>
          <p:cNvPr id="20" name="Text 18"/>
          <p:cNvSpPr txBox="1"/>
          <p:nvPr/>
        </p:nvSpPr>
        <p:spPr>
          <a:xfrm>
            <a:off x="6963156" y="2468880"/>
            <a:ext cx="594360" cy="274320"/>
          </a:xfrm>
          <a:prstGeom prst="rect">
            <a:avLst/>
          </a:prstGeom>
          <a:noFill/>
          <a:ln/>
        </p:spPr>
        <p:txBody>
          <a:bodyPr wrap="square" lIns="0" tIns="0" rIns="0" bIns="0" rtlCol="0" anchor="ctr"/>
          <a:lstStyle/>
          <a:p>
            <a:pPr marL="0" indent="0">
              <a:buNone/>
            </a:pPr>
            <a:r>
              <a:rPr lang="en-US" sz="1000" b="1" kern="0" spc="100" dirty="0">
                <a:solidFill>
                  <a:srgbClr val="1F9A82"/>
                </a:solidFill>
              </a:rPr>
              <a:t>FIX</a:t>
            </a:r>
            <a:endParaRPr lang="en-US" sz="1000" dirty="0"/>
          </a:p>
        </p:txBody>
      </p:sp>
      <p:sp>
        <p:nvSpPr>
          <p:cNvPr id="21" name="Text 19"/>
          <p:cNvSpPr txBox="1"/>
          <p:nvPr/>
        </p:nvSpPr>
        <p:spPr>
          <a:xfrm>
            <a:off x="7603236" y="2450592"/>
            <a:ext cx="3886200" cy="329184"/>
          </a:xfrm>
          <a:prstGeom prst="rect">
            <a:avLst/>
          </a:prstGeom>
          <a:noFill/>
          <a:ln/>
        </p:spPr>
        <p:txBody>
          <a:bodyPr wrap="square" lIns="0" tIns="0" rIns="0" bIns="0" rtlCol="0" anchor="ctr"/>
          <a:lstStyle/>
          <a:p>
            <a:pPr marL="0" indent="0">
              <a:buNone/>
            </a:pPr>
            <a:r>
              <a:rPr lang="en-US" sz="1250" dirty="0">
                <a:solidFill>
                  <a:srgbClr val="132226"/>
                </a:solidFill>
              </a:rPr>
              <a:t>Tightened owner / repo / branch / audience conditions</a:t>
            </a:r>
            <a:endParaRPr lang="en-US" sz="1250" dirty="0"/>
          </a:p>
        </p:txBody>
      </p:sp>
      <p:sp>
        <p:nvSpPr>
          <p:cNvPr id="22" name="card"/>
          <p:cNvSpPr/>
          <p:nvPr/>
        </p:nvSpPr>
        <p:spPr>
          <a:xfrm>
            <a:off x="548640" y="3063240"/>
            <a:ext cx="5454396"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23" name="number"/>
          <p:cNvSpPr/>
          <p:nvPr/>
        </p:nvSpPr>
        <p:spPr>
          <a:xfrm>
            <a:off x="749808" y="3227832"/>
            <a:ext cx="420624" cy="420624"/>
          </a:xfrm>
          <a:prstGeom prst="ellipse">
            <a:avLst/>
          </a:prstGeom>
          <a:solidFill>
            <a:schemeClr val="tx2"/>
          </a:solidFill>
          <a:ln/>
        </p:spPr>
      </p:sp>
      <p:sp>
        <p:nvSpPr>
          <p:cNvPr id="24" name="Text 22"/>
          <p:cNvSpPr txBox="1"/>
          <p:nvPr/>
        </p:nvSpPr>
        <p:spPr>
          <a:xfrm>
            <a:off x="749808" y="3227832"/>
            <a:ext cx="420624" cy="420624"/>
          </a:xfrm>
          <a:prstGeom prst="rect">
            <a:avLst/>
          </a:prstGeom>
          <a:noFill/>
          <a:ln/>
        </p:spPr>
        <p:txBody>
          <a:bodyPr wrap="square" lIns="0" tIns="0" rIns="0" bIns="0" rtlCol="0" anchor="ctr"/>
          <a:lstStyle/>
          <a:p>
            <a:pPr marL="0" indent="0" algn="ctr">
              <a:buNone/>
            </a:pPr>
            <a:r>
              <a:rPr lang="en-US" sz="1250" b="1" dirty="0">
                <a:solidFill>
                  <a:srgbClr val="F2A541"/>
                </a:solidFill>
              </a:rPr>
              <a:t>03</a:t>
            </a:r>
            <a:endParaRPr lang="en-US" sz="1250" dirty="0"/>
          </a:p>
        </p:txBody>
      </p:sp>
      <p:sp>
        <p:nvSpPr>
          <p:cNvPr id="25" name="Text 23"/>
          <p:cNvSpPr txBox="1"/>
          <p:nvPr/>
        </p:nvSpPr>
        <p:spPr>
          <a:xfrm>
            <a:off x="1325880" y="3227832"/>
            <a:ext cx="4526280" cy="420624"/>
          </a:xfrm>
          <a:prstGeom prst="rect">
            <a:avLst/>
          </a:prstGeom>
          <a:noFill/>
          <a:ln/>
        </p:spPr>
        <p:txBody>
          <a:bodyPr wrap="square" lIns="0" tIns="0" rIns="0" bIns="0" rtlCol="0" anchor="ctr"/>
          <a:lstStyle/>
          <a:p>
            <a:pPr marL="0" indent="0">
              <a:buNone/>
            </a:pPr>
            <a:r>
              <a:rPr lang="en-US" sz="1550" b="1" dirty="0">
                <a:solidFill>
                  <a:srgbClr val="132226"/>
                </a:solidFill>
              </a:rPr>
              <a:t>Database health false</a:t>
            </a:r>
            <a:endParaRPr lang="en-US" sz="1550" dirty="0"/>
          </a:p>
        </p:txBody>
      </p:sp>
      <p:sp>
        <p:nvSpPr>
          <p:cNvPr id="26" name="Text 24"/>
          <p:cNvSpPr txBox="1"/>
          <p:nvPr/>
        </p:nvSpPr>
        <p:spPr>
          <a:xfrm>
            <a:off x="1325880" y="3739896"/>
            <a:ext cx="594360" cy="274320"/>
          </a:xfrm>
          <a:prstGeom prst="rect">
            <a:avLst/>
          </a:prstGeom>
          <a:noFill/>
          <a:ln/>
        </p:spPr>
        <p:txBody>
          <a:bodyPr wrap="square" lIns="0" tIns="0" rIns="0" bIns="0" rtlCol="0" anchor="ctr"/>
          <a:lstStyle/>
          <a:p>
            <a:pPr marL="0" indent="0">
              <a:buNone/>
            </a:pPr>
            <a:r>
              <a:rPr lang="en-US" sz="1000" b="1" kern="0" spc="100" dirty="0">
                <a:solidFill>
                  <a:srgbClr val="D9482B"/>
                </a:solidFill>
              </a:rPr>
              <a:t>CAUSE</a:t>
            </a:r>
            <a:endParaRPr lang="en-US" sz="1000" dirty="0"/>
          </a:p>
        </p:txBody>
      </p:sp>
      <p:sp>
        <p:nvSpPr>
          <p:cNvPr id="27" name="Text 25"/>
          <p:cNvSpPr txBox="1"/>
          <p:nvPr/>
        </p:nvSpPr>
        <p:spPr>
          <a:xfrm>
            <a:off x="1965960" y="3721608"/>
            <a:ext cx="3886200" cy="329184"/>
          </a:xfrm>
          <a:prstGeom prst="rect">
            <a:avLst/>
          </a:prstGeom>
          <a:noFill/>
          <a:ln/>
        </p:spPr>
        <p:txBody>
          <a:bodyPr wrap="square" lIns="0" tIns="0" rIns="0" bIns="0" rtlCol="0" anchor="ctr"/>
          <a:lstStyle/>
          <a:p>
            <a:pPr marL="0" indent="0">
              <a:buNone/>
            </a:pPr>
            <a:r>
              <a:rPr lang="en-US" sz="1250" dirty="0">
                <a:solidFill>
                  <a:srgbClr val="4A5B5E"/>
                </a:solidFill>
              </a:rPr>
              <a:t>RDS required secure transport</a:t>
            </a:r>
            <a:endParaRPr lang="en-US" sz="1250" dirty="0"/>
          </a:p>
        </p:txBody>
      </p:sp>
      <p:sp>
        <p:nvSpPr>
          <p:cNvPr id="28" name="Text 26"/>
          <p:cNvSpPr txBox="1"/>
          <p:nvPr/>
        </p:nvSpPr>
        <p:spPr>
          <a:xfrm>
            <a:off x="1325880" y="4069080"/>
            <a:ext cx="594360" cy="274320"/>
          </a:xfrm>
          <a:prstGeom prst="rect">
            <a:avLst/>
          </a:prstGeom>
          <a:noFill/>
          <a:ln/>
        </p:spPr>
        <p:txBody>
          <a:bodyPr wrap="square" lIns="0" tIns="0" rIns="0" bIns="0" rtlCol="0" anchor="ctr"/>
          <a:lstStyle/>
          <a:p>
            <a:pPr marL="0" indent="0">
              <a:buNone/>
            </a:pPr>
            <a:r>
              <a:rPr lang="en-US" sz="1000" b="1" kern="0" spc="100" dirty="0">
                <a:solidFill>
                  <a:srgbClr val="1F9A82"/>
                </a:solidFill>
              </a:rPr>
              <a:t>FIX</a:t>
            </a:r>
            <a:endParaRPr lang="en-US" sz="1000" dirty="0"/>
          </a:p>
        </p:txBody>
      </p:sp>
      <p:sp>
        <p:nvSpPr>
          <p:cNvPr id="29" name="Text 27"/>
          <p:cNvSpPr txBox="1"/>
          <p:nvPr/>
        </p:nvSpPr>
        <p:spPr>
          <a:xfrm>
            <a:off x="1965960" y="4050792"/>
            <a:ext cx="3886200" cy="329184"/>
          </a:xfrm>
          <a:prstGeom prst="rect">
            <a:avLst/>
          </a:prstGeom>
          <a:noFill/>
          <a:ln/>
        </p:spPr>
        <p:txBody>
          <a:bodyPr wrap="square" lIns="0" tIns="0" rIns="0" bIns="0" rtlCol="0" anchor="ctr"/>
          <a:lstStyle/>
          <a:p>
            <a:pPr marL="0" indent="0">
              <a:buNone/>
            </a:pPr>
            <a:r>
              <a:rPr lang="en-US" sz="1250" dirty="0">
                <a:solidFill>
                  <a:srgbClr val="132226"/>
                </a:solidFill>
              </a:rPr>
              <a:t>Verified RDS TLS in the real application</a:t>
            </a:r>
            <a:endParaRPr lang="en-US" sz="1250" dirty="0"/>
          </a:p>
        </p:txBody>
      </p:sp>
      <p:sp>
        <p:nvSpPr>
          <p:cNvPr id="30" name="card"/>
          <p:cNvSpPr/>
          <p:nvPr/>
        </p:nvSpPr>
        <p:spPr>
          <a:xfrm>
            <a:off x="6185916" y="3063240"/>
            <a:ext cx="5454396"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31" name="number"/>
          <p:cNvSpPr/>
          <p:nvPr/>
        </p:nvSpPr>
        <p:spPr>
          <a:xfrm>
            <a:off x="6387084" y="3227832"/>
            <a:ext cx="420624" cy="420624"/>
          </a:xfrm>
          <a:prstGeom prst="ellipse">
            <a:avLst/>
          </a:prstGeom>
          <a:solidFill>
            <a:schemeClr val="tx2"/>
          </a:solidFill>
          <a:ln/>
        </p:spPr>
      </p:sp>
      <p:sp>
        <p:nvSpPr>
          <p:cNvPr id="32" name="Text 30"/>
          <p:cNvSpPr txBox="1"/>
          <p:nvPr/>
        </p:nvSpPr>
        <p:spPr>
          <a:xfrm>
            <a:off x="6387084" y="3227832"/>
            <a:ext cx="420624" cy="420624"/>
          </a:xfrm>
          <a:prstGeom prst="rect">
            <a:avLst/>
          </a:prstGeom>
          <a:noFill/>
          <a:ln/>
        </p:spPr>
        <p:txBody>
          <a:bodyPr wrap="square" lIns="0" tIns="0" rIns="0" bIns="0" rtlCol="0" anchor="ctr"/>
          <a:lstStyle/>
          <a:p>
            <a:pPr marL="0" indent="0" algn="ctr">
              <a:buNone/>
            </a:pPr>
            <a:r>
              <a:rPr lang="en-US" sz="1250" b="1" dirty="0">
                <a:solidFill>
                  <a:srgbClr val="F2A541"/>
                </a:solidFill>
              </a:rPr>
              <a:t>04</a:t>
            </a:r>
            <a:endParaRPr lang="en-US" sz="1250" dirty="0"/>
          </a:p>
        </p:txBody>
      </p:sp>
      <p:sp>
        <p:nvSpPr>
          <p:cNvPr id="33" name="Text 31"/>
          <p:cNvSpPr txBox="1"/>
          <p:nvPr/>
        </p:nvSpPr>
        <p:spPr>
          <a:xfrm>
            <a:off x="6963156" y="3227832"/>
            <a:ext cx="4526280" cy="420624"/>
          </a:xfrm>
          <a:prstGeom prst="rect">
            <a:avLst/>
          </a:prstGeom>
          <a:noFill/>
          <a:ln/>
        </p:spPr>
        <p:txBody>
          <a:bodyPr wrap="square" lIns="0" tIns="0" rIns="0" bIns="0" rtlCol="0" anchor="ctr"/>
          <a:lstStyle/>
          <a:p>
            <a:pPr marL="0" indent="0">
              <a:buNone/>
            </a:pPr>
            <a:r>
              <a:rPr lang="en-US" sz="1550" b="1" dirty="0">
                <a:solidFill>
                  <a:srgbClr val="132226"/>
                </a:solidFill>
              </a:rPr>
              <a:t>DLQ alarm fired immediately</a:t>
            </a:r>
            <a:endParaRPr lang="en-US" sz="1550" dirty="0"/>
          </a:p>
        </p:txBody>
      </p:sp>
      <p:sp>
        <p:nvSpPr>
          <p:cNvPr id="34" name="Text 32"/>
          <p:cNvSpPr txBox="1"/>
          <p:nvPr/>
        </p:nvSpPr>
        <p:spPr>
          <a:xfrm>
            <a:off x="6963156" y="3739896"/>
            <a:ext cx="594360" cy="274320"/>
          </a:xfrm>
          <a:prstGeom prst="rect">
            <a:avLst/>
          </a:prstGeom>
          <a:noFill/>
          <a:ln/>
        </p:spPr>
        <p:txBody>
          <a:bodyPr wrap="square" lIns="0" tIns="0" rIns="0" bIns="0" rtlCol="0" anchor="ctr"/>
          <a:lstStyle/>
          <a:p>
            <a:pPr marL="0" indent="0">
              <a:buNone/>
            </a:pPr>
            <a:r>
              <a:rPr lang="en-US" sz="1000" b="1" kern="0" spc="100" dirty="0">
                <a:solidFill>
                  <a:srgbClr val="D9482B"/>
                </a:solidFill>
              </a:rPr>
              <a:t>CAUSE</a:t>
            </a:r>
            <a:endParaRPr lang="en-US" sz="1000" dirty="0"/>
          </a:p>
        </p:txBody>
      </p:sp>
      <p:sp>
        <p:nvSpPr>
          <p:cNvPr id="35" name="Text 33"/>
          <p:cNvSpPr txBox="1"/>
          <p:nvPr/>
        </p:nvSpPr>
        <p:spPr>
          <a:xfrm>
            <a:off x="7603236" y="3721608"/>
            <a:ext cx="3886200" cy="329184"/>
          </a:xfrm>
          <a:prstGeom prst="rect">
            <a:avLst/>
          </a:prstGeom>
          <a:noFill/>
          <a:ln/>
        </p:spPr>
        <p:txBody>
          <a:bodyPr wrap="square" lIns="0" tIns="0" rIns="0" bIns="0" rtlCol="0" anchor="ctr"/>
          <a:lstStyle/>
          <a:p>
            <a:pPr marL="0" indent="0">
              <a:buNone/>
            </a:pPr>
            <a:r>
              <a:rPr lang="en-US" sz="1250" dirty="0">
                <a:solidFill>
                  <a:srgbClr val="4A5B5E"/>
                </a:solidFill>
              </a:rPr>
              <a:t>Controlled M7 test messages were still queued</a:t>
            </a:r>
            <a:endParaRPr lang="en-US" sz="1250" dirty="0"/>
          </a:p>
        </p:txBody>
      </p:sp>
      <p:sp>
        <p:nvSpPr>
          <p:cNvPr id="36" name="Text 34"/>
          <p:cNvSpPr txBox="1"/>
          <p:nvPr/>
        </p:nvSpPr>
        <p:spPr>
          <a:xfrm>
            <a:off x="6963156" y="4069080"/>
            <a:ext cx="594360" cy="274320"/>
          </a:xfrm>
          <a:prstGeom prst="rect">
            <a:avLst/>
          </a:prstGeom>
          <a:noFill/>
          <a:ln/>
        </p:spPr>
        <p:txBody>
          <a:bodyPr wrap="square" lIns="0" tIns="0" rIns="0" bIns="0" rtlCol="0" anchor="ctr"/>
          <a:lstStyle/>
          <a:p>
            <a:pPr marL="0" indent="0">
              <a:buNone/>
            </a:pPr>
            <a:r>
              <a:rPr lang="en-US" sz="1000" b="1" kern="0" spc="100" dirty="0">
                <a:solidFill>
                  <a:srgbClr val="1F9A82"/>
                </a:solidFill>
              </a:rPr>
              <a:t>FIX</a:t>
            </a:r>
            <a:endParaRPr lang="en-US" sz="1000" dirty="0"/>
          </a:p>
        </p:txBody>
      </p:sp>
      <p:sp>
        <p:nvSpPr>
          <p:cNvPr id="37" name="Text 35"/>
          <p:cNvSpPr txBox="1"/>
          <p:nvPr/>
        </p:nvSpPr>
        <p:spPr>
          <a:xfrm>
            <a:off x="7603236" y="4050792"/>
            <a:ext cx="3886200" cy="329184"/>
          </a:xfrm>
          <a:prstGeom prst="rect">
            <a:avLst/>
          </a:prstGeom>
          <a:noFill/>
          <a:ln/>
        </p:spPr>
        <p:txBody>
          <a:bodyPr wrap="square" lIns="0" tIns="0" rIns="0" bIns="0" rtlCol="0" anchor="ctr"/>
          <a:lstStyle/>
          <a:p>
            <a:pPr marL="0" indent="0">
              <a:buNone/>
            </a:pPr>
            <a:r>
              <a:rPr lang="en-US" sz="1250" dirty="0">
                <a:solidFill>
                  <a:srgbClr val="132226"/>
                </a:solidFill>
              </a:rPr>
              <a:t>Explained the backlog, purged, observed ALARM → OK</a:t>
            </a:r>
            <a:endParaRPr lang="en-US" sz="1250" dirty="0"/>
          </a:p>
        </p:txBody>
      </p:sp>
      <p:sp>
        <p:nvSpPr>
          <p:cNvPr id="38" name="card"/>
          <p:cNvSpPr/>
          <p:nvPr/>
        </p:nvSpPr>
        <p:spPr>
          <a:xfrm>
            <a:off x="548640" y="4663440"/>
            <a:ext cx="5454396"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39" name="number"/>
          <p:cNvSpPr/>
          <p:nvPr/>
        </p:nvSpPr>
        <p:spPr>
          <a:xfrm>
            <a:off x="749808" y="4828032"/>
            <a:ext cx="420624" cy="420624"/>
          </a:xfrm>
          <a:prstGeom prst="ellipse">
            <a:avLst/>
          </a:prstGeom>
          <a:solidFill>
            <a:schemeClr val="tx2"/>
          </a:solidFill>
          <a:ln/>
        </p:spPr>
      </p:sp>
      <p:sp>
        <p:nvSpPr>
          <p:cNvPr id="40" name="Text 38"/>
          <p:cNvSpPr txBox="1"/>
          <p:nvPr/>
        </p:nvSpPr>
        <p:spPr>
          <a:xfrm>
            <a:off x="749808" y="4828032"/>
            <a:ext cx="420624" cy="420624"/>
          </a:xfrm>
          <a:prstGeom prst="rect">
            <a:avLst/>
          </a:prstGeom>
          <a:noFill/>
          <a:ln/>
        </p:spPr>
        <p:txBody>
          <a:bodyPr wrap="square" lIns="0" tIns="0" rIns="0" bIns="0" rtlCol="0" anchor="ctr"/>
          <a:lstStyle/>
          <a:p>
            <a:pPr marL="0" indent="0" algn="ctr">
              <a:buNone/>
            </a:pPr>
            <a:r>
              <a:rPr lang="en-US" sz="1250" b="1" dirty="0">
                <a:solidFill>
                  <a:srgbClr val="F2A541"/>
                </a:solidFill>
              </a:rPr>
              <a:t>05</a:t>
            </a:r>
            <a:endParaRPr lang="en-US" sz="1250" dirty="0"/>
          </a:p>
        </p:txBody>
      </p:sp>
      <p:sp>
        <p:nvSpPr>
          <p:cNvPr id="41" name="Text 39"/>
          <p:cNvSpPr txBox="1"/>
          <p:nvPr/>
        </p:nvSpPr>
        <p:spPr>
          <a:xfrm>
            <a:off x="1325880" y="4828032"/>
            <a:ext cx="4526280" cy="420624"/>
          </a:xfrm>
          <a:prstGeom prst="rect">
            <a:avLst/>
          </a:prstGeom>
          <a:noFill/>
          <a:ln/>
        </p:spPr>
        <p:txBody>
          <a:bodyPr wrap="square" lIns="0" tIns="0" rIns="0" bIns="0" rtlCol="0" anchor="ctr"/>
          <a:lstStyle/>
          <a:p>
            <a:pPr marL="0" indent="0">
              <a:buNone/>
            </a:pPr>
            <a:r>
              <a:rPr lang="en-US" sz="1550" b="1" dirty="0">
                <a:solidFill>
                  <a:srgbClr val="132226"/>
                </a:solidFill>
              </a:rPr>
              <a:t>Trivy blocked deployment</a:t>
            </a:r>
            <a:endParaRPr lang="en-US" sz="1550" dirty="0"/>
          </a:p>
        </p:txBody>
      </p:sp>
      <p:sp>
        <p:nvSpPr>
          <p:cNvPr id="42" name="Text 40"/>
          <p:cNvSpPr txBox="1"/>
          <p:nvPr/>
        </p:nvSpPr>
        <p:spPr>
          <a:xfrm>
            <a:off x="1325880" y="5340096"/>
            <a:ext cx="594360" cy="274320"/>
          </a:xfrm>
          <a:prstGeom prst="rect">
            <a:avLst/>
          </a:prstGeom>
          <a:noFill/>
          <a:ln/>
        </p:spPr>
        <p:txBody>
          <a:bodyPr wrap="square" lIns="0" tIns="0" rIns="0" bIns="0" rtlCol="0" anchor="ctr"/>
          <a:lstStyle/>
          <a:p>
            <a:pPr marL="0" indent="0">
              <a:buNone/>
            </a:pPr>
            <a:r>
              <a:rPr lang="en-US" sz="1000" b="1" kern="0" spc="100" dirty="0">
                <a:solidFill>
                  <a:srgbClr val="D9482B"/>
                </a:solidFill>
              </a:rPr>
              <a:t>CAUSE</a:t>
            </a:r>
            <a:endParaRPr lang="en-US" sz="1000" dirty="0"/>
          </a:p>
        </p:txBody>
      </p:sp>
      <p:sp>
        <p:nvSpPr>
          <p:cNvPr id="43" name="Text 41"/>
          <p:cNvSpPr txBox="1"/>
          <p:nvPr/>
        </p:nvSpPr>
        <p:spPr>
          <a:xfrm>
            <a:off x="1965960" y="5321808"/>
            <a:ext cx="3886200" cy="329184"/>
          </a:xfrm>
          <a:prstGeom prst="rect">
            <a:avLst/>
          </a:prstGeom>
          <a:noFill/>
          <a:ln/>
        </p:spPr>
        <p:txBody>
          <a:bodyPr wrap="square" lIns="0" tIns="0" rIns="0" bIns="0" rtlCol="0" anchor="ctr"/>
          <a:lstStyle/>
          <a:p>
            <a:pPr marL="0" indent="0">
              <a:buNone/>
            </a:pPr>
            <a:r>
              <a:rPr lang="en-US" sz="1250" dirty="0">
                <a:solidFill>
                  <a:srgbClr val="4A5B5E"/>
                </a:solidFill>
              </a:rPr>
              <a:t>CRITICAL vulnerable tar package in the old base image</a:t>
            </a:r>
            <a:endParaRPr lang="en-US" sz="1250" dirty="0"/>
          </a:p>
        </p:txBody>
      </p:sp>
      <p:sp>
        <p:nvSpPr>
          <p:cNvPr id="44" name="Text 42"/>
          <p:cNvSpPr txBox="1"/>
          <p:nvPr/>
        </p:nvSpPr>
        <p:spPr>
          <a:xfrm>
            <a:off x="1325880" y="5669280"/>
            <a:ext cx="594360" cy="274320"/>
          </a:xfrm>
          <a:prstGeom prst="rect">
            <a:avLst/>
          </a:prstGeom>
          <a:noFill/>
          <a:ln/>
        </p:spPr>
        <p:txBody>
          <a:bodyPr wrap="square" lIns="0" tIns="0" rIns="0" bIns="0" rtlCol="0" anchor="ctr"/>
          <a:lstStyle/>
          <a:p>
            <a:pPr marL="0" indent="0">
              <a:buNone/>
            </a:pPr>
            <a:r>
              <a:rPr lang="en-US" sz="1000" b="1" kern="0" spc="100" dirty="0">
                <a:solidFill>
                  <a:srgbClr val="1F9A82"/>
                </a:solidFill>
              </a:rPr>
              <a:t>FIX</a:t>
            </a:r>
            <a:endParaRPr lang="en-US" sz="1000" dirty="0"/>
          </a:p>
        </p:txBody>
      </p:sp>
      <p:sp>
        <p:nvSpPr>
          <p:cNvPr id="45" name="Text 43"/>
          <p:cNvSpPr txBox="1"/>
          <p:nvPr/>
        </p:nvSpPr>
        <p:spPr>
          <a:xfrm>
            <a:off x="1965960" y="5650992"/>
            <a:ext cx="3886200" cy="329184"/>
          </a:xfrm>
          <a:prstGeom prst="rect">
            <a:avLst/>
          </a:prstGeom>
          <a:noFill/>
          <a:ln/>
        </p:spPr>
        <p:txBody>
          <a:bodyPr wrap="square" lIns="0" tIns="0" rIns="0" bIns="0" rtlCol="0" anchor="ctr"/>
          <a:lstStyle/>
          <a:p>
            <a:pPr marL="0" indent="0">
              <a:buNone/>
            </a:pPr>
            <a:r>
              <a:rPr lang="en-US" sz="1250" dirty="0">
                <a:solidFill>
                  <a:srgbClr val="132226"/>
                </a:solidFill>
              </a:rPr>
              <a:t>Upgraded the image to Node 24; kept the gate strict</a:t>
            </a:r>
            <a:endParaRPr lang="en-US" sz="1250" dirty="0"/>
          </a:p>
        </p:txBody>
      </p:sp>
      <p:sp>
        <p:nvSpPr>
          <p:cNvPr id="46" name="card"/>
          <p:cNvSpPr/>
          <p:nvPr/>
        </p:nvSpPr>
        <p:spPr>
          <a:xfrm>
            <a:off x="6185916" y="4663440"/>
            <a:ext cx="5454396" cy="1444752"/>
          </a:xfrm>
          <a:prstGeom prst="roundRect">
            <a:avLst>
              <a:gd name="adj" fmla="val 6329"/>
            </a:avLst>
          </a:prstGeom>
          <a:solidFill>
            <a:srgbClr val="FFFFFF"/>
          </a:solidFill>
          <a:ln/>
          <a:effectLst>
            <a:outerShdw blurRad="114300" dist="25400" dir="5400000" algn="bl" rotWithShape="0">
              <a:srgbClr val="0E3B43">
                <a:alpha val="13000"/>
              </a:srgbClr>
            </a:outerShdw>
          </a:effectLst>
        </p:spPr>
      </p:sp>
      <p:sp>
        <p:nvSpPr>
          <p:cNvPr id="47" name="number"/>
          <p:cNvSpPr/>
          <p:nvPr/>
        </p:nvSpPr>
        <p:spPr>
          <a:xfrm>
            <a:off x="6387084" y="4828032"/>
            <a:ext cx="420624" cy="420624"/>
          </a:xfrm>
          <a:prstGeom prst="ellipse">
            <a:avLst/>
          </a:prstGeom>
          <a:solidFill>
            <a:schemeClr val="tx2"/>
          </a:solidFill>
          <a:ln/>
        </p:spPr>
      </p:sp>
      <p:sp>
        <p:nvSpPr>
          <p:cNvPr id="48" name="Text 46"/>
          <p:cNvSpPr txBox="1"/>
          <p:nvPr/>
        </p:nvSpPr>
        <p:spPr>
          <a:xfrm>
            <a:off x="6387084" y="4828032"/>
            <a:ext cx="420624" cy="420624"/>
          </a:xfrm>
          <a:prstGeom prst="rect">
            <a:avLst/>
          </a:prstGeom>
          <a:noFill/>
          <a:ln/>
        </p:spPr>
        <p:txBody>
          <a:bodyPr wrap="square" lIns="0" tIns="0" rIns="0" bIns="0" rtlCol="0" anchor="ctr"/>
          <a:lstStyle/>
          <a:p>
            <a:pPr marL="0" indent="0" algn="ctr">
              <a:buNone/>
            </a:pPr>
            <a:r>
              <a:rPr lang="en-US" sz="1250" b="1" dirty="0">
                <a:solidFill>
                  <a:srgbClr val="F2A541"/>
                </a:solidFill>
              </a:rPr>
              <a:t>06</a:t>
            </a:r>
            <a:endParaRPr lang="en-US" sz="1250" dirty="0"/>
          </a:p>
        </p:txBody>
      </p:sp>
      <p:sp>
        <p:nvSpPr>
          <p:cNvPr id="49" name="Text 47"/>
          <p:cNvSpPr txBox="1"/>
          <p:nvPr/>
        </p:nvSpPr>
        <p:spPr>
          <a:xfrm>
            <a:off x="6963156" y="4828032"/>
            <a:ext cx="4526280" cy="420624"/>
          </a:xfrm>
          <a:prstGeom prst="rect">
            <a:avLst/>
          </a:prstGeom>
          <a:noFill/>
          <a:ln/>
        </p:spPr>
        <p:txBody>
          <a:bodyPr wrap="square" lIns="0" tIns="0" rIns="0" bIns="0" rtlCol="0" anchor="ctr"/>
          <a:lstStyle/>
          <a:p>
            <a:pPr marL="0" indent="0">
              <a:buNone/>
            </a:pPr>
            <a:r>
              <a:rPr lang="en-US" sz="1550" b="1" dirty="0">
                <a:solidFill>
                  <a:srgbClr val="132226"/>
                </a:solidFill>
              </a:rPr>
              <a:t>Cost seemed to be “EC2 – Other”</a:t>
            </a:r>
            <a:endParaRPr lang="en-US" sz="1550" dirty="0"/>
          </a:p>
        </p:txBody>
      </p:sp>
      <p:sp>
        <p:nvSpPr>
          <p:cNvPr id="50" name="Text 48"/>
          <p:cNvSpPr txBox="1"/>
          <p:nvPr/>
        </p:nvSpPr>
        <p:spPr>
          <a:xfrm>
            <a:off x="6963156" y="5340096"/>
            <a:ext cx="594360" cy="274320"/>
          </a:xfrm>
          <a:prstGeom prst="rect">
            <a:avLst/>
          </a:prstGeom>
          <a:noFill/>
          <a:ln/>
        </p:spPr>
        <p:txBody>
          <a:bodyPr wrap="square" lIns="0" tIns="0" rIns="0" bIns="0" rtlCol="0" anchor="ctr"/>
          <a:lstStyle/>
          <a:p>
            <a:pPr marL="0" indent="0">
              <a:buNone/>
            </a:pPr>
            <a:r>
              <a:rPr lang="en-US" sz="1000" b="1" kern="0" spc="100" dirty="0">
                <a:solidFill>
                  <a:srgbClr val="D9482B"/>
                </a:solidFill>
              </a:rPr>
              <a:t>CAUSE</a:t>
            </a:r>
            <a:endParaRPr lang="en-US" sz="1000" dirty="0"/>
          </a:p>
        </p:txBody>
      </p:sp>
      <p:sp>
        <p:nvSpPr>
          <p:cNvPr id="51" name="Text 49"/>
          <p:cNvSpPr txBox="1"/>
          <p:nvPr/>
        </p:nvSpPr>
        <p:spPr>
          <a:xfrm>
            <a:off x="7603236" y="5321808"/>
            <a:ext cx="3886200" cy="329184"/>
          </a:xfrm>
          <a:prstGeom prst="rect">
            <a:avLst/>
          </a:prstGeom>
          <a:noFill/>
          <a:ln/>
        </p:spPr>
        <p:txBody>
          <a:bodyPr wrap="square" lIns="0" tIns="0" rIns="0" bIns="0" rtlCol="0" anchor="ctr"/>
          <a:lstStyle/>
          <a:p>
            <a:pPr marL="0" indent="0">
              <a:buNone/>
            </a:pPr>
            <a:r>
              <a:rPr lang="en-US" sz="1250" dirty="0">
                <a:solidFill>
                  <a:srgbClr val="4A5B5E"/>
                </a:solidFill>
              </a:rPr>
              <a:t>The billing category hid networking usage</a:t>
            </a:r>
            <a:endParaRPr lang="en-US" sz="1250" dirty="0"/>
          </a:p>
        </p:txBody>
      </p:sp>
      <p:sp>
        <p:nvSpPr>
          <p:cNvPr id="52" name="Text 50"/>
          <p:cNvSpPr txBox="1"/>
          <p:nvPr/>
        </p:nvSpPr>
        <p:spPr>
          <a:xfrm>
            <a:off x="6963156" y="5669280"/>
            <a:ext cx="594360" cy="274320"/>
          </a:xfrm>
          <a:prstGeom prst="rect">
            <a:avLst/>
          </a:prstGeom>
          <a:noFill/>
          <a:ln/>
        </p:spPr>
        <p:txBody>
          <a:bodyPr wrap="square" lIns="0" tIns="0" rIns="0" bIns="0" rtlCol="0" anchor="ctr"/>
          <a:lstStyle/>
          <a:p>
            <a:pPr marL="0" indent="0">
              <a:buNone/>
            </a:pPr>
            <a:r>
              <a:rPr lang="en-US" sz="1000" b="1" kern="0" spc="100" dirty="0">
                <a:solidFill>
                  <a:srgbClr val="1F9A82"/>
                </a:solidFill>
              </a:rPr>
              <a:t>FIX</a:t>
            </a:r>
            <a:endParaRPr lang="en-US" sz="1000" dirty="0"/>
          </a:p>
        </p:txBody>
      </p:sp>
      <p:sp>
        <p:nvSpPr>
          <p:cNvPr id="53" name="Text 51"/>
          <p:cNvSpPr txBox="1"/>
          <p:nvPr/>
        </p:nvSpPr>
        <p:spPr>
          <a:xfrm>
            <a:off x="7603236" y="5650992"/>
            <a:ext cx="3886200" cy="329184"/>
          </a:xfrm>
          <a:prstGeom prst="rect">
            <a:avLst/>
          </a:prstGeom>
          <a:noFill/>
          <a:ln/>
        </p:spPr>
        <p:txBody>
          <a:bodyPr wrap="square" lIns="0" tIns="0" rIns="0" bIns="0" rtlCol="0" anchor="ctr"/>
          <a:lstStyle/>
          <a:p>
            <a:pPr marL="0" indent="0">
              <a:buNone/>
            </a:pPr>
            <a:r>
              <a:rPr lang="en-US" sz="1250" dirty="0">
                <a:solidFill>
                  <a:srgbClr val="132226"/>
                </a:solidFill>
              </a:rPr>
              <a:t>Drilled into usage type — found NAT Gateway hours</a:t>
            </a:r>
            <a:endParaRPr lang="en-US" sz="1250" dirty="0"/>
          </a:p>
        </p:txBody>
      </p:sp>
      <p:sp>
        <p:nvSpPr>
          <p:cNvPr id="54"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Final architecture decisions &amp; trade-offs</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I optimized for a defensible production-style design, not the lowest possible sandbox bill.</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Decisions</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4480560"/>
        </p:xfrm>
        <a:graphic>
          <a:graphicData uri="http://schemas.openxmlformats.org/drawingml/2006/table">
            <a:tbl>
              <a:tblPr/>
              <a:tblGrid>
                <a:gridCol w="219456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364992">
                  <a:extLst>
                    <a:ext uri="{9D8B030D-6E8A-4147-A177-3AD203B41FA5}">
                      <a16:colId xmlns:a16="http://schemas.microsoft.com/office/drawing/2014/main" val="20003"/>
                    </a:ext>
                  </a:extLst>
                </a:gridCol>
              </a:tblGrid>
              <a:tr h="457200">
                <a:tc>
                  <a:txBody>
                    <a:bodyPr/>
                    <a:lstStyle/>
                    <a:p>
                      <a:pPr marL="0" indent="0">
                        <a:buNone/>
                      </a:pPr>
                      <a:r>
                        <a:rPr lang="en-US" sz="1350" b="1" dirty="0">
                          <a:solidFill>
                            <a:srgbClr val="FFFFFF"/>
                          </a:solidFill>
                        </a:rPr>
                        <a:t>Decision</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0E3B43"/>
                    </a:solidFill>
                  </a:tcPr>
                </a:tc>
                <a:tc>
                  <a:txBody>
                    <a:bodyPr/>
                    <a:lstStyle/>
                    <a:p>
                      <a:pPr marL="0" indent="0">
                        <a:buNone/>
                      </a:pPr>
                      <a:r>
                        <a:rPr lang="en-US" sz="1350" b="1" dirty="0">
                          <a:solidFill>
                            <a:srgbClr val="FFFFFF"/>
                          </a:solidFill>
                        </a:rPr>
                        <a:t>Benefit</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0E3B43"/>
                    </a:solidFill>
                  </a:tcPr>
                </a:tc>
                <a:tc>
                  <a:txBody>
                    <a:bodyPr/>
                    <a:lstStyle/>
                    <a:p>
                      <a:pPr marL="0" indent="0">
                        <a:buNone/>
                      </a:pPr>
                      <a:r>
                        <a:rPr lang="en-US" sz="1350" b="1" dirty="0">
                          <a:solidFill>
                            <a:srgbClr val="FFFFFF"/>
                          </a:solidFill>
                        </a:rPr>
                        <a:t>Trade-off</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0E3B43"/>
                    </a:solidFill>
                  </a:tcPr>
                </a:tc>
                <a:tc>
                  <a:txBody>
                    <a:bodyPr/>
                    <a:lstStyle/>
                    <a:p>
                      <a:pPr marL="0" indent="0">
                        <a:buNone/>
                      </a:pPr>
                      <a:r>
                        <a:rPr lang="en-US" sz="1350" b="1" dirty="0">
                          <a:solidFill>
                            <a:srgbClr val="FFFFFF"/>
                          </a:solidFill>
                        </a:rPr>
                        <a:t>Final choice</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0E3B43"/>
                    </a:solidFill>
                  </a:tcPr>
                </a:tc>
                <a:extLst>
                  <a:ext uri="{0D108BD9-81ED-4DB2-BD59-A6C34878D82A}">
                    <a16:rowId xmlns:a16="http://schemas.microsoft.com/office/drawing/2014/main" val="10000"/>
                  </a:ext>
                </a:extLst>
              </a:tr>
              <a:tr h="804672">
                <a:tc>
                  <a:txBody>
                    <a:bodyPr/>
                    <a:lstStyle/>
                    <a:p>
                      <a:pPr marL="0" indent="0">
                        <a:buNone/>
                      </a:pPr>
                      <a:r>
                        <a:rPr lang="en-US" sz="1350" b="1" dirty="0">
                          <a:solidFill>
                            <a:srgbClr val="0E3B43"/>
                          </a:solidFill>
                        </a:rPr>
                        <a:t>2 NAT Gateways</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FFFFFF"/>
                    </a:solidFill>
                  </a:tcPr>
                </a:tc>
                <a:tc>
                  <a:txBody>
                    <a:bodyPr/>
                    <a:lstStyle/>
                    <a:p>
                      <a:pPr marL="0" indent="0">
                        <a:buNone/>
                      </a:pPr>
                      <a:r>
                        <a:rPr lang="en-US" sz="1350" dirty="0">
                          <a:solidFill>
                            <a:srgbClr val="132226"/>
                          </a:solidFill>
                        </a:rPr>
                        <a:t>Same-AZ private egress, less AZ dependency</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FFFFFF"/>
                    </a:solidFill>
                  </a:tcPr>
                </a:tc>
                <a:tc>
                  <a:txBody>
                    <a:bodyPr/>
                    <a:lstStyle/>
                    <a:p>
                      <a:pPr marL="0" indent="0">
                        <a:buNone/>
                      </a:pPr>
                      <a:r>
                        <a:rPr lang="en-US" sz="1350" dirty="0">
                          <a:solidFill>
                            <a:srgbClr val="A8620A"/>
                          </a:solidFill>
                        </a:rPr>
                        <a:t>Higher fixed hourly cost</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FFFFFF"/>
                    </a:solidFill>
                  </a:tcPr>
                </a:tc>
                <a:tc>
                  <a:txBody>
                    <a:bodyPr/>
                    <a:lstStyle/>
                    <a:p>
                      <a:pPr marL="0" indent="0">
                        <a:buNone/>
                      </a:pPr>
                      <a:r>
                        <a:rPr lang="en-US" sz="1350" b="1" dirty="0">
                          <a:solidFill>
                            <a:srgbClr val="1F9A82"/>
                          </a:solidFill>
                        </a:rPr>
                        <a:t>Keep; single NAT is a dev-only option</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4672">
                <a:tc>
                  <a:txBody>
                    <a:bodyPr/>
                    <a:lstStyle/>
                    <a:p>
                      <a:pPr marL="0" indent="0">
                        <a:buNone/>
                      </a:pPr>
                      <a:r>
                        <a:rPr lang="en-US" sz="1350" b="1" dirty="0">
                          <a:solidFill>
                            <a:srgbClr val="0E3B43"/>
                          </a:solidFill>
                        </a:rPr>
                        <a:t>Multi-AZ MariaDB</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EEF4F3"/>
                    </a:solidFill>
                  </a:tcPr>
                </a:tc>
                <a:tc>
                  <a:txBody>
                    <a:bodyPr/>
                    <a:lstStyle/>
                    <a:p>
                      <a:pPr marL="0" indent="0">
                        <a:buNone/>
                      </a:pPr>
                      <a:r>
                        <a:rPr lang="en-US" sz="1350" dirty="0">
                          <a:solidFill>
                            <a:srgbClr val="132226"/>
                          </a:solidFill>
                        </a:rPr>
                        <a:t>Database failover and availability</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EEF4F3"/>
                    </a:solidFill>
                  </a:tcPr>
                </a:tc>
                <a:tc>
                  <a:txBody>
                    <a:bodyPr/>
                    <a:lstStyle/>
                    <a:p>
                      <a:pPr marL="0" indent="0">
                        <a:buNone/>
                      </a:pPr>
                      <a:r>
                        <a:rPr lang="en-US" sz="1350" dirty="0">
                          <a:solidFill>
                            <a:srgbClr val="A8620A"/>
                          </a:solidFill>
                        </a:rPr>
                        <a:t>Higher DB runtime cost</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EEF4F3"/>
                    </a:solidFill>
                  </a:tcPr>
                </a:tc>
                <a:tc>
                  <a:txBody>
                    <a:bodyPr/>
                    <a:lstStyle/>
                    <a:p>
                      <a:pPr marL="0" indent="0">
                        <a:buNone/>
                      </a:pPr>
                      <a:r>
                        <a:rPr lang="en-US" sz="1350" b="1" dirty="0">
                          <a:solidFill>
                            <a:srgbClr val="1F9A82"/>
                          </a:solidFill>
                        </a:rPr>
                        <a:t>Keep; Single-AZ only for cost-controlled dev</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EEF4F3"/>
                    </a:solidFill>
                  </a:tcPr>
                </a:tc>
                <a:extLst>
                  <a:ext uri="{0D108BD9-81ED-4DB2-BD59-A6C34878D82A}">
                    <a16:rowId xmlns:a16="http://schemas.microsoft.com/office/drawing/2014/main" val="10002"/>
                  </a:ext>
                </a:extLst>
              </a:tr>
              <a:tr h="804672">
                <a:tc>
                  <a:txBody>
                    <a:bodyPr/>
                    <a:lstStyle/>
                    <a:p>
                      <a:pPr marL="0" indent="0">
                        <a:buNone/>
                      </a:pPr>
                      <a:r>
                        <a:rPr lang="en-US" sz="1350" b="1" dirty="0">
                          <a:solidFill>
                            <a:srgbClr val="0E3B43"/>
                          </a:solidFill>
                        </a:rPr>
                        <a:t>2 baseline ECS tasks</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FFFFFF"/>
                    </a:solidFill>
                  </a:tcPr>
                </a:tc>
                <a:tc>
                  <a:txBody>
                    <a:bodyPr/>
                    <a:lstStyle/>
                    <a:p>
                      <a:pPr marL="0" indent="0">
                        <a:buNone/>
                      </a:pPr>
                      <a:r>
                        <a:rPr lang="en-US" sz="1350" dirty="0">
                          <a:solidFill>
                            <a:srgbClr val="132226"/>
                          </a:solidFill>
                        </a:rPr>
                        <a:t>Availability + rolling-deployment headroom</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FFFFFF"/>
                    </a:solidFill>
                  </a:tcPr>
                </a:tc>
                <a:tc>
                  <a:txBody>
                    <a:bodyPr/>
                    <a:lstStyle/>
                    <a:p>
                      <a:pPr marL="0" indent="0">
                        <a:buNone/>
                      </a:pPr>
                      <a:r>
                        <a:rPr lang="en-US" sz="1350" dirty="0">
                          <a:solidFill>
                            <a:srgbClr val="A8620A"/>
                          </a:solidFill>
                        </a:rPr>
                        <a:t>More Fargate cost</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FFFFFF"/>
                    </a:solidFill>
                  </a:tcPr>
                </a:tc>
                <a:tc>
                  <a:txBody>
                    <a:bodyPr/>
                    <a:lstStyle/>
                    <a:p>
                      <a:pPr marL="0" indent="0">
                        <a:buNone/>
                      </a:pPr>
                      <a:r>
                        <a:rPr lang="en-US" sz="1350" b="1" dirty="0">
                          <a:solidFill>
                            <a:srgbClr val="1F9A82"/>
                          </a:solidFill>
                        </a:rPr>
                        <a:t>Keep; needed for a meaningful resilience proof</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04672">
                <a:tc>
                  <a:txBody>
                    <a:bodyPr/>
                    <a:lstStyle/>
                    <a:p>
                      <a:pPr marL="0" indent="0">
                        <a:buNone/>
                      </a:pPr>
                      <a:r>
                        <a:rPr lang="en-US" sz="1350" b="1" dirty="0">
                          <a:solidFill>
                            <a:srgbClr val="0E3B43"/>
                          </a:solidFill>
                        </a:rPr>
                        <a:t>Persistent Route 53</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EEF4F3"/>
                    </a:solidFill>
                  </a:tcPr>
                </a:tc>
                <a:tc>
                  <a:txBody>
                    <a:bodyPr/>
                    <a:lstStyle/>
                    <a:p>
                      <a:pPr marL="0" indent="0">
                        <a:buNone/>
                      </a:pPr>
                      <a:r>
                        <a:rPr lang="en-US" sz="1350" dirty="0">
                          <a:solidFill>
                            <a:srgbClr val="132226"/>
                          </a:solidFill>
                        </a:rPr>
                        <a:t>Stable public DNS across sandbox rebuilds</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EEF4F3"/>
                    </a:solidFill>
                  </a:tcPr>
                </a:tc>
                <a:tc>
                  <a:txBody>
                    <a:bodyPr/>
                    <a:lstStyle/>
                    <a:p>
                      <a:pPr marL="0" indent="0">
                        <a:buNone/>
                      </a:pPr>
                      <a:r>
                        <a:rPr lang="en-US" sz="1350" dirty="0">
                          <a:solidFill>
                            <a:srgbClr val="A8620A"/>
                          </a:solidFill>
                        </a:rPr>
                        <a:t>Cross-account recovery step</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EEF4F3"/>
                    </a:solidFill>
                  </a:tcPr>
                </a:tc>
                <a:tc>
                  <a:txBody>
                    <a:bodyPr/>
                    <a:lstStyle/>
                    <a:p>
                      <a:pPr marL="0" indent="0">
                        <a:buNone/>
                      </a:pPr>
                      <a:r>
                        <a:rPr lang="en-US" sz="1350" b="1" dirty="0">
                          <a:solidFill>
                            <a:srgbClr val="1F9A82"/>
                          </a:solidFill>
                        </a:rPr>
                        <a:t>Keep; enables a disposable workload account</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EEF4F3"/>
                    </a:solidFill>
                  </a:tcPr>
                </a:tc>
                <a:extLst>
                  <a:ext uri="{0D108BD9-81ED-4DB2-BD59-A6C34878D82A}">
                    <a16:rowId xmlns:a16="http://schemas.microsoft.com/office/drawing/2014/main" val="10004"/>
                  </a:ext>
                </a:extLst>
              </a:tr>
              <a:tr h="804672">
                <a:tc>
                  <a:txBody>
                    <a:bodyPr/>
                    <a:lstStyle/>
                    <a:p>
                      <a:pPr marL="0" indent="0">
                        <a:buNone/>
                      </a:pPr>
                      <a:r>
                        <a:rPr lang="en-US" sz="1350" b="1" dirty="0">
                          <a:solidFill>
                            <a:srgbClr val="0E3B43"/>
                          </a:solidFill>
                        </a:rPr>
                        <a:t>Strict Trivy gate</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FFFFFF"/>
                    </a:solidFill>
                  </a:tcPr>
                </a:tc>
                <a:tc>
                  <a:txBody>
                    <a:bodyPr/>
                    <a:lstStyle/>
                    <a:p>
                      <a:pPr marL="0" indent="0">
                        <a:buNone/>
                      </a:pPr>
                      <a:r>
                        <a:rPr lang="en-US" sz="1350" dirty="0">
                          <a:solidFill>
                            <a:srgbClr val="132226"/>
                          </a:solidFill>
                        </a:rPr>
                        <a:t>Blocks vulnerable releases</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FFFFFF"/>
                    </a:solidFill>
                  </a:tcPr>
                </a:tc>
                <a:tc>
                  <a:txBody>
                    <a:bodyPr/>
                    <a:lstStyle/>
                    <a:p>
                      <a:pPr marL="0" indent="0">
                        <a:buNone/>
                      </a:pPr>
                      <a:r>
                        <a:rPr lang="en-US" sz="1350" dirty="0">
                          <a:solidFill>
                            <a:srgbClr val="A8620A"/>
                          </a:solidFill>
                        </a:rPr>
                        <a:t>Can stop a deployment unexpectedly</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FFFFFF"/>
                    </a:solidFill>
                  </a:tcPr>
                </a:tc>
                <a:tc>
                  <a:txBody>
                    <a:bodyPr/>
                    <a:lstStyle/>
                    <a:p>
                      <a:pPr marL="0" indent="0">
                        <a:buNone/>
                      </a:pPr>
                      <a:r>
                        <a:rPr lang="en-US" sz="1350" b="1" dirty="0">
                          <a:solidFill>
                            <a:srgbClr val="1F9A82"/>
                          </a:solidFill>
                        </a:rPr>
                        <a:t>Keep; fix the root cause, never bypass the scan</a:t>
                      </a:r>
                      <a:endParaRPr lang="en-US" sz="1350" dirty="0"/>
                    </a:p>
                  </a:txBody>
                  <a:tcPr marL="127000" marR="127000" marT="50800" marB="50800" anchor="ctr">
                    <a:lnL w="6350" cap="flat" cmpd="sng" algn="ctr">
                      <a:solidFill>
                        <a:srgbClr val="D3E2E0"/>
                      </a:solidFill>
                      <a:prstDash val="solid"/>
                      <a:round/>
                      <a:headEnd type="none" w="med" len="med"/>
                      <a:tailEnd type="none" w="med" len="med"/>
                    </a:lnL>
                    <a:lnR w="6350" cap="flat" cmpd="sng" algn="ctr">
                      <a:solidFill>
                        <a:srgbClr val="D3E2E0"/>
                      </a:solidFill>
                      <a:prstDash val="solid"/>
                      <a:round/>
                      <a:headEnd type="none" w="med" len="med"/>
                      <a:tailEnd type="none" w="med" len="med"/>
                    </a:lnR>
                    <a:lnT w="6350" cap="flat" cmpd="sng" algn="ctr">
                      <a:solidFill>
                        <a:srgbClr val="D3E2E0"/>
                      </a:solidFill>
                      <a:prstDash val="solid"/>
                      <a:round/>
                      <a:headEnd type="none" w="med" len="med"/>
                      <a:tailEnd type="none" w="med" len="med"/>
                    </a:lnT>
                    <a:lnB w="6350" cap="flat" cmpd="sng" algn="ctr">
                      <a:solidFill>
                        <a:srgbClr val="D3E2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7772400" cy="685800"/>
          </a:xfrm>
          <a:prstGeom prst="rect">
            <a:avLst/>
          </a:prstGeom>
          <a:noFill/>
          <a:ln/>
        </p:spPr>
        <p:txBody>
          <a:bodyPr wrap="square" lIns="0" tIns="0" rIns="0" bIns="0" rtlCol="0" anchor="ctr"/>
          <a:lstStyle/>
          <a:p>
            <a:pPr marL="0" indent="0" algn="l">
              <a:buNone/>
            </a:pPr>
            <a:r>
              <a:rPr lang="en-US" sz="3600" b="1" dirty="0">
                <a:solidFill>
                  <a:schemeClr val="bg1"/>
                </a:solidFill>
              </a:rPr>
              <a:t>Key takeaway</a:t>
            </a:r>
            <a:endParaRPr lang="en-US" sz="3600" dirty="0"/>
          </a:p>
        </p:txBody>
      </p:sp>
      <p:sp>
        <p:nvSpPr>
          <p:cNvPr id="3" name="Text 1"/>
          <p:cNvSpPr txBox="1"/>
          <p:nvPr/>
        </p:nvSpPr>
        <p:spPr>
          <a:xfrm>
            <a:off x="548640" y="1188720"/>
            <a:ext cx="7863840" cy="868680"/>
          </a:xfrm>
          <a:prstGeom prst="rect">
            <a:avLst/>
          </a:prstGeom>
          <a:noFill/>
          <a:ln/>
        </p:spPr>
        <p:txBody>
          <a:bodyPr wrap="square" lIns="0" tIns="0" rIns="0" bIns="0" rtlCol="0" anchor="t"/>
          <a:lstStyle/>
          <a:p>
            <a:pPr marL="0" indent="0">
              <a:buNone/>
            </a:pPr>
            <a:r>
              <a:rPr lang="en-US" sz="1700" dirty="0">
                <a:solidFill>
                  <a:srgbClr val="9AD1D4"/>
                </a:solidFill>
              </a:rPr>
              <a:t>The final result is not a collection of AWS services. It is one platform that can be rebuilt, deployed, secured, observed, grounded with RAG, tested through failure — and explained with evidence.</a:t>
            </a:r>
            <a:endParaRPr lang="en-US" sz="1700" dirty="0"/>
          </a:p>
        </p:txBody>
      </p:sp>
      <p:sp>
        <p:nvSpPr>
          <p:cNvPr id="4" name="takeaway card"/>
          <p:cNvSpPr/>
          <p:nvPr/>
        </p:nvSpPr>
        <p:spPr>
          <a:xfrm>
            <a:off x="548640" y="2286000"/>
            <a:ext cx="2542032" cy="1234440"/>
          </a:xfrm>
          <a:prstGeom prst="roundRect">
            <a:avLst>
              <a:gd name="adj" fmla="val 7407"/>
            </a:avLst>
          </a:prstGeom>
          <a:solidFill>
            <a:srgbClr val="0E3B43">
              <a:alpha val="90000"/>
            </a:srgbClr>
          </a:solidFill>
          <a:ln w="12700">
            <a:solidFill>
              <a:srgbClr val="2E6A72"/>
            </a:solidFill>
            <a:prstDash val="solid"/>
          </a:ln>
        </p:spPr>
      </p:sp>
      <p:sp>
        <p:nvSpPr>
          <p:cNvPr id="5" name="Secure by design circle"/>
          <p:cNvSpPr/>
          <p:nvPr/>
        </p:nvSpPr>
        <p:spPr>
          <a:xfrm>
            <a:off x="713232" y="2450592"/>
            <a:ext cx="420624" cy="420624"/>
          </a:xfrm>
          <a:prstGeom prst="ellipse">
            <a:avLst/>
          </a:prstGeom>
          <a:solidFill>
            <a:schemeClr val="accent2"/>
          </a:solidFill>
          <a:ln/>
        </p:spPr>
      </p:sp>
      <p:pic>
        <p:nvPicPr>
          <p:cNvPr id="6" name="Secure by design" descr="preencoded.png"/>
          <p:cNvPicPr>
            <a:picLocks noChangeAspect="1"/>
          </p:cNvPicPr>
          <p:nvPr/>
        </p:nvPicPr>
        <p:blipFill>
          <a:blip r:embed="rId3"/>
          <a:stretch>
            <a:fillRect/>
          </a:stretch>
        </p:blipFill>
        <p:spPr>
          <a:xfrm>
            <a:off x="814182" y="2551542"/>
            <a:ext cx="218724" cy="218724"/>
          </a:xfrm>
          <a:prstGeom prst="rect">
            <a:avLst/>
          </a:prstGeom>
        </p:spPr>
      </p:pic>
      <p:sp>
        <p:nvSpPr>
          <p:cNvPr id="7" name="Text 4"/>
          <p:cNvSpPr txBox="1"/>
          <p:nvPr/>
        </p:nvSpPr>
        <p:spPr>
          <a:xfrm>
            <a:off x="1234440" y="2450592"/>
            <a:ext cx="1783080" cy="420624"/>
          </a:xfrm>
          <a:prstGeom prst="rect">
            <a:avLst/>
          </a:prstGeom>
          <a:noFill/>
          <a:ln/>
        </p:spPr>
        <p:txBody>
          <a:bodyPr wrap="square" lIns="0" tIns="0" rIns="0" bIns="0" rtlCol="0" anchor="ctr"/>
          <a:lstStyle/>
          <a:p>
            <a:pPr marL="0" indent="0">
              <a:buNone/>
            </a:pPr>
            <a:r>
              <a:rPr lang="en-US" sz="1500" b="1" dirty="0">
                <a:solidFill>
                  <a:srgbClr val="FFFFFF"/>
                </a:solidFill>
              </a:rPr>
              <a:t>Secure by design</a:t>
            </a:r>
            <a:endParaRPr lang="en-US" sz="1500" dirty="0"/>
          </a:p>
        </p:txBody>
      </p:sp>
      <p:sp>
        <p:nvSpPr>
          <p:cNvPr id="8" name="Text 5"/>
          <p:cNvSpPr txBox="1"/>
          <p:nvPr/>
        </p:nvSpPr>
        <p:spPr>
          <a:xfrm>
            <a:off x="713232" y="2971800"/>
            <a:ext cx="2286000" cy="502920"/>
          </a:xfrm>
          <a:prstGeom prst="rect">
            <a:avLst/>
          </a:prstGeom>
          <a:noFill/>
          <a:ln/>
        </p:spPr>
        <p:txBody>
          <a:bodyPr wrap="square" lIns="0" tIns="0" rIns="0" bIns="0" rtlCol="0" anchor="t"/>
          <a:lstStyle/>
          <a:p>
            <a:pPr marL="0" indent="0">
              <a:buNone/>
            </a:pPr>
            <a:r>
              <a:rPr lang="en-US" sz="1200" dirty="0">
                <a:solidFill>
                  <a:srgbClr val="D5E7E8"/>
                </a:solidFill>
              </a:rPr>
              <a:t>Private compute and data · WAF · OIDC · Cognito</a:t>
            </a:r>
            <a:endParaRPr lang="en-US" sz="1200" dirty="0"/>
          </a:p>
        </p:txBody>
      </p:sp>
      <p:sp>
        <p:nvSpPr>
          <p:cNvPr id="9" name="takeaway card"/>
          <p:cNvSpPr/>
          <p:nvPr/>
        </p:nvSpPr>
        <p:spPr>
          <a:xfrm>
            <a:off x="3218688" y="2286000"/>
            <a:ext cx="2542032" cy="1234440"/>
          </a:xfrm>
          <a:prstGeom prst="roundRect">
            <a:avLst>
              <a:gd name="adj" fmla="val 7407"/>
            </a:avLst>
          </a:prstGeom>
          <a:solidFill>
            <a:srgbClr val="0E3B43">
              <a:alpha val="90000"/>
            </a:srgbClr>
          </a:solidFill>
          <a:ln w="12700">
            <a:solidFill>
              <a:srgbClr val="2E6A72"/>
            </a:solidFill>
            <a:prstDash val="solid"/>
          </a:ln>
        </p:spPr>
      </p:sp>
      <p:sp>
        <p:nvSpPr>
          <p:cNvPr id="10" name="Highly available circle"/>
          <p:cNvSpPr/>
          <p:nvPr/>
        </p:nvSpPr>
        <p:spPr>
          <a:xfrm>
            <a:off x="3383280" y="2450592"/>
            <a:ext cx="420624" cy="420624"/>
          </a:xfrm>
          <a:prstGeom prst="ellipse">
            <a:avLst/>
          </a:prstGeom>
          <a:solidFill>
            <a:schemeClr val="accent2"/>
          </a:solidFill>
          <a:ln/>
        </p:spPr>
      </p:sp>
      <p:pic>
        <p:nvPicPr>
          <p:cNvPr id="11" name="Highly available" descr="preencoded.png"/>
          <p:cNvPicPr>
            <a:picLocks noChangeAspect="1"/>
          </p:cNvPicPr>
          <p:nvPr/>
        </p:nvPicPr>
        <p:blipFill>
          <a:blip r:embed="rId4"/>
          <a:stretch>
            <a:fillRect/>
          </a:stretch>
        </p:blipFill>
        <p:spPr>
          <a:xfrm>
            <a:off x="3484230" y="2551542"/>
            <a:ext cx="218724" cy="218724"/>
          </a:xfrm>
          <a:prstGeom prst="rect">
            <a:avLst/>
          </a:prstGeom>
        </p:spPr>
      </p:pic>
      <p:sp>
        <p:nvSpPr>
          <p:cNvPr id="12" name="Text 8"/>
          <p:cNvSpPr txBox="1"/>
          <p:nvPr/>
        </p:nvSpPr>
        <p:spPr>
          <a:xfrm>
            <a:off x="3904488" y="2450592"/>
            <a:ext cx="1783080" cy="420624"/>
          </a:xfrm>
          <a:prstGeom prst="rect">
            <a:avLst/>
          </a:prstGeom>
          <a:noFill/>
          <a:ln/>
        </p:spPr>
        <p:txBody>
          <a:bodyPr wrap="square" lIns="0" tIns="0" rIns="0" bIns="0" rtlCol="0" anchor="ctr"/>
          <a:lstStyle/>
          <a:p>
            <a:pPr marL="0" indent="0">
              <a:buNone/>
            </a:pPr>
            <a:r>
              <a:rPr lang="en-US" sz="1500" b="1" dirty="0">
                <a:solidFill>
                  <a:srgbClr val="FFFFFF"/>
                </a:solidFill>
              </a:rPr>
              <a:t>Highly available</a:t>
            </a:r>
            <a:endParaRPr lang="en-US" sz="1500" dirty="0"/>
          </a:p>
        </p:txBody>
      </p:sp>
      <p:sp>
        <p:nvSpPr>
          <p:cNvPr id="13" name="Text 9"/>
          <p:cNvSpPr txBox="1"/>
          <p:nvPr/>
        </p:nvSpPr>
        <p:spPr>
          <a:xfrm>
            <a:off x="3383280" y="2971800"/>
            <a:ext cx="2286000" cy="502920"/>
          </a:xfrm>
          <a:prstGeom prst="rect">
            <a:avLst/>
          </a:prstGeom>
          <a:noFill/>
          <a:ln/>
        </p:spPr>
        <p:txBody>
          <a:bodyPr wrap="square" lIns="0" tIns="0" rIns="0" bIns="0" rtlCol="0" anchor="t"/>
          <a:lstStyle/>
          <a:p>
            <a:pPr marL="0" indent="0">
              <a:buNone/>
            </a:pPr>
            <a:r>
              <a:rPr lang="en-US" sz="1200" dirty="0">
                <a:solidFill>
                  <a:srgbClr val="D5E7E8"/>
                </a:solidFill>
              </a:rPr>
              <a:t>Multi-AZ DB · 2 AZs · 2 tasks · Auto Scaling</a:t>
            </a:r>
            <a:endParaRPr lang="en-US" sz="1200" dirty="0"/>
          </a:p>
        </p:txBody>
      </p:sp>
      <p:sp>
        <p:nvSpPr>
          <p:cNvPr id="14" name="takeaway card"/>
          <p:cNvSpPr/>
          <p:nvPr/>
        </p:nvSpPr>
        <p:spPr>
          <a:xfrm>
            <a:off x="5888736" y="2286000"/>
            <a:ext cx="2542032" cy="1234440"/>
          </a:xfrm>
          <a:prstGeom prst="roundRect">
            <a:avLst>
              <a:gd name="adj" fmla="val 7407"/>
            </a:avLst>
          </a:prstGeom>
          <a:solidFill>
            <a:srgbClr val="0E3B43">
              <a:alpha val="90000"/>
            </a:srgbClr>
          </a:solidFill>
          <a:ln w="12700">
            <a:solidFill>
              <a:srgbClr val="2E6A72"/>
            </a:solidFill>
            <a:prstDash val="solid"/>
          </a:ln>
        </p:spPr>
      </p:sp>
      <p:sp>
        <p:nvSpPr>
          <p:cNvPr id="15" name="Grounded AI circle"/>
          <p:cNvSpPr/>
          <p:nvPr/>
        </p:nvSpPr>
        <p:spPr>
          <a:xfrm>
            <a:off x="6053328" y="2450592"/>
            <a:ext cx="420624" cy="420624"/>
          </a:xfrm>
          <a:prstGeom prst="ellipse">
            <a:avLst/>
          </a:prstGeom>
          <a:solidFill>
            <a:schemeClr val="accent2"/>
          </a:solidFill>
          <a:ln/>
        </p:spPr>
      </p:sp>
      <p:pic>
        <p:nvPicPr>
          <p:cNvPr id="16" name="Grounded AI" descr="preencoded.png"/>
          <p:cNvPicPr>
            <a:picLocks noChangeAspect="1"/>
          </p:cNvPicPr>
          <p:nvPr/>
        </p:nvPicPr>
        <p:blipFill>
          <a:blip r:embed="rId5"/>
          <a:stretch>
            <a:fillRect/>
          </a:stretch>
        </p:blipFill>
        <p:spPr>
          <a:xfrm>
            <a:off x="6154278" y="2551542"/>
            <a:ext cx="218724" cy="218724"/>
          </a:xfrm>
          <a:prstGeom prst="rect">
            <a:avLst/>
          </a:prstGeom>
        </p:spPr>
      </p:pic>
      <p:sp>
        <p:nvSpPr>
          <p:cNvPr id="17" name="Text 12"/>
          <p:cNvSpPr txBox="1"/>
          <p:nvPr/>
        </p:nvSpPr>
        <p:spPr>
          <a:xfrm>
            <a:off x="6574536" y="2450592"/>
            <a:ext cx="1783080" cy="420624"/>
          </a:xfrm>
          <a:prstGeom prst="rect">
            <a:avLst/>
          </a:prstGeom>
          <a:noFill/>
          <a:ln/>
        </p:spPr>
        <p:txBody>
          <a:bodyPr wrap="square" lIns="0" tIns="0" rIns="0" bIns="0" rtlCol="0" anchor="ctr"/>
          <a:lstStyle/>
          <a:p>
            <a:pPr marL="0" indent="0">
              <a:buNone/>
            </a:pPr>
            <a:r>
              <a:rPr lang="en-US" sz="1500" b="1" dirty="0">
                <a:solidFill>
                  <a:srgbClr val="FFFFFF"/>
                </a:solidFill>
              </a:rPr>
              <a:t>Grounded AI</a:t>
            </a:r>
            <a:endParaRPr lang="en-US" sz="1500" dirty="0"/>
          </a:p>
        </p:txBody>
      </p:sp>
      <p:sp>
        <p:nvSpPr>
          <p:cNvPr id="18" name="Text 13"/>
          <p:cNvSpPr txBox="1"/>
          <p:nvPr/>
        </p:nvSpPr>
        <p:spPr>
          <a:xfrm>
            <a:off x="6053328" y="2971800"/>
            <a:ext cx="2286000" cy="502920"/>
          </a:xfrm>
          <a:prstGeom prst="rect">
            <a:avLst/>
          </a:prstGeom>
          <a:noFill/>
          <a:ln/>
        </p:spPr>
        <p:txBody>
          <a:bodyPr wrap="square" lIns="0" tIns="0" rIns="0" bIns="0" rtlCol="0" anchor="t"/>
          <a:lstStyle/>
          <a:p>
            <a:pPr marL="0" indent="0">
              <a:buNone/>
            </a:pPr>
            <a:r>
              <a:rPr lang="en-US" sz="1200" dirty="0">
                <a:solidFill>
                  <a:srgbClr val="D5E7E8"/>
                </a:solidFill>
              </a:rPr>
              <a:t>Titan embeddings · S3 Vectors · Claude Haiku</a:t>
            </a:r>
            <a:endParaRPr lang="en-US" sz="1200" dirty="0"/>
          </a:p>
        </p:txBody>
      </p:sp>
      <p:sp>
        <p:nvSpPr>
          <p:cNvPr id="19" name="takeaway card"/>
          <p:cNvSpPr/>
          <p:nvPr/>
        </p:nvSpPr>
        <p:spPr>
          <a:xfrm>
            <a:off x="548640" y="3657600"/>
            <a:ext cx="2542032" cy="1234440"/>
          </a:xfrm>
          <a:prstGeom prst="roundRect">
            <a:avLst>
              <a:gd name="adj" fmla="val 7407"/>
            </a:avLst>
          </a:prstGeom>
          <a:solidFill>
            <a:srgbClr val="0E3B43">
              <a:alpha val="90000"/>
            </a:srgbClr>
          </a:solidFill>
          <a:ln w="12700">
            <a:solidFill>
              <a:srgbClr val="2E6A72"/>
            </a:solidFill>
            <a:prstDash val="solid"/>
          </a:ln>
        </p:spPr>
      </p:sp>
      <p:sp>
        <p:nvSpPr>
          <p:cNvPr id="20" name="Operational circle"/>
          <p:cNvSpPr/>
          <p:nvPr/>
        </p:nvSpPr>
        <p:spPr>
          <a:xfrm>
            <a:off x="713232" y="3822192"/>
            <a:ext cx="420624" cy="420624"/>
          </a:xfrm>
          <a:prstGeom prst="ellipse">
            <a:avLst/>
          </a:prstGeom>
          <a:solidFill>
            <a:schemeClr val="accent2"/>
          </a:solidFill>
          <a:ln/>
        </p:spPr>
      </p:sp>
      <p:pic>
        <p:nvPicPr>
          <p:cNvPr id="21" name="Operational" descr="preencoded.png"/>
          <p:cNvPicPr>
            <a:picLocks noChangeAspect="1"/>
          </p:cNvPicPr>
          <p:nvPr/>
        </p:nvPicPr>
        <p:blipFill>
          <a:blip r:embed="rId6"/>
          <a:stretch>
            <a:fillRect/>
          </a:stretch>
        </p:blipFill>
        <p:spPr>
          <a:xfrm>
            <a:off x="814182" y="3923142"/>
            <a:ext cx="218724" cy="218724"/>
          </a:xfrm>
          <a:prstGeom prst="rect">
            <a:avLst/>
          </a:prstGeom>
        </p:spPr>
      </p:pic>
      <p:sp>
        <p:nvSpPr>
          <p:cNvPr id="22" name="Text 16"/>
          <p:cNvSpPr txBox="1"/>
          <p:nvPr/>
        </p:nvSpPr>
        <p:spPr>
          <a:xfrm>
            <a:off x="1234440" y="3822192"/>
            <a:ext cx="1783080" cy="420624"/>
          </a:xfrm>
          <a:prstGeom prst="rect">
            <a:avLst/>
          </a:prstGeom>
          <a:noFill/>
          <a:ln/>
        </p:spPr>
        <p:txBody>
          <a:bodyPr wrap="square" lIns="0" tIns="0" rIns="0" bIns="0" rtlCol="0" anchor="ctr"/>
          <a:lstStyle/>
          <a:p>
            <a:pPr marL="0" indent="0">
              <a:buNone/>
            </a:pPr>
            <a:r>
              <a:rPr lang="en-US" sz="1500" b="1" dirty="0">
                <a:solidFill>
                  <a:srgbClr val="FFFFFF"/>
                </a:solidFill>
              </a:rPr>
              <a:t>Operational</a:t>
            </a:r>
            <a:endParaRPr lang="en-US" sz="1500" dirty="0"/>
          </a:p>
        </p:txBody>
      </p:sp>
      <p:sp>
        <p:nvSpPr>
          <p:cNvPr id="23" name="Text 17"/>
          <p:cNvSpPr txBox="1"/>
          <p:nvPr/>
        </p:nvSpPr>
        <p:spPr>
          <a:xfrm>
            <a:off x="713232" y="4343400"/>
            <a:ext cx="2286000" cy="502920"/>
          </a:xfrm>
          <a:prstGeom prst="rect">
            <a:avLst/>
          </a:prstGeom>
          <a:noFill/>
          <a:ln/>
        </p:spPr>
        <p:txBody>
          <a:bodyPr wrap="square" lIns="0" tIns="0" rIns="0" bIns="0" rtlCol="0" anchor="t"/>
          <a:lstStyle/>
          <a:p>
            <a:pPr marL="0" indent="0">
              <a:buNone/>
            </a:pPr>
            <a:r>
              <a:rPr lang="en-US" sz="1200" dirty="0">
                <a:solidFill>
                  <a:srgbClr val="D5E7E8"/>
                </a:solidFill>
              </a:rPr>
              <a:t>CloudWatch · CloudTrail · OP01 recovery</a:t>
            </a:r>
            <a:endParaRPr lang="en-US" sz="1200" dirty="0"/>
          </a:p>
        </p:txBody>
      </p:sp>
      <p:sp>
        <p:nvSpPr>
          <p:cNvPr id="24" name="takeaway card"/>
          <p:cNvSpPr/>
          <p:nvPr/>
        </p:nvSpPr>
        <p:spPr>
          <a:xfrm>
            <a:off x="3218688" y="3657600"/>
            <a:ext cx="2542032" cy="1234440"/>
          </a:xfrm>
          <a:prstGeom prst="roundRect">
            <a:avLst>
              <a:gd name="adj" fmla="val 7407"/>
            </a:avLst>
          </a:prstGeom>
          <a:solidFill>
            <a:srgbClr val="0E3B43">
              <a:alpha val="90000"/>
            </a:srgbClr>
          </a:solidFill>
          <a:ln w="12700">
            <a:solidFill>
              <a:srgbClr val="2E6A72"/>
            </a:solidFill>
            <a:prstDash val="solid"/>
          </a:ln>
        </p:spPr>
      </p:sp>
      <p:sp>
        <p:nvSpPr>
          <p:cNvPr id="25" name="Quality controlled circle"/>
          <p:cNvSpPr/>
          <p:nvPr/>
        </p:nvSpPr>
        <p:spPr>
          <a:xfrm>
            <a:off x="3383280" y="3822192"/>
            <a:ext cx="420624" cy="420624"/>
          </a:xfrm>
          <a:prstGeom prst="ellipse">
            <a:avLst/>
          </a:prstGeom>
          <a:solidFill>
            <a:schemeClr val="accent2"/>
          </a:solidFill>
          <a:ln/>
        </p:spPr>
      </p:sp>
      <p:pic>
        <p:nvPicPr>
          <p:cNvPr id="26" name="Quality controlled" descr="preencoded.png"/>
          <p:cNvPicPr>
            <a:picLocks noChangeAspect="1"/>
          </p:cNvPicPr>
          <p:nvPr/>
        </p:nvPicPr>
        <p:blipFill>
          <a:blip r:embed="rId7"/>
          <a:stretch>
            <a:fillRect/>
          </a:stretch>
        </p:blipFill>
        <p:spPr>
          <a:xfrm>
            <a:off x="3484230" y="3923142"/>
            <a:ext cx="218724" cy="218724"/>
          </a:xfrm>
          <a:prstGeom prst="rect">
            <a:avLst/>
          </a:prstGeom>
        </p:spPr>
      </p:pic>
      <p:sp>
        <p:nvSpPr>
          <p:cNvPr id="27" name="Text 20"/>
          <p:cNvSpPr txBox="1"/>
          <p:nvPr/>
        </p:nvSpPr>
        <p:spPr>
          <a:xfrm>
            <a:off x="3904488" y="3822192"/>
            <a:ext cx="1783080" cy="420624"/>
          </a:xfrm>
          <a:prstGeom prst="rect">
            <a:avLst/>
          </a:prstGeom>
          <a:noFill/>
          <a:ln/>
        </p:spPr>
        <p:txBody>
          <a:bodyPr wrap="square" lIns="0" tIns="0" rIns="0" bIns="0" rtlCol="0" anchor="ctr"/>
          <a:lstStyle/>
          <a:p>
            <a:pPr marL="0" indent="0">
              <a:buNone/>
            </a:pPr>
            <a:r>
              <a:rPr lang="en-US" sz="1500" b="1" dirty="0">
                <a:solidFill>
                  <a:srgbClr val="FFFFFF"/>
                </a:solidFill>
              </a:rPr>
              <a:t>Quality controlled</a:t>
            </a:r>
            <a:endParaRPr lang="en-US" sz="1500" dirty="0"/>
          </a:p>
        </p:txBody>
      </p:sp>
      <p:sp>
        <p:nvSpPr>
          <p:cNvPr id="28" name="Text 21"/>
          <p:cNvSpPr txBox="1"/>
          <p:nvPr/>
        </p:nvSpPr>
        <p:spPr>
          <a:xfrm>
            <a:off x="3383280" y="4343400"/>
            <a:ext cx="2286000" cy="502920"/>
          </a:xfrm>
          <a:prstGeom prst="rect">
            <a:avLst/>
          </a:prstGeom>
          <a:noFill/>
          <a:ln/>
        </p:spPr>
        <p:txBody>
          <a:bodyPr wrap="square" lIns="0" tIns="0" rIns="0" bIns="0" rtlCol="0" anchor="t"/>
          <a:lstStyle/>
          <a:p>
            <a:pPr marL="0" indent="0">
              <a:buNone/>
            </a:pPr>
            <a:r>
              <a:rPr lang="en-US" sz="1200" dirty="0">
                <a:solidFill>
                  <a:srgbClr val="D5E7E8"/>
                </a:solidFill>
              </a:rPr>
              <a:t>Tests · Terraform validation · smoke test · Trivy</a:t>
            </a:r>
            <a:endParaRPr lang="en-US" sz="1200" dirty="0"/>
          </a:p>
        </p:txBody>
      </p:sp>
      <p:sp>
        <p:nvSpPr>
          <p:cNvPr id="29" name="Text 22"/>
          <p:cNvSpPr txBox="1"/>
          <p:nvPr/>
        </p:nvSpPr>
        <p:spPr>
          <a:xfrm>
            <a:off x="548640" y="5074920"/>
            <a:ext cx="7955280" cy="685800"/>
          </a:xfrm>
          <a:prstGeom prst="rect">
            <a:avLst/>
          </a:prstGeom>
          <a:noFill/>
          <a:ln/>
        </p:spPr>
        <p:txBody>
          <a:bodyPr wrap="square" lIns="0" tIns="0" rIns="0" bIns="0" rtlCol="0" anchor="t"/>
          <a:lstStyle/>
          <a:p>
            <a:pPr marL="0" indent="0">
              <a:buNone/>
            </a:pPr>
            <a:r>
              <a:rPr lang="en-US" sz="1800" i="1" dirty="0">
                <a:solidFill>
                  <a:srgbClr val="F2A541"/>
                </a:solidFill>
                <a:latin typeface="+mj-lt" pitchFamily="34" charset="0"/>
                <a:ea typeface="+mj-lt" pitchFamily="34" charset="-122"/>
                <a:cs typeface="+mj-lt" pitchFamily="34" charset="-120"/>
              </a:rPr>
              <a:t>“Built from code. Protected at the edge.</a:t>
            </a:r>
            <a:endParaRPr lang="en-US" sz="1800" dirty="0"/>
          </a:p>
          <a:p>
            <a:pPr marL="0" indent="0">
              <a:buNone/>
            </a:pPr>
            <a:r>
              <a:rPr lang="en-US" sz="1800" i="1" dirty="0">
                <a:solidFill>
                  <a:srgbClr val="F2A541"/>
                </a:solidFill>
                <a:latin typeface="+mj-lt" pitchFamily="34" charset="0"/>
                <a:ea typeface="+mj-lt" pitchFamily="34" charset="-122"/>
                <a:cs typeface="+mj-lt" pitchFamily="34" charset="-120"/>
              </a:rPr>
              <a:t>Grounded by knowledge. Proven through failure.”</a:t>
            </a:r>
            <a:endParaRPr lang="en-US" sz="1800" dirty="0"/>
          </a:p>
        </p:txBody>
      </p:sp>
      <p:sp>
        <p:nvSpPr>
          <p:cNvPr id="30" name="Text 23"/>
          <p:cNvSpPr txBox="1"/>
          <p:nvPr/>
        </p:nvSpPr>
        <p:spPr>
          <a:xfrm>
            <a:off x="548640" y="5870448"/>
            <a:ext cx="3657600" cy="365760"/>
          </a:xfrm>
          <a:prstGeom prst="rect">
            <a:avLst/>
          </a:prstGeom>
          <a:noFill/>
          <a:ln/>
        </p:spPr>
        <p:txBody>
          <a:bodyPr wrap="square" lIns="0" tIns="0" rIns="0" bIns="0" rtlCol="0" anchor="ctr"/>
          <a:lstStyle/>
          <a:p>
            <a:pPr marL="0" indent="0">
              <a:buNone/>
            </a:pPr>
            <a:r>
              <a:rPr lang="en-US" sz="1600" b="1" dirty="0">
                <a:solidFill>
                  <a:srgbClr val="FFFFFF"/>
                </a:solidFill>
              </a:rPr>
              <a:t>cloud.namienterprises.in</a:t>
            </a:r>
            <a:endParaRPr lang="en-US" sz="1600" dirty="0"/>
          </a:p>
        </p:txBody>
      </p:sp>
      <p:sp>
        <p:nvSpPr>
          <p:cNvPr id="31"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D1D4"/>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Source code, infrastructure &amp; documentation</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The repository is organized so architecture, implementation, evidence and operations are easy to review.</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Repository</a:t>
            </a:r>
            <a:endParaRPr lang="en-US" sz="1200" dirty="0"/>
          </a:p>
        </p:txBody>
      </p:sp>
      <p:sp>
        <p:nvSpPr>
          <p:cNvPr id="6" name="card"/>
          <p:cNvSpPr/>
          <p:nvPr/>
        </p:nvSpPr>
        <p:spPr>
          <a:xfrm>
            <a:off x="548640" y="1463040"/>
            <a:ext cx="7223760" cy="4709160"/>
          </a:xfrm>
          <a:prstGeom prst="roundRect">
            <a:avLst>
              <a:gd name="adj" fmla="val 1942"/>
            </a:avLst>
          </a:prstGeom>
          <a:solidFill>
            <a:srgbClr val="0F2A30"/>
          </a:solidFill>
          <a:ln/>
        </p:spPr>
      </p:sp>
      <p:sp>
        <p:nvSpPr>
          <p:cNvPr id="7" name="Text 5"/>
          <p:cNvSpPr txBox="1"/>
          <p:nvPr/>
        </p:nvSpPr>
        <p:spPr>
          <a:xfrm>
            <a:off x="777240" y="1664208"/>
            <a:ext cx="2606040" cy="292608"/>
          </a:xfrm>
          <a:prstGeom prst="rect">
            <a:avLst/>
          </a:prstGeom>
          <a:noFill/>
          <a:ln/>
        </p:spPr>
        <p:txBody>
          <a:bodyPr wrap="square" lIns="0" tIns="0" rIns="0" bIns="0" rtlCol="0" anchor="ctr"/>
          <a:lstStyle/>
          <a:p>
            <a:pPr marL="0" indent="0">
              <a:buNone/>
            </a:pPr>
            <a:r>
              <a:rPr lang="en-US" sz="1200" b="1" dirty="0">
                <a:solidFill>
                  <a:srgbClr val="F2A541"/>
                </a:solidFill>
                <a:latin typeface="Courier New" pitchFamily="34" charset="0"/>
                <a:ea typeface="Courier New" pitchFamily="34" charset="-122"/>
                <a:cs typeface="Courier New" pitchFamily="34" charset="-120"/>
              </a:rPr>
              <a:t>langnation-cloud-platform/</a:t>
            </a:r>
            <a:endParaRPr lang="en-US" sz="1200" dirty="0"/>
          </a:p>
        </p:txBody>
      </p:sp>
      <p:sp>
        <p:nvSpPr>
          <p:cNvPr id="8" name="Text 6"/>
          <p:cNvSpPr txBox="1"/>
          <p:nvPr/>
        </p:nvSpPr>
        <p:spPr>
          <a:xfrm>
            <a:off x="777240" y="1975104"/>
            <a:ext cx="2606040" cy="292608"/>
          </a:xfrm>
          <a:prstGeom prst="rect">
            <a:avLst/>
          </a:prstGeom>
          <a:noFill/>
          <a:ln/>
        </p:spPr>
        <p:txBody>
          <a:bodyPr wrap="square" lIns="0" tIns="0" rIns="0" bIns="0" rtlCol="0" anchor="ctr"/>
          <a:lstStyle/>
          <a:p>
            <a:pPr marL="0" indent="0">
              <a:buNone/>
            </a:pPr>
            <a:r>
              <a:rPr lang="en-US" sz="1200" dirty="0">
                <a:solidFill>
                  <a:srgbClr val="9AD1D4"/>
                </a:solidFill>
                <a:latin typeface="Courier New" pitchFamily="34" charset="0"/>
                <a:ea typeface="Courier New" pitchFamily="34" charset="-122"/>
                <a:cs typeface="Courier New" pitchFamily="34" charset="-120"/>
              </a:rPr>
              <a:t>├── application/</a:t>
            </a:r>
            <a:endParaRPr lang="en-US" sz="1200" dirty="0"/>
          </a:p>
        </p:txBody>
      </p:sp>
      <p:sp>
        <p:nvSpPr>
          <p:cNvPr id="9" name="Text 7"/>
          <p:cNvSpPr txBox="1"/>
          <p:nvPr/>
        </p:nvSpPr>
        <p:spPr>
          <a:xfrm>
            <a:off x="3383280" y="1975104"/>
            <a:ext cx="4251960" cy="292608"/>
          </a:xfrm>
          <a:prstGeom prst="rect">
            <a:avLst/>
          </a:prstGeom>
          <a:noFill/>
          <a:ln/>
        </p:spPr>
        <p:txBody>
          <a:bodyPr wrap="square" lIns="0" tIns="0" rIns="0" bIns="0" rtlCol="0" anchor="ctr"/>
          <a:lstStyle/>
          <a:p>
            <a:pPr marL="0" indent="0">
              <a:buNone/>
            </a:pPr>
            <a:r>
              <a:rPr lang="en-US" sz="1200" dirty="0">
                <a:solidFill>
                  <a:srgbClr val="D5E7E8"/>
                </a:solidFill>
              </a:rPr>
              <a:t>real Node.js app + Lina runtime</a:t>
            </a:r>
            <a:endParaRPr lang="en-US" sz="1200" dirty="0"/>
          </a:p>
        </p:txBody>
      </p:sp>
      <p:sp>
        <p:nvSpPr>
          <p:cNvPr id="10" name="Text 8"/>
          <p:cNvSpPr txBox="1"/>
          <p:nvPr/>
        </p:nvSpPr>
        <p:spPr>
          <a:xfrm>
            <a:off x="777240" y="2286000"/>
            <a:ext cx="2606040" cy="292608"/>
          </a:xfrm>
          <a:prstGeom prst="rect">
            <a:avLst/>
          </a:prstGeom>
          <a:noFill/>
          <a:ln/>
        </p:spPr>
        <p:txBody>
          <a:bodyPr wrap="square" lIns="0" tIns="0" rIns="0" bIns="0" rtlCol="0" anchor="ctr"/>
          <a:lstStyle/>
          <a:p>
            <a:pPr marL="0" indent="0">
              <a:buNone/>
            </a:pPr>
            <a:r>
              <a:rPr lang="en-US" sz="1200" dirty="0">
                <a:solidFill>
                  <a:srgbClr val="9AD1D4"/>
                </a:solidFill>
                <a:latin typeface="Courier New" pitchFamily="34" charset="0"/>
                <a:ea typeface="Courier New" pitchFamily="34" charset="-122"/>
                <a:cs typeface="Courier New" pitchFamily="34" charset="-120"/>
              </a:rPr>
              <a:t>├── database/</a:t>
            </a:r>
            <a:endParaRPr lang="en-US" sz="1200" dirty="0"/>
          </a:p>
        </p:txBody>
      </p:sp>
      <p:sp>
        <p:nvSpPr>
          <p:cNvPr id="11" name="Text 9"/>
          <p:cNvSpPr txBox="1"/>
          <p:nvPr/>
        </p:nvSpPr>
        <p:spPr>
          <a:xfrm>
            <a:off x="3383280" y="2286000"/>
            <a:ext cx="4251960" cy="292608"/>
          </a:xfrm>
          <a:prstGeom prst="rect">
            <a:avLst/>
          </a:prstGeom>
          <a:noFill/>
          <a:ln/>
        </p:spPr>
        <p:txBody>
          <a:bodyPr wrap="square" lIns="0" tIns="0" rIns="0" bIns="0" rtlCol="0" anchor="ctr"/>
          <a:lstStyle/>
          <a:p>
            <a:pPr marL="0" indent="0">
              <a:buNone/>
            </a:pPr>
            <a:r>
              <a:rPr lang="en-US" sz="1200" dirty="0">
                <a:solidFill>
                  <a:srgbClr val="D5E7E8"/>
                </a:solidFill>
              </a:rPr>
              <a:t>sanitized seed / restore assets</a:t>
            </a:r>
            <a:endParaRPr lang="en-US" sz="1200" dirty="0"/>
          </a:p>
        </p:txBody>
      </p:sp>
      <p:sp>
        <p:nvSpPr>
          <p:cNvPr id="12" name="Text 10"/>
          <p:cNvSpPr txBox="1"/>
          <p:nvPr/>
        </p:nvSpPr>
        <p:spPr>
          <a:xfrm>
            <a:off x="777240" y="2596896"/>
            <a:ext cx="2606040" cy="292608"/>
          </a:xfrm>
          <a:prstGeom prst="rect">
            <a:avLst/>
          </a:prstGeom>
          <a:noFill/>
          <a:ln/>
        </p:spPr>
        <p:txBody>
          <a:bodyPr wrap="square" lIns="0" tIns="0" rIns="0" bIns="0" rtlCol="0" anchor="ctr"/>
          <a:lstStyle/>
          <a:p>
            <a:pPr marL="0" indent="0">
              <a:buNone/>
            </a:pPr>
            <a:r>
              <a:rPr lang="en-US" sz="1200" dirty="0">
                <a:solidFill>
                  <a:srgbClr val="9AD1D4"/>
                </a:solidFill>
                <a:latin typeface="Courier New" pitchFamily="34" charset="0"/>
                <a:ea typeface="Courier New" pitchFamily="34" charset="-122"/>
                <a:cs typeface="Courier New" pitchFamily="34" charset="-120"/>
              </a:rPr>
              <a:t>├── knowledge/</a:t>
            </a:r>
            <a:endParaRPr lang="en-US" sz="1200" dirty="0"/>
          </a:p>
        </p:txBody>
      </p:sp>
      <p:sp>
        <p:nvSpPr>
          <p:cNvPr id="13" name="Text 11"/>
          <p:cNvSpPr txBox="1"/>
          <p:nvPr/>
        </p:nvSpPr>
        <p:spPr>
          <a:xfrm>
            <a:off x="3383280" y="2596896"/>
            <a:ext cx="4251960" cy="292608"/>
          </a:xfrm>
          <a:prstGeom prst="rect">
            <a:avLst/>
          </a:prstGeom>
          <a:noFill/>
          <a:ln/>
        </p:spPr>
        <p:txBody>
          <a:bodyPr wrap="square" lIns="0" tIns="0" rIns="0" bIns="0" rtlCol="0" anchor="ctr"/>
          <a:lstStyle/>
          <a:p>
            <a:pPr marL="0" indent="0">
              <a:buNone/>
            </a:pPr>
            <a:r>
              <a:rPr lang="en-US" sz="1200" dirty="0">
                <a:solidFill>
                  <a:srgbClr val="D5E7E8"/>
                </a:solidFill>
              </a:rPr>
              <a:t>RAG source documents</a:t>
            </a:r>
            <a:endParaRPr lang="en-US" sz="1200" dirty="0"/>
          </a:p>
        </p:txBody>
      </p:sp>
      <p:sp>
        <p:nvSpPr>
          <p:cNvPr id="14" name="Text 12"/>
          <p:cNvSpPr txBox="1"/>
          <p:nvPr/>
        </p:nvSpPr>
        <p:spPr>
          <a:xfrm>
            <a:off x="777240" y="2907792"/>
            <a:ext cx="2606040" cy="292608"/>
          </a:xfrm>
          <a:prstGeom prst="rect">
            <a:avLst/>
          </a:prstGeom>
          <a:noFill/>
          <a:ln/>
        </p:spPr>
        <p:txBody>
          <a:bodyPr wrap="square" lIns="0" tIns="0" rIns="0" bIns="0" rtlCol="0" anchor="ctr"/>
          <a:lstStyle/>
          <a:p>
            <a:pPr marL="0" indent="0">
              <a:buNone/>
            </a:pPr>
            <a:r>
              <a:rPr lang="en-US" sz="1200" dirty="0">
                <a:solidFill>
                  <a:srgbClr val="9AD1D4"/>
                </a:solidFill>
                <a:latin typeface="Courier New" pitchFamily="34" charset="0"/>
                <a:ea typeface="Courier New" pitchFamily="34" charset="-122"/>
                <a:cs typeface="Courier New" pitchFamily="34" charset="-120"/>
              </a:rPr>
              <a:t>├── lambda/</a:t>
            </a:r>
            <a:endParaRPr lang="en-US" sz="1200" dirty="0"/>
          </a:p>
        </p:txBody>
      </p:sp>
      <p:sp>
        <p:nvSpPr>
          <p:cNvPr id="15" name="Text 13"/>
          <p:cNvSpPr txBox="1"/>
          <p:nvPr/>
        </p:nvSpPr>
        <p:spPr>
          <a:xfrm>
            <a:off x="3383280" y="2907792"/>
            <a:ext cx="4251960" cy="292608"/>
          </a:xfrm>
          <a:prstGeom prst="rect">
            <a:avLst/>
          </a:prstGeom>
          <a:noFill/>
          <a:ln/>
        </p:spPr>
        <p:txBody>
          <a:bodyPr wrap="square" lIns="0" tIns="0" rIns="0" bIns="0" rtlCol="0" anchor="ctr"/>
          <a:lstStyle/>
          <a:p>
            <a:pPr marL="0" indent="0">
              <a:buNone/>
            </a:pPr>
            <a:r>
              <a:rPr lang="en-US" sz="1200" dirty="0">
                <a:solidFill>
                  <a:srgbClr val="D5E7E8"/>
                </a:solidFill>
              </a:rPr>
              <a:t>document processor</a:t>
            </a:r>
            <a:endParaRPr lang="en-US" sz="1200" dirty="0"/>
          </a:p>
        </p:txBody>
      </p:sp>
      <p:sp>
        <p:nvSpPr>
          <p:cNvPr id="16" name="Text 14"/>
          <p:cNvSpPr txBox="1"/>
          <p:nvPr/>
        </p:nvSpPr>
        <p:spPr>
          <a:xfrm>
            <a:off x="777240" y="3218688"/>
            <a:ext cx="2606040" cy="292608"/>
          </a:xfrm>
          <a:prstGeom prst="rect">
            <a:avLst/>
          </a:prstGeom>
          <a:noFill/>
          <a:ln/>
        </p:spPr>
        <p:txBody>
          <a:bodyPr wrap="square" lIns="0" tIns="0" rIns="0" bIns="0" rtlCol="0" anchor="ctr"/>
          <a:lstStyle/>
          <a:p>
            <a:pPr marL="0" indent="0">
              <a:buNone/>
            </a:pPr>
            <a:r>
              <a:rPr lang="en-US" sz="1200" dirty="0">
                <a:solidFill>
                  <a:srgbClr val="9AD1D4"/>
                </a:solidFill>
                <a:latin typeface="Courier New" pitchFamily="34" charset="0"/>
                <a:ea typeface="Courier New" pitchFamily="34" charset="-122"/>
                <a:cs typeface="Courier New" pitchFamily="34" charset="-120"/>
              </a:rPr>
              <a:t>├── terraform/</a:t>
            </a:r>
            <a:endParaRPr lang="en-US" sz="1200" dirty="0"/>
          </a:p>
        </p:txBody>
      </p:sp>
      <p:sp>
        <p:nvSpPr>
          <p:cNvPr id="17" name="Text 15"/>
          <p:cNvSpPr txBox="1"/>
          <p:nvPr/>
        </p:nvSpPr>
        <p:spPr>
          <a:xfrm>
            <a:off x="777240" y="3529584"/>
            <a:ext cx="2606040" cy="292608"/>
          </a:xfrm>
          <a:prstGeom prst="rect">
            <a:avLst/>
          </a:prstGeom>
          <a:noFill/>
          <a:ln/>
        </p:spPr>
        <p:txBody>
          <a:bodyPr wrap="square" lIns="0" tIns="0" rIns="0" bIns="0" rtlCol="0" anchor="ctr"/>
          <a:lstStyle/>
          <a:p>
            <a:pPr marL="0" indent="0">
              <a:buNone/>
            </a:pPr>
            <a:r>
              <a:rPr lang="en-US" sz="1200" dirty="0">
                <a:solidFill>
                  <a:srgbClr val="9AD1D4"/>
                </a:solidFill>
                <a:latin typeface="Courier New" pitchFamily="34" charset="0"/>
                <a:ea typeface="Courier New" pitchFamily="34" charset="-122"/>
                <a:cs typeface="Courier New" pitchFamily="34" charset="-120"/>
              </a:rPr>
              <a:t>│   ├── environments/dev/</a:t>
            </a:r>
            <a:endParaRPr lang="en-US" sz="1200" dirty="0"/>
          </a:p>
        </p:txBody>
      </p:sp>
      <p:sp>
        <p:nvSpPr>
          <p:cNvPr id="18" name="Text 16"/>
          <p:cNvSpPr txBox="1"/>
          <p:nvPr/>
        </p:nvSpPr>
        <p:spPr>
          <a:xfrm>
            <a:off x="3383280" y="3529584"/>
            <a:ext cx="4251960" cy="292608"/>
          </a:xfrm>
          <a:prstGeom prst="rect">
            <a:avLst/>
          </a:prstGeom>
          <a:noFill/>
          <a:ln/>
        </p:spPr>
        <p:txBody>
          <a:bodyPr wrap="square" lIns="0" tIns="0" rIns="0" bIns="0" rtlCol="0" anchor="ctr"/>
          <a:lstStyle/>
          <a:p>
            <a:pPr marL="0" indent="0">
              <a:buNone/>
            </a:pPr>
            <a:r>
              <a:rPr lang="en-US" sz="1200" dirty="0">
                <a:solidFill>
                  <a:srgbClr val="D5E7E8"/>
                </a:solidFill>
              </a:rPr>
              <a:t>composition + seed objects</a:t>
            </a:r>
            <a:endParaRPr lang="en-US" sz="1200" dirty="0"/>
          </a:p>
        </p:txBody>
      </p:sp>
      <p:sp>
        <p:nvSpPr>
          <p:cNvPr id="19" name="Text 17"/>
          <p:cNvSpPr txBox="1"/>
          <p:nvPr/>
        </p:nvSpPr>
        <p:spPr>
          <a:xfrm>
            <a:off x="777240" y="3840480"/>
            <a:ext cx="2606040" cy="292608"/>
          </a:xfrm>
          <a:prstGeom prst="rect">
            <a:avLst/>
          </a:prstGeom>
          <a:noFill/>
          <a:ln/>
        </p:spPr>
        <p:txBody>
          <a:bodyPr wrap="square" lIns="0" tIns="0" rIns="0" bIns="0" rtlCol="0" anchor="ctr"/>
          <a:lstStyle/>
          <a:p>
            <a:pPr marL="0" indent="0">
              <a:buNone/>
            </a:pPr>
            <a:r>
              <a:rPr lang="en-US" sz="1200" dirty="0">
                <a:solidFill>
                  <a:srgbClr val="9AD1D4"/>
                </a:solidFill>
                <a:latin typeface="Courier New" pitchFamily="34" charset="0"/>
                <a:ea typeface="Courier New" pitchFamily="34" charset="-122"/>
                <a:cs typeface="Courier New" pitchFamily="34" charset="-120"/>
              </a:rPr>
              <a:t>│   └── modules/</a:t>
            </a:r>
            <a:endParaRPr lang="en-US" sz="1200" dirty="0"/>
          </a:p>
        </p:txBody>
      </p:sp>
      <p:sp>
        <p:nvSpPr>
          <p:cNvPr id="20" name="Text 18"/>
          <p:cNvSpPr txBox="1"/>
          <p:nvPr/>
        </p:nvSpPr>
        <p:spPr>
          <a:xfrm>
            <a:off x="3383280" y="3840480"/>
            <a:ext cx="4251960" cy="292608"/>
          </a:xfrm>
          <a:prstGeom prst="rect">
            <a:avLst/>
          </a:prstGeom>
          <a:noFill/>
          <a:ln/>
        </p:spPr>
        <p:txBody>
          <a:bodyPr wrap="square" lIns="0" tIns="0" rIns="0" bIns="0" rtlCol="0" anchor="ctr"/>
          <a:lstStyle/>
          <a:p>
            <a:pPr marL="0" indent="0">
              <a:buNone/>
            </a:pPr>
            <a:r>
              <a:rPr lang="en-US" sz="1200" dirty="0">
                <a:solidFill>
                  <a:srgbClr val="D5E7E8"/>
                </a:solidFill>
              </a:rPr>
              <a:t>network, security, container, data, edge, RAG…</a:t>
            </a:r>
            <a:endParaRPr lang="en-US" sz="1200" dirty="0"/>
          </a:p>
        </p:txBody>
      </p:sp>
      <p:sp>
        <p:nvSpPr>
          <p:cNvPr id="21" name="Text 19"/>
          <p:cNvSpPr txBox="1"/>
          <p:nvPr/>
        </p:nvSpPr>
        <p:spPr>
          <a:xfrm>
            <a:off x="777240" y="4151376"/>
            <a:ext cx="2606040" cy="292608"/>
          </a:xfrm>
          <a:prstGeom prst="rect">
            <a:avLst/>
          </a:prstGeom>
          <a:noFill/>
          <a:ln/>
        </p:spPr>
        <p:txBody>
          <a:bodyPr wrap="square" lIns="0" tIns="0" rIns="0" bIns="0" rtlCol="0" anchor="ctr"/>
          <a:lstStyle/>
          <a:p>
            <a:pPr marL="0" indent="0">
              <a:buNone/>
            </a:pPr>
            <a:r>
              <a:rPr lang="en-US" sz="1200" dirty="0">
                <a:solidFill>
                  <a:srgbClr val="9AD1D4"/>
                </a:solidFill>
                <a:latin typeface="Courier New" pitchFamily="34" charset="0"/>
                <a:ea typeface="Courier New" pitchFamily="34" charset="-122"/>
                <a:cs typeface="Courier New" pitchFamily="34" charset="-120"/>
              </a:rPr>
              <a:t>├── .github/workflows/</a:t>
            </a:r>
            <a:endParaRPr lang="en-US" sz="1200" dirty="0"/>
          </a:p>
        </p:txBody>
      </p:sp>
      <p:sp>
        <p:nvSpPr>
          <p:cNvPr id="22" name="Text 20"/>
          <p:cNvSpPr txBox="1"/>
          <p:nvPr/>
        </p:nvSpPr>
        <p:spPr>
          <a:xfrm>
            <a:off x="3383280" y="4151376"/>
            <a:ext cx="4251960" cy="292608"/>
          </a:xfrm>
          <a:prstGeom prst="rect">
            <a:avLst/>
          </a:prstGeom>
          <a:noFill/>
          <a:ln/>
        </p:spPr>
        <p:txBody>
          <a:bodyPr wrap="square" lIns="0" tIns="0" rIns="0" bIns="0" rtlCol="0" anchor="ctr"/>
          <a:lstStyle/>
          <a:p>
            <a:pPr marL="0" indent="0">
              <a:buNone/>
            </a:pPr>
            <a:r>
              <a:rPr lang="en-US" sz="1200" dirty="0">
                <a:solidFill>
                  <a:srgbClr val="D5E7E8"/>
                </a:solidFill>
              </a:rPr>
              <a:t>quality gates, deploy, recovery</a:t>
            </a:r>
            <a:endParaRPr lang="en-US" sz="1200" dirty="0"/>
          </a:p>
        </p:txBody>
      </p:sp>
      <p:sp>
        <p:nvSpPr>
          <p:cNvPr id="23" name="Text 21"/>
          <p:cNvSpPr txBox="1"/>
          <p:nvPr/>
        </p:nvSpPr>
        <p:spPr>
          <a:xfrm>
            <a:off x="777240" y="4462272"/>
            <a:ext cx="2606040" cy="292608"/>
          </a:xfrm>
          <a:prstGeom prst="rect">
            <a:avLst/>
          </a:prstGeom>
          <a:noFill/>
          <a:ln/>
        </p:spPr>
        <p:txBody>
          <a:bodyPr wrap="square" lIns="0" tIns="0" rIns="0" bIns="0" rtlCol="0" anchor="ctr"/>
          <a:lstStyle/>
          <a:p>
            <a:pPr marL="0" indent="0">
              <a:buNone/>
            </a:pPr>
            <a:r>
              <a:rPr lang="en-US" sz="1200" dirty="0">
                <a:solidFill>
                  <a:srgbClr val="9AD1D4"/>
                </a:solidFill>
                <a:latin typeface="Courier New" pitchFamily="34" charset="0"/>
                <a:ea typeface="Courier New" pitchFamily="34" charset="-122"/>
                <a:cs typeface="Courier New" pitchFamily="34" charset="-120"/>
              </a:rPr>
              <a:t>└── docs/</a:t>
            </a:r>
            <a:endParaRPr lang="en-US" sz="1200" dirty="0"/>
          </a:p>
        </p:txBody>
      </p:sp>
      <p:sp>
        <p:nvSpPr>
          <p:cNvPr id="24" name="Text 22"/>
          <p:cNvSpPr txBox="1"/>
          <p:nvPr/>
        </p:nvSpPr>
        <p:spPr>
          <a:xfrm>
            <a:off x="777240" y="4773168"/>
            <a:ext cx="2606040" cy="292608"/>
          </a:xfrm>
          <a:prstGeom prst="rect">
            <a:avLst/>
          </a:prstGeom>
          <a:noFill/>
          <a:ln/>
        </p:spPr>
        <p:txBody>
          <a:bodyPr wrap="square" lIns="0" tIns="0" rIns="0" bIns="0" rtlCol="0" anchor="ctr"/>
          <a:lstStyle/>
          <a:p>
            <a:pPr marL="0" indent="0">
              <a:buNone/>
            </a:pPr>
            <a:r>
              <a:rPr lang="en-US" sz="1200" dirty="0">
                <a:solidFill>
                  <a:srgbClr val="9AD1D4"/>
                </a:solidFill>
                <a:latin typeface="Courier New" pitchFamily="34" charset="0"/>
                <a:ea typeface="Courier New" pitchFamily="34" charset="-122"/>
                <a:cs typeface="Courier New" pitchFamily="34" charset="-120"/>
              </a:rPr>
              <a:t>    ├── milestones/</a:t>
            </a:r>
            <a:endParaRPr lang="en-US" sz="1200" dirty="0"/>
          </a:p>
        </p:txBody>
      </p:sp>
      <p:sp>
        <p:nvSpPr>
          <p:cNvPr id="25" name="Text 23"/>
          <p:cNvSpPr txBox="1"/>
          <p:nvPr/>
        </p:nvSpPr>
        <p:spPr>
          <a:xfrm>
            <a:off x="3383280" y="4773168"/>
            <a:ext cx="4251960" cy="292608"/>
          </a:xfrm>
          <a:prstGeom prst="rect">
            <a:avLst/>
          </a:prstGeom>
          <a:noFill/>
          <a:ln/>
        </p:spPr>
        <p:txBody>
          <a:bodyPr wrap="square" lIns="0" tIns="0" rIns="0" bIns="0" rtlCol="0" anchor="ctr"/>
          <a:lstStyle/>
          <a:p>
            <a:pPr marL="0" indent="0">
              <a:buNone/>
            </a:pPr>
            <a:r>
              <a:rPr lang="en-US" sz="1200" dirty="0">
                <a:solidFill>
                  <a:srgbClr val="D5E7E8"/>
                </a:solidFill>
              </a:rPr>
              <a:t>M01 → M12</a:t>
            </a:r>
            <a:endParaRPr lang="en-US" sz="1200" dirty="0"/>
          </a:p>
        </p:txBody>
      </p:sp>
      <p:sp>
        <p:nvSpPr>
          <p:cNvPr id="26" name="Text 24"/>
          <p:cNvSpPr txBox="1"/>
          <p:nvPr/>
        </p:nvSpPr>
        <p:spPr>
          <a:xfrm>
            <a:off x="777240" y="5084064"/>
            <a:ext cx="2606040" cy="292608"/>
          </a:xfrm>
          <a:prstGeom prst="rect">
            <a:avLst/>
          </a:prstGeom>
          <a:noFill/>
          <a:ln/>
        </p:spPr>
        <p:txBody>
          <a:bodyPr wrap="square" lIns="0" tIns="0" rIns="0" bIns="0" rtlCol="0" anchor="ctr"/>
          <a:lstStyle/>
          <a:p>
            <a:pPr marL="0" indent="0">
              <a:buNone/>
            </a:pPr>
            <a:r>
              <a:rPr lang="en-US" sz="1200" dirty="0">
                <a:solidFill>
                  <a:srgbClr val="9AD1D4"/>
                </a:solidFill>
                <a:latin typeface="Courier New" pitchFamily="34" charset="0"/>
                <a:ea typeface="Courier New" pitchFamily="34" charset="-122"/>
                <a:cs typeface="Courier New" pitchFamily="34" charset="-120"/>
              </a:rPr>
              <a:t>    ├── evidence/</a:t>
            </a:r>
            <a:endParaRPr lang="en-US" sz="1200" dirty="0"/>
          </a:p>
        </p:txBody>
      </p:sp>
      <p:sp>
        <p:nvSpPr>
          <p:cNvPr id="27" name="Text 25"/>
          <p:cNvSpPr txBox="1"/>
          <p:nvPr/>
        </p:nvSpPr>
        <p:spPr>
          <a:xfrm>
            <a:off x="3383280" y="5084064"/>
            <a:ext cx="4251960" cy="292608"/>
          </a:xfrm>
          <a:prstGeom prst="rect">
            <a:avLst/>
          </a:prstGeom>
          <a:noFill/>
          <a:ln/>
        </p:spPr>
        <p:txBody>
          <a:bodyPr wrap="square" lIns="0" tIns="0" rIns="0" bIns="0" rtlCol="0" anchor="ctr"/>
          <a:lstStyle/>
          <a:p>
            <a:pPr marL="0" indent="0">
              <a:buNone/>
            </a:pPr>
            <a:r>
              <a:rPr lang="en-US" sz="1200" dirty="0">
                <a:solidFill>
                  <a:srgbClr val="D5E7E8"/>
                </a:solidFill>
              </a:rPr>
              <a:t>proof + screenshots</a:t>
            </a:r>
            <a:endParaRPr lang="en-US" sz="1200" dirty="0"/>
          </a:p>
        </p:txBody>
      </p:sp>
      <p:sp>
        <p:nvSpPr>
          <p:cNvPr id="28" name="Text 26"/>
          <p:cNvSpPr txBox="1"/>
          <p:nvPr/>
        </p:nvSpPr>
        <p:spPr>
          <a:xfrm>
            <a:off x="777240" y="5394960"/>
            <a:ext cx="2606040" cy="292608"/>
          </a:xfrm>
          <a:prstGeom prst="rect">
            <a:avLst/>
          </a:prstGeom>
          <a:noFill/>
          <a:ln/>
        </p:spPr>
        <p:txBody>
          <a:bodyPr wrap="square" lIns="0" tIns="0" rIns="0" bIns="0" rtlCol="0" anchor="ctr"/>
          <a:lstStyle/>
          <a:p>
            <a:pPr marL="0" indent="0">
              <a:buNone/>
            </a:pPr>
            <a:r>
              <a:rPr lang="en-US" sz="1200" dirty="0">
                <a:solidFill>
                  <a:srgbClr val="9AD1D4"/>
                </a:solidFill>
                <a:latin typeface="Courier New" pitchFamily="34" charset="0"/>
                <a:ea typeface="Courier New" pitchFamily="34" charset="-122"/>
                <a:cs typeface="Courier New" pitchFamily="34" charset="-120"/>
              </a:rPr>
              <a:t>    ├── architecture/</a:t>
            </a:r>
            <a:endParaRPr lang="en-US" sz="1200" dirty="0"/>
          </a:p>
        </p:txBody>
      </p:sp>
      <p:sp>
        <p:nvSpPr>
          <p:cNvPr id="29" name="Text 27"/>
          <p:cNvSpPr txBox="1"/>
          <p:nvPr/>
        </p:nvSpPr>
        <p:spPr>
          <a:xfrm>
            <a:off x="3383280" y="5394960"/>
            <a:ext cx="4251960" cy="292608"/>
          </a:xfrm>
          <a:prstGeom prst="rect">
            <a:avLst/>
          </a:prstGeom>
          <a:noFill/>
          <a:ln/>
        </p:spPr>
        <p:txBody>
          <a:bodyPr wrap="square" lIns="0" tIns="0" rIns="0" bIns="0" rtlCol="0" anchor="ctr"/>
          <a:lstStyle/>
          <a:p>
            <a:pPr marL="0" indent="0">
              <a:buNone/>
            </a:pPr>
            <a:r>
              <a:rPr lang="en-US" sz="1200" dirty="0">
                <a:solidFill>
                  <a:srgbClr val="D5E7E8"/>
                </a:solidFill>
              </a:rPr>
              <a:t>milestones, flows, master</a:t>
            </a:r>
            <a:endParaRPr lang="en-US" sz="1200" dirty="0"/>
          </a:p>
        </p:txBody>
      </p:sp>
      <p:sp>
        <p:nvSpPr>
          <p:cNvPr id="30" name="Text 28"/>
          <p:cNvSpPr txBox="1"/>
          <p:nvPr/>
        </p:nvSpPr>
        <p:spPr>
          <a:xfrm>
            <a:off x="777240" y="5705856"/>
            <a:ext cx="2606040" cy="292608"/>
          </a:xfrm>
          <a:prstGeom prst="rect">
            <a:avLst/>
          </a:prstGeom>
          <a:noFill/>
          <a:ln/>
        </p:spPr>
        <p:txBody>
          <a:bodyPr wrap="square" lIns="0" tIns="0" rIns="0" bIns="0" rtlCol="0" anchor="ctr"/>
          <a:lstStyle/>
          <a:p>
            <a:pPr marL="0" indent="0">
              <a:buNone/>
            </a:pPr>
            <a:r>
              <a:rPr lang="en-US" sz="1200" dirty="0">
                <a:solidFill>
                  <a:srgbClr val="9AD1D4"/>
                </a:solidFill>
                <a:latin typeface="Courier New" pitchFamily="34" charset="0"/>
                <a:ea typeface="Courier New" pitchFamily="34" charset="-122"/>
                <a:cs typeface="Courier New" pitchFamily="34" charset="-120"/>
              </a:rPr>
              <a:t>    └── operations/</a:t>
            </a:r>
            <a:endParaRPr lang="en-US" sz="1200" dirty="0"/>
          </a:p>
        </p:txBody>
      </p:sp>
      <p:sp>
        <p:nvSpPr>
          <p:cNvPr id="31" name="Text 29"/>
          <p:cNvSpPr txBox="1"/>
          <p:nvPr/>
        </p:nvSpPr>
        <p:spPr>
          <a:xfrm>
            <a:off x="3383280" y="5705856"/>
            <a:ext cx="4251960" cy="292608"/>
          </a:xfrm>
          <a:prstGeom prst="rect">
            <a:avLst/>
          </a:prstGeom>
          <a:noFill/>
          <a:ln/>
        </p:spPr>
        <p:txBody>
          <a:bodyPr wrap="square" lIns="0" tIns="0" rIns="0" bIns="0" rtlCol="0" anchor="ctr"/>
          <a:lstStyle/>
          <a:p>
            <a:pPr marL="0" indent="0">
              <a:buNone/>
            </a:pPr>
            <a:r>
              <a:rPr lang="en-US" sz="1200" dirty="0">
                <a:solidFill>
                  <a:srgbClr val="D5E7E8"/>
                </a:solidFill>
              </a:rPr>
              <a:t>OP01 recovery runbook</a:t>
            </a:r>
            <a:endParaRPr lang="en-US" sz="1200" dirty="0"/>
          </a:p>
        </p:txBody>
      </p:sp>
      <p:sp>
        <p:nvSpPr>
          <p:cNvPr id="32" name="card"/>
          <p:cNvSpPr/>
          <p:nvPr/>
        </p:nvSpPr>
        <p:spPr>
          <a:xfrm>
            <a:off x="8001000" y="1463040"/>
            <a:ext cx="3639312" cy="4709160"/>
          </a:xfrm>
          <a:prstGeom prst="roundRect">
            <a:avLst>
              <a:gd name="adj" fmla="val 2513"/>
            </a:avLst>
          </a:prstGeom>
          <a:solidFill>
            <a:srgbClr val="FFFFFF"/>
          </a:solidFill>
          <a:ln/>
          <a:effectLst>
            <a:outerShdw blurRad="114300" dist="25400" dir="5400000" algn="bl" rotWithShape="0">
              <a:srgbClr val="0E3B43">
                <a:alpha val="13000"/>
              </a:srgbClr>
            </a:outerShdw>
          </a:effectLst>
        </p:spPr>
      </p:sp>
      <p:pic>
        <p:nvPicPr>
          <p:cNvPr id="33" name="Repository QR code" descr="QR code for github.com/sheikhseraj/langnation-cloud-platform">
            <a:hlinkClick r:id="rId3" tooltip="Open the GitHub repository"/>
          </p:cNvPr>
          <p:cNvPicPr>
            <a:picLocks noChangeAspect="1"/>
          </p:cNvPicPr>
          <p:nvPr/>
        </p:nvPicPr>
        <p:blipFill>
          <a:blip r:embed="rId4"/>
          <a:stretch>
            <a:fillRect/>
          </a:stretch>
        </p:blipFill>
        <p:spPr>
          <a:xfrm>
            <a:off x="8403336" y="1645920"/>
            <a:ext cx="2834640" cy="2834640"/>
          </a:xfrm>
          <a:prstGeom prst="rect">
            <a:avLst/>
          </a:prstGeom>
        </p:spPr>
      </p:pic>
      <p:pic>
        <p:nvPicPr>
          <p:cNvPr id="34" name="GitHub icon" descr="preencoded.png"/>
          <p:cNvPicPr>
            <a:picLocks noChangeAspect="1"/>
          </p:cNvPicPr>
          <p:nvPr/>
        </p:nvPicPr>
        <p:blipFill>
          <a:blip r:embed="rId5"/>
          <a:stretch>
            <a:fillRect/>
          </a:stretch>
        </p:blipFill>
        <p:spPr>
          <a:xfrm>
            <a:off x="8732520" y="4590288"/>
            <a:ext cx="256032" cy="256032"/>
          </a:xfrm>
          <a:prstGeom prst="rect">
            <a:avLst/>
          </a:prstGeom>
        </p:spPr>
      </p:pic>
      <p:sp>
        <p:nvSpPr>
          <p:cNvPr id="35" name="Text 31"/>
          <p:cNvSpPr txBox="1"/>
          <p:nvPr/>
        </p:nvSpPr>
        <p:spPr>
          <a:xfrm>
            <a:off x="9070848" y="4572000"/>
            <a:ext cx="2286000" cy="292608"/>
          </a:xfrm>
          <a:prstGeom prst="rect">
            <a:avLst/>
          </a:prstGeom>
          <a:noFill/>
          <a:ln/>
        </p:spPr>
        <p:txBody>
          <a:bodyPr wrap="square" lIns="0" tIns="0" rIns="0" bIns="0" rtlCol="0" anchor="ctr"/>
          <a:lstStyle/>
          <a:p>
            <a:pPr marL="0" indent="0">
              <a:buNone/>
            </a:pPr>
            <a:r>
              <a:rPr lang="en-US" sz="1400" b="1" dirty="0">
                <a:solidFill>
                  <a:srgbClr val="1F2328"/>
                </a:solidFill>
              </a:rPr>
              <a:t>Scan to open on GitHub</a:t>
            </a:r>
            <a:endParaRPr lang="en-US" sz="1400" dirty="0"/>
          </a:p>
        </p:txBody>
      </p:sp>
      <p:sp>
        <p:nvSpPr>
          <p:cNvPr id="36" name="Text 32"/>
          <p:cNvSpPr txBox="1"/>
          <p:nvPr/>
        </p:nvSpPr>
        <p:spPr>
          <a:xfrm>
            <a:off x="8138160" y="4937760"/>
            <a:ext cx="3383280" cy="566928"/>
          </a:xfrm>
          <a:prstGeom prst="rect">
            <a:avLst/>
          </a:prstGeom>
          <a:noFill/>
          <a:ln/>
        </p:spPr>
        <p:txBody>
          <a:bodyPr wrap="square" lIns="0" tIns="0" rIns="0" bIns="0" rtlCol="0" anchor="t"/>
          <a:lstStyle/>
          <a:p>
            <a:pPr marL="0" indent="0" algn="ctr">
              <a:buNone/>
            </a:pPr>
            <a:r>
              <a:rPr lang="en-US" sz="1300" u="sng" dirty="0">
                <a:solidFill>
                  <a:srgbClr val="132226"/>
                </a:solidFill>
                <a:latin typeface="Courier New" pitchFamily="34" charset="0"/>
                <a:ea typeface="Courier New" pitchFamily="34" charset="-122"/>
                <a:cs typeface="Courier New" pitchFamily="34" charset="-120"/>
                <a:hlinkClick r:id="rId3" tooltip="Open the GitHub repository">
                  <a:extLst>
                    <a:ext uri="{A12FA001-AC4F-418D-AE19-62706E023703}">
                      <ahyp:hlinkClr xmlns:ahyp="http://schemas.microsoft.com/office/drawing/2018/hyperlinkcolor" val="tx"/>
                    </a:ext>
                  </a:extLst>
                </a:hlinkClick>
              </a:rPr>
              <a:t>github.com/sheikhseraj/</a:t>
            </a:r>
            <a:endParaRPr lang="en-US" sz="1300" dirty="0"/>
          </a:p>
          <a:p>
            <a:pPr marL="0" indent="0" algn="ctr">
              <a:buNone/>
            </a:pPr>
            <a:r>
              <a:rPr lang="en-US" sz="1300" u="sng" dirty="0">
                <a:solidFill>
                  <a:srgbClr val="132226"/>
                </a:solidFill>
                <a:latin typeface="Courier New" pitchFamily="34" charset="0"/>
                <a:ea typeface="Courier New" pitchFamily="34" charset="-122"/>
                <a:cs typeface="Courier New" pitchFamily="34" charset="-120"/>
                <a:hlinkClick r:id="rId3" tooltip="Open the GitHub repository">
                  <a:extLst>
                    <a:ext uri="{A12FA001-AC4F-418D-AE19-62706E023703}">
                      <ahyp:hlinkClr xmlns:ahyp="http://schemas.microsoft.com/office/drawing/2018/hyperlinkcolor" val="tx"/>
                    </a:ext>
                  </a:extLst>
                </a:hlinkClick>
              </a:rPr>
              <a:t>langnation-cloud-platform</a:t>
            </a:r>
            <a:endParaRPr lang="en-US" sz="1300" dirty="0"/>
          </a:p>
        </p:txBody>
      </p:sp>
      <p:sp>
        <p:nvSpPr>
          <p:cNvPr id="37" name="Text 33"/>
          <p:cNvSpPr txBox="1"/>
          <p:nvPr/>
        </p:nvSpPr>
        <p:spPr>
          <a:xfrm>
            <a:off x="8138160" y="5577840"/>
            <a:ext cx="3383280" cy="502920"/>
          </a:xfrm>
          <a:prstGeom prst="rect">
            <a:avLst/>
          </a:prstGeom>
          <a:noFill/>
          <a:ln/>
        </p:spPr>
        <p:txBody>
          <a:bodyPr wrap="square" lIns="0" tIns="0" rIns="0" bIns="0" rtlCol="0" anchor="ctr"/>
          <a:lstStyle/>
          <a:p>
            <a:pPr marL="0" indent="0" algn="ctr">
              <a:buNone/>
            </a:pPr>
            <a:r>
              <a:rPr lang="en-US" sz="1150" b="1" dirty="0">
                <a:solidFill>
                  <a:srgbClr val="0E7C7B"/>
                </a:solidFill>
              </a:rPr>
              <a:t>Terraform + HCP  ·  GitHub Actions</a:t>
            </a:r>
            <a:endParaRPr lang="en-US" sz="1150" dirty="0"/>
          </a:p>
          <a:p>
            <a:pPr marL="0" indent="0" algn="ctr">
              <a:buNone/>
            </a:pPr>
            <a:r>
              <a:rPr lang="en-US" sz="1150" b="1" dirty="0">
                <a:solidFill>
                  <a:srgbClr val="0E7C7B"/>
                </a:solidFill>
              </a:rPr>
              <a:t>M1–M12 docs  ·  Evidence + OP01</a:t>
            </a:r>
            <a:endParaRPr lang="en-US" sz="1150" dirty="0"/>
          </a:p>
        </p:txBody>
      </p:sp>
      <p:sp>
        <p:nvSpPr>
          <p:cNvPr id="38"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Acknowledgements &amp; support</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AWS Cloud Computing with AI Bootcamp  ·  guidance, feedback and peer support behind this capstone.</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0E3B43"/>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Thanks</a:t>
            </a:r>
            <a:endParaRPr lang="en-US" sz="1200" dirty="0"/>
          </a:p>
        </p:txBody>
      </p:sp>
      <p:sp>
        <p:nvSpPr>
          <p:cNvPr id="6" name="card"/>
          <p:cNvSpPr/>
          <p:nvPr/>
        </p:nvSpPr>
        <p:spPr>
          <a:xfrm>
            <a:off x="548640" y="1463040"/>
            <a:ext cx="6858000"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7" name="Instruction &amp; leadership circle"/>
          <p:cNvSpPr/>
          <p:nvPr/>
        </p:nvSpPr>
        <p:spPr>
          <a:xfrm>
            <a:off x="777240" y="1847088"/>
            <a:ext cx="640080" cy="640080"/>
          </a:xfrm>
          <a:prstGeom prst="ellipse">
            <a:avLst/>
          </a:prstGeom>
          <a:solidFill>
            <a:schemeClr val="accent1"/>
          </a:solidFill>
          <a:ln/>
        </p:spPr>
      </p:sp>
      <p:pic>
        <p:nvPicPr>
          <p:cNvPr id="8" name="Instruction &amp; leadership" descr="preencoded.png"/>
          <p:cNvPicPr>
            <a:picLocks noChangeAspect="1"/>
          </p:cNvPicPr>
          <p:nvPr/>
        </p:nvPicPr>
        <p:blipFill>
          <a:blip r:embed="rId3"/>
          <a:stretch>
            <a:fillRect/>
          </a:stretch>
        </p:blipFill>
        <p:spPr>
          <a:xfrm>
            <a:off x="930859" y="2000707"/>
            <a:ext cx="332842" cy="332842"/>
          </a:xfrm>
          <a:prstGeom prst="rect">
            <a:avLst/>
          </a:prstGeom>
        </p:spPr>
      </p:pic>
      <p:sp>
        <p:nvSpPr>
          <p:cNvPr id="9" name="Text 6"/>
          <p:cNvSpPr txBox="1"/>
          <p:nvPr/>
        </p:nvSpPr>
        <p:spPr>
          <a:xfrm>
            <a:off x="1691640" y="1600200"/>
            <a:ext cx="5486400" cy="320040"/>
          </a:xfrm>
          <a:prstGeom prst="rect">
            <a:avLst/>
          </a:prstGeom>
          <a:noFill/>
          <a:ln/>
        </p:spPr>
        <p:txBody>
          <a:bodyPr wrap="square" lIns="0" tIns="0" rIns="0" bIns="0" rtlCol="0" anchor="t"/>
          <a:lstStyle/>
          <a:p>
            <a:pPr marL="0" indent="0">
              <a:buNone/>
            </a:pPr>
            <a:r>
              <a:rPr lang="en-US" sz="1600" b="1" dirty="0">
                <a:solidFill>
                  <a:srgbClr val="132226"/>
                </a:solidFill>
              </a:rPr>
              <a:t>Instruction &amp; leadership</a:t>
            </a:r>
            <a:endParaRPr lang="en-US" sz="1600" dirty="0"/>
          </a:p>
        </p:txBody>
      </p:sp>
      <p:sp>
        <p:nvSpPr>
          <p:cNvPr id="10" name="Text 7"/>
          <p:cNvSpPr txBox="1"/>
          <p:nvPr/>
        </p:nvSpPr>
        <p:spPr>
          <a:xfrm>
            <a:off x="1691640" y="1938528"/>
            <a:ext cx="5486400" cy="868680"/>
          </a:xfrm>
          <a:prstGeom prst="rect">
            <a:avLst/>
          </a:prstGeom>
          <a:noFill/>
          <a:ln/>
        </p:spPr>
        <p:txBody>
          <a:bodyPr wrap="square" lIns="0" tIns="0" rIns="0" bIns="0" rtlCol="0" anchor="t"/>
          <a:lstStyle/>
          <a:p>
            <a:pPr marL="0" indent="0">
              <a:buNone/>
            </a:pPr>
            <a:r>
              <a:rPr lang="en-US" sz="1400" dirty="0">
                <a:solidFill>
                  <a:srgbClr val="4A5B5E"/>
                </a:solidFill>
              </a:rPr>
              <a:t>Micheal — Theory Teacher</a:t>
            </a:r>
            <a:endParaRPr lang="en-US" sz="1400" dirty="0"/>
          </a:p>
          <a:p>
            <a:pPr marL="0" indent="0">
              <a:buNone/>
            </a:pPr>
            <a:r>
              <a:rPr lang="en-US" sz="1400" dirty="0">
                <a:solidFill>
                  <a:srgbClr val="4A5B5E"/>
                </a:solidFill>
              </a:rPr>
              <a:t>Rahul Patel — Practical Teacher</a:t>
            </a:r>
            <a:endParaRPr lang="en-US" sz="1400" dirty="0"/>
          </a:p>
          <a:p>
            <a:pPr marL="0" indent="0">
              <a:buNone/>
            </a:pPr>
            <a:r>
              <a:rPr lang="en-US" sz="1400" dirty="0">
                <a:solidFill>
                  <a:srgbClr val="4A5B5E"/>
                </a:solidFill>
              </a:rPr>
              <a:t>Dominic Singaraj — Head of Department</a:t>
            </a:r>
            <a:endParaRPr lang="en-US" sz="1400" dirty="0"/>
          </a:p>
        </p:txBody>
      </p:sp>
      <p:sp>
        <p:nvSpPr>
          <p:cNvPr id="11" name="card"/>
          <p:cNvSpPr/>
          <p:nvPr/>
        </p:nvSpPr>
        <p:spPr>
          <a:xfrm>
            <a:off x="548640" y="3063240"/>
            <a:ext cx="6858000"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12" name="Supporting teachers circle"/>
          <p:cNvSpPr/>
          <p:nvPr/>
        </p:nvSpPr>
        <p:spPr>
          <a:xfrm>
            <a:off x="777240" y="3447288"/>
            <a:ext cx="640080" cy="640080"/>
          </a:xfrm>
          <a:prstGeom prst="ellipse">
            <a:avLst/>
          </a:prstGeom>
          <a:solidFill>
            <a:schemeClr val="accent5"/>
          </a:solidFill>
          <a:ln/>
        </p:spPr>
      </p:sp>
      <p:pic>
        <p:nvPicPr>
          <p:cNvPr id="13" name="Supporting teachers" descr="preencoded.png"/>
          <p:cNvPicPr>
            <a:picLocks noChangeAspect="1"/>
          </p:cNvPicPr>
          <p:nvPr/>
        </p:nvPicPr>
        <p:blipFill>
          <a:blip r:embed="rId4"/>
          <a:stretch>
            <a:fillRect/>
          </a:stretch>
        </p:blipFill>
        <p:spPr>
          <a:xfrm>
            <a:off x="930859" y="3600907"/>
            <a:ext cx="332842" cy="332842"/>
          </a:xfrm>
          <a:prstGeom prst="rect">
            <a:avLst/>
          </a:prstGeom>
        </p:spPr>
      </p:pic>
      <p:sp>
        <p:nvSpPr>
          <p:cNvPr id="14" name="Text 10"/>
          <p:cNvSpPr txBox="1"/>
          <p:nvPr/>
        </p:nvSpPr>
        <p:spPr>
          <a:xfrm>
            <a:off x="1691640" y="3200400"/>
            <a:ext cx="5486400" cy="320040"/>
          </a:xfrm>
          <a:prstGeom prst="rect">
            <a:avLst/>
          </a:prstGeom>
          <a:noFill/>
          <a:ln/>
        </p:spPr>
        <p:txBody>
          <a:bodyPr wrap="square" lIns="0" tIns="0" rIns="0" bIns="0" rtlCol="0" anchor="t"/>
          <a:lstStyle/>
          <a:p>
            <a:pPr marL="0" indent="0">
              <a:buNone/>
            </a:pPr>
            <a:r>
              <a:rPr lang="en-US" sz="1600" b="1" dirty="0">
                <a:solidFill>
                  <a:srgbClr val="132226"/>
                </a:solidFill>
              </a:rPr>
              <a:t>Supporting teachers</a:t>
            </a:r>
            <a:endParaRPr lang="en-US" sz="1600" dirty="0"/>
          </a:p>
        </p:txBody>
      </p:sp>
      <p:sp>
        <p:nvSpPr>
          <p:cNvPr id="15" name="Text 11"/>
          <p:cNvSpPr txBox="1"/>
          <p:nvPr/>
        </p:nvSpPr>
        <p:spPr>
          <a:xfrm>
            <a:off x="1691640" y="3538728"/>
            <a:ext cx="5486400" cy="868680"/>
          </a:xfrm>
          <a:prstGeom prst="rect">
            <a:avLst/>
          </a:prstGeom>
          <a:noFill/>
          <a:ln/>
        </p:spPr>
        <p:txBody>
          <a:bodyPr wrap="square" lIns="0" tIns="0" rIns="0" bIns="0" rtlCol="0" anchor="t"/>
          <a:lstStyle/>
          <a:p>
            <a:pPr marL="0" indent="0">
              <a:buNone/>
            </a:pPr>
            <a:r>
              <a:rPr lang="en-US" sz="1400" dirty="0">
                <a:solidFill>
                  <a:srgbClr val="4A5B5E"/>
                </a:solidFill>
              </a:rPr>
              <a:t>Shahabuddin  ·  Charisima  ·  Pushpajit  ·  Siranach</a:t>
            </a:r>
            <a:endParaRPr lang="en-US" sz="1400" dirty="0"/>
          </a:p>
          <a:p>
            <a:pPr marL="0" indent="0">
              <a:buNone/>
            </a:pPr>
            <a:r>
              <a:rPr lang="en-US" sz="1400" dirty="0">
                <a:solidFill>
                  <a:srgbClr val="4A5B5E"/>
                </a:solidFill>
              </a:rPr>
              <a:t>and the wider teaching team</a:t>
            </a:r>
            <a:endParaRPr lang="en-US" sz="1400" dirty="0"/>
          </a:p>
        </p:txBody>
      </p:sp>
      <p:sp>
        <p:nvSpPr>
          <p:cNvPr id="16" name="card"/>
          <p:cNvSpPr/>
          <p:nvPr/>
        </p:nvSpPr>
        <p:spPr>
          <a:xfrm>
            <a:off x="548640" y="4663440"/>
            <a:ext cx="6858000" cy="1417320"/>
          </a:xfrm>
          <a:prstGeom prst="roundRect">
            <a:avLst>
              <a:gd name="adj" fmla="val 6452"/>
            </a:avLst>
          </a:prstGeom>
          <a:solidFill>
            <a:srgbClr val="FFFFFF"/>
          </a:solidFill>
          <a:ln/>
          <a:effectLst>
            <a:outerShdw blurRad="114300" dist="25400" dir="5400000" algn="bl" rotWithShape="0">
              <a:srgbClr val="0E3B43">
                <a:alpha val="13000"/>
              </a:srgbClr>
            </a:outerShdw>
          </a:effectLst>
        </p:spPr>
      </p:sp>
      <p:sp>
        <p:nvSpPr>
          <p:cNvPr id="17" name="Classmates &amp; peers circle"/>
          <p:cNvSpPr/>
          <p:nvPr/>
        </p:nvSpPr>
        <p:spPr>
          <a:xfrm>
            <a:off x="777240" y="5047488"/>
            <a:ext cx="640080" cy="640080"/>
          </a:xfrm>
          <a:prstGeom prst="ellipse">
            <a:avLst/>
          </a:prstGeom>
          <a:solidFill>
            <a:schemeClr val="accent3"/>
          </a:solidFill>
          <a:ln/>
        </p:spPr>
      </p:sp>
      <p:pic>
        <p:nvPicPr>
          <p:cNvPr id="18" name="Classmates &amp; peers" descr="preencoded.png"/>
          <p:cNvPicPr>
            <a:picLocks noChangeAspect="1"/>
          </p:cNvPicPr>
          <p:nvPr/>
        </p:nvPicPr>
        <p:blipFill>
          <a:blip r:embed="rId5"/>
          <a:stretch>
            <a:fillRect/>
          </a:stretch>
        </p:blipFill>
        <p:spPr>
          <a:xfrm>
            <a:off x="930859" y="5201107"/>
            <a:ext cx="332842" cy="332842"/>
          </a:xfrm>
          <a:prstGeom prst="rect">
            <a:avLst/>
          </a:prstGeom>
        </p:spPr>
      </p:pic>
      <p:sp>
        <p:nvSpPr>
          <p:cNvPr id="19" name="Text 14"/>
          <p:cNvSpPr txBox="1"/>
          <p:nvPr/>
        </p:nvSpPr>
        <p:spPr>
          <a:xfrm>
            <a:off x="1691640" y="4800600"/>
            <a:ext cx="5486400" cy="320040"/>
          </a:xfrm>
          <a:prstGeom prst="rect">
            <a:avLst/>
          </a:prstGeom>
          <a:noFill/>
          <a:ln/>
        </p:spPr>
        <p:txBody>
          <a:bodyPr wrap="square" lIns="0" tIns="0" rIns="0" bIns="0" rtlCol="0" anchor="t"/>
          <a:lstStyle/>
          <a:p>
            <a:pPr marL="0" indent="0">
              <a:buNone/>
            </a:pPr>
            <a:r>
              <a:rPr lang="en-US" sz="1600" b="1" dirty="0">
                <a:solidFill>
                  <a:srgbClr val="132226"/>
                </a:solidFill>
              </a:rPr>
              <a:t>Classmates &amp; peers</a:t>
            </a:r>
            <a:endParaRPr lang="en-US" sz="1600" dirty="0"/>
          </a:p>
        </p:txBody>
      </p:sp>
      <p:sp>
        <p:nvSpPr>
          <p:cNvPr id="20" name="Text 15"/>
          <p:cNvSpPr txBox="1"/>
          <p:nvPr/>
        </p:nvSpPr>
        <p:spPr>
          <a:xfrm>
            <a:off x="1691640" y="5138928"/>
            <a:ext cx="5486400" cy="868680"/>
          </a:xfrm>
          <a:prstGeom prst="rect">
            <a:avLst/>
          </a:prstGeom>
          <a:noFill/>
          <a:ln/>
        </p:spPr>
        <p:txBody>
          <a:bodyPr wrap="square" lIns="0" tIns="0" rIns="0" bIns="0" rtlCol="0" anchor="t"/>
          <a:lstStyle/>
          <a:p>
            <a:pPr marL="0" indent="0">
              <a:buNone/>
            </a:pPr>
            <a:r>
              <a:rPr lang="en-US" sz="1400" dirty="0">
                <a:solidFill>
                  <a:srgbClr val="4A5B5E"/>
                </a:solidFill>
              </a:rPr>
              <a:t>Discussions, feedback, testing, troubleshooting and motivation throughout the capstone</a:t>
            </a:r>
            <a:endParaRPr lang="en-US" sz="1400" dirty="0"/>
          </a:p>
        </p:txBody>
      </p:sp>
      <p:sp>
        <p:nvSpPr>
          <p:cNvPr id="21" name="questions panel"/>
          <p:cNvSpPr/>
          <p:nvPr/>
        </p:nvSpPr>
        <p:spPr>
          <a:xfrm>
            <a:off x="7680960" y="1463040"/>
            <a:ext cx="3959352" cy="4663440"/>
          </a:xfrm>
          <a:prstGeom prst="roundRect">
            <a:avLst>
              <a:gd name="adj" fmla="val 2309"/>
            </a:avLst>
          </a:prstGeom>
          <a:solidFill>
            <a:schemeClr val="tx2"/>
          </a:solidFill>
          <a:ln/>
          <a:effectLst>
            <a:outerShdw blurRad="114300" dist="25400" dir="5400000" algn="bl" rotWithShape="0">
              <a:srgbClr val="0E3B43">
                <a:alpha val="13000"/>
              </a:srgbClr>
            </a:outerShdw>
          </a:effectLst>
        </p:spPr>
      </p:sp>
      <p:sp>
        <p:nvSpPr>
          <p:cNvPr id="22" name="questions circle"/>
          <p:cNvSpPr/>
          <p:nvPr/>
        </p:nvSpPr>
        <p:spPr>
          <a:xfrm>
            <a:off x="8001000" y="1828800"/>
            <a:ext cx="822960" cy="822960"/>
          </a:xfrm>
          <a:prstGeom prst="ellipse">
            <a:avLst/>
          </a:prstGeom>
          <a:solidFill>
            <a:schemeClr val="accent2"/>
          </a:solidFill>
          <a:ln/>
        </p:spPr>
      </p:sp>
      <p:pic>
        <p:nvPicPr>
          <p:cNvPr id="23" name="questions" descr="preencoded.png"/>
          <p:cNvPicPr>
            <a:picLocks noChangeAspect="1"/>
          </p:cNvPicPr>
          <p:nvPr/>
        </p:nvPicPr>
        <p:blipFill>
          <a:blip r:embed="rId6"/>
          <a:stretch>
            <a:fillRect/>
          </a:stretch>
        </p:blipFill>
        <p:spPr>
          <a:xfrm>
            <a:off x="8198510" y="2026310"/>
            <a:ext cx="427939" cy="427939"/>
          </a:xfrm>
          <a:prstGeom prst="rect">
            <a:avLst/>
          </a:prstGeom>
        </p:spPr>
      </p:pic>
      <p:sp>
        <p:nvSpPr>
          <p:cNvPr id="24" name="Text 18"/>
          <p:cNvSpPr txBox="1"/>
          <p:nvPr/>
        </p:nvSpPr>
        <p:spPr>
          <a:xfrm>
            <a:off x="8001000" y="2880360"/>
            <a:ext cx="3383280" cy="731520"/>
          </a:xfrm>
          <a:prstGeom prst="rect">
            <a:avLst/>
          </a:prstGeom>
          <a:noFill/>
          <a:ln/>
        </p:spPr>
        <p:txBody>
          <a:bodyPr wrap="square" lIns="0" tIns="0" rIns="0" bIns="0" rtlCol="0" anchor="ctr"/>
          <a:lstStyle/>
          <a:p>
            <a:pPr marL="0" indent="0">
              <a:buNone/>
            </a:pPr>
            <a:r>
              <a:rPr lang="en-US" sz="4000" b="1" dirty="0">
                <a:solidFill>
                  <a:srgbClr val="FFFFFF"/>
                </a:solidFill>
                <a:latin typeface="+mj-lt" pitchFamily="34" charset="0"/>
                <a:ea typeface="+mj-lt" pitchFamily="34" charset="-122"/>
                <a:cs typeface="+mj-lt" pitchFamily="34" charset="-120"/>
              </a:rPr>
              <a:t>Questions?</a:t>
            </a:r>
            <a:endParaRPr lang="en-US" sz="4000" dirty="0"/>
          </a:p>
        </p:txBody>
      </p:sp>
      <p:sp>
        <p:nvSpPr>
          <p:cNvPr id="25" name="Text 19"/>
          <p:cNvSpPr txBox="1"/>
          <p:nvPr/>
        </p:nvSpPr>
        <p:spPr>
          <a:xfrm>
            <a:off x="8001000" y="3703320"/>
            <a:ext cx="3383280" cy="1005840"/>
          </a:xfrm>
          <a:prstGeom prst="rect">
            <a:avLst/>
          </a:prstGeom>
          <a:noFill/>
          <a:ln/>
        </p:spPr>
        <p:txBody>
          <a:bodyPr wrap="square" lIns="0" tIns="0" rIns="0" bIns="0" rtlCol="0" anchor="t"/>
          <a:lstStyle/>
          <a:p>
            <a:pPr marL="0" indent="0">
              <a:buNone/>
            </a:pPr>
            <a:r>
              <a:rPr lang="en-US" sz="1500" dirty="0">
                <a:solidFill>
                  <a:srgbClr val="9AD1D4"/>
                </a:solidFill>
              </a:rPr>
              <a:t>Thank you for the questions and feedback that helped improve the architecture.</a:t>
            </a:r>
            <a:endParaRPr lang="en-US" sz="1500" dirty="0"/>
          </a:p>
        </p:txBody>
      </p:sp>
      <p:sp>
        <p:nvSpPr>
          <p:cNvPr id="26" name="Text 20"/>
          <p:cNvSpPr txBox="1"/>
          <p:nvPr/>
        </p:nvSpPr>
        <p:spPr>
          <a:xfrm>
            <a:off x="8001000" y="5166360"/>
            <a:ext cx="3383280" cy="365760"/>
          </a:xfrm>
          <a:prstGeom prst="rect">
            <a:avLst/>
          </a:prstGeom>
          <a:noFill/>
          <a:ln/>
        </p:spPr>
        <p:txBody>
          <a:bodyPr wrap="square" lIns="0" tIns="0" rIns="0" bIns="0" rtlCol="0" anchor="t"/>
          <a:lstStyle/>
          <a:p>
            <a:pPr marL="0" indent="0">
              <a:buNone/>
            </a:pPr>
            <a:r>
              <a:rPr lang="en-US" sz="1500" b="1" dirty="0">
                <a:solidFill>
                  <a:srgbClr val="F2A541"/>
                </a:solidFill>
              </a:rPr>
              <a:t>cloud.namienterprises.in</a:t>
            </a:r>
            <a:endParaRPr lang="en-US" sz="1500" dirty="0"/>
          </a:p>
        </p:txBody>
      </p:sp>
      <p:sp>
        <p:nvSpPr>
          <p:cNvPr id="27" name="Text 21"/>
          <p:cNvSpPr txBox="1"/>
          <p:nvPr/>
        </p:nvSpPr>
        <p:spPr>
          <a:xfrm>
            <a:off x="8001000" y="5532120"/>
            <a:ext cx="3474720" cy="365760"/>
          </a:xfrm>
          <a:prstGeom prst="rect">
            <a:avLst/>
          </a:prstGeom>
          <a:noFill/>
          <a:ln/>
        </p:spPr>
        <p:txBody>
          <a:bodyPr wrap="square" lIns="0" tIns="0" rIns="0" bIns="0" rtlCol="0" anchor="t"/>
          <a:lstStyle/>
          <a:p>
            <a:pPr marL="0" indent="0">
              <a:buNone/>
            </a:pPr>
            <a:r>
              <a:rPr lang="en-US" sz="1150" dirty="0">
                <a:solidFill>
                  <a:srgbClr val="D5E7E8"/>
                </a:solidFill>
              </a:rPr>
              <a:t>github.com/sheikhseraj/langnation-cloud-platform</a:t>
            </a:r>
            <a:endParaRPr lang="en-US" sz="1150" dirty="0"/>
          </a:p>
        </p:txBody>
      </p:sp>
      <p:sp>
        <p:nvSpPr>
          <p:cNvPr id="28"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Key technical configuration</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Exact values for Q&amp;A — not a main presentation slide.</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F2A541"/>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132226"/>
                </a:solidFill>
              </a:rPr>
              <a:t>BACKUP</a:t>
            </a:r>
            <a:endParaRPr lang="en-US" sz="1200" dirty="0"/>
          </a:p>
        </p:txBody>
      </p:sp>
      <p:sp>
        <p:nvSpPr>
          <p:cNvPr id="6" name="card"/>
          <p:cNvSpPr/>
          <p:nvPr/>
        </p:nvSpPr>
        <p:spPr>
          <a:xfrm>
            <a:off x="548640" y="1463040"/>
            <a:ext cx="5454396" cy="493776"/>
          </a:xfrm>
          <a:prstGeom prst="roundRect">
            <a:avLst>
              <a:gd name="adj" fmla="val 18519"/>
            </a:avLst>
          </a:prstGeom>
          <a:solidFill>
            <a:srgbClr val="FFFFFF"/>
          </a:solidFill>
          <a:ln w="9525">
            <a:solidFill>
              <a:srgbClr val="D3E2E0"/>
            </a:solidFill>
            <a:prstDash val="solid"/>
          </a:ln>
        </p:spPr>
      </p:sp>
      <p:sp>
        <p:nvSpPr>
          <p:cNvPr id="7" name="Text 5"/>
          <p:cNvSpPr txBox="1"/>
          <p:nvPr/>
        </p:nvSpPr>
        <p:spPr>
          <a:xfrm>
            <a:off x="749808" y="1463040"/>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VPC</a:t>
            </a:r>
            <a:endParaRPr lang="en-US" sz="1300" dirty="0"/>
          </a:p>
        </p:txBody>
      </p:sp>
      <p:sp>
        <p:nvSpPr>
          <p:cNvPr id="8" name="Text 6"/>
          <p:cNvSpPr txBox="1"/>
          <p:nvPr/>
        </p:nvSpPr>
        <p:spPr>
          <a:xfrm>
            <a:off x="2240280" y="1463040"/>
            <a:ext cx="3657600" cy="493776"/>
          </a:xfrm>
          <a:prstGeom prst="rect">
            <a:avLst/>
          </a:prstGeom>
          <a:noFill/>
          <a:ln/>
        </p:spPr>
        <p:txBody>
          <a:bodyPr wrap="square" lIns="0" tIns="0" rIns="0" bIns="0" rtlCol="0" anchor="ctr"/>
          <a:lstStyle/>
          <a:p>
            <a:pPr marL="0" indent="0">
              <a:buNone/>
            </a:pPr>
            <a:r>
              <a:rPr lang="en-US" sz="1300" dirty="0">
                <a:solidFill>
                  <a:srgbClr val="132226"/>
                </a:solidFill>
              </a:rPr>
              <a:t>10.0.0.0/16</a:t>
            </a:r>
            <a:endParaRPr lang="en-US" sz="1300" dirty="0"/>
          </a:p>
        </p:txBody>
      </p:sp>
      <p:sp>
        <p:nvSpPr>
          <p:cNvPr id="9" name="card"/>
          <p:cNvSpPr/>
          <p:nvPr/>
        </p:nvSpPr>
        <p:spPr>
          <a:xfrm>
            <a:off x="6185916" y="1463040"/>
            <a:ext cx="5454396" cy="493776"/>
          </a:xfrm>
          <a:prstGeom prst="roundRect">
            <a:avLst>
              <a:gd name="adj" fmla="val 18519"/>
            </a:avLst>
          </a:prstGeom>
          <a:solidFill>
            <a:srgbClr val="FFFFFF"/>
          </a:solidFill>
          <a:ln w="9525">
            <a:solidFill>
              <a:srgbClr val="D3E2E0"/>
            </a:solidFill>
            <a:prstDash val="solid"/>
          </a:ln>
        </p:spPr>
      </p:sp>
      <p:sp>
        <p:nvSpPr>
          <p:cNvPr id="10" name="Text 8"/>
          <p:cNvSpPr txBox="1"/>
          <p:nvPr/>
        </p:nvSpPr>
        <p:spPr>
          <a:xfrm>
            <a:off x="6387084" y="1463040"/>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S3</a:t>
            </a:r>
            <a:endParaRPr lang="en-US" sz="1300" dirty="0"/>
          </a:p>
        </p:txBody>
      </p:sp>
      <p:sp>
        <p:nvSpPr>
          <p:cNvPr id="11" name="Text 9"/>
          <p:cNvSpPr txBox="1"/>
          <p:nvPr/>
        </p:nvSpPr>
        <p:spPr>
          <a:xfrm>
            <a:off x="7877556" y="1463040"/>
            <a:ext cx="3657600" cy="493776"/>
          </a:xfrm>
          <a:prstGeom prst="rect">
            <a:avLst/>
          </a:prstGeom>
          <a:noFill/>
          <a:ln/>
        </p:spPr>
        <p:txBody>
          <a:bodyPr wrap="square" lIns="0" tIns="0" rIns="0" bIns="0" rtlCol="0" anchor="ctr"/>
          <a:lstStyle/>
          <a:p>
            <a:pPr marL="0" indent="0">
              <a:buNone/>
            </a:pPr>
            <a:r>
              <a:rPr lang="en-US" sz="1300" dirty="0">
                <a:solidFill>
                  <a:srgbClr val="132226"/>
                </a:solidFill>
              </a:rPr>
              <a:t>private · versioned · AES256 · HTTPS-only</a:t>
            </a:r>
            <a:endParaRPr lang="en-US" sz="1300" dirty="0"/>
          </a:p>
        </p:txBody>
      </p:sp>
      <p:sp>
        <p:nvSpPr>
          <p:cNvPr id="12" name="card"/>
          <p:cNvSpPr/>
          <p:nvPr/>
        </p:nvSpPr>
        <p:spPr>
          <a:xfrm>
            <a:off x="548640" y="2048256"/>
            <a:ext cx="5454396" cy="493776"/>
          </a:xfrm>
          <a:prstGeom prst="roundRect">
            <a:avLst>
              <a:gd name="adj" fmla="val 18519"/>
            </a:avLst>
          </a:prstGeom>
          <a:solidFill>
            <a:srgbClr val="FFFFFF"/>
          </a:solidFill>
          <a:ln w="9525">
            <a:solidFill>
              <a:srgbClr val="D3E2E0"/>
            </a:solidFill>
            <a:prstDash val="solid"/>
          </a:ln>
        </p:spPr>
      </p:sp>
      <p:sp>
        <p:nvSpPr>
          <p:cNvPr id="13" name="Text 11"/>
          <p:cNvSpPr txBox="1"/>
          <p:nvPr/>
        </p:nvSpPr>
        <p:spPr>
          <a:xfrm>
            <a:off x="749808" y="2048256"/>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Public subnets</a:t>
            </a:r>
            <a:endParaRPr lang="en-US" sz="1300" dirty="0"/>
          </a:p>
        </p:txBody>
      </p:sp>
      <p:sp>
        <p:nvSpPr>
          <p:cNvPr id="14" name="Text 12"/>
          <p:cNvSpPr txBox="1"/>
          <p:nvPr/>
        </p:nvSpPr>
        <p:spPr>
          <a:xfrm>
            <a:off x="2240280" y="2048256"/>
            <a:ext cx="3657600" cy="493776"/>
          </a:xfrm>
          <a:prstGeom prst="rect">
            <a:avLst/>
          </a:prstGeom>
          <a:noFill/>
          <a:ln/>
        </p:spPr>
        <p:txBody>
          <a:bodyPr wrap="square" lIns="0" tIns="0" rIns="0" bIns="0" rtlCol="0" anchor="ctr"/>
          <a:lstStyle/>
          <a:p>
            <a:pPr marL="0" indent="0">
              <a:buNone/>
            </a:pPr>
            <a:r>
              <a:rPr lang="en-US" sz="1300" dirty="0">
                <a:solidFill>
                  <a:srgbClr val="132226"/>
                </a:solidFill>
              </a:rPr>
              <a:t>10.0.1.0/24 · 10.0.2.0/24</a:t>
            </a:r>
            <a:endParaRPr lang="en-US" sz="1300" dirty="0"/>
          </a:p>
        </p:txBody>
      </p:sp>
      <p:sp>
        <p:nvSpPr>
          <p:cNvPr id="15" name="card"/>
          <p:cNvSpPr/>
          <p:nvPr/>
        </p:nvSpPr>
        <p:spPr>
          <a:xfrm>
            <a:off x="6185916" y="2048256"/>
            <a:ext cx="5454396" cy="493776"/>
          </a:xfrm>
          <a:prstGeom prst="roundRect">
            <a:avLst>
              <a:gd name="adj" fmla="val 18519"/>
            </a:avLst>
          </a:prstGeom>
          <a:solidFill>
            <a:srgbClr val="FFFFFF"/>
          </a:solidFill>
          <a:ln w="9525">
            <a:solidFill>
              <a:srgbClr val="D3E2E0"/>
            </a:solidFill>
            <a:prstDash val="solid"/>
          </a:ln>
        </p:spPr>
      </p:sp>
      <p:sp>
        <p:nvSpPr>
          <p:cNvPr id="16" name="Text 14"/>
          <p:cNvSpPr txBox="1"/>
          <p:nvPr/>
        </p:nvSpPr>
        <p:spPr>
          <a:xfrm>
            <a:off x="6387084" y="2048256"/>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Event pipeline</a:t>
            </a:r>
            <a:endParaRPr lang="en-US" sz="1300" dirty="0"/>
          </a:p>
        </p:txBody>
      </p:sp>
      <p:sp>
        <p:nvSpPr>
          <p:cNvPr id="17" name="Text 15"/>
          <p:cNvSpPr txBox="1"/>
          <p:nvPr/>
        </p:nvSpPr>
        <p:spPr>
          <a:xfrm>
            <a:off x="7877556" y="2048256"/>
            <a:ext cx="3657600" cy="493776"/>
          </a:xfrm>
          <a:prstGeom prst="rect">
            <a:avLst/>
          </a:prstGeom>
          <a:noFill/>
          <a:ln/>
        </p:spPr>
        <p:txBody>
          <a:bodyPr wrap="square" lIns="0" tIns="0" rIns="0" bIns="0" rtlCol="0" anchor="ctr"/>
          <a:lstStyle/>
          <a:p>
            <a:pPr marL="0" indent="0">
              <a:buNone/>
            </a:pPr>
            <a:r>
              <a:rPr lang="en-US" sz="1300" dirty="0">
                <a:solidFill>
                  <a:srgbClr val="132226"/>
                </a:solidFill>
              </a:rPr>
              <a:t>SQS visibility 180 s · maxReceiveCount 3 · DLQ 14 days</a:t>
            </a:r>
            <a:endParaRPr lang="en-US" sz="1300" dirty="0"/>
          </a:p>
        </p:txBody>
      </p:sp>
      <p:sp>
        <p:nvSpPr>
          <p:cNvPr id="18" name="card"/>
          <p:cNvSpPr/>
          <p:nvPr/>
        </p:nvSpPr>
        <p:spPr>
          <a:xfrm>
            <a:off x="548640" y="2633472"/>
            <a:ext cx="5454396" cy="493776"/>
          </a:xfrm>
          <a:prstGeom prst="roundRect">
            <a:avLst>
              <a:gd name="adj" fmla="val 18519"/>
            </a:avLst>
          </a:prstGeom>
          <a:solidFill>
            <a:srgbClr val="FFFFFF"/>
          </a:solidFill>
          <a:ln w="9525">
            <a:solidFill>
              <a:srgbClr val="D3E2E0"/>
            </a:solidFill>
            <a:prstDash val="solid"/>
          </a:ln>
        </p:spPr>
      </p:sp>
      <p:sp>
        <p:nvSpPr>
          <p:cNvPr id="19" name="Text 17"/>
          <p:cNvSpPr txBox="1"/>
          <p:nvPr/>
        </p:nvSpPr>
        <p:spPr>
          <a:xfrm>
            <a:off x="749808" y="2633472"/>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Private app</a:t>
            </a:r>
            <a:endParaRPr lang="en-US" sz="1300" dirty="0"/>
          </a:p>
        </p:txBody>
      </p:sp>
      <p:sp>
        <p:nvSpPr>
          <p:cNvPr id="20" name="Text 18"/>
          <p:cNvSpPr txBox="1"/>
          <p:nvPr/>
        </p:nvSpPr>
        <p:spPr>
          <a:xfrm>
            <a:off x="2240280" y="2633472"/>
            <a:ext cx="3657600" cy="493776"/>
          </a:xfrm>
          <a:prstGeom prst="rect">
            <a:avLst/>
          </a:prstGeom>
          <a:noFill/>
          <a:ln/>
        </p:spPr>
        <p:txBody>
          <a:bodyPr wrap="square" lIns="0" tIns="0" rIns="0" bIns="0" rtlCol="0" anchor="ctr"/>
          <a:lstStyle/>
          <a:p>
            <a:pPr marL="0" indent="0">
              <a:buNone/>
            </a:pPr>
            <a:r>
              <a:rPr lang="en-US" sz="1300" dirty="0">
                <a:solidFill>
                  <a:srgbClr val="132226"/>
                </a:solidFill>
              </a:rPr>
              <a:t>10.0.11.0/24 · 10.0.12.0/24</a:t>
            </a:r>
            <a:endParaRPr lang="en-US" sz="1300" dirty="0"/>
          </a:p>
        </p:txBody>
      </p:sp>
      <p:sp>
        <p:nvSpPr>
          <p:cNvPr id="21" name="card"/>
          <p:cNvSpPr/>
          <p:nvPr/>
        </p:nvSpPr>
        <p:spPr>
          <a:xfrm>
            <a:off x="6185916" y="2633472"/>
            <a:ext cx="5454396" cy="493776"/>
          </a:xfrm>
          <a:prstGeom prst="roundRect">
            <a:avLst>
              <a:gd name="adj" fmla="val 18519"/>
            </a:avLst>
          </a:prstGeom>
          <a:solidFill>
            <a:srgbClr val="FFFFFF"/>
          </a:solidFill>
          <a:ln w="9525">
            <a:solidFill>
              <a:srgbClr val="D3E2E0"/>
            </a:solidFill>
            <a:prstDash val="solid"/>
          </a:ln>
        </p:spPr>
      </p:sp>
      <p:sp>
        <p:nvSpPr>
          <p:cNvPr id="22" name="Text 20"/>
          <p:cNvSpPr txBox="1"/>
          <p:nvPr/>
        </p:nvSpPr>
        <p:spPr>
          <a:xfrm>
            <a:off x="6387084" y="2633472"/>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Embeddings</a:t>
            </a:r>
            <a:endParaRPr lang="en-US" sz="1300" dirty="0"/>
          </a:p>
        </p:txBody>
      </p:sp>
      <p:sp>
        <p:nvSpPr>
          <p:cNvPr id="23" name="Text 21"/>
          <p:cNvSpPr txBox="1"/>
          <p:nvPr/>
        </p:nvSpPr>
        <p:spPr>
          <a:xfrm>
            <a:off x="7877556" y="2633472"/>
            <a:ext cx="3657600" cy="493776"/>
          </a:xfrm>
          <a:prstGeom prst="rect">
            <a:avLst/>
          </a:prstGeom>
          <a:noFill/>
          <a:ln/>
        </p:spPr>
        <p:txBody>
          <a:bodyPr wrap="square" lIns="0" tIns="0" rIns="0" bIns="0" rtlCol="0" anchor="ctr"/>
          <a:lstStyle/>
          <a:p>
            <a:pPr marL="0" indent="0">
              <a:buNone/>
            </a:pPr>
            <a:r>
              <a:rPr lang="en-US" sz="1300" dirty="0">
                <a:solidFill>
                  <a:srgbClr val="132226"/>
                </a:solidFill>
              </a:rPr>
              <a:t>Titan Text Embeddings V2 · 1024 dims</a:t>
            </a:r>
            <a:endParaRPr lang="en-US" sz="1300" dirty="0"/>
          </a:p>
        </p:txBody>
      </p:sp>
      <p:sp>
        <p:nvSpPr>
          <p:cNvPr id="24" name="card"/>
          <p:cNvSpPr/>
          <p:nvPr/>
        </p:nvSpPr>
        <p:spPr>
          <a:xfrm>
            <a:off x="548640" y="3218688"/>
            <a:ext cx="5454396" cy="493776"/>
          </a:xfrm>
          <a:prstGeom prst="roundRect">
            <a:avLst>
              <a:gd name="adj" fmla="val 18519"/>
            </a:avLst>
          </a:prstGeom>
          <a:solidFill>
            <a:srgbClr val="FFFFFF"/>
          </a:solidFill>
          <a:ln w="9525">
            <a:solidFill>
              <a:srgbClr val="D3E2E0"/>
            </a:solidFill>
            <a:prstDash val="solid"/>
          </a:ln>
        </p:spPr>
      </p:sp>
      <p:sp>
        <p:nvSpPr>
          <p:cNvPr id="25" name="Text 23"/>
          <p:cNvSpPr txBox="1"/>
          <p:nvPr/>
        </p:nvSpPr>
        <p:spPr>
          <a:xfrm>
            <a:off x="749808" y="3218688"/>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Private DB</a:t>
            </a:r>
            <a:endParaRPr lang="en-US" sz="1300" dirty="0"/>
          </a:p>
        </p:txBody>
      </p:sp>
      <p:sp>
        <p:nvSpPr>
          <p:cNvPr id="26" name="Text 24"/>
          <p:cNvSpPr txBox="1"/>
          <p:nvPr/>
        </p:nvSpPr>
        <p:spPr>
          <a:xfrm>
            <a:off x="2240280" y="3218688"/>
            <a:ext cx="3657600" cy="493776"/>
          </a:xfrm>
          <a:prstGeom prst="rect">
            <a:avLst/>
          </a:prstGeom>
          <a:noFill/>
          <a:ln/>
        </p:spPr>
        <p:txBody>
          <a:bodyPr wrap="square" lIns="0" tIns="0" rIns="0" bIns="0" rtlCol="0" anchor="ctr"/>
          <a:lstStyle/>
          <a:p>
            <a:pPr marL="0" indent="0">
              <a:buNone/>
            </a:pPr>
            <a:r>
              <a:rPr lang="en-US" sz="1300" dirty="0">
                <a:solidFill>
                  <a:srgbClr val="132226"/>
                </a:solidFill>
              </a:rPr>
              <a:t>10.0.21.0/24 · 10.0.22.0/24</a:t>
            </a:r>
            <a:endParaRPr lang="en-US" sz="1300" dirty="0"/>
          </a:p>
        </p:txBody>
      </p:sp>
      <p:sp>
        <p:nvSpPr>
          <p:cNvPr id="27" name="card"/>
          <p:cNvSpPr/>
          <p:nvPr/>
        </p:nvSpPr>
        <p:spPr>
          <a:xfrm>
            <a:off x="6185916" y="3218688"/>
            <a:ext cx="5454396" cy="493776"/>
          </a:xfrm>
          <a:prstGeom prst="roundRect">
            <a:avLst>
              <a:gd name="adj" fmla="val 18519"/>
            </a:avLst>
          </a:prstGeom>
          <a:solidFill>
            <a:srgbClr val="FFFFFF"/>
          </a:solidFill>
          <a:ln w="9525">
            <a:solidFill>
              <a:srgbClr val="D3E2E0"/>
            </a:solidFill>
            <a:prstDash val="solid"/>
          </a:ln>
        </p:spPr>
      </p:sp>
      <p:sp>
        <p:nvSpPr>
          <p:cNvPr id="28" name="Text 26"/>
          <p:cNvSpPr txBox="1"/>
          <p:nvPr/>
        </p:nvSpPr>
        <p:spPr>
          <a:xfrm>
            <a:off x="6387084" y="3218688"/>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Chunking</a:t>
            </a:r>
            <a:endParaRPr lang="en-US" sz="1300" dirty="0"/>
          </a:p>
        </p:txBody>
      </p:sp>
      <p:sp>
        <p:nvSpPr>
          <p:cNvPr id="29" name="Text 27"/>
          <p:cNvSpPr txBox="1"/>
          <p:nvPr/>
        </p:nvSpPr>
        <p:spPr>
          <a:xfrm>
            <a:off x="7877556" y="3218688"/>
            <a:ext cx="3657600" cy="493776"/>
          </a:xfrm>
          <a:prstGeom prst="rect">
            <a:avLst/>
          </a:prstGeom>
          <a:noFill/>
          <a:ln/>
        </p:spPr>
        <p:txBody>
          <a:bodyPr wrap="square" lIns="0" tIns="0" rIns="0" bIns="0" rtlCol="0" anchor="ctr"/>
          <a:lstStyle/>
          <a:p>
            <a:pPr marL="0" indent="0">
              <a:buNone/>
            </a:pPr>
            <a:r>
              <a:rPr lang="en-US" sz="1300" dirty="0">
                <a:solidFill>
                  <a:srgbClr val="132226"/>
                </a:solidFill>
              </a:rPr>
              <a:t>200 words · 40-word overlap</a:t>
            </a:r>
            <a:endParaRPr lang="en-US" sz="1300" dirty="0"/>
          </a:p>
        </p:txBody>
      </p:sp>
      <p:sp>
        <p:nvSpPr>
          <p:cNvPr id="30" name="card"/>
          <p:cNvSpPr/>
          <p:nvPr/>
        </p:nvSpPr>
        <p:spPr>
          <a:xfrm>
            <a:off x="548640" y="3803904"/>
            <a:ext cx="5454396" cy="493776"/>
          </a:xfrm>
          <a:prstGeom prst="roundRect">
            <a:avLst>
              <a:gd name="adj" fmla="val 18519"/>
            </a:avLst>
          </a:prstGeom>
          <a:solidFill>
            <a:srgbClr val="FFFFFF"/>
          </a:solidFill>
          <a:ln w="9525">
            <a:solidFill>
              <a:srgbClr val="D3E2E0"/>
            </a:solidFill>
            <a:prstDash val="solid"/>
          </a:ln>
        </p:spPr>
      </p:sp>
      <p:sp>
        <p:nvSpPr>
          <p:cNvPr id="31" name="Text 29"/>
          <p:cNvSpPr txBox="1"/>
          <p:nvPr/>
        </p:nvSpPr>
        <p:spPr>
          <a:xfrm>
            <a:off x="749808" y="3803904"/>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ECS</a:t>
            </a:r>
            <a:endParaRPr lang="en-US" sz="1300" dirty="0"/>
          </a:p>
        </p:txBody>
      </p:sp>
      <p:sp>
        <p:nvSpPr>
          <p:cNvPr id="32" name="Text 30"/>
          <p:cNvSpPr txBox="1"/>
          <p:nvPr/>
        </p:nvSpPr>
        <p:spPr>
          <a:xfrm>
            <a:off x="2240280" y="3803904"/>
            <a:ext cx="3657600" cy="493776"/>
          </a:xfrm>
          <a:prstGeom prst="rect">
            <a:avLst/>
          </a:prstGeom>
          <a:noFill/>
          <a:ln/>
        </p:spPr>
        <p:txBody>
          <a:bodyPr wrap="square" lIns="0" tIns="0" rIns="0" bIns="0" rtlCol="0" anchor="ctr"/>
          <a:lstStyle/>
          <a:p>
            <a:pPr marL="0" indent="0">
              <a:buNone/>
            </a:pPr>
            <a:r>
              <a:rPr lang="en-US" sz="1300" dirty="0">
                <a:solidFill>
                  <a:srgbClr val="132226"/>
                </a:solidFill>
              </a:rPr>
              <a:t>Fargate · 256 CPU · 512 MiB · port 3000</a:t>
            </a:r>
            <a:endParaRPr lang="en-US" sz="1300" dirty="0"/>
          </a:p>
        </p:txBody>
      </p:sp>
      <p:sp>
        <p:nvSpPr>
          <p:cNvPr id="33" name="card"/>
          <p:cNvSpPr/>
          <p:nvPr/>
        </p:nvSpPr>
        <p:spPr>
          <a:xfrm>
            <a:off x="6185916" y="3803904"/>
            <a:ext cx="5454396" cy="493776"/>
          </a:xfrm>
          <a:prstGeom prst="roundRect">
            <a:avLst>
              <a:gd name="adj" fmla="val 18519"/>
            </a:avLst>
          </a:prstGeom>
          <a:solidFill>
            <a:srgbClr val="FFFFFF"/>
          </a:solidFill>
          <a:ln w="9525">
            <a:solidFill>
              <a:srgbClr val="D3E2E0"/>
            </a:solidFill>
            <a:prstDash val="solid"/>
          </a:ln>
        </p:spPr>
      </p:sp>
      <p:sp>
        <p:nvSpPr>
          <p:cNvPr id="34" name="Text 32"/>
          <p:cNvSpPr txBox="1"/>
          <p:nvPr/>
        </p:nvSpPr>
        <p:spPr>
          <a:xfrm>
            <a:off x="6387084" y="3803904"/>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CloudWatch</a:t>
            </a:r>
            <a:endParaRPr lang="en-US" sz="1300" dirty="0"/>
          </a:p>
        </p:txBody>
      </p:sp>
      <p:sp>
        <p:nvSpPr>
          <p:cNvPr id="35" name="Text 33"/>
          <p:cNvSpPr txBox="1"/>
          <p:nvPr/>
        </p:nvSpPr>
        <p:spPr>
          <a:xfrm>
            <a:off x="7877556" y="3803904"/>
            <a:ext cx="3657600" cy="493776"/>
          </a:xfrm>
          <a:prstGeom prst="rect">
            <a:avLst/>
          </a:prstGeom>
          <a:noFill/>
          <a:ln/>
        </p:spPr>
        <p:txBody>
          <a:bodyPr wrap="square" lIns="0" tIns="0" rIns="0" bIns="0" rtlCol="0" anchor="ctr"/>
          <a:lstStyle/>
          <a:p>
            <a:pPr marL="0" indent="0">
              <a:buNone/>
            </a:pPr>
            <a:r>
              <a:rPr lang="en-US" sz="1300" dirty="0">
                <a:solidFill>
                  <a:srgbClr val="132226"/>
                </a:solidFill>
              </a:rPr>
              <a:t>dashboard + 9 custom alarms</a:t>
            </a:r>
            <a:endParaRPr lang="en-US" sz="1300" dirty="0"/>
          </a:p>
        </p:txBody>
      </p:sp>
      <p:sp>
        <p:nvSpPr>
          <p:cNvPr id="36" name="card"/>
          <p:cNvSpPr/>
          <p:nvPr/>
        </p:nvSpPr>
        <p:spPr>
          <a:xfrm>
            <a:off x="548640" y="4389120"/>
            <a:ext cx="5454396" cy="493776"/>
          </a:xfrm>
          <a:prstGeom prst="roundRect">
            <a:avLst>
              <a:gd name="adj" fmla="val 18519"/>
            </a:avLst>
          </a:prstGeom>
          <a:solidFill>
            <a:srgbClr val="FFFFFF"/>
          </a:solidFill>
          <a:ln w="9525">
            <a:solidFill>
              <a:srgbClr val="D3E2E0"/>
            </a:solidFill>
            <a:prstDash val="solid"/>
          </a:ln>
        </p:spPr>
      </p:sp>
      <p:sp>
        <p:nvSpPr>
          <p:cNvPr id="37" name="Text 35"/>
          <p:cNvSpPr txBox="1"/>
          <p:nvPr/>
        </p:nvSpPr>
        <p:spPr>
          <a:xfrm>
            <a:off x="749808" y="4389120"/>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Scaling</a:t>
            </a:r>
            <a:endParaRPr lang="en-US" sz="1300" dirty="0"/>
          </a:p>
        </p:txBody>
      </p:sp>
      <p:sp>
        <p:nvSpPr>
          <p:cNvPr id="38" name="Text 36"/>
          <p:cNvSpPr txBox="1"/>
          <p:nvPr/>
        </p:nvSpPr>
        <p:spPr>
          <a:xfrm>
            <a:off x="2240280" y="4389120"/>
            <a:ext cx="3657600" cy="493776"/>
          </a:xfrm>
          <a:prstGeom prst="rect">
            <a:avLst/>
          </a:prstGeom>
          <a:noFill/>
          <a:ln/>
        </p:spPr>
        <p:txBody>
          <a:bodyPr wrap="square" lIns="0" tIns="0" rIns="0" bIns="0" rtlCol="0" anchor="ctr"/>
          <a:lstStyle/>
          <a:p>
            <a:pPr marL="0" indent="0">
              <a:buNone/>
            </a:pPr>
            <a:r>
              <a:rPr lang="en-US" sz="1300" dirty="0">
                <a:solidFill>
                  <a:srgbClr val="132226"/>
                </a:solidFill>
              </a:rPr>
              <a:t>min 2 · max 4 · CPU target 50%</a:t>
            </a:r>
            <a:endParaRPr lang="en-US" sz="1300" dirty="0"/>
          </a:p>
        </p:txBody>
      </p:sp>
      <p:sp>
        <p:nvSpPr>
          <p:cNvPr id="39" name="card"/>
          <p:cNvSpPr/>
          <p:nvPr/>
        </p:nvSpPr>
        <p:spPr>
          <a:xfrm>
            <a:off x="6185916" y="4389120"/>
            <a:ext cx="5454396" cy="493776"/>
          </a:xfrm>
          <a:prstGeom prst="roundRect">
            <a:avLst>
              <a:gd name="adj" fmla="val 18519"/>
            </a:avLst>
          </a:prstGeom>
          <a:solidFill>
            <a:srgbClr val="FFFFFF"/>
          </a:solidFill>
          <a:ln w="9525">
            <a:solidFill>
              <a:srgbClr val="D3E2E0"/>
            </a:solidFill>
            <a:prstDash val="solid"/>
          </a:ln>
        </p:spPr>
      </p:sp>
      <p:sp>
        <p:nvSpPr>
          <p:cNvPr id="40" name="Text 38"/>
          <p:cNvSpPr txBox="1"/>
          <p:nvPr/>
        </p:nvSpPr>
        <p:spPr>
          <a:xfrm>
            <a:off x="6387084" y="4389120"/>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CloudTrail</a:t>
            </a:r>
            <a:endParaRPr lang="en-US" sz="1300" dirty="0"/>
          </a:p>
        </p:txBody>
      </p:sp>
      <p:sp>
        <p:nvSpPr>
          <p:cNvPr id="41" name="Text 39"/>
          <p:cNvSpPr txBox="1"/>
          <p:nvPr/>
        </p:nvSpPr>
        <p:spPr>
          <a:xfrm>
            <a:off x="7877556" y="4389120"/>
            <a:ext cx="3657600" cy="493776"/>
          </a:xfrm>
          <a:prstGeom prst="rect">
            <a:avLst/>
          </a:prstGeom>
          <a:noFill/>
          <a:ln/>
        </p:spPr>
        <p:txBody>
          <a:bodyPr wrap="square" lIns="0" tIns="0" rIns="0" bIns="0" rtlCol="0" anchor="ctr"/>
          <a:lstStyle/>
          <a:p>
            <a:pPr marL="0" indent="0">
              <a:buNone/>
            </a:pPr>
            <a:r>
              <a:rPr lang="en-US" sz="1300" dirty="0">
                <a:solidFill>
                  <a:srgbClr val="132226"/>
                </a:solidFill>
              </a:rPr>
              <a:t>multi-Region · management events · log validation</a:t>
            </a:r>
            <a:endParaRPr lang="en-US" sz="1300" dirty="0"/>
          </a:p>
        </p:txBody>
      </p:sp>
      <p:sp>
        <p:nvSpPr>
          <p:cNvPr id="42" name="card"/>
          <p:cNvSpPr/>
          <p:nvPr/>
        </p:nvSpPr>
        <p:spPr>
          <a:xfrm>
            <a:off x="548640" y="4974336"/>
            <a:ext cx="5454396" cy="493776"/>
          </a:xfrm>
          <a:prstGeom prst="roundRect">
            <a:avLst>
              <a:gd name="adj" fmla="val 18519"/>
            </a:avLst>
          </a:prstGeom>
          <a:solidFill>
            <a:srgbClr val="FFFFFF"/>
          </a:solidFill>
          <a:ln w="9525">
            <a:solidFill>
              <a:srgbClr val="D3E2E0"/>
            </a:solidFill>
            <a:prstDash val="solid"/>
          </a:ln>
        </p:spPr>
      </p:sp>
      <p:sp>
        <p:nvSpPr>
          <p:cNvPr id="43" name="Text 41"/>
          <p:cNvSpPr txBox="1"/>
          <p:nvPr/>
        </p:nvSpPr>
        <p:spPr>
          <a:xfrm>
            <a:off x="749808" y="4974336"/>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RDS</a:t>
            </a:r>
            <a:endParaRPr lang="en-US" sz="1300" dirty="0"/>
          </a:p>
        </p:txBody>
      </p:sp>
      <p:sp>
        <p:nvSpPr>
          <p:cNvPr id="44" name="Text 42"/>
          <p:cNvSpPr txBox="1"/>
          <p:nvPr/>
        </p:nvSpPr>
        <p:spPr>
          <a:xfrm>
            <a:off x="2240280" y="4974336"/>
            <a:ext cx="3657600" cy="493776"/>
          </a:xfrm>
          <a:prstGeom prst="rect">
            <a:avLst/>
          </a:prstGeom>
          <a:noFill/>
          <a:ln/>
        </p:spPr>
        <p:txBody>
          <a:bodyPr wrap="square" lIns="0" tIns="0" rIns="0" bIns="0" rtlCol="0" anchor="ctr"/>
          <a:lstStyle/>
          <a:p>
            <a:pPr marL="0" indent="0">
              <a:buNone/>
            </a:pPr>
            <a:r>
              <a:rPr lang="en-US" sz="1300" dirty="0">
                <a:solidFill>
                  <a:srgbClr val="132226"/>
                </a:solidFill>
              </a:rPr>
              <a:t>MariaDB 11.8.9 · db.t3.micro · Multi-AZ</a:t>
            </a:r>
            <a:endParaRPr lang="en-US" sz="1300" dirty="0"/>
          </a:p>
        </p:txBody>
      </p:sp>
      <p:sp>
        <p:nvSpPr>
          <p:cNvPr id="45" name="card"/>
          <p:cNvSpPr/>
          <p:nvPr/>
        </p:nvSpPr>
        <p:spPr>
          <a:xfrm>
            <a:off x="6185916" y="4974336"/>
            <a:ext cx="5454396" cy="493776"/>
          </a:xfrm>
          <a:prstGeom prst="roundRect">
            <a:avLst>
              <a:gd name="adj" fmla="val 18519"/>
            </a:avLst>
          </a:prstGeom>
          <a:solidFill>
            <a:srgbClr val="FFFFFF"/>
          </a:solidFill>
          <a:ln w="9525">
            <a:solidFill>
              <a:srgbClr val="D3E2E0"/>
            </a:solidFill>
            <a:prstDash val="solid"/>
          </a:ln>
        </p:spPr>
      </p:sp>
      <p:sp>
        <p:nvSpPr>
          <p:cNvPr id="46" name="Text 44"/>
          <p:cNvSpPr txBox="1"/>
          <p:nvPr/>
        </p:nvSpPr>
        <p:spPr>
          <a:xfrm>
            <a:off x="6387084" y="4974336"/>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Domain</a:t>
            </a:r>
            <a:endParaRPr lang="en-US" sz="1300" dirty="0"/>
          </a:p>
        </p:txBody>
      </p:sp>
      <p:sp>
        <p:nvSpPr>
          <p:cNvPr id="47" name="Text 45"/>
          <p:cNvSpPr txBox="1"/>
          <p:nvPr/>
        </p:nvSpPr>
        <p:spPr>
          <a:xfrm>
            <a:off x="7877556" y="4974336"/>
            <a:ext cx="3657600" cy="493776"/>
          </a:xfrm>
          <a:prstGeom prst="rect">
            <a:avLst/>
          </a:prstGeom>
          <a:noFill/>
          <a:ln/>
        </p:spPr>
        <p:txBody>
          <a:bodyPr wrap="square" lIns="0" tIns="0" rIns="0" bIns="0" rtlCol="0" anchor="ctr"/>
          <a:lstStyle/>
          <a:p>
            <a:pPr marL="0" indent="0">
              <a:buNone/>
            </a:pPr>
            <a:r>
              <a:rPr lang="en-US" sz="1300" dirty="0">
                <a:solidFill>
                  <a:srgbClr val="132226"/>
                </a:solidFill>
              </a:rPr>
              <a:t>cloud.namienterprises.in</a:t>
            </a:r>
            <a:endParaRPr lang="en-US" sz="1300" dirty="0"/>
          </a:p>
        </p:txBody>
      </p:sp>
      <p:sp>
        <p:nvSpPr>
          <p:cNvPr id="48" name="card"/>
          <p:cNvSpPr/>
          <p:nvPr/>
        </p:nvSpPr>
        <p:spPr>
          <a:xfrm>
            <a:off x="548640" y="5559552"/>
            <a:ext cx="5454396" cy="493776"/>
          </a:xfrm>
          <a:prstGeom prst="roundRect">
            <a:avLst>
              <a:gd name="adj" fmla="val 18519"/>
            </a:avLst>
          </a:prstGeom>
          <a:solidFill>
            <a:srgbClr val="FFFFFF"/>
          </a:solidFill>
          <a:ln w="9525">
            <a:solidFill>
              <a:srgbClr val="D3E2E0"/>
            </a:solidFill>
            <a:prstDash val="solid"/>
          </a:ln>
        </p:spPr>
      </p:sp>
      <p:sp>
        <p:nvSpPr>
          <p:cNvPr id="49" name="Text 47"/>
          <p:cNvSpPr txBox="1"/>
          <p:nvPr/>
        </p:nvSpPr>
        <p:spPr>
          <a:xfrm>
            <a:off x="749808" y="5559552"/>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RDS storage</a:t>
            </a:r>
            <a:endParaRPr lang="en-US" sz="1300" dirty="0"/>
          </a:p>
        </p:txBody>
      </p:sp>
      <p:sp>
        <p:nvSpPr>
          <p:cNvPr id="50" name="Text 48"/>
          <p:cNvSpPr txBox="1"/>
          <p:nvPr/>
        </p:nvSpPr>
        <p:spPr>
          <a:xfrm>
            <a:off x="2240280" y="5559552"/>
            <a:ext cx="3657600" cy="493776"/>
          </a:xfrm>
          <a:prstGeom prst="rect">
            <a:avLst/>
          </a:prstGeom>
          <a:noFill/>
          <a:ln/>
        </p:spPr>
        <p:txBody>
          <a:bodyPr wrap="square" lIns="0" tIns="0" rIns="0" bIns="0" rtlCol="0" anchor="ctr"/>
          <a:lstStyle/>
          <a:p>
            <a:pPr marL="0" indent="0">
              <a:buNone/>
            </a:pPr>
            <a:r>
              <a:rPr lang="en-US" sz="1300" dirty="0">
                <a:solidFill>
                  <a:srgbClr val="132226"/>
                </a:solidFill>
              </a:rPr>
              <a:t>20 GiB gp3 · max 100 GiB · 7-day backups</a:t>
            </a:r>
            <a:endParaRPr lang="en-US" sz="1300" dirty="0"/>
          </a:p>
        </p:txBody>
      </p:sp>
      <p:sp>
        <p:nvSpPr>
          <p:cNvPr id="51" name="card"/>
          <p:cNvSpPr/>
          <p:nvPr/>
        </p:nvSpPr>
        <p:spPr>
          <a:xfrm>
            <a:off x="6185916" y="5559552"/>
            <a:ext cx="5454396" cy="493776"/>
          </a:xfrm>
          <a:prstGeom prst="roundRect">
            <a:avLst>
              <a:gd name="adj" fmla="val 18519"/>
            </a:avLst>
          </a:prstGeom>
          <a:solidFill>
            <a:srgbClr val="FFFFFF"/>
          </a:solidFill>
          <a:ln w="9525">
            <a:solidFill>
              <a:srgbClr val="D3E2E0"/>
            </a:solidFill>
            <a:prstDash val="solid"/>
          </a:ln>
        </p:spPr>
      </p:sp>
      <p:sp>
        <p:nvSpPr>
          <p:cNvPr id="52" name="Text 50"/>
          <p:cNvSpPr txBox="1"/>
          <p:nvPr/>
        </p:nvSpPr>
        <p:spPr>
          <a:xfrm>
            <a:off x="6387084" y="5559552"/>
            <a:ext cx="1463040" cy="493776"/>
          </a:xfrm>
          <a:prstGeom prst="rect">
            <a:avLst/>
          </a:prstGeom>
          <a:noFill/>
          <a:ln/>
        </p:spPr>
        <p:txBody>
          <a:bodyPr wrap="square" lIns="0" tIns="0" rIns="0" bIns="0" rtlCol="0" anchor="ctr"/>
          <a:lstStyle/>
          <a:p>
            <a:pPr marL="0" indent="0">
              <a:buNone/>
            </a:pPr>
            <a:r>
              <a:rPr lang="en-US" sz="1300" b="1" dirty="0">
                <a:solidFill>
                  <a:srgbClr val="0E7C7B"/>
                </a:solidFill>
              </a:rPr>
              <a:t>M12 recovery</a:t>
            </a:r>
            <a:endParaRPr lang="en-US" sz="1300" dirty="0"/>
          </a:p>
        </p:txBody>
      </p:sp>
      <p:sp>
        <p:nvSpPr>
          <p:cNvPr id="53" name="Text 51"/>
          <p:cNvSpPr txBox="1"/>
          <p:nvPr/>
        </p:nvSpPr>
        <p:spPr>
          <a:xfrm>
            <a:off x="7877556" y="5559552"/>
            <a:ext cx="3657600" cy="493776"/>
          </a:xfrm>
          <a:prstGeom prst="rect">
            <a:avLst/>
          </a:prstGeom>
          <a:noFill/>
          <a:ln/>
        </p:spPr>
        <p:txBody>
          <a:bodyPr wrap="square" lIns="0" tIns="0" rIns="0" bIns="0" rtlCol="0" anchor="ctr"/>
          <a:lstStyle/>
          <a:p>
            <a:pPr marL="0" indent="0">
              <a:buNone/>
            </a:pPr>
            <a:r>
              <a:rPr lang="en-US" sz="1300" dirty="0">
                <a:solidFill>
                  <a:srgbClr val="132226"/>
                </a:solidFill>
              </a:rPr>
              <a:t>~44 s observed back to 2/2/0</a:t>
            </a:r>
            <a:endParaRPr lang="en-US" sz="1300" dirty="0"/>
          </a:p>
        </p:txBody>
      </p:sp>
      <p:sp>
        <p:nvSpPr>
          <p:cNvPr id="54"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FAQs — likely questions &amp; short answers</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Use as a mental checklist during Q&amp;A.</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F2A541"/>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132226"/>
                </a:solidFill>
              </a:rPr>
              <a:t>BACKUP</a:t>
            </a:r>
            <a:endParaRPr lang="en-US" sz="1200" dirty="0"/>
          </a:p>
        </p:txBody>
      </p:sp>
      <p:sp>
        <p:nvSpPr>
          <p:cNvPr id="6" name="card"/>
          <p:cNvSpPr/>
          <p:nvPr/>
        </p:nvSpPr>
        <p:spPr>
          <a:xfrm>
            <a:off x="548640" y="1463040"/>
            <a:ext cx="5454396" cy="841248"/>
          </a:xfrm>
          <a:prstGeom prst="roundRect">
            <a:avLst>
              <a:gd name="adj" fmla="val 10870"/>
            </a:avLst>
          </a:prstGeom>
          <a:solidFill>
            <a:srgbClr val="FFFFFF"/>
          </a:solidFill>
          <a:ln/>
          <a:effectLst>
            <a:outerShdw blurRad="114300" dist="25400" dir="5400000" algn="bl" rotWithShape="0">
              <a:srgbClr val="0E3B43">
                <a:alpha val="13000"/>
              </a:srgbClr>
            </a:outerShdw>
          </a:effectLst>
        </p:spPr>
      </p:sp>
      <p:sp>
        <p:nvSpPr>
          <p:cNvPr id="7" name="question circle"/>
          <p:cNvSpPr/>
          <p:nvPr/>
        </p:nvSpPr>
        <p:spPr>
          <a:xfrm>
            <a:off x="713232" y="1645920"/>
            <a:ext cx="365760" cy="365760"/>
          </a:xfrm>
          <a:prstGeom prst="ellipse">
            <a:avLst/>
          </a:prstGeom>
          <a:solidFill>
            <a:schemeClr val="accent1"/>
          </a:solidFill>
          <a:ln/>
        </p:spPr>
      </p:sp>
      <p:pic>
        <p:nvPicPr>
          <p:cNvPr id="8" name="question" descr="preencoded.png"/>
          <p:cNvPicPr>
            <a:picLocks noChangeAspect="1"/>
          </p:cNvPicPr>
          <p:nvPr/>
        </p:nvPicPr>
        <p:blipFill>
          <a:blip r:embed="rId3"/>
          <a:stretch>
            <a:fillRect/>
          </a:stretch>
        </p:blipFill>
        <p:spPr>
          <a:xfrm>
            <a:off x="801014" y="1733702"/>
            <a:ext cx="190195" cy="190195"/>
          </a:xfrm>
          <a:prstGeom prst="rect">
            <a:avLst/>
          </a:prstGeom>
        </p:spPr>
      </p:pic>
      <p:sp>
        <p:nvSpPr>
          <p:cNvPr id="9" name="Text 6"/>
          <p:cNvSpPr txBox="1"/>
          <p:nvPr/>
        </p:nvSpPr>
        <p:spPr>
          <a:xfrm>
            <a:off x="1207008" y="1536192"/>
            <a:ext cx="4663440" cy="310896"/>
          </a:xfrm>
          <a:prstGeom prst="rect">
            <a:avLst/>
          </a:prstGeom>
          <a:noFill/>
          <a:ln/>
        </p:spPr>
        <p:txBody>
          <a:bodyPr wrap="square" lIns="0" tIns="0" rIns="0" bIns="0" rtlCol="0" anchor="ctr"/>
          <a:lstStyle/>
          <a:p>
            <a:pPr marL="0" indent="0">
              <a:buNone/>
            </a:pPr>
            <a:r>
              <a:rPr lang="en-US" sz="1400" b="1" dirty="0">
                <a:solidFill>
                  <a:srgbClr val="132226"/>
                </a:solidFill>
              </a:rPr>
              <a:t>Why two NAT Gateways?</a:t>
            </a:r>
            <a:endParaRPr lang="en-US" sz="1400" dirty="0"/>
          </a:p>
        </p:txBody>
      </p:sp>
      <p:sp>
        <p:nvSpPr>
          <p:cNvPr id="10" name="Text 7"/>
          <p:cNvSpPr txBox="1"/>
          <p:nvPr/>
        </p:nvSpPr>
        <p:spPr>
          <a:xfrm>
            <a:off x="1207008" y="1847088"/>
            <a:ext cx="4663440" cy="411480"/>
          </a:xfrm>
          <a:prstGeom prst="rect">
            <a:avLst/>
          </a:prstGeom>
          <a:noFill/>
          <a:ln/>
        </p:spPr>
        <p:txBody>
          <a:bodyPr wrap="square" lIns="0" tIns="0" rIns="0" bIns="0" rtlCol="0" anchor="t"/>
          <a:lstStyle/>
          <a:p>
            <a:pPr marL="0" indent="0">
              <a:buNone/>
            </a:pPr>
            <a:r>
              <a:rPr lang="en-US" sz="1250" dirty="0">
                <a:solidFill>
                  <a:srgbClr val="4A5B5E"/>
                </a:solidFill>
              </a:rPr>
              <a:t>Same-AZ private egress and less AZ dependency; single NAT is a dev cost option.</a:t>
            </a:r>
            <a:endParaRPr lang="en-US" sz="1250" dirty="0"/>
          </a:p>
        </p:txBody>
      </p:sp>
      <p:sp>
        <p:nvSpPr>
          <p:cNvPr id="11" name="card"/>
          <p:cNvSpPr/>
          <p:nvPr/>
        </p:nvSpPr>
        <p:spPr>
          <a:xfrm>
            <a:off x="6185916" y="1463040"/>
            <a:ext cx="5454396" cy="841248"/>
          </a:xfrm>
          <a:prstGeom prst="roundRect">
            <a:avLst>
              <a:gd name="adj" fmla="val 10870"/>
            </a:avLst>
          </a:prstGeom>
          <a:solidFill>
            <a:srgbClr val="FFFFFF"/>
          </a:solidFill>
          <a:ln/>
          <a:effectLst>
            <a:outerShdw blurRad="114300" dist="25400" dir="5400000" algn="bl" rotWithShape="0">
              <a:srgbClr val="0E3B43">
                <a:alpha val="13000"/>
              </a:srgbClr>
            </a:outerShdw>
          </a:effectLst>
        </p:spPr>
      </p:sp>
      <p:sp>
        <p:nvSpPr>
          <p:cNvPr id="12" name="question circle"/>
          <p:cNvSpPr/>
          <p:nvPr/>
        </p:nvSpPr>
        <p:spPr>
          <a:xfrm>
            <a:off x="6350508" y="1645920"/>
            <a:ext cx="365760" cy="365760"/>
          </a:xfrm>
          <a:prstGeom prst="ellipse">
            <a:avLst/>
          </a:prstGeom>
          <a:solidFill>
            <a:schemeClr val="accent1"/>
          </a:solidFill>
          <a:ln/>
        </p:spPr>
      </p:sp>
      <p:pic>
        <p:nvPicPr>
          <p:cNvPr id="13" name="question" descr="preencoded.png"/>
          <p:cNvPicPr>
            <a:picLocks noChangeAspect="1"/>
          </p:cNvPicPr>
          <p:nvPr/>
        </p:nvPicPr>
        <p:blipFill>
          <a:blip r:embed="rId3"/>
          <a:stretch>
            <a:fillRect/>
          </a:stretch>
        </p:blipFill>
        <p:spPr>
          <a:xfrm>
            <a:off x="6438290" y="1733702"/>
            <a:ext cx="190195" cy="190195"/>
          </a:xfrm>
          <a:prstGeom prst="rect">
            <a:avLst/>
          </a:prstGeom>
        </p:spPr>
      </p:pic>
      <p:sp>
        <p:nvSpPr>
          <p:cNvPr id="14" name="Text 10"/>
          <p:cNvSpPr txBox="1"/>
          <p:nvPr/>
        </p:nvSpPr>
        <p:spPr>
          <a:xfrm>
            <a:off x="6844284" y="1536192"/>
            <a:ext cx="4663440" cy="310896"/>
          </a:xfrm>
          <a:prstGeom prst="rect">
            <a:avLst/>
          </a:prstGeom>
          <a:noFill/>
          <a:ln/>
        </p:spPr>
        <p:txBody>
          <a:bodyPr wrap="square" lIns="0" tIns="0" rIns="0" bIns="0" rtlCol="0" anchor="ctr"/>
          <a:lstStyle/>
          <a:p>
            <a:pPr marL="0" indent="0">
              <a:buNone/>
            </a:pPr>
            <a:r>
              <a:rPr lang="en-US" sz="1400" b="1" dirty="0">
                <a:solidFill>
                  <a:srgbClr val="132226"/>
                </a:solidFill>
              </a:rPr>
              <a:t>Why persistent Route 53?</a:t>
            </a:r>
            <a:endParaRPr lang="en-US" sz="1400" dirty="0"/>
          </a:p>
        </p:txBody>
      </p:sp>
      <p:sp>
        <p:nvSpPr>
          <p:cNvPr id="15" name="Text 11"/>
          <p:cNvSpPr txBox="1"/>
          <p:nvPr/>
        </p:nvSpPr>
        <p:spPr>
          <a:xfrm>
            <a:off x="6844284" y="1847088"/>
            <a:ext cx="4663440" cy="411480"/>
          </a:xfrm>
          <a:prstGeom prst="rect">
            <a:avLst/>
          </a:prstGeom>
          <a:noFill/>
          <a:ln/>
        </p:spPr>
        <p:txBody>
          <a:bodyPr wrap="square" lIns="0" tIns="0" rIns="0" bIns="0" rtlCol="0" anchor="t"/>
          <a:lstStyle/>
          <a:p>
            <a:pPr marL="0" indent="0">
              <a:buNone/>
            </a:pPr>
            <a:r>
              <a:rPr lang="en-US" sz="1250" dirty="0">
                <a:solidFill>
                  <a:srgbClr val="4A5B5E"/>
                </a:solidFill>
              </a:rPr>
              <a:t>The sandbox is disposable — DNS must survive CloudFront and ACM recreation.</a:t>
            </a:r>
            <a:endParaRPr lang="en-US" sz="1250" dirty="0"/>
          </a:p>
        </p:txBody>
      </p:sp>
      <p:sp>
        <p:nvSpPr>
          <p:cNvPr id="16" name="card"/>
          <p:cNvSpPr/>
          <p:nvPr/>
        </p:nvSpPr>
        <p:spPr>
          <a:xfrm>
            <a:off x="548640" y="2414016"/>
            <a:ext cx="5454396" cy="841248"/>
          </a:xfrm>
          <a:prstGeom prst="roundRect">
            <a:avLst>
              <a:gd name="adj" fmla="val 10870"/>
            </a:avLst>
          </a:prstGeom>
          <a:solidFill>
            <a:srgbClr val="FFFFFF"/>
          </a:solidFill>
          <a:ln/>
          <a:effectLst>
            <a:outerShdw blurRad="114300" dist="25400" dir="5400000" algn="bl" rotWithShape="0">
              <a:srgbClr val="0E3B43">
                <a:alpha val="13000"/>
              </a:srgbClr>
            </a:outerShdw>
          </a:effectLst>
        </p:spPr>
      </p:sp>
      <p:sp>
        <p:nvSpPr>
          <p:cNvPr id="17" name="question circle"/>
          <p:cNvSpPr/>
          <p:nvPr/>
        </p:nvSpPr>
        <p:spPr>
          <a:xfrm>
            <a:off x="713232" y="2596896"/>
            <a:ext cx="365760" cy="365760"/>
          </a:xfrm>
          <a:prstGeom prst="ellipse">
            <a:avLst/>
          </a:prstGeom>
          <a:solidFill>
            <a:schemeClr val="accent1"/>
          </a:solidFill>
          <a:ln/>
        </p:spPr>
      </p:sp>
      <p:pic>
        <p:nvPicPr>
          <p:cNvPr id="18" name="question" descr="preencoded.png"/>
          <p:cNvPicPr>
            <a:picLocks noChangeAspect="1"/>
          </p:cNvPicPr>
          <p:nvPr/>
        </p:nvPicPr>
        <p:blipFill>
          <a:blip r:embed="rId3"/>
          <a:stretch>
            <a:fillRect/>
          </a:stretch>
        </p:blipFill>
        <p:spPr>
          <a:xfrm>
            <a:off x="801014" y="2684678"/>
            <a:ext cx="190195" cy="190195"/>
          </a:xfrm>
          <a:prstGeom prst="rect">
            <a:avLst/>
          </a:prstGeom>
        </p:spPr>
      </p:pic>
      <p:sp>
        <p:nvSpPr>
          <p:cNvPr id="19" name="Text 14"/>
          <p:cNvSpPr txBox="1"/>
          <p:nvPr/>
        </p:nvSpPr>
        <p:spPr>
          <a:xfrm>
            <a:off x="1207008" y="2487168"/>
            <a:ext cx="4663440" cy="310896"/>
          </a:xfrm>
          <a:prstGeom prst="rect">
            <a:avLst/>
          </a:prstGeom>
          <a:noFill/>
          <a:ln/>
        </p:spPr>
        <p:txBody>
          <a:bodyPr wrap="square" lIns="0" tIns="0" rIns="0" bIns="0" rtlCol="0" anchor="ctr"/>
          <a:lstStyle/>
          <a:p>
            <a:pPr marL="0" indent="0">
              <a:buNone/>
            </a:pPr>
            <a:r>
              <a:rPr lang="en-US" sz="1400" b="1" dirty="0">
                <a:solidFill>
                  <a:srgbClr val="132226"/>
                </a:solidFill>
              </a:rPr>
              <a:t>Why OIDC instead of AWS keys?</a:t>
            </a:r>
            <a:endParaRPr lang="en-US" sz="1400" dirty="0"/>
          </a:p>
        </p:txBody>
      </p:sp>
      <p:sp>
        <p:nvSpPr>
          <p:cNvPr id="20" name="Text 15"/>
          <p:cNvSpPr txBox="1"/>
          <p:nvPr/>
        </p:nvSpPr>
        <p:spPr>
          <a:xfrm>
            <a:off x="1207008" y="2798064"/>
            <a:ext cx="4663440" cy="411480"/>
          </a:xfrm>
          <a:prstGeom prst="rect">
            <a:avLst/>
          </a:prstGeom>
          <a:noFill/>
          <a:ln/>
        </p:spPr>
        <p:txBody>
          <a:bodyPr wrap="square" lIns="0" tIns="0" rIns="0" bIns="0" rtlCol="0" anchor="t"/>
          <a:lstStyle/>
          <a:p>
            <a:pPr marL="0" indent="0">
              <a:buNone/>
            </a:pPr>
            <a:r>
              <a:rPr lang="en-US" sz="1250" dirty="0">
                <a:solidFill>
                  <a:srgbClr val="4A5B5E"/>
                </a:solidFill>
              </a:rPr>
              <a:t>Short-lived federated credentials; no permanent AWS secrets in GitHub.</a:t>
            </a:r>
            <a:endParaRPr lang="en-US" sz="1250" dirty="0"/>
          </a:p>
        </p:txBody>
      </p:sp>
      <p:sp>
        <p:nvSpPr>
          <p:cNvPr id="21" name="card"/>
          <p:cNvSpPr/>
          <p:nvPr/>
        </p:nvSpPr>
        <p:spPr>
          <a:xfrm>
            <a:off x="6185916" y="2414016"/>
            <a:ext cx="5454396" cy="841248"/>
          </a:xfrm>
          <a:prstGeom prst="roundRect">
            <a:avLst>
              <a:gd name="adj" fmla="val 10870"/>
            </a:avLst>
          </a:prstGeom>
          <a:solidFill>
            <a:srgbClr val="FFFFFF"/>
          </a:solidFill>
          <a:ln/>
          <a:effectLst>
            <a:outerShdw blurRad="114300" dist="25400" dir="5400000" algn="bl" rotWithShape="0">
              <a:srgbClr val="0E3B43">
                <a:alpha val="13000"/>
              </a:srgbClr>
            </a:outerShdw>
          </a:effectLst>
        </p:spPr>
      </p:sp>
      <p:sp>
        <p:nvSpPr>
          <p:cNvPr id="22" name="question circle"/>
          <p:cNvSpPr/>
          <p:nvPr/>
        </p:nvSpPr>
        <p:spPr>
          <a:xfrm>
            <a:off x="6350508" y="2596896"/>
            <a:ext cx="365760" cy="365760"/>
          </a:xfrm>
          <a:prstGeom prst="ellipse">
            <a:avLst/>
          </a:prstGeom>
          <a:solidFill>
            <a:schemeClr val="accent1"/>
          </a:solidFill>
          <a:ln/>
        </p:spPr>
      </p:sp>
      <p:pic>
        <p:nvPicPr>
          <p:cNvPr id="23" name="question" descr="preencoded.png"/>
          <p:cNvPicPr>
            <a:picLocks noChangeAspect="1"/>
          </p:cNvPicPr>
          <p:nvPr/>
        </p:nvPicPr>
        <p:blipFill>
          <a:blip r:embed="rId3"/>
          <a:stretch>
            <a:fillRect/>
          </a:stretch>
        </p:blipFill>
        <p:spPr>
          <a:xfrm>
            <a:off x="6438290" y="2684678"/>
            <a:ext cx="190195" cy="190195"/>
          </a:xfrm>
          <a:prstGeom prst="rect">
            <a:avLst/>
          </a:prstGeom>
        </p:spPr>
      </p:pic>
      <p:sp>
        <p:nvSpPr>
          <p:cNvPr id="24" name="Text 18"/>
          <p:cNvSpPr txBox="1"/>
          <p:nvPr/>
        </p:nvSpPr>
        <p:spPr>
          <a:xfrm>
            <a:off x="6844284" y="2487168"/>
            <a:ext cx="4663440" cy="310896"/>
          </a:xfrm>
          <a:prstGeom prst="rect">
            <a:avLst/>
          </a:prstGeom>
          <a:noFill/>
          <a:ln/>
        </p:spPr>
        <p:txBody>
          <a:bodyPr wrap="square" lIns="0" tIns="0" rIns="0" bIns="0" rtlCol="0" anchor="ctr"/>
          <a:lstStyle/>
          <a:p>
            <a:pPr marL="0" indent="0">
              <a:buNone/>
            </a:pPr>
            <a:r>
              <a:rPr lang="en-US" sz="1400" b="1" dirty="0">
                <a:solidFill>
                  <a:srgbClr val="132226"/>
                </a:solidFill>
              </a:rPr>
              <a:t>Why block direct ALB access?</a:t>
            </a:r>
            <a:endParaRPr lang="en-US" sz="1400" dirty="0"/>
          </a:p>
        </p:txBody>
      </p:sp>
      <p:sp>
        <p:nvSpPr>
          <p:cNvPr id="25" name="Text 19"/>
          <p:cNvSpPr txBox="1"/>
          <p:nvPr/>
        </p:nvSpPr>
        <p:spPr>
          <a:xfrm>
            <a:off x="6844284" y="2798064"/>
            <a:ext cx="4663440" cy="411480"/>
          </a:xfrm>
          <a:prstGeom prst="rect">
            <a:avLst/>
          </a:prstGeom>
          <a:noFill/>
          <a:ln/>
        </p:spPr>
        <p:txBody>
          <a:bodyPr wrap="square" lIns="0" tIns="0" rIns="0" bIns="0" rtlCol="0" anchor="t"/>
          <a:lstStyle/>
          <a:p>
            <a:pPr marL="0" indent="0">
              <a:buNone/>
            </a:pPr>
            <a:r>
              <a:rPr lang="en-US" sz="1250" dirty="0">
                <a:solidFill>
                  <a:srgbClr val="4A5B5E"/>
                </a:solidFill>
              </a:rPr>
              <a:t>Otherwise users could bypass CloudFront and WAF using the ALB DNS name.</a:t>
            </a:r>
            <a:endParaRPr lang="en-US" sz="1250" dirty="0"/>
          </a:p>
        </p:txBody>
      </p:sp>
      <p:sp>
        <p:nvSpPr>
          <p:cNvPr id="26" name="card"/>
          <p:cNvSpPr/>
          <p:nvPr/>
        </p:nvSpPr>
        <p:spPr>
          <a:xfrm>
            <a:off x="548640" y="3364992"/>
            <a:ext cx="5454396" cy="841248"/>
          </a:xfrm>
          <a:prstGeom prst="roundRect">
            <a:avLst>
              <a:gd name="adj" fmla="val 10870"/>
            </a:avLst>
          </a:prstGeom>
          <a:solidFill>
            <a:srgbClr val="FFFFFF"/>
          </a:solidFill>
          <a:ln/>
          <a:effectLst>
            <a:outerShdw blurRad="114300" dist="25400" dir="5400000" algn="bl" rotWithShape="0">
              <a:srgbClr val="0E3B43">
                <a:alpha val="13000"/>
              </a:srgbClr>
            </a:outerShdw>
          </a:effectLst>
        </p:spPr>
      </p:sp>
      <p:sp>
        <p:nvSpPr>
          <p:cNvPr id="27" name="question circle"/>
          <p:cNvSpPr/>
          <p:nvPr/>
        </p:nvSpPr>
        <p:spPr>
          <a:xfrm>
            <a:off x="713232" y="3547872"/>
            <a:ext cx="365760" cy="365760"/>
          </a:xfrm>
          <a:prstGeom prst="ellipse">
            <a:avLst/>
          </a:prstGeom>
          <a:solidFill>
            <a:schemeClr val="accent1"/>
          </a:solidFill>
          <a:ln/>
        </p:spPr>
      </p:sp>
      <p:pic>
        <p:nvPicPr>
          <p:cNvPr id="28" name="question" descr="preencoded.png"/>
          <p:cNvPicPr>
            <a:picLocks noChangeAspect="1"/>
          </p:cNvPicPr>
          <p:nvPr/>
        </p:nvPicPr>
        <p:blipFill>
          <a:blip r:embed="rId3"/>
          <a:stretch>
            <a:fillRect/>
          </a:stretch>
        </p:blipFill>
        <p:spPr>
          <a:xfrm>
            <a:off x="801014" y="3635654"/>
            <a:ext cx="190195" cy="190195"/>
          </a:xfrm>
          <a:prstGeom prst="rect">
            <a:avLst/>
          </a:prstGeom>
        </p:spPr>
      </p:pic>
      <p:sp>
        <p:nvSpPr>
          <p:cNvPr id="29" name="Text 22"/>
          <p:cNvSpPr txBox="1"/>
          <p:nvPr/>
        </p:nvSpPr>
        <p:spPr>
          <a:xfrm>
            <a:off x="1207008" y="3438144"/>
            <a:ext cx="4663440" cy="310896"/>
          </a:xfrm>
          <a:prstGeom prst="rect">
            <a:avLst/>
          </a:prstGeom>
          <a:noFill/>
          <a:ln/>
        </p:spPr>
        <p:txBody>
          <a:bodyPr wrap="square" lIns="0" tIns="0" rIns="0" bIns="0" rtlCol="0" anchor="ctr"/>
          <a:lstStyle/>
          <a:p>
            <a:pPr marL="0" indent="0">
              <a:buNone/>
            </a:pPr>
            <a:r>
              <a:rPr lang="en-US" sz="1400" b="1" dirty="0">
                <a:solidFill>
                  <a:srgbClr val="132226"/>
                </a:solidFill>
              </a:rPr>
              <a:t>Why SQS before Lambda?</a:t>
            </a:r>
            <a:endParaRPr lang="en-US" sz="1400" dirty="0"/>
          </a:p>
        </p:txBody>
      </p:sp>
      <p:sp>
        <p:nvSpPr>
          <p:cNvPr id="30" name="Text 23"/>
          <p:cNvSpPr txBox="1"/>
          <p:nvPr/>
        </p:nvSpPr>
        <p:spPr>
          <a:xfrm>
            <a:off x="1207008" y="3749040"/>
            <a:ext cx="4663440" cy="411480"/>
          </a:xfrm>
          <a:prstGeom prst="rect">
            <a:avLst/>
          </a:prstGeom>
          <a:noFill/>
          <a:ln/>
        </p:spPr>
        <p:txBody>
          <a:bodyPr wrap="square" lIns="0" tIns="0" rIns="0" bIns="0" rtlCol="0" anchor="t"/>
          <a:lstStyle/>
          <a:p>
            <a:pPr marL="0" indent="0">
              <a:buNone/>
            </a:pPr>
            <a:r>
              <a:rPr lang="en-US" sz="1250" dirty="0">
                <a:solidFill>
                  <a:srgbClr val="4A5B5E"/>
                </a:solidFill>
              </a:rPr>
              <a:t>Durable buffering, decoupling and explicit retry / DLQ behavior.</a:t>
            </a:r>
            <a:endParaRPr lang="en-US" sz="1250" dirty="0"/>
          </a:p>
        </p:txBody>
      </p:sp>
      <p:sp>
        <p:nvSpPr>
          <p:cNvPr id="31" name="card"/>
          <p:cNvSpPr/>
          <p:nvPr/>
        </p:nvSpPr>
        <p:spPr>
          <a:xfrm>
            <a:off x="6185916" y="3364992"/>
            <a:ext cx="5454396" cy="841248"/>
          </a:xfrm>
          <a:prstGeom prst="roundRect">
            <a:avLst>
              <a:gd name="adj" fmla="val 10870"/>
            </a:avLst>
          </a:prstGeom>
          <a:solidFill>
            <a:srgbClr val="FFFFFF"/>
          </a:solidFill>
          <a:ln/>
          <a:effectLst>
            <a:outerShdw blurRad="114300" dist="25400" dir="5400000" algn="bl" rotWithShape="0">
              <a:srgbClr val="0E3B43">
                <a:alpha val="13000"/>
              </a:srgbClr>
            </a:outerShdw>
          </a:effectLst>
        </p:spPr>
      </p:sp>
      <p:sp>
        <p:nvSpPr>
          <p:cNvPr id="32" name="question circle"/>
          <p:cNvSpPr/>
          <p:nvPr/>
        </p:nvSpPr>
        <p:spPr>
          <a:xfrm>
            <a:off x="6350508" y="3547872"/>
            <a:ext cx="365760" cy="365760"/>
          </a:xfrm>
          <a:prstGeom prst="ellipse">
            <a:avLst/>
          </a:prstGeom>
          <a:solidFill>
            <a:schemeClr val="accent1"/>
          </a:solidFill>
          <a:ln/>
        </p:spPr>
      </p:sp>
      <p:pic>
        <p:nvPicPr>
          <p:cNvPr id="33" name="question" descr="preencoded.png"/>
          <p:cNvPicPr>
            <a:picLocks noChangeAspect="1"/>
          </p:cNvPicPr>
          <p:nvPr/>
        </p:nvPicPr>
        <p:blipFill>
          <a:blip r:embed="rId3"/>
          <a:stretch>
            <a:fillRect/>
          </a:stretch>
        </p:blipFill>
        <p:spPr>
          <a:xfrm>
            <a:off x="6438290" y="3635654"/>
            <a:ext cx="190195" cy="190195"/>
          </a:xfrm>
          <a:prstGeom prst="rect">
            <a:avLst/>
          </a:prstGeom>
        </p:spPr>
      </p:pic>
      <p:sp>
        <p:nvSpPr>
          <p:cNvPr id="34" name="Text 26"/>
          <p:cNvSpPr txBox="1"/>
          <p:nvPr/>
        </p:nvSpPr>
        <p:spPr>
          <a:xfrm>
            <a:off x="6844284" y="3438144"/>
            <a:ext cx="4663440" cy="310896"/>
          </a:xfrm>
          <a:prstGeom prst="rect">
            <a:avLst/>
          </a:prstGeom>
          <a:noFill/>
          <a:ln/>
        </p:spPr>
        <p:txBody>
          <a:bodyPr wrap="square" lIns="0" tIns="0" rIns="0" bIns="0" rtlCol="0" anchor="ctr"/>
          <a:lstStyle/>
          <a:p>
            <a:pPr marL="0" indent="0">
              <a:buNone/>
            </a:pPr>
            <a:r>
              <a:rPr lang="en-US" sz="1400" b="1" dirty="0">
                <a:solidFill>
                  <a:srgbClr val="132226"/>
                </a:solidFill>
              </a:rPr>
              <a:t>Why Titan for documents and queries?</a:t>
            </a:r>
            <a:endParaRPr lang="en-US" sz="1400" dirty="0"/>
          </a:p>
        </p:txBody>
      </p:sp>
      <p:sp>
        <p:nvSpPr>
          <p:cNvPr id="35" name="Text 27"/>
          <p:cNvSpPr txBox="1"/>
          <p:nvPr/>
        </p:nvSpPr>
        <p:spPr>
          <a:xfrm>
            <a:off x="6844284" y="3749040"/>
            <a:ext cx="4663440" cy="411480"/>
          </a:xfrm>
          <a:prstGeom prst="rect">
            <a:avLst/>
          </a:prstGeom>
          <a:noFill/>
          <a:ln/>
        </p:spPr>
        <p:txBody>
          <a:bodyPr wrap="square" lIns="0" tIns="0" rIns="0" bIns="0" rtlCol="0" anchor="t"/>
          <a:lstStyle/>
          <a:p>
            <a:pPr marL="0" indent="0">
              <a:buNone/>
            </a:pPr>
            <a:r>
              <a:rPr lang="en-US" sz="1250" dirty="0">
                <a:solidFill>
                  <a:srgbClr val="4A5B5E"/>
                </a:solidFill>
              </a:rPr>
              <a:t>Both vectors must live in the same semantic embedding space.</a:t>
            </a:r>
            <a:endParaRPr lang="en-US" sz="1250" dirty="0"/>
          </a:p>
        </p:txBody>
      </p:sp>
      <p:sp>
        <p:nvSpPr>
          <p:cNvPr id="36" name="card"/>
          <p:cNvSpPr/>
          <p:nvPr/>
        </p:nvSpPr>
        <p:spPr>
          <a:xfrm>
            <a:off x="548640" y="4315968"/>
            <a:ext cx="5454396" cy="841248"/>
          </a:xfrm>
          <a:prstGeom prst="roundRect">
            <a:avLst>
              <a:gd name="adj" fmla="val 10870"/>
            </a:avLst>
          </a:prstGeom>
          <a:solidFill>
            <a:srgbClr val="FFFFFF"/>
          </a:solidFill>
          <a:ln/>
          <a:effectLst>
            <a:outerShdw blurRad="114300" dist="25400" dir="5400000" algn="bl" rotWithShape="0">
              <a:srgbClr val="0E3B43">
                <a:alpha val="13000"/>
              </a:srgbClr>
            </a:outerShdw>
          </a:effectLst>
        </p:spPr>
      </p:sp>
      <p:sp>
        <p:nvSpPr>
          <p:cNvPr id="37" name="question circle"/>
          <p:cNvSpPr/>
          <p:nvPr/>
        </p:nvSpPr>
        <p:spPr>
          <a:xfrm>
            <a:off x="713232" y="4498848"/>
            <a:ext cx="365760" cy="365760"/>
          </a:xfrm>
          <a:prstGeom prst="ellipse">
            <a:avLst/>
          </a:prstGeom>
          <a:solidFill>
            <a:schemeClr val="accent1"/>
          </a:solidFill>
          <a:ln/>
        </p:spPr>
      </p:sp>
      <p:pic>
        <p:nvPicPr>
          <p:cNvPr id="38" name="question" descr="preencoded.png"/>
          <p:cNvPicPr>
            <a:picLocks noChangeAspect="1"/>
          </p:cNvPicPr>
          <p:nvPr/>
        </p:nvPicPr>
        <p:blipFill>
          <a:blip r:embed="rId3"/>
          <a:stretch>
            <a:fillRect/>
          </a:stretch>
        </p:blipFill>
        <p:spPr>
          <a:xfrm>
            <a:off x="801014" y="4586630"/>
            <a:ext cx="190195" cy="190195"/>
          </a:xfrm>
          <a:prstGeom prst="rect">
            <a:avLst/>
          </a:prstGeom>
        </p:spPr>
      </p:pic>
      <p:sp>
        <p:nvSpPr>
          <p:cNvPr id="39" name="Text 30"/>
          <p:cNvSpPr txBox="1"/>
          <p:nvPr/>
        </p:nvSpPr>
        <p:spPr>
          <a:xfrm>
            <a:off x="1207008" y="4389120"/>
            <a:ext cx="4663440" cy="310896"/>
          </a:xfrm>
          <a:prstGeom prst="rect">
            <a:avLst/>
          </a:prstGeom>
          <a:noFill/>
          <a:ln/>
        </p:spPr>
        <p:txBody>
          <a:bodyPr wrap="square" lIns="0" tIns="0" rIns="0" bIns="0" rtlCol="0" anchor="ctr"/>
          <a:lstStyle/>
          <a:p>
            <a:pPr marL="0" indent="0">
              <a:buNone/>
            </a:pPr>
            <a:r>
              <a:rPr lang="en-US" sz="1400" b="1" dirty="0">
                <a:solidFill>
                  <a:srgbClr val="132226"/>
                </a:solidFill>
              </a:rPr>
              <a:t>Why MariaDB TLS?</a:t>
            </a:r>
            <a:endParaRPr lang="en-US" sz="1400" dirty="0"/>
          </a:p>
        </p:txBody>
      </p:sp>
      <p:sp>
        <p:nvSpPr>
          <p:cNvPr id="40" name="Text 31"/>
          <p:cNvSpPr txBox="1"/>
          <p:nvPr/>
        </p:nvSpPr>
        <p:spPr>
          <a:xfrm>
            <a:off x="1207008" y="4700016"/>
            <a:ext cx="4663440" cy="411480"/>
          </a:xfrm>
          <a:prstGeom prst="rect">
            <a:avLst/>
          </a:prstGeom>
          <a:noFill/>
          <a:ln/>
        </p:spPr>
        <p:txBody>
          <a:bodyPr wrap="square" lIns="0" tIns="0" rIns="0" bIns="0" rtlCol="0" anchor="t"/>
          <a:lstStyle/>
          <a:p>
            <a:pPr marL="0" indent="0">
              <a:buNone/>
            </a:pPr>
            <a:r>
              <a:rPr lang="en-US" sz="1250" dirty="0">
                <a:solidFill>
                  <a:srgbClr val="4A5B5E"/>
                </a:solidFill>
              </a:rPr>
              <a:t>RDS required secure transport; the app complies instead of weakening the DB.</a:t>
            </a:r>
            <a:endParaRPr lang="en-US" sz="1250" dirty="0"/>
          </a:p>
        </p:txBody>
      </p:sp>
      <p:sp>
        <p:nvSpPr>
          <p:cNvPr id="41" name="card"/>
          <p:cNvSpPr/>
          <p:nvPr/>
        </p:nvSpPr>
        <p:spPr>
          <a:xfrm>
            <a:off x="6185916" y="4315968"/>
            <a:ext cx="5454396" cy="841248"/>
          </a:xfrm>
          <a:prstGeom prst="roundRect">
            <a:avLst>
              <a:gd name="adj" fmla="val 10870"/>
            </a:avLst>
          </a:prstGeom>
          <a:solidFill>
            <a:srgbClr val="FFFFFF"/>
          </a:solidFill>
          <a:ln/>
          <a:effectLst>
            <a:outerShdw blurRad="114300" dist="25400" dir="5400000" algn="bl" rotWithShape="0">
              <a:srgbClr val="0E3B43">
                <a:alpha val="13000"/>
              </a:srgbClr>
            </a:outerShdw>
          </a:effectLst>
        </p:spPr>
      </p:sp>
      <p:sp>
        <p:nvSpPr>
          <p:cNvPr id="42" name="question circle"/>
          <p:cNvSpPr/>
          <p:nvPr/>
        </p:nvSpPr>
        <p:spPr>
          <a:xfrm>
            <a:off x="6350508" y="4498848"/>
            <a:ext cx="365760" cy="365760"/>
          </a:xfrm>
          <a:prstGeom prst="ellipse">
            <a:avLst/>
          </a:prstGeom>
          <a:solidFill>
            <a:schemeClr val="accent1"/>
          </a:solidFill>
          <a:ln/>
        </p:spPr>
      </p:sp>
      <p:pic>
        <p:nvPicPr>
          <p:cNvPr id="43" name="question" descr="preencoded.png"/>
          <p:cNvPicPr>
            <a:picLocks noChangeAspect="1"/>
          </p:cNvPicPr>
          <p:nvPr/>
        </p:nvPicPr>
        <p:blipFill>
          <a:blip r:embed="rId3"/>
          <a:stretch>
            <a:fillRect/>
          </a:stretch>
        </p:blipFill>
        <p:spPr>
          <a:xfrm>
            <a:off x="6438290" y="4586630"/>
            <a:ext cx="190195" cy="190195"/>
          </a:xfrm>
          <a:prstGeom prst="rect">
            <a:avLst/>
          </a:prstGeom>
        </p:spPr>
      </p:pic>
      <p:sp>
        <p:nvSpPr>
          <p:cNvPr id="44" name="Text 34"/>
          <p:cNvSpPr txBox="1"/>
          <p:nvPr/>
        </p:nvSpPr>
        <p:spPr>
          <a:xfrm>
            <a:off x="6844284" y="4389120"/>
            <a:ext cx="4663440" cy="310896"/>
          </a:xfrm>
          <a:prstGeom prst="rect">
            <a:avLst/>
          </a:prstGeom>
          <a:noFill/>
          <a:ln/>
        </p:spPr>
        <p:txBody>
          <a:bodyPr wrap="square" lIns="0" tIns="0" rIns="0" bIns="0" rtlCol="0" anchor="ctr"/>
          <a:lstStyle/>
          <a:p>
            <a:pPr marL="0" indent="0">
              <a:buNone/>
            </a:pPr>
            <a:r>
              <a:rPr lang="en-US" sz="1400" b="1" dirty="0">
                <a:solidFill>
                  <a:srgbClr val="132226"/>
                </a:solidFill>
              </a:rPr>
              <a:t>How do you prove Lina is grounded?</a:t>
            </a:r>
            <a:endParaRPr lang="en-US" sz="1400" dirty="0"/>
          </a:p>
        </p:txBody>
      </p:sp>
      <p:sp>
        <p:nvSpPr>
          <p:cNvPr id="45" name="Text 35"/>
          <p:cNvSpPr txBox="1"/>
          <p:nvPr/>
        </p:nvSpPr>
        <p:spPr>
          <a:xfrm>
            <a:off x="6844284" y="4700016"/>
            <a:ext cx="4663440" cy="411480"/>
          </a:xfrm>
          <a:prstGeom prst="rect">
            <a:avLst/>
          </a:prstGeom>
          <a:noFill/>
          <a:ln/>
        </p:spPr>
        <p:txBody>
          <a:bodyPr wrap="square" lIns="0" tIns="0" rIns="0" bIns="0" rtlCol="0" anchor="t"/>
          <a:lstStyle/>
          <a:p>
            <a:pPr marL="0" indent="0">
              <a:buNone/>
            </a:pPr>
            <a:r>
              <a:rPr lang="en-US" sz="1250" dirty="0">
                <a:solidFill>
                  <a:srgbClr val="4A5B5E"/>
                </a:solidFill>
              </a:rPr>
              <a:t>The response includes grounded = true and the retrieved source metadata.</a:t>
            </a:r>
            <a:endParaRPr lang="en-US" sz="1250" dirty="0"/>
          </a:p>
        </p:txBody>
      </p:sp>
      <p:sp>
        <p:nvSpPr>
          <p:cNvPr id="46" name="card"/>
          <p:cNvSpPr/>
          <p:nvPr/>
        </p:nvSpPr>
        <p:spPr>
          <a:xfrm>
            <a:off x="548640" y="5266944"/>
            <a:ext cx="5454396" cy="841248"/>
          </a:xfrm>
          <a:prstGeom prst="roundRect">
            <a:avLst>
              <a:gd name="adj" fmla="val 10870"/>
            </a:avLst>
          </a:prstGeom>
          <a:solidFill>
            <a:srgbClr val="FFFFFF"/>
          </a:solidFill>
          <a:ln/>
          <a:effectLst>
            <a:outerShdw blurRad="114300" dist="25400" dir="5400000" algn="bl" rotWithShape="0">
              <a:srgbClr val="0E3B43">
                <a:alpha val="13000"/>
              </a:srgbClr>
            </a:outerShdw>
          </a:effectLst>
        </p:spPr>
      </p:sp>
      <p:sp>
        <p:nvSpPr>
          <p:cNvPr id="47" name="question circle"/>
          <p:cNvSpPr/>
          <p:nvPr/>
        </p:nvSpPr>
        <p:spPr>
          <a:xfrm>
            <a:off x="713232" y="5449824"/>
            <a:ext cx="365760" cy="365760"/>
          </a:xfrm>
          <a:prstGeom prst="ellipse">
            <a:avLst/>
          </a:prstGeom>
          <a:solidFill>
            <a:schemeClr val="accent1"/>
          </a:solidFill>
          <a:ln/>
        </p:spPr>
      </p:sp>
      <p:pic>
        <p:nvPicPr>
          <p:cNvPr id="48" name="question" descr="preencoded.png"/>
          <p:cNvPicPr>
            <a:picLocks noChangeAspect="1"/>
          </p:cNvPicPr>
          <p:nvPr/>
        </p:nvPicPr>
        <p:blipFill>
          <a:blip r:embed="rId3"/>
          <a:stretch>
            <a:fillRect/>
          </a:stretch>
        </p:blipFill>
        <p:spPr>
          <a:xfrm>
            <a:off x="801014" y="5537606"/>
            <a:ext cx="190195" cy="190195"/>
          </a:xfrm>
          <a:prstGeom prst="rect">
            <a:avLst/>
          </a:prstGeom>
        </p:spPr>
      </p:pic>
      <p:sp>
        <p:nvSpPr>
          <p:cNvPr id="49" name="Text 38"/>
          <p:cNvSpPr txBox="1"/>
          <p:nvPr/>
        </p:nvSpPr>
        <p:spPr>
          <a:xfrm>
            <a:off x="1207008" y="5340096"/>
            <a:ext cx="4663440" cy="310896"/>
          </a:xfrm>
          <a:prstGeom prst="rect">
            <a:avLst/>
          </a:prstGeom>
          <a:noFill/>
          <a:ln/>
        </p:spPr>
        <p:txBody>
          <a:bodyPr wrap="square" lIns="0" tIns="0" rIns="0" bIns="0" rtlCol="0" anchor="ctr"/>
          <a:lstStyle/>
          <a:p>
            <a:pPr marL="0" indent="0">
              <a:buNone/>
            </a:pPr>
            <a:r>
              <a:rPr lang="en-US" sz="1400" b="1" dirty="0">
                <a:solidFill>
                  <a:srgbClr val="132226"/>
                </a:solidFill>
              </a:rPr>
              <a:t>Why did Trivy stop deployment?</a:t>
            </a:r>
            <a:endParaRPr lang="en-US" sz="1400" dirty="0"/>
          </a:p>
        </p:txBody>
      </p:sp>
      <p:sp>
        <p:nvSpPr>
          <p:cNvPr id="50" name="Text 39"/>
          <p:cNvSpPr txBox="1"/>
          <p:nvPr/>
        </p:nvSpPr>
        <p:spPr>
          <a:xfrm>
            <a:off x="1207008" y="5650992"/>
            <a:ext cx="4663440" cy="411480"/>
          </a:xfrm>
          <a:prstGeom prst="rect">
            <a:avLst/>
          </a:prstGeom>
          <a:noFill/>
          <a:ln/>
        </p:spPr>
        <p:txBody>
          <a:bodyPr wrap="square" lIns="0" tIns="0" rIns="0" bIns="0" rtlCol="0" anchor="t"/>
          <a:lstStyle/>
          <a:p>
            <a:pPr marL="0" indent="0">
              <a:buNone/>
            </a:pPr>
            <a:r>
              <a:rPr lang="en-US" sz="1250" dirty="0">
                <a:solidFill>
                  <a:srgbClr val="4A5B5E"/>
                </a:solidFill>
              </a:rPr>
              <a:t>A real CRITICAL vulnerability existed; the image was fixed, not the gate.</a:t>
            </a:r>
            <a:endParaRPr lang="en-US" sz="1250" dirty="0"/>
          </a:p>
        </p:txBody>
      </p:sp>
      <p:sp>
        <p:nvSpPr>
          <p:cNvPr id="51" name="card"/>
          <p:cNvSpPr/>
          <p:nvPr/>
        </p:nvSpPr>
        <p:spPr>
          <a:xfrm>
            <a:off x="6185916" y="5266944"/>
            <a:ext cx="5454396" cy="841248"/>
          </a:xfrm>
          <a:prstGeom prst="roundRect">
            <a:avLst>
              <a:gd name="adj" fmla="val 10870"/>
            </a:avLst>
          </a:prstGeom>
          <a:solidFill>
            <a:srgbClr val="FFFFFF"/>
          </a:solidFill>
          <a:ln/>
          <a:effectLst>
            <a:outerShdw blurRad="114300" dist="25400" dir="5400000" algn="bl" rotWithShape="0">
              <a:srgbClr val="0E3B43">
                <a:alpha val="13000"/>
              </a:srgbClr>
            </a:outerShdw>
          </a:effectLst>
        </p:spPr>
      </p:sp>
      <p:sp>
        <p:nvSpPr>
          <p:cNvPr id="52" name="question circle"/>
          <p:cNvSpPr/>
          <p:nvPr/>
        </p:nvSpPr>
        <p:spPr>
          <a:xfrm>
            <a:off x="6350508" y="5449824"/>
            <a:ext cx="365760" cy="365760"/>
          </a:xfrm>
          <a:prstGeom prst="ellipse">
            <a:avLst/>
          </a:prstGeom>
          <a:solidFill>
            <a:schemeClr val="accent1"/>
          </a:solidFill>
          <a:ln/>
        </p:spPr>
      </p:sp>
      <p:pic>
        <p:nvPicPr>
          <p:cNvPr id="53" name="question" descr="preencoded.png"/>
          <p:cNvPicPr>
            <a:picLocks noChangeAspect="1"/>
          </p:cNvPicPr>
          <p:nvPr/>
        </p:nvPicPr>
        <p:blipFill>
          <a:blip r:embed="rId3"/>
          <a:stretch>
            <a:fillRect/>
          </a:stretch>
        </p:blipFill>
        <p:spPr>
          <a:xfrm>
            <a:off x="6438290" y="5537606"/>
            <a:ext cx="190195" cy="190195"/>
          </a:xfrm>
          <a:prstGeom prst="rect">
            <a:avLst/>
          </a:prstGeom>
        </p:spPr>
      </p:pic>
      <p:sp>
        <p:nvSpPr>
          <p:cNvPr id="54" name="Text 42"/>
          <p:cNvSpPr txBox="1"/>
          <p:nvPr/>
        </p:nvSpPr>
        <p:spPr>
          <a:xfrm>
            <a:off x="6844284" y="5340096"/>
            <a:ext cx="4663440" cy="310896"/>
          </a:xfrm>
          <a:prstGeom prst="rect">
            <a:avLst/>
          </a:prstGeom>
          <a:noFill/>
          <a:ln/>
        </p:spPr>
        <p:txBody>
          <a:bodyPr wrap="square" lIns="0" tIns="0" rIns="0" bIns="0" rtlCol="0" anchor="ctr"/>
          <a:lstStyle/>
          <a:p>
            <a:pPr marL="0" indent="0">
              <a:buNone/>
            </a:pPr>
            <a:r>
              <a:rPr lang="en-US" sz="1400" b="1" dirty="0">
                <a:solidFill>
                  <a:srgbClr val="132226"/>
                </a:solidFill>
              </a:rPr>
              <a:t>What happens after nightly cleanup?</a:t>
            </a:r>
            <a:endParaRPr lang="en-US" sz="1400" dirty="0"/>
          </a:p>
        </p:txBody>
      </p:sp>
      <p:sp>
        <p:nvSpPr>
          <p:cNvPr id="55" name="Text 43"/>
          <p:cNvSpPr txBox="1"/>
          <p:nvPr/>
        </p:nvSpPr>
        <p:spPr>
          <a:xfrm>
            <a:off x="6844284" y="5650992"/>
            <a:ext cx="4663440" cy="411480"/>
          </a:xfrm>
          <a:prstGeom prst="rect">
            <a:avLst/>
          </a:prstGeom>
          <a:noFill/>
          <a:ln/>
        </p:spPr>
        <p:txBody>
          <a:bodyPr wrap="square" lIns="0" tIns="0" rIns="0" bIns="0" rtlCol="0" anchor="t"/>
          <a:lstStyle/>
          <a:p>
            <a:pPr marL="0" indent="0">
              <a:buNone/>
            </a:pPr>
            <a:r>
              <a:rPr lang="en-US" sz="1250" dirty="0">
                <a:solidFill>
                  <a:srgbClr val="4A5B5E"/>
                </a:solidFill>
              </a:rPr>
              <a:t>Activation → HCP rebuild → DB restore → app deploy → DNS sync → health check.</a:t>
            </a:r>
            <a:endParaRPr lang="en-US" sz="1250" dirty="0"/>
          </a:p>
        </p:txBody>
      </p:sp>
      <p:sp>
        <p:nvSpPr>
          <p:cNvPr id="56"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9418320" cy="594360"/>
          </a:xfrm>
          <a:prstGeom prst="rect">
            <a:avLst/>
          </a:prstGeom>
          <a:noFill/>
          <a:ln/>
        </p:spPr>
        <p:txBody>
          <a:bodyPr wrap="square" lIns="0" tIns="0" rIns="0" bIns="0" rtlCol="0" anchor="ctr"/>
          <a:lstStyle/>
          <a:p>
            <a:pPr marL="0" indent="0" algn="l">
              <a:buNone/>
            </a:pPr>
            <a:r>
              <a:rPr lang="en-US" sz="3000" b="1" dirty="0">
                <a:solidFill>
                  <a:schemeClr val="tx1"/>
                </a:solidFill>
              </a:rPr>
              <a:t>Interactive walkthrough — core platform (M1–M6)</a:t>
            </a:r>
            <a:endParaRPr lang="en-US" sz="3000" dirty="0"/>
          </a:p>
        </p:txBody>
      </p:sp>
      <p:sp>
        <p:nvSpPr>
          <p:cNvPr id="3" name="Text 0"/>
          <p:cNvSpPr>
            <a:spLocks noGrp="1"/>
          </p:cNvSpPr>
          <p:nvPr>
            <p:ph type="body" idx="101" hasCustomPrompt="1"/>
          </p:nvPr>
        </p:nvSpPr>
        <p:spPr>
          <a:xfrm>
            <a:off x="548640" y="1005840"/>
            <a:ext cx="11091672" cy="329184"/>
          </a:xfrm>
          <a:prstGeom prst="rect">
            <a:avLst/>
          </a:prstGeom>
          <a:noFill/>
          <a:ln/>
        </p:spPr>
        <p:txBody>
          <a:bodyPr wrap="square" lIns="0" tIns="0" rIns="0" bIns="0" rtlCol="0" anchor="t"/>
          <a:lstStyle/>
          <a:p>
            <a:pPr marL="0" indent="0">
              <a:buNone/>
            </a:pPr>
            <a:r>
              <a:rPr lang="en-US" sz="1400" dirty="0">
                <a:solidFill>
                  <a:schemeClr val="tx2"/>
                </a:solidFill>
              </a:rPr>
              <a:t>An animated view of the foundation milestones — choose a milestone or flow and watch the request path move.</a:t>
            </a:r>
            <a:endParaRPr lang="en-US" sz="1400" dirty="0"/>
          </a:p>
        </p:txBody>
      </p:sp>
      <p:sp>
        <p:nvSpPr>
          <p:cNvPr id="4" name="milestone tag"/>
          <p:cNvSpPr/>
          <p:nvPr/>
        </p:nvSpPr>
        <p:spPr>
          <a:xfrm>
            <a:off x="10177272" y="502920"/>
            <a:ext cx="1463040" cy="365760"/>
          </a:xfrm>
          <a:prstGeom prst="roundRect">
            <a:avLst>
              <a:gd name="adj" fmla="val 50000"/>
            </a:avLst>
          </a:prstGeom>
          <a:solidFill>
            <a:srgbClr val="F2A541"/>
          </a:solidFill>
          <a:ln/>
        </p:spPr>
      </p:sp>
      <p:sp>
        <p:nvSpPr>
          <p:cNvPr id="5" name="Text 3"/>
          <p:cNvSpPr txBox="1"/>
          <p:nvPr/>
        </p:nvSpPr>
        <p:spPr>
          <a:xfrm>
            <a:off x="10177272" y="502920"/>
            <a:ext cx="1463040" cy="365760"/>
          </a:xfrm>
          <a:prstGeom prst="rect">
            <a:avLst/>
          </a:prstGeom>
          <a:noFill/>
          <a:ln/>
        </p:spPr>
        <p:txBody>
          <a:bodyPr wrap="square" lIns="0" tIns="0" rIns="0" bIns="0" rtlCol="0" anchor="ctr"/>
          <a:lstStyle/>
          <a:p>
            <a:pPr marL="0" indent="0" algn="ctr">
              <a:buNone/>
            </a:pPr>
            <a:r>
              <a:rPr lang="en-US" sz="1200" b="1" kern="0" spc="100" dirty="0">
                <a:solidFill>
                  <a:srgbClr val="132226"/>
                </a:solidFill>
              </a:rPr>
              <a:t>BACKUP</a:t>
            </a:r>
            <a:endParaRPr lang="en-US" sz="1200" dirty="0"/>
          </a:p>
        </p:txBody>
      </p:sp>
      <p:sp>
        <p:nvSpPr>
          <p:cNvPr id="6" name="card"/>
          <p:cNvSpPr/>
          <p:nvPr/>
        </p:nvSpPr>
        <p:spPr>
          <a:xfrm>
            <a:off x="548640" y="1463040"/>
            <a:ext cx="6949440" cy="4063688"/>
          </a:xfrm>
          <a:prstGeom prst="roundRect">
            <a:avLst>
              <a:gd name="adj" fmla="val 450"/>
            </a:avLst>
          </a:prstGeom>
          <a:solidFill>
            <a:srgbClr val="FFFFFF"/>
          </a:solidFill>
          <a:ln/>
          <a:effectLst>
            <a:outerShdw blurRad="114300" dist="25400" dir="5400000" algn="bl" rotWithShape="0">
              <a:srgbClr val="0E3B43">
                <a:alpha val="13000"/>
              </a:srgbClr>
            </a:outerShdw>
          </a:effectLst>
        </p:spPr>
      </p:sp>
      <p:pic>
        <p:nvPicPr>
          <p:cNvPr id="7" name="Live walkthrough screenshot" descr="Interactive architecture walkthrough">
            <a:hlinkClick r:id="rId3" tooltip="Open the live walkthrough"/>
          </p:cNvPr>
          <p:cNvPicPr>
            <a:picLocks noChangeAspect="1"/>
          </p:cNvPicPr>
          <p:nvPr/>
        </p:nvPicPr>
        <p:blipFill>
          <a:blip r:embed="rId4"/>
          <a:stretch>
            <a:fillRect/>
          </a:stretch>
        </p:blipFill>
        <p:spPr>
          <a:xfrm>
            <a:off x="548640" y="1463040"/>
            <a:ext cx="6949440" cy="4063688"/>
          </a:xfrm>
          <a:prstGeom prst="rect">
            <a:avLst/>
          </a:prstGeom>
        </p:spPr>
      </p:pic>
      <p:sp>
        <p:nvSpPr>
          <p:cNvPr id="8" name="Text 5"/>
          <p:cNvSpPr txBox="1"/>
          <p:nvPr/>
        </p:nvSpPr>
        <p:spPr>
          <a:xfrm>
            <a:off x="548640" y="5636456"/>
            <a:ext cx="6949440" cy="457200"/>
          </a:xfrm>
          <a:prstGeom prst="rect">
            <a:avLst/>
          </a:prstGeom>
          <a:noFill/>
          <a:ln/>
        </p:spPr>
        <p:txBody>
          <a:bodyPr wrap="square" lIns="0" tIns="0" rIns="0" bIns="0" rtlCol="0" anchor="t"/>
          <a:lstStyle/>
          <a:p>
            <a:pPr marL="0" indent="0">
              <a:buNone/>
            </a:pPr>
            <a:r>
              <a:rPr lang="en-US" sz="1200" i="1" dirty="0">
                <a:solidFill>
                  <a:srgbClr val="6B7C7F"/>
                </a:solidFill>
              </a:rPr>
              <a:t>Covers Milestones 1–6 (network, containers, deployment, data, edge and authentication).</a:t>
            </a:r>
            <a:endParaRPr lang="en-US" sz="1200" dirty="0"/>
          </a:p>
        </p:txBody>
      </p:sp>
      <p:sp>
        <p:nvSpPr>
          <p:cNvPr id="9" name="open walkthrough button"/>
          <p:cNvSpPr/>
          <p:nvPr/>
        </p:nvSpPr>
        <p:spPr>
          <a:xfrm>
            <a:off x="7772400" y="1463040"/>
            <a:ext cx="3867912" cy="566928"/>
          </a:xfrm>
          <a:prstGeom prst="roundRect">
            <a:avLst>
              <a:gd name="adj" fmla="val 50000"/>
            </a:avLst>
          </a:prstGeom>
          <a:solidFill>
            <a:schemeClr val="accent2"/>
          </a:solidFill>
          <a:ln/>
          <a:effectLst>
            <a:outerShdw blurRad="114300" dist="25400" dir="5400000" algn="bl" rotWithShape="0">
              <a:srgbClr val="0E3B43">
                <a:alpha val="13000"/>
              </a:srgbClr>
            </a:outerShdw>
          </a:effectLst>
        </p:spPr>
      </p:sp>
      <p:pic>
        <p:nvPicPr>
          <p:cNvPr id="10" name="play icon" descr="preencoded.png">
            <a:hlinkClick r:id="rId3" tooltip="Open the live walkthrough"/>
          </p:cNvPr>
          <p:cNvPicPr>
            <a:picLocks noChangeAspect="1"/>
          </p:cNvPicPr>
          <p:nvPr/>
        </p:nvPicPr>
        <p:blipFill>
          <a:blip r:embed="rId5"/>
          <a:stretch>
            <a:fillRect/>
          </a:stretch>
        </p:blipFill>
        <p:spPr>
          <a:xfrm>
            <a:off x="8156448" y="1581912"/>
            <a:ext cx="329184" cy="329184"/>
          </a:xfrm>
          <a:prstGeom prst="rect">
            <a:avLst/>
          </a:prstGeom>
        </p:spPr>
      </p:pic>
      <p:sp>
        <p:nvSpPr>
          <p:cNvPr id="11" name="Text 7"/>
          <p:cNvSpPr txBox="1"/>
          <p:nvPr/>
        </p:nvSpPr>
        <p:spPr>
          <a:xfrm>
            <a:off x="8275320" y="1463040"/>
            <a:ext cx="3182112" cy="566928"/>
          </a:xfrm>
          <a:prstGeom prst="rect">
            <a:avLst/>
          </a:prstGeom>
          <a:noFill/>
          <a:ln/>
        </p:spPr>
        <p:txBody>
          <a:bodyPr wrap="square" lIns="0" tIns="0" rIns="0" bIns="0" rtlCol="0" anchor="ctr"/>
          <a:lstStyle/>
          <a:p>
            <a:pPr marL="0" indent="0" algn="ctr">
              <a:buNone/>
            </a:pPr>
            <a:r>
              <a:rPr lang="en-US" sz="1600" b="1" u="sng" dirty="0">
                <a:solidFill>
                  <a:srgbClr val="132226"/>
                </a:solidFill>
                <a:hlinkClick r:id="rId3" tooltip="Open the live walkthrough">
                  <a:extLst>
                    <a:ext uri="{A12FA001-AC4F-418D-AE19-62706E023703}">
                      <ahyp:hlinkClr xmlns:ahyp="http://schemas.microsoft.com/office/drawing/2018/hyperlinkcolor" val="tx"/>
                    </a:ext>
                  </a:extLst>
                </a:hlinkClick>
              </a:rPr>
              <a:t>Open the live walkthrough</a:t>
            </a:r>
            <a:endParaRPr lang="en-US" sz="1600" dirty="0"/>
          </a:p>
        </p:txBody>
      </p:sp>
      <p:sp>
        <p:nvSpPr>
          <p:cNvPr id="12" name="Text 8"/>
          <p:cNvSpPr txBox="1"/>
          <p:nvPr/>
        </p:nvSpPr>
        <p:spPr>
          <a:xfrm>
            <a:off x="7863840" y="2121408"/>
            <a:ext cx="3685032" cy="457200"/>
          </a:xfrm>
          <a:prstGeom prst="rect">
            <a:avLst/>
          </a:prstGeom>
          <a:noFill/>
          <a:ln/>
        </p:spPr>
        <p:txBody>
          <a:bodyPr wrap="square" lIns="0" tIns="0" rIns="0" bIns="0" rtlCol="0" anchor="t"/>
          <a:lstStyle/>
          <a:p>
            <a:pPr marL="0" indent="0">
              <a:buNone/>
            </a:pPr>
            <a:r>
              <a:rPr lang="en-US" sz="1200" dirty="0">
                <a:solidFill>
                  <a:srgbClr val="6B7C7F"/>
                </a:solidFill>
              </a:rPr>
              <a:t>Opens the HTML file in your browser. Keep it in the same folder as this deck.</a:t>
            </a:r>
            <a:endParaRPr lang="en-US" sz="1200" dirty="0"/>
          </a:p>
        </p:txBody>
      </p:sp>
      <p:sp>
        <p:nvSpPr>
          <p:cNvPr id="13" name="card"/>
          <p:cNvSpPr/>
          <p:nvPr/>
        </p:nvSpPr>
        <p:spPr>
          <a:xfrm>
            <a:off x="7772400" y="2743200"/>
            <a:ext cx="3867912" cy="3429000"/>
          </a:xfrm>
          <a:prstGeom prst="roundRect">
            <a:avLst>
              <a:gd name="adj" fmla="val 2667"/>
            </a:avLst>
          </a:prstGeom>
          <a:solidFill>
            <a:srgbClr val="FFFFFF"/>
          </a:solidFill>
          <a:ln/>
          <a:effectLst>
            <a:outerShdw blurRad="114300" dist="25400" dir="5400000" algn="bl" rotWithShape="0">
              <a:srgbClr val="0E3B43">
                <a:alpha val="13000"/>
              </a:srgbClr>
            </a:outerShdw>
          </a:effectLst>
        </p:spPr>
      </p:sp>
      <p:sp>
        <p:nvSpPr>
          <p:cNvPr id="14" name="Text 10"/>
          <p:cNvSpPr txBox="1"/>
          <p:nvPr/>
        </p:nvSpPr>
        <p:spPr>
          <a:xfrm>
            <a:off x="8001000" y="2880360"/>
            <a:ext cx="3410712" cy="320040"/>
          </a:xfrm>
          <a:prstGeom prst="rect">
            <a:avLst/>
          </a:prstGeom>
          <a:noFill/>
          <a:ln/>
        </p:spPr>
        <p:txBody>
          <a:bodyPr wrap="square" lIns="0" tIns="0" rIns="0" bIns="0" rtlCol="0" anchor="t"/>
          <a:lstStyle/>
          <a:p>
            <a:pPr marL="0" indent="0">
              <a:buNone/>
            </a:pPr>
            <a:r>
              <a:rPr lang="en-US" sz="1600" b="1" dirty="0">
                <a:solidFill>
                  <a:srgbClr val="0E3B43"/>
                </a:solidFill>
                <a:latin typeface="+mj-lt" pitchFamily="34" charset="0"/>
                <a:ea typeface="+mj-lt" pitchFamily="34" charset="-122"/>
                <a:cs typeface="+mj-lt" pitchFamily="34" charset="-120"/>
              </a:rPr>
              <a:t>Keyboard</a:t>
            </a:r>
            <a:endParaRPr lang="en-US" sz="1600" dirty="0"/>
          </a:p>
        </p:txBody>
      </p:sp>
      <p:sp>
        <p:nvSpPr>
          <p:cNvPr id="15" name="Text 11"/>
          <p:cNvSpPr txBox="1"/>
          <p:nvPr/>
        </p:nvSpPr>
        <p:spPr>
          <a:xfrm>
            <a:off x="8001000" y="3337560"/>
            <a:ext cx="914400" cy="411480"/>
          </a:xfrm>
          <a:prstGeom prst="rect">
            <a:avLst/>
          </a:prstGeom>
          <a:noFill/>
          <a:ln/>
        </p:spPr>
        <p:txBody>
          <a:bodyPr wrap="square" lIns="0" tIns="0" rIns="0" bIns="0" rtlCol="0" anchor="ctr"/>
          <a:lstStyle/>
          <a:p>
            <a:pPr marL="0" indent="0">
              <a:buNone/>
            </a:pPr>
            <a:r>
              <a:rPr lang="en-US" sz="1400" b="1" dirty="0">
                <a:solidFill>
                  <a:srgbClr val="0E3B43"/>
                </a:solidFill>
                <a:latin typeface="Courier New" pitchFamily="34" charset="0"/>
                <a:ea typeface="Courier New" pitchFamily="34" charset="-122"/>
                <a:cs typeface="Courier New" pitchFamily="34" charset="-120"/>
              </a:rPr>
              <a:t>1–6</a:t>
            </a:r>
            <a:endParaRPr lang="en-US" sz="1400" dirty="0"/>
          </a:p>
        </p:txBody>
      </p:sp>
      <p:sp>
        <p:nvSpPr>
          <p:cNvPr id="16" name="Text 12"/>
          <p:cNvSpPr txBox="1"/>
          <p:nvPr/>
        </p:nvSpPr>
        <p:spPr>
          <a:xfrm>
            <a:off x="8961120" y="3337560"/>
            <a:ext cx="2496312" cy="411480"/>
          </a:xfrm>
          <a:prstGeom prst="rect">
            <a:avLst/>
          </a:prstGeom>
          <a:noFill/>
          <a:ln/>
        </p:spPr>
        <p:txBody>
          <a:bodyPr wrap="square" lIns="0" tIns="0" rIns="0" bIns="0" rtlCol="0" anchor="ctr"/>
          <a:lstStyle/>
          <a:p>
            <a:pPr marL="0" indent="0">
              <a:buNone/>
            </a:pPr>
            <a:r>
              <a:rPr lang="en-US" sz="1400" dirty="0">
                <a:solidFill>
                  <a:srgbClr val="132226"/>
                </a:solidFill>
              </a:rPr>
              <a:t>select a milestone</a:t>
            </a:r>
            <a:endParaRPr lang="en-US" sz="1400" dirty="0"/>
          </a:p>
        </p:txBody>
      </p:sp>
      <p:sp>
        <p:nvSpPr>
          <p:cNvPr id="17" name="Text 13"/>
          <p:cNvSpPr txBox="1"/>
          <p:nvPr/>
        </p:nvSpPr>
        <p:spPr>
          <a:xfrm>
            <a:off x="8001000" y="3840480"/>
            <a:ext cx="914400" cy="411480"/>
          </a:xfrm>
          <a:prstGeom prst="rect">
            <a:avLst/>
          </a:prstGeom>
          <a:noFill/>
          <a:ln/>
        </p:spPr>
        <p:txBody>
          <a:bodyPr wrap="square" lIns="0" tIns="0" rIns="0" bIns="0" rtlCol="0" anchor="ctr"/>
          <a:lstStyle/>
          <a:p>
            <a:pPr marL="0" indent="0">
              <a:buNone/>
            </a:pPr>
            <a:r>
              <a:rPr lang="en-US" sz="1400" b="1" dirty="0">
                <a:solidFill>
                  <a:srgbClr val="0E3B43"/>
                </a:solidFill>
                <a:latin typeface="Courier New" pitchFamily="34" charset="0"/>
                <a:ea typeface="Courier New" pitchFamily="34" charset="-122"/>
                <a:cs typeface="Courier New" pitchFamily="34" charset="-120"/>
              </a:rPr>
              <a:t>A</a:t>
            </a:r>
            <a:endParaRPr lang="en-US" sz="1400" dirty="0"/>
          </a:p>
        </p:txBody>
      </p:sp>
      <p:sp>
        <p:nvSpPr>
          <p:cNvPr id="18" name="Text 14"/>
          <p:cNvSpPr txBox="1"/>
          <p:nvPr/>
        </p:nvSpPr>
        <p:spPr>
          <a:xfrm>
            <a:off x="8961120" y="3840480"/>
            <a:ext cx="2496312" cy="411480"/>
          </a:xfrm>
          <a:prstGeom prst="rect">
            <a:avLst/>
          </a:prstGeom>
          <a:noFill/>
          <a:ln/>
        </p:spPr>
        <p:txBody>
          <a:bodyPr wrap="square" lIns="0" tIns="0" rIns="0" bIns="0" rtlCol="0" anchor="ctr"/>
          <a:lstStyle/>
          <a:p>
            <a:pPr marL="0" indent="0">
              <a:buNone/>
            </a:pPr>
            <a:r>
              <a:rPr lang="en-US" sz="1400" dirty="0">
                <a:solidFill>
                  <a:srgbClr val="132226"/>
                </a:solidFill>
              </a:rPr>
              <a:t>all flows together</a:t>
            </a:r>
            <a:endParaRPr lang="en-US" sz="1400" dirty="0"/>
          </a:p>
        </p:txBody>
      </p:sp>
      <p:sp>
        <p:nvSpPr>
          <p:cNvPr id="19" name="Text 15"/>
          <p:cNvSpPr txBox="1"/>
          <p:nvPr/>
        </p:nvSpPr>
        <p:spPr>
          <a:xfrm>
            <a:off x="8001000" y="4343400"/>
            <a:ext cx="914400" cy="411480"/>
          </a:xfrm>
          <a:prstGeom prst="rect">
            <a:avLst/>
          </a:prstGeom>
          <a:noFill/>
          <a:ln/>
        </p:spPr>
        <p:txBody>
          <a:bodyPr wrap="square" lIns="0" tIns="0" rIns="0" bIns="0" rtlCol="0" anchor="ctr"/>
          <a:lstStyle/>
          <a:p>
            <a:pPr marL="0" indent="0">
              <a:buNone/>
            </a:pPr>
            <a:r>
              <a:rPr lang="en-US" sz="1400" b="1" dirty="0">
                <a:solidFill>
                  <a:srgbClr val="0E3B43"/>
                </a:solidFill>
                <a:latin typeface="Courier New" pitchFamily="34" charset="0"/>
                <a:ea typeface="Courier New" pitchFamily="34" charset="-122"/>
                <a:cs typeface="Courier New" pitchFamily="34" charset="-120"/>
              </a:rPr>
              <a:t>S</a:t>
            </a:r>
            <a:endParaRPr lang="en-US" sz="1400" dirty="0"/>
          </a:p>
        </p:txBody>
      </p:sp>
      <p:sp>
        <p:nvSpPr>
          <p:cNvPr id="20" name="Text 16"/>
          <p:cNvSpPr txBox="1"/>
          <p:nvPr/>
        </p:nvSpPr>
        <p:spPr>
          <a:xfrm>
            <a:off x="8961120" y="4343400"/>
            <a:ext cx="2496312" cy="411480"/>
          </a:xfrm>
          <a:prstGeom prst="rect">
            <a:avLst/>
          </a:prstGeom>
          <a:noFill/>
          <a:ln/>
        </p:spPr>
        <p:txBody>
          <a:bodyPr wrap="square" lIns="0" tIns="0" rIns="0" bIns="0" rtlCol="0" anchor="ctr"/>
          <a:lstStyle/>
          <a:p>
            <a:pPr marL="0" indent="0">
              <a:buNone/>
            </a:pPr>
            <a:r>
              <a:rPr lang="en-US" sz="1400" dirty="0">
                <a:solidFill>
                  <a:srgbClr val="132226"/>
                </a:solidFill>
              </a:rPr>
              <a:t>auto sequence</a:t>
            </a:r>
            <a:endParaRPr lang="en-US" sz="1400" dirty="0"/>
          </a:p>
        </p:txBody>
      </p:sp>
      <p:sp>
        <p:nvSpPr>
          <p:cNvPr id="21" name="Text 17"/>
          <p:cNvSpPr txBox="1"/>
          <p:nvPr/>
        </p:nvSpPr>
        <p:spPr>
          <a:xfrm>
            <a:off x="8001000" y="4846320"/>
            <a:ext cx="914400" cy="411480"/>
          </a:xfrm>
          <a:prstGeom prst="rect">
            <a:avLst/>
          </a:prstGeom>
          <a:noFill/>
          <a:ln/>
        </p:spPr>
        <p:txBody>
          <a:bodyPr wrap="square" lIns="0" tIns="0" rIns="0" bIns="0" rtlCol="0" anchor="ctr"/>
          <a:lstStyle/>
          <a:p>
            <a:pPr marL="0" indent="0">
              <a:buNone/>
            </a:pPr>
            <a:r>
              <a:rPr lang="en-US" sz="1400" b="1" dirty="0">
                <a:solidFill>
                  <a:srgbClr val="0E3B43"/>
                </a:solidFill>
                <a:latin typeface="Courier New" pitchFamily="34" charset="0"/>
                <a:ea typeface="Courier New" pitchFamily="34" charset="-122"/>
                <a:cs typeface="Courier New" pitchFamily="34" charset="-120"/>
              </a:rPr>
              <a:t>Space</a:t>
            </a:r>
            <a:endParaRPr lang="en-US" sz="1400" dirty="0"/>
          </a:p>
        </p:txBody>
      </p:sp>
      <p:sp>
        <p:nvSpPr>
          <p:cNvPr id="22" name="Text 18"/>
          <p:cNvSpPr txBox="1"/>
          <p:nvPr/>
        </p:nvSpPr>
        <p:spPr>
          <a:xfrm>
            <a:off x="8961120" y="4846320"/>
            <a:ext cx="2496312" cy="411480"/>
          </a:xfrm>
          <a:prstGeom prst="rect">
            <a:avLst/>
          </a:prstGeom>
          <a:noFill/>
          <a:ln/>
        </p:spPr>
        <p:txBody>
          <a:bodyPr wrap="square" lIns="0" tIns="0" rIns="0" bIns="0" rtlCol="0" anchor="ctr"/>
          <a:lstStyle/>
          <a:p>
            <a:pPr marL="0" indent="0">
              <a:buNone/>
            </a:pPr>
            <a:r>
              <a:rPr lang="en-US" sz="1400" dirty="0">
                <a:solidFill>
                  <a:srgbClr val="132226"/>
                </a:solidFill>
              </a:rPr>
              <a:t>play / pause</a:t>
            </a:r>
            <a:endParaRPr lang="en-US" sz="1400" dirty="0"/>
          </a:p>
        </p:txBody>
      </p:sp>
      <p:sp>
        <p:nvSpPr>
          <p:cNvPr id="23" name="Text 19"/>
          <p:cNvSpPr txBox="1"/>
          <p:nvPr/>
        </p:nvSpPr>
        <p:spPr>
          <a:xfrm>
            <a:off x="8001000" y="5349240"/>
            <a:ext cx="914400" cy="411480"/>
          </a:xfrm>
          <a:prstGeom prst="rect">
            <a:avLst/>
          </a:prstGeom>
          <a:noFill/>
          <a:ln/>
        </p:spPr>
        <p:txBody>
          <a:bodyPr wrap="square" lIns="0" tIns="0" rIns="0" bIns="0" rtlCol="0" anchor="ctr"/>
          <a:lstStyle/>
          <a:p>
            <a:pPr marL="0" indent="0">
              <a:buNone/>
            </a:pPr>
            <a:r>
              <a:rPr lang="en-US" sz="1400" b="1" dirty="0">
                <a:solidFill>
                  <a:srgbClr val="0E3B43"/>
                </a:solidFill>
                <a:latin typeface="Courier New" pitchFamily="34" charset="0"/>
                <a:ea typeface="Courier New" pitchFamily="34" charset="-122"/>
                <a:cs typeface="Courier New" pitchFamily="34" charset="-120"/>
              </a:rPr>
              <a:t>F</a:t>
            </a:r>
            <a:endParaRPr lang="en-US" sz="1400" dirty="0"/>
          </a:p>
        </p:txBody>
      </p:sp>
      <p:sp>
        <p:nvSpPr>
          <p:cNvPr id="24" name="Text 20"/>
          <p:cNvSpPr txBox="1"/>
          <p:nvPr/>
        </p:nvSpPr>
        <p:spPr>
          <a:xfrm>
            <a:off x="8961120" y="5349240"/>
            <a:ext cx="2496312" cy="411480"/>
          </a:xfrm>
          <a:prstGeom prst="rect">
            <a:avLst/>
          </a:prstGeom>
          <a:noFill/>
          <a:ln/>
        </p:spPr>
        <p:txBody>
          <a:bodyPr wrap="square" lIns="0" tIns="0" rIns="0" bIns="0" rtlCol="0" anchor="ctr"/>
          <a:lstStyle/>
          <a:p>
            <a:pPr marL="0" indent="0">
              <a:buNone/>
            </a:pPr>
            <a:r>
              <a:rPr lang="en-US" sz="1400" dirty="0">
                <a:solidFill>
                  <a:srgbClr val="132226"/>
                </a:solidFill>
              </a:rPr>
              <a:t>fullscreen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C7F"/>
                </a:solidFill>
              </a:defRPr>
            </a:lvl1pPr>
          </a:lstStyle>
          <a:p>
            <a:pPr algn="r"/>
            <a:fld id="{F7021451-1387-4CA6-816F-3879F97B5CBC}" type="slidenum">
              <a:rPr lang="en-US" b="0"/>
              <a:t>27</a:t>
            </a:fld>
            <a:endParaRPr lang="en-US"/>
          </a:p>
        </p:txBody>
      </p:sp>
    </p:spTree>
  </p:cSld>
  <p:clrMapOvr>
    <a:masterClrMapping/>
  </p:clrMapOvr>
</p:sld>
</file>

<file path=ppt/theme/theme1.xml><?xml version="1.0" encoding="utf-8"?>
<a:theme xmlns:a="http://schemas.openxmlformats.org/drawingml/2006/main" name="LangNation Signal">
  <a:themeElements>
    <a:clrScheme name="LangNation Signal">
      <a:dk1>
        <a:srgbClr val="132226"/>
      </a:dk1>
      <a:lt1>
        <a:srgbClr val="FFFFFF"/>
      </a:lt1>
      <a:dk2>
        <a:srgbClr val="0E3B43"/>
      </a:dk2>
      <a:lt2>
        <a:srgbClr val="EEF4F3"/>
      </a:lt2>
      <a:accent1>
        <a:srgbClr val="0E7C7B"/>
      </a:accent1>
      <a:accent2>
        <a:srgbClr val="F2A541"/>
      </a:accent2>
      <a:accent3>
        <a:srgbClr val="1F9A82"/>
      </a:accent3>
      <a:accent4>
        <a:srgbClr val="D9482B"/>
      </a:accent4>
      <a:accent5>
        <a:srgbClr val="5B6C8F"/>
      </a:accent5>
      <a:accent6>
        <a:srgbClr val="9AD1D4"/>
      </a:accent6>
      <a:hlink>
        <a:srgbClr val="132226"/>
      </a:hlink>
      <a:folHlink>
        <a:srgbClr val="5B6C8F"/>
      </a:folHlink>
    </a:clrScheme>
    <a:fontScheme name="LangNation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6445</Words>
  <Application>Microsoft Office PowerPoint</Application>
  <PresentationFormat>Widescreen</PresentationFormat>
  <Paragraphs>878</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vt:lpstr>
      <vt:lpstr>Courier New</vt:lpstr>
      <vt:lpstr>LangNation Signal</vt:lpstr>
      <vt:lpstr>LangNation Cloud Platform</vt:lpstr>
      <vt:lpstr>The challenge and the final design goal</vt:lpstr>
      <vt:lpstr>Final master architecture — Milestones 1–12</vt:lpstr>
      <vt:lpstr>Why I chose these AWS resources</vt:lpstr>
      <vt:lpstr>Architecture evolution — 12 milestones</vt:lpstr>
      <vt:lpstr>Milestone 1 — Foundation &amp; networking</vt:lpstr>
      <vt:lpstr>Milestones 2–3 — Containers &amp; scaling</vt:lpstr>
      <vt:lpstr>Milestone 4 — Automated deployment</vt:lpstr>
      <vt:lpstr>Milestones 5–6 — Data, edge &amp; authentication</vt:lpstr>
      <vt:lpstr>Milestone 7 — Serverless &amp; event-driven processing</vt:lpstr>
      <vt:lpstr>Milestone 8 — RAG knowledge pipeline</vt:lpstr>
      <vt:lpstr>Milestone 9 — Real application &amp; Lina RAG runtime</vt:lpstr>
      <vt:lpstr>Milestone 10 — Monitoring, security &amp; governance</vt:lpstr>
      <vt:lpstr>Milestone 11 — CI/CD quality gates</vt:lpstr>
      <vt:lpstr>Milestone 12 — Resilience tested through failure</vt:lpstr>
      <vt:lpstr>Real AWS cost analysis — October 2026</vt:lpstr>
      <vt:lpstr>OP01 — Automated morning sandbox recovery</vt:lpstr>
      <vt:lpstr>Security and ownership model</vt:lpstr>
      <vt:lpstr>Evidence — tested, not just configured</vt:lpstr>
      <vt:lpstr>Engineering challenges I solved</vt:lpstr>
      <vt:lpstr>Final architecture decisions &amp; trade-offs</vt:lpstr>
      <vt:lpstr>Key takeaway</vt:lpstr>
      <vt:lpstr>Source code, infrastructure &amp; documentation</vt:lpstr>
      <vt:lpstr>Acknowledgements &amp; support</vt:lpstr>
      <vt:lpstr>Key technical configuration</vt:lpstr>
      <vt:lpstr>FAQs — likely questions &amp; short answers</vt:lpstr>
      <vt:lpstr>Interactive walkthrough — core platform (M1–M6)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LangNation Cloud Platform — Final Capstone (Milestones 1–12)</dc:title>
  <dc:subject>PptxGenJS Presentation</dc:subject>
  <dc:creator>Seraj Ahmad Siddiqui</dc:creator>
  <cp:lastModifiedBy>Sheikh</cp:lastModifiedBy>
  <cp:revision>3</cp:revision>
  <dcterms:created xsi:type="dcterms:W3CDTF">2026-10-22T21:35:23Z</dcterms:created>
  <dcterms:modified xsi:type="dcterms:W3CDTF">2026-10-22T21:58:33Z</dcterms:modified>
</cp:coreProperties>
</file>