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77" r:id="rId5"/>
    <p:sldId id="259" r:id="rId6"/>
    <p:sldId id="27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80" r:id="rId21"/>
    <p:sldId id="273" r:id="rId22"/>
    <p:sldId id="278" r:id="rId23"/>
    <p:sldId id="274" r:id="rId24"/>
    <p:sldId id="275" r:id="rId25"/>
    <p:sldId id="276"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D42AF99-3309-DA12-602A-E2F0BA0ED81C}">
          <p14:sldIdLst>
            <p14:sldId id="256"/>
            <p14:sldId id="257"/>
            <p14:sldId id="258"/>
            <p14:sldId id="277"/>
            <p14:sldId id="259"/>
            <p14:sldId id="279"/>
            <p14:sldId id="260"/>
          </p14:sldIdLst>
        </p14:section>
        <p14:section name="Milestones 1–6" id="{2F9E25FD-A20A-5BD5-F363-467A29305023}">
          <p14:sldIdLst>
            <p14:sldId id="261"/>
            <p14:sldId id="262"/>
            <p14:sldId id="263"/>
            <p14:sldId id="264"/>
            <p14:sldId id="265"/>
            <p14:sldId id="266"/>
            <p14:sldId id="267"/>
            <p14:sldId id="268"/>
            <p14:sldId id="269"/>
          </p14:sldIdLst>
        </p14:section>
        <p14:section name="Results" id="{5FD8F7C1-D136-3BEF-80FA-4463385E6844}">
          <p14:sldIdLst>
            <p14:sldId id="270"/>
            <p14:sldId id="271"/>
            <p14:sldId id="272"/>
            <p14:sldId id="280"/>
          </p14:sldIdLst>
        </p14:section>
        <p14:section name="Close" id="{E26347F1-814E-DC69-B5E8-385DDA870427}">
          <p14:sldIdLst>
            <p14:sldId id="273"/>
            <p14:sldId id="278"/>
            <p14:sldId id="274"/>
          </p14:sldIdLst>
        </p14:section>
        <p14:section name="Backup" id="{4E296DE8-5827-DA3C-0161-75CC1242A203}">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3814" autoAdjust="0"/>
    <p:restoredTop sz="96323" autoAdjust="0"/>
  </p:normalViewPr>
  <p:slideViewPr>
    <p:cSldViewPr snapToGrid="0" snapToObjects="1">
      <p:cViewPr varScale="1">
        <p:scale>
          <a:sx n="132" d="100"/>
          <a:sy n="132" d="100"/>
        </p:scale>
        <p:origin x="53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3143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(20–30 sec): “My capstone is LangNation Cloud Platform. The goal is to turn a simple application into a secure, highly available and reproducible AWS platform.”
Say that today you will focus on what has been completed through Milestone 6, not future services.
Mention that the environment is a teaching sandbox that is cleaned regularly, so reproducibility and recovery became a real design requirement.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real engineering constraints: disposable sandbox, security, and high availability.
Then connect them to the platform goals on the right.
Key line: “I wanted the environment to be rebuildable from code, not dependent on what I clicked yesterday.”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about 60 seconds here. Do not read every box.
Trace the main request path: user → Route 53 → CloudFront → WAF → ALB → ECS.
Then point to private database/storage, CI/CD, Terraform and morning recovery.
Clarify account boundary: Route 53 is kept in the personal AWS account because DNS must survive sandbox cleanup; workload services remain in the sandbox.
The full reference diagram and the live interactive walkthrough follow on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about 60 seconds here. Do not read every box.
Trace the main request path: user → Route 53 → CloudFront → WAF → ALB → ECS.
Then point to private database/storage, CI/CD, Terraform and morning recovery.
Clarify account boundary: Route 53 is kept in the personal AWS account because DNS must survive sandbox cleanup; workload services remain in the sandbox.
The full reference diagram and the live interactive walkthrough follow on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635544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deep-dive slide — skip if short on time.
This is the full reference diagram. Walk the audience around the zones in the order on the right rather than reading boxes.
If people want to see a flow in motion, switch to the live interactive walkthrough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deep-dive slide — skip if short on time.
This is the full reference diagram. Walk the audience around the zones in the order on the right rather than reading boxes.
If people want to see a flow in motion, switch to the live interactive walkthrough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964282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screenshot or the amber button to open the animated walkthrough (the HTML file must sit in the same folder as this PowerPoint).
Suggested order: M1 → M6 with keys 1–6, then the CI/CD, Cognito authentication and morning recovery flows.
Press F for fullscreen, Space to pause. Alt+Tab back to PowerPoint when done.
If the link does not open, open the HTML file directly from the folder.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subnet strategy, not every route-table ID.
Why two NAT gateways? Each private app subnet exits through its own AZ, avoiding a single-AZ dependency.
Why DB route tables are local-only? The database does not need general internet egress.
This is the foundation used by every later milestone.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deep-dive slide.
Point out the three tiers and that each private app subnet routes through the NAT gateway in its own AZ.
Private DB route tables are local-only. Security groups are layered: ALB → ECS → DB.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runtime flow: image in ECR → task definition → ECS service → target group → ALB.
Mention Fargate removes EC2 server management.
Show that availability was tested, not only configured: the autoscaling test intentionally forced 2→4 tasks.
The diagram is the Milestone 2 snapshot (desired count 1, DB subnets reserved). Milestone 3 raised the baseline to 2 tasks and added auto scaling.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ownership clearly: Terraform owns infrastructure; GitHub owns application task-definition revisions.
GitHub uses OIDC rather than static AWS access keys.
Mention the exact-subject trust was tightened to the repository/branch identity.
Important lesson: deployment success is validated by service stability, deployed image SHA, task counts and CloudFront health.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deep-dive slide.
Walk the numbered stages: source → build → identity (OIDC) → image to ECR → new task definition → rolling deploy behind the ALB.
Key point: GitHub never holds long-lived AWS keys; it assumes a role through OIDC for each run.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checkpoint slide — use it to bridge from the compute/delivery milestones to data and edge security.
Note honestly that at this stage the ALB accepted HTTP from the internet; M6 later locked it to CloudFront only.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database credentials are managed by AWS Secrets Manager through RDS managed master password.
The application reaches MySQL only from ECS; the public internet cannot connect to the DB.
S3 is private and encrypted, with versioning and lifecycle cleanup.
The diagram is the Milestone 5 snapshot; in Milestone 6 the ALB was restricted to CloudFront's origin-facing prefix list.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public request path: Route 53 → CloudFront → WAF → ALB → ECS.
Highlight that direct ALB access was deliberately blocked after CI/CD health checks were moved to CloudFront.
For authentication, explain managed Cognito user pool + app client and JWT verification in the Express application.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strong presentation point because it came from a real sandbox limitation.
Explain why Route 53 is in the personal account: DNS cannot be disposable.
Mention that the workflow was manually validated end-to-end; the fallback prevents duplicate rebuilds when the first run already succeeded.
If asked about scheduler reliability, say GitHub scheduled workflows are best-effort, so you added a fallback health-based run.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your strongest evidence slide.
Do not run all demos live unless time allows; show one or two and use the rest as verified results.
Good live demo order: /health 200, /protected 401, then valid JWT 200. WAF 403 can be backup because typing encoded query strings is slower.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engineering maturity: problems occurred and you improved the design because of them.
Pick only 3–4 examples verbally depending on time.
A strong answer in Q&amp;A is to describe the symptom, the root cause, and the permanent fix.</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Clearly separate completed work from future work.
Say: “I am not calling future services implemented yet. Tomorrow I start Milestone 7.”
This makes the presentation trustworthy and shows a clear delivery roadmap.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Clearly separate completed work from future work.
Say: “I am not calling future services implemented yet. Tomorrow I start Milestone 7.”
This makes the presentation trustworthy and shows a clear delivery roadmap.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160685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20–30 seconds.
Suggested closing: “The most important result is that this is no longer a collection of AWS resources. It is a platform that can be rebuilt, deployed, secured and validated repeatedly.”
Then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Clearly separate completed work from future work.
Say: “I am not calling future services implemented yet. Tomorrow I start Milestone 7.”
This makes the presentation trustworthy and shows a clear delivery roadmap.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7648388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teaching team and classmates, then open the floor for questions.
The last two backup slides hold exact configuration values and short answers to likely questions.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Use when someone asks for exact CIDRs, task size, scaling, RDS or security configuration.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Q&amp;A slide. Do not read it to the audience.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43000"/>
            <a:ext cx="7772400" cy="86868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E_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7772400" cy="68580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9AD1D4"/>
                </a:solidFill>
              </a:rPr>
              <a:t>LangNation Cloud Platform  ·  Milestones 1–6 progress</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D1D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rtlCol="0"/>
          <a:lstStyle>
            <a:lvl1pPr marL="0" indent="0">
              <a:buNone/>
              <a:defRPr lang="en-US" sz="1400" dirty="0">
                <a:solidFill>
                  <a:schemeClr val="tx2"/>
                </a:solidFill>
              </a:defRPr>
            </a:lvl1pPr>
          </a:lstStyle>
          <a:p>
            <a:pPr marL="0" indent="0">
              <a:buNone/>
            </a:pPr>
            <a:endParaRPr lang="en-US" sz="14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6B7C7F"/>
                </a:solidFill>
              </a:rPr>
              <a:t>LangNation Cloud Platform  ·  Milestones 1–6 progress  ·  Seraj Ahmad Siddiqui</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CKU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rtlCol="0"/>
          <a:lstStyle>
            <a:lvl1pPr marL="0" indent="0">
              <a:buNone/>
              <a:defRPr lang="en-US" sz="1400" dirty="0">
                <a:solidFill>
                  <a:schemeClr val="tx2"/>
                </a:solidFill>
              </a:defRPr>
            </a:lvl1pPr>
          </a:lstStyle>
          <a:p>
            <a:pPr marL="0" indent="0">
              <a:buNone/>
            </a:pPr>
            <a:endParaRPr lang="en-US" sz="14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6B7C7F"/>
                </a:solidFill>
              </a:rPr>
              <a:t>Backup  ·  for Q&amp;A only  ·  LangNation Cloud Platform</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D1D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7.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image" Target="../media/image17.png"/><Relationship Id="rId5" Type="http://schemas.openxmlformats.org/officeDocument/2006/relationships/image" Target="../media/image13.png"/><Relationship Id="rId10" Type="http://schemas.openxmlformats.org/officeDocument/2006/relationships/image" Target="../media/image9.png"/><Relationship Id="rId4" Type="http://schemas.openxmlformats.org/officeDocument/2006/relationships/image" Target="../media/image12.png"/><Relationship Id="rId9" Type="http://schemas.openxmlformats.org/officeDocument/2006/relationships/image" Target="../media/image16.pn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LangNation_Interactive_Architecture_M1-M6_Final_Presentation.html"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9.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7.png"/><Relationship Id="rId7" Type="http://schemas.openxmlformats.org/officeDocument/2006/relationships/image" Target="../media/image11.png"/><Relationship Id="rId12"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5.png"/><Relationship Id="rId11" Type="http://schemas.openxmlformats.org/officeDocument/2006/relationships/image" Target="../media/image4.png"/><Relationship Id="rId5" Type="http://schemas.openxmlformats.org/officeDocument/2006/relationships/image" Target="../media/image14.png"/><Relationship Id="rId10"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36.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github.com/sheikhseraj/langnation-cloud-platform" TargetMode="External"/><Relationship Id="rId7"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32.png"/><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85800"/>
            <a:ext cx="7772400" cy="320040"/>
          </a:xfrm>
          <a:prstGeom prst="rect">
            <a:avLst/>
          </a:prstGeom>
          <a:noFill/>
          <a:ln/>
        </p:spPr>
        <p:txBody>
          <a:bodyPr wrap="square" lIns="0" tIns="0" rIns="0" bIns="0" rtlCol="0" anchor="t"/>
          <a:lstStyle/>
          <a:p>
            <a:pPr marL="0" indent="0">
              <a:buNone/>
            </a:pPr>
            <a:r>
              <a:rPr lang="en-US" sz="1200" b="1" kern="0" spc="300" dirty="0">
                <a:solidFill>
                  <a:srgbClr val="F2A541"/>
                </a:solidFill>
              </a:rPr>
              <a:t>PROGRESS PRESENTATION  ·  MONDAY 19 OCTOBER 2026</a:t>
            </a:r>
            <a:endParaRPr lang="en-US" sz="1200" dirty="0"/>
          </a:p>
        </p:txBody>
      </p:sp>
      <p:sp>
        <p:nvSpPr>
          <p:cNvPr id="3" name="Text 0"/>
          <p:cNvSpPr>
            <a:spLocks noGrp="1"/>
          </p:cNvSpPr>
          <p:nvPr>
            <p:ph type="title" idx="100" hasCustomPrompt="1"/>
          </p:nvPr>
        </p:nvSpPr>
        <p:spPr>
          <a:xfrm>
            <a:off x="548640" y="1143000"/>
            <a:ext cx="7772400" cy="868680"/>
          </a:xfrm>
          <a:prstGeom prst="rect">
            <a:avLst/>
          </a:prstGeom>
          <a:noFill/>
          <a:ln/>
        </p:spPr>
        <p:txBody>
          <a:bodyPr wrap="square" lIns="0" tIns="0" rIns="0" bIns="0" rtlCol="0" anchor="ctr"/>
          <a:lstStyle/>
          <a:p>
            <a:pPr marL="0" indent="0" algn="l">
              <a:buNone/>
            </a:pPr>
            <a:r>
              <a:rPr lang="en-US" sz="4600" b="1" dirty="0">
                <a:solidFill>
                  <a:schemeClr val="bg1"/>
                </a:solidFill>
              </a:rPr>
              <a:t>LangNation Cloud Platform</a:t>
            </a:r>
            <a:endParaRPr lang="en-US" sz="4600" dirty="0"/>
          </a:p>
        </p:txBody>
      </p:sp>
      <p:sp>
        <p:nvSpPr>
          <p:cNvPr id="4" name="Text 2"/>
          <p:cNvSpPr txBox="1"/>
          <p:nvPr/>
        </p:nvSpPr>
        <p:spPr>
          <a:xfrm>
            <a:off x="548640" y="2103120"/>
            <a:ext cx="7772400" cy="457200"/>
          </a:xfrm>
          <a:prstGeom prst="rect">
            <a:avLst/>
          </a:prstGeom>
          <a:noFill/>
          <a:ln/>
        </p:spPr>
        <p:txBody>
          <a:bodyPr wrap="square" lIns="0" tIns="0" rIns="0" bIns="0" rtlCol="0" anchor="t"/>
          <a:lstStyle/>
          <a:p>
            <a:pPr marL="0" indent="0">
              <a:buNone/>
            </a:pPr>
            <a:r>
              <a:rPr lang="en-US" sz="2200" dirty="0">
                <a:solidFill>
                  <a:srgbClr val="9AD1D4"/>
                </a:solidFill>
                <a:latin typeface="+mj-lt" pitchFamily="34" charset="0"/>
                <a:ea typeface="+mj-lt" pitchFamily="34" charset="-122"/>
                <a:cs typeface="+mj-lt" pitchFamily="34" charset="-120"/>
              </a:rPr>
              <a:t>Milestones 1–6  ·  implemented and validated</a:t>
            </a:r>
            <a:endParaRPr lang="en-US" sz="2200" dirty="0"/>
          </a:p>
        </p:txBody>
      </p:sp>
      <p:sp>
        <p:nvSpPr>
          <p:cNvPr id="5" name="Text 3"/>
          <p:cNvSpPr txBox="1"/>
          <p:nvPr/>
        </p:nvSpPr>
        <p:spPr>
          <a:xfrm>
            <a:off x="548640" y="2606040"/>
            <a:ext cx="7772400" cy="365760"/>
          </a:xfrm>
          <a:prstGeom prst="rect">
            <a:avLst/>
          </a:prstGeom>
          <a:noFill/>
          <a:ln/>
        </p:spPr>
        <p:txBody>
          <a:bodyPr wrap="square" lIns="0" tIns="0" rIns="0" bIns="0" rtlCol="0" anchor="t"/>
          <a:lstStyle/>
          <a:p>
            <a:pPr marL="0" indent="0">
              <a:buNone/>
            </a:pPr>
            <a:r>
              <a:rPr lang="en-US" sz="1600" dirty="0">
                <a:solidFill>
                  <a:srgbClr val="D5E7E8"/>
                </a:solidFill>
              </a:rPr>
              <a:t>AWS Cloud Computing with AI Bootcamp</a:t>
            </a:r>
            <a:endParaRPr lang="en-US" sz="1600" dirty="0"/>
          </a:p>
        </p:txBody>
      </p:sp>
      <p:sp>
        <p:nvSpPr>
          <p:cNvPr id="6" name="Text 4"/>
          <p:cNvSpPr txBox="1"/>
          <p:nvPr/>
        </p:nvSpPr>
        <p:spPr>
          <a:xfrm>
            <a:off x="548640" y="3200400"/>
            <a:ext cx="7772400" cy="365760"/>
          </a:xfrm>
          <a:prstGeom prst="rect">
            <a:avLst/>
          </a:prstGeom>
          <a:noFill/>
          <a:ln/>
        </p:spPr>
        <p:txBody>
          <a:bodyPr wrap="square" lIns="0" tIns="0" rIns="0" bIns="0" rtlCol="0" anchor="t"/>
          <a:lstStyle/>
          <a:p>
            <a:pPr marL="0" indent="0">
              <a:buNone/>
            </a:pPr>
            <a:r>
              <a:rPr lang="en-US" sz="1600" i="1" dirty="0">
                <a:solidFill>
                  <a:srgbClr val="FFFFFF"/>
                </a:solidFill>
              </a:rPr>
              <a:t>What I built, why I designed it this way, and how I validated it.</a:t>
            </a:r>
            <a:endParaRPr lang="en-US" sz="1600" dirty="0"/>
          </a:p>
        </p:txBody>
      </p:sp>
      <p:sp>
        <p:nvSpPr>
          <p:cNvPr id="7" name="path chip Route 53"/>
          <p:cNvSpPr/>
          <p:nvPr/>
        </p:nvSpPr>
        <p:spPr>
          <a:xfrm>
            <a:off x="548640" y="3931920"/>
            <a:ext cx="1024128" cy="420624"/>
          </a:xfrm>
          <a:prstGeom prst="roundRect">
            <a:avLst>
              <a:gd name="adj" fmla="val 50000"/>
            </a:avLst>
          </a:prstGeom>
          <a:solidFill>
            <a:srgbClr val="FFFFFF">
              <a:alpha val="12000"/>
            </a:srgbClr>
          </a:solidFill>
          <a:ln w="12700">
            <a:solidFill>
              <a:srgbClr val="9AD1D4"/>
            </a:solidFill>
            <a:prstDash val="solid"/>
          </a:ln>
        </p:spPr>
      </p:sp>
      <p:sp>
        <p:nvSpPr>
          <p:cNvPr id="8" name="Text 6"/>
          <p:cNvSpPr txBox="1"/>
          <p:nvPr/>
        </p:nvSpPr>
        <p:spPr>
          <a:xfrm>
            <a:off x="548640" y="3931920"/>
            <a:ext cx="1024128" cy="420624"/>
          </a:xfrm>
          <a:prstGeom prst="rect">
            <a:avLst/>
          </a:prstGeom>
          <a:noFill/>
          <a:ln/>
        </p:spPr>
        <p:txBody>
          <a:bodyPr wrap="square" lIns="0" tIns="0" rIns="0" bIns="0" rtlCol="0" anchor="ctr"/>
          <a:lstStyle/>
          <a:p>
            <a:pPr marL="0" indent="0" algn="ctr">
              <a:buNone/>
            </a:pPr>
            <a:r>
              <a:rPr lang="en-US" sz="1300" b="1" dirty="0">
                <a:solidFill>
                  <a:srgbClr val="FFFFFF"/>
                </a:solidFill>
              </a:rPr>
              <a:t>Route 53</a:t>
            </a:r>
            <a:endParaRPr lang="en-US" sz="1300" dirty="0"/>
          </a:p>
        </p:txBody>
      </p:sp>
      <p:sp>
        <p:nvSpPr>
          <p:cNvPr id="9" name="connector"/>
          <p:cNvSpPr/>
          <p:nvPr/>
        </p:nvSpPr>
        <p:spPr>
          <a:xfrm>
            <a:off x="1609344" y="4142232"/>
            <a:ext cx="201168" cy="0"/>
          </a:xfrm>
          <a:prstGeom prst="line">
            <a:avLst/>
          </a:prstGeom>
          <a:noFill/>
          <a:ln w="19050">
            <a:solidFill>
              <a:srgbClr val="F2A541"/>
            </a:solidFill>
            <a:prstDash val="solid"/>
            <a:tailEnd type="triangle"/>
          </a:ln>
        </p:spPr>
      </p:sp>
      <p:sp>
        <p:nvSpPr>
          <p:cNvPr id="10" name="path chip CloudFront"/>
          <p:cNvSpPr/>
          <p:nvPr/>
        </p:nvSpPr>
        <p:spPr>
          <a:xfrm>
            <a:off x="1847088" y="3931920"/>
            <a:ext cx="1024128" cy="420624"/>
          </a:xfrm>
          <a:prstGeom prst="roundRect">
            <a:avLst>
              <a:gd name="adj" fmla="val 50000"/>
            </a:avLst>
          </a:prstGeom>
          <a:solidFill>
            <a:srgbClr val="FFFFFF">
              <a:alpha val="12000"/>
            </a:srgbClr>
          </a:solidFill>
          <a:ln w="12700">
            <a:solidFill>
              <a:srgbClr val="9AD1D4"/>
            </a:solidFill>
            <a:prstDash val="solid"/>
          </a:ln>
        </p:spPr>
      </p:sp>
      <p:sp>
        <p:nvSpPr>
          <p:cNvPr id="11" name="Text 9"/>
          <p:cNvSpPr txBox="1"/>
          <p:nvPr/>
        </p:nvSpPr>
        <p:spPr>
          <a:xfrm>
            <a:off x="1847088" y="3931920"/>
            <a:ext cx="1024128" cy="420624"/>
          </a:xfrm>
          <a:prstGeom prst="rect">
            <a:avLst/>
          </a:prstGeom>
          <a:noFill/>
          <a:ln/>
        </p:spPr>
        <p:txBody>
          <a:bodyPr wrap="square" lIns="0" tIns="0" rIns="0" bIns="0" rtlCol="0" anchor="ctr"/>
          <a:lstStyle/>
          <a:p>
            <a:pPr marL="0" indent="0" algn="ctr">
              <a:buNone/>
            </a:pPr>
            <a:r>
              <a:rPr lang="en-US" sz="1300" b="1" dirty="0">
                <a:solidFill>
                  <a:srgbClr val="FFFFFF"/>
                </a:solidFill>
              </a:rPr>
              <a:t>CloudFront</a:t>
            </a:r>
            <a:endParaRPr lang="en-US" sz="1300" dirty="0"/>
          </a:p>
        </p:txBody>
      </p:sp>
      <p:sp>
        <p:nvSpPr>
          <p:cNvPr id="12" name="connector"/>
          <p:cNvSpPr/>
          <p:nvPr/>
        </p:nvSpPr>
        <p:spPr>
          <a:xfrm>
            <a:off x="2907792" y="4142232"/>
            <a:ext cx="201168" cy="0"/>
          </a:xfrm>
          <a:prstGeom prst="line">
            <a:avLst/>
          </a:prstGeom>
          <a:noFill/>
          <a:ln w="19050">
            <a:solidFill>
              <a:srgbClr val="F2A541"/>
            </a:solidFill>
            <a:prstDash val="solid"/>
            <a:tailEnd type="triangle"/>
          </a:ln>
        </p:spPr>
      </p:sp>
      <p:sp>
        <p:nvSpPr>
          <p:cNvPr id="13" name="path chip WAF"/>
          <p:cNvSpPr/>
          <p:nvPr/>
        </p:nvSpPr>
        <p:spPr>
          <a:xfrm>
            <a:off x="3145536" y="3931920"/>
            <a:ext cx="1024128" cy="420624"/>
          </a:xfrm>
          <a:prstGeom prst="roundRect">
            <a:avLst>
              <a:gd name="adj" fmla="val 50000"/>
            </a:avLst>
          </a:prstGeom>
          <a:solidFill>
            <a:srgbClr val="FFFFFF">
              <a:alpha val="12000"/>
            </a:srgbClr>
          </a:solidFill>
          <a:ln w="12700">
            <a:solidFill>
              <a:srgbClr val="9AD1D4"/>
            </a:solidFill>
            <a:prstDash val="solid"/>
          </a:ln>
        </p:spPr>
      </p:sp>
      <p:sp>
        <p:nvSpPr>
          <p:cNvPr id="14" name="Text 12"/>
          <p:cNvSpPr txBox="1"/>
          <p:nvPr/>
        </p:nvSpPr>
        <p:spPr>
          <a:xfrm>
            <a:off x="3145536" y="3931920"/>
            <a:ext cx="1024128" cy="420624"/>
          </a:xfrm>
          <a:prstGeom prst="rect">
            <a:avLst/>
          </a:prstGeom>
          <a:noFill/>
          <a:ln/>
        </p:spPr>
        <p:txBody>
          <a:bodyPr wrap="square" lIns="0" tIns="0" rIns="0" bIns="0" rtlCol="0" anchor="ctr"/>
          <a:lstStyle/>
          <a:p>
            <a:pPr marL="0" indent="0" algn="ctr">
              <a:buNone/>
            </a:pPr>
            <a:r>
              <a:rPr lang="en-US" sz="1300" b="1" dirty="0">
                <a:solidFill>
                  <a:srgbClr val="FFFFFF"/>
                </a:solidFill>
              </a:rPr>
              <a:t>WAF</a:t>
            </a:r>
            <a:endParaRPr lang="en-US" sz="1300" dirty="0"/>
          </a:p>
        </p:txBody>
      </p:sp>
      <p:sp>
        <p:nvSpPr>
          <p:cNvPr id="15" name="connector"/>
          <p:cNvSpPr/>
          <p:nvPr/>
        </p:nvSpPr>
        <p:spPr>
          <a:xfrm>
            <a:off x="4206240" y="4142232"/>
            <a:ext cx="201168" cy="0"/>
          </a:xfrm>
          <a:prstGeom prst="line">
            <a:avLst/>
          </a:prstGeom>
          <a:noFill/>
          <a:ln w="19050">
            <a:solidFill>
              <a:srgbClr val="F2A541"/>
            </a:solidFill>
            <a:prstDash val="solid"/>
            <a:tailEnd type="triangle"/>
          </a:ln>
        </p:spPr>
      </p:sp>
      <p:sp>
        <p:nvSpPr>
          <p:cNvPr id="16" name="path chip ALB"/>
          <p:cNvSpPr/>
          <p:nvPr/>
        </p:nvSpPr>
        <p:spPr>
          <a:xfrm>
            <a:off x="4443984" y="3931920"/>
            <a:ext cx="1024128" cy="420624"/>
          </a:xfrm>
          <a:prstGeom prst="roundRect">
            <a:avLst>
              <a:gd name="adj" fmla="val 50000"/>
            </a:avLst>
          </a:prstGeom>
          <a:solidFill>
            <a:srgbClr val="FFFFFF">
              <a:alpha val="12000"/>
            </a:srgbClr>
          </a:solidFill>
          <a:ln w="12700">
            <a:solidFill>
              <a:srgbClr val="9AD1D4"/>
            </a:solidFill>
            <a:prstDash val="solid"/>
          </a:ln>
        </p:spPr>
      </p:sp>
      <p:sp>
        <p:nvSpPr>
          <p:cNvPr id="17" name="Text 15"/>
          <p:cNvSpPr txBox="1"/>
          <p:nvPr/>
        </p:nvSpPr>
        <p:spPr>
          <a:xfrm>
            <a:off x="4443984" y="3931920"/>
            <a:ext cx="1024128" cy="420624"/>
          </a:xfrm>
          <a:prstGeom prst="rect">
            <a:avLst/>
          </a:prstGeom>
          <a:noFill/>
          <a:ln/>
        </p:spPr>
        <p:txBody>
          <a:bodyPr wrap="square" lIns="0" tIns="0" rIns="0" bIns="0" rtlCol="0" anchor="ctr"/>
          <a:lstStyle/>
          <a:p>
            <a:pPr marL="0" indent="0" algn="ctr">
              <a:buNone/>
            </a:pPr>
            <a:r>
              <a:rPr lang="en-US" sz="1300" b="1" dirty="0">
                <a:solidFill>
                  <a:srgbClr val="FFFFFF"/>
                </a:solidFill>
              </a:rPr>
              <a:t>ALB</a:t>
            </a:r>
            <a:endParaRPr lang="en-US" sz="1300" dirty="0"/>
          </a:p>
        </p:txBody>
      </p:sp>
      <p:sp>
        <p:nvSpPr>
          <p:cNvPr id="18" name="connector"/>
          <p:cNvSpPr/>
          <p:nvPr/>
        </p:nvSpPr>
        <p:spPr>
          <a:xfrm>
            <a:off x="5504688" y="4142232"/>
            <a:ext cx="201168" cy="0"/>
          </a:xfrm>
          <a:prstGeom prst="line">
            <a:avLst/>
          </a:prstGeom>
          <a:noFill/>
          <a:ln w="19050">
            <a:solidFill>
              <a:srgbClr val="F2A541"/>
            </a:solidFill>
            <a:prstDash val="solid"/>
            <a:tailEnd type="triangle"/>
          </a:ln>
        </p:spPr>
      </p:sp>
      <p:sp>
        <p:nvSpPr>
          <p:cNvPr id="19" name="path chip ECS"/>
          <p:cNvSpPr/>
          <p:nvPr/>
        </p:nvSpPr>
        <p:spPr>
          <a:xfrm>
            <a:off x="5742432" y="3931920"/>
            <a:ext cx="1024128" cy="420624"/>
          </a:xfrm>
          <a:prstGeom prst="roundRect">
            <a:avLst>
              <a:gd name="adj" fmla="val 50000"/>
            </a:avLst>
          </a:prstGeom>
          <a:solidFill>
            <a:srgbClr val="FFFFFF">
              <a:alpha val="12000"/>
            </a:srgbClr>
          </a:solidFill>
          <a:ln w="12700">
            <a:solidFill>
              <a:srgbClr val="9AD1D4"/>
            </a:solidFill>
            <a:prstDash val="solid"/>
          </a:ln>
        </p:spPr>
      </p:sp>
      <p:sp>
        <p:nvSpPr>
          <p:cNvPr id="20" name="Text 18"/>
          <p:cNvSpPr txBox="1"/>
          <p:nvPr/>
        </p:nvSpPr>
        <p:spPr>
          <a:xfrm>
            <a:off x="5742432" y="3931920"/>
            <a:ext cx="1024128" cy="420624"/>
          </a:xfrm>
          <a:prstGeom prst="rect">
            <a:avLst/>
          </a:prstGeom>
          <a:noFill/>
          <a:ln/>
        </p:spPr>
        <p:txBody>
          <a:bodyPr wrap="square" lIns="0" tIns="0" rIns="0" bIns="0" rtlCol="0" anchor="ctr"/>
          <a:lstStyle/>
          <a:p>
            <a:pPr marL="0" indent="0" algn="ctr">
              <a:buNone/>
            </a:pPr>
            <a:r>
              <a:rPr lang="en-US" sz="1300" b="1" dirty="0">
                <a:solidFill>
                  <a:srgbClr val="FFFFFF"/>
                </a:solidFill>
              </a:rPr>
              <a:t>ECS</a:t>
            </a:r>
            <a:endParaRPr lang="en-US" sz="1300" dirty="0"/>
          </a:p>
        </p:txBody>
      </p:sp>
      <p:sp>
        <p:nvSpPr>
          <p:cNvPr id="21" name="connector"/>
          <p:cNvSpPr/>
          <p:nvPr/>
        </p:nvSpPr>
        <p:spPr>
          <a:xfrm>
            <a:off x="6803136" y="4142232"/>
            <a:ext cx="201168" cy="0"/>
          </a:xfrm>
          <a:prstGeom prst="line">
            <a:avLst/>
          </a:prstGeom>
          <a:noFill/>
          <a:ln w="19050">
            <a:solidFill>
              <a:srgbClr val="F2A541"/>
            </a:solidFill>
            <a:prstDash val="solid"/>
            <a:tailEnd type="triangle"/>
          </a:ln>
        </p:spPr>
      </p:sp>
      <p:sp>
        <p:nvSpPr>
          <p:cNvPr id="22" name="path chip Cognito"/>
          <p:cNvSpPr/>
          <p:nvPr/>
        </p:nvSpPr>
        <p:spPr>
          <a:xfrm>
            <a:off x="7040880" y="3931920"/>
            <a:ext cx="1024128" cy="420624"/>
          </a:xfrm>
          <a:prstGeom prst="roundRect">
            <a:avLst>
              <a:gd name="adj" fmla="val 50000"/>
            </a:avLst>
          </a:prstGeom>
          <a:solidFill>
            <a:srgbClr val="FFFFFF">
              <a:alpha val="12000"/>
            </a:srgbClr>
          </a:solidFill>
          <a:ln w="12700">
            <a:solidFill>
              <a:srgbClr val="9AD1D4"/>
            </a:solidFill>
            <a:prstDash val="solid"/>
          </a:ln>
        </p:spPr>
      </p:sp>
      <p:sp>
        <p:nvSpPr>
          <p:cNvPr id="23" name="Text 21"/>
          <p:cNvSpPr txBox="1"/>
          <p:nvPr/>
        </p:nvSpPr>
        <p:spPr>
          <a:xfrm>
            <a:off x="7040880" y="3931920"/>
            <a:ext cx="1024128" cy="420624"/>
          </a:xfrm>
          <a:prstGeom prst="rect">
            <a:avLst/>
          </a:prstGeom>
          <a:noFill/>
          <a:ln/>
        </p:spPr>
        <p:txBody>
          <a:bodyPr wrap="square" lIns="0" tIns="0" rIns="0" bIns="0" rtlCol="0" anchor="ctr"/>
          <a:lstStyle/>
          <a:p>
            <a:pPr marL="0" indent="0" algn="ctr">
              <a:buNone/>
            </a:pPr>
            <a:r>
              <a:rPr lang="en-US" sz="1300" b="1" dirty="0">
                <a:solidFill>
                  <a:srgbClr val="FFFFFF"/>
                </a:solidFill>
              </a:rPr>
              <a:t>Cognito</a:t>
            </a:r>
            <a:endParaRPr lang="en-US" sz="1300" dirty="0"/>
          </a:p>
        </p:txBody>
      </p:sp>
      <p:sp>
        <p:nvSpPr>
          <p:cNvPr id="24" name="Text 22"/>
          <p:cNvSpPr txBox="1"/>
          <p:nvPr/>
        </p:nvSpPr>
        <p:spPr>
          <a:xfrm>
            <a:off x="548640" y="4498848"/>
            <a:ext cx="7772400" cy="274320"/>
          </a:xfrm>
          <a:prstGeom prst="rect">
            <a:avLst/>
          </a:prstGeom>
          <a:noFill/>
          <a:ln/>
        </p:spPr>
        <p:txBody>
          <a:bodyPr wrap="square" lIns="0" tIns="0" rIns="0" bIns="0" rtlCol="0" anchor="t"/>
          <a:lstStyle/>
          <a:p>
            <a:pPr marL="0" indent="0">
              <a:buNone/>
            </a:pPr>
            <a:r>
              <a:rPr lang="en-US" sz="1200" dirty="0">
                <a:solidFill>
                  <a:srgbClr val="9AD1D4"/>
                </a:solidFill>
              </a:rPr>
              <a:t>Request path  ·  secure  ·  highly available  ·  automated  ·  containerized  ·  cloud-native</a:t>
            </a:r>
            <a:endParaRPr lang="en-US" sz="1200" dirty="0"/>
          </a:p>
        </p:txBody>
      </p:sp>
      <p:sp>
        <p:nvSpPr>
          <p:cNvPr id="25" name="Text 23"/>
          <p:cNvSpPr txBox="1"/>
          <p:nvPr/>
        </p:nvSpPr>
        <p:spPr>
          <a:xfrm>
            <a:off x="548640" y="5257800"/>
            <a:ext cx="7772400" cy="365760"/>
          </a:xfrm>
          <a:prstGeom prst="rect">
            <a:avLst/>
          </a:prstGeom>
          <a:noFill/>
          <a:ln/>
        </p:spPr>
        <p:txBody>
          <a:bodyPr wrap="square" lIns="0" tIns="0" rIns="0" bIns="0" rtlCol="0" anchor="t"/>
          <a:lstStyle/>
          <a:p>
            <a:pPr marL="0" indent="0">
              <a:buNone/>
            </a:pPr>
            <a:r>
              <a:rPr lang="en-US" sz="1600" b="1" dirty="0">
                <a:solidFill>
                  <a:srgbClr val="FFFFFF"/>
                </a:solidFill>
              </a:rPr>
              <a:t>Presented by SERAJ AHMAD SIDDIQUI </a:t>
            </a:r>
            <a:endParaRPr lang="en-US" sz="1600" dirty="0"/>
          </a:p>
        </p:txBody>
      </p:sp>
      <p:sp>
        <p:nvSpPr>
          <p:cNvPr id="26" name="Text 24"/>
          <p:cNvSpPr txBox="1"/>
          <p:nvPr/>
        </p:nvSpPr>
        <p:spPr>
          <a:xfrm>
            <a:off x="548640" y="5669280"/>
            <a:ext cx="7772400" cy="320040"/>
          </a:xfrm>
          <a:prstGeom prst="rect">
            <a:avLst/>
          </a:prstGeom>
          <a:noFill/>
          <a:ln/>
        </p:spPr>
        <p:txBody>
          <a:bodyPr wrap="square" lIns="0" tIns="0" rIns="0" bIns="0" rtlCol="0" anchor="t"/>
          <a:lstStyle/>
          <a:p>
            <a:pPr marL="0" indent="0">
              <a:buNone/>
            </a:pPr>
            <a:r>
              <a:rPr lang="en-US" sz="1300" dirty="0">
                <a:solidFill>
                  <a:srgbClr val="D5E7E8"/>
                </a:solidFill>
              </a:rPr>
              <a:t>Guidance: Micheal (Theory Teacher)  ·  Rahul (Practical Teacher)  ·  Dominic (HoD)</a:t>
            </a:r>
            <a:endParaRPr lang="en-US" sz="1300" dirty="0"/>
          </a:p>
        </p:txBody>
      </p:sp>
      <p:sp>
        <p:nvSpPr>
          <p:cNvPr id="27" name="stat card"/>
          <p:cNvSpPr/>
          <p:nvPr/>
        </p:nvSpPr>
        <p:spPr>
          <a:xfrm>
            <a:off x="8595360" y="685800"/>
            <a:ext cx="3044952" cy="1097280"/>
          </a:xfrm>
          <a:prstGeom prst="roundRect">
            <a:avLst>
              <a:gd name="adj" fmla="val 8333"/>
            </a:avLst>
          </a:prstGeom>
          <a:solidFill>
            <a:srgbClr val="0E3B43">
              <a:alpha val="85000"/>
            </a:srgbClr>
          </a:solidFill>
          <a:ln w="12700">
            <a:solidFill>
              <a:srgbClr val="2E6A72"/>
            </a:solidFill>
            <a:prstDash val="solid"/>
          </a:ln>
        </p:spPr>
      </p:sp>
      <p:sp>
        <p:nvSpPr>
          <p:cNvPr id="28" name="Text 26"/>
          <p:cNvSpPr txBox="1"/>
          <p:nvPr/>
        </p:nvSpPr>
        <p:spPr>
          <a:xfrm>
            <a:off x="8823960" y="822960"/>
            <a:ext cx="2651760" cy="457200"/>
          </a:xfrm>
          <a:prstGeom prst="rect">
            <a:avLst/>
          </a:prstGeom>
          <a:noFill/>
          <a:ln/>
        </p:spPr>
        <p:txBody>
          <a:bodyPr wrap="square" lIns="0" tIns="0" rIns="0" bIns="0" rtlCol="0" anchor="ctr"/>
          <a:lstStyle/>
          <a:p>
            <a:pPr marL="0" indent="0">
              <a:buNone/>
            </a:pPr>
            <a:r>
              <a:rPr lang="en-US" sz="2400" b="1" dirty="0">
                <a:solidFill>
                  <a:srgbClr val="F2A541"/>
                </a:solidFill>
                <a:latin typeface="+mj-lt" pitchFamily="34" charset="0"/>
                <a:ea typeface="+mj-lt" pitchFamily="34" charset="-122"/>
                <a:cs typeface="+mj-lt" pitchFamily="34" charset="-120"/>
              </a:rPr>
              <a:t>6 milestones</a:t>
            </a:r>
            <a:endParaRPr lang="en-US" sz="2400" dirty="0"/>
          </a:p>
        </p:txBody>
      </p:sp>
      <p:sp>
        <p:nvSpPr>
          <p:cNvPr id="29" name="Text 27"/>
          <p:cNvSpPr txBox="1"/>
          <p:nvPr/>
        </p:nvSpPr>
        <p:spPr>
          <a:xfrm>
            <a:off x="8823960" y="1289304"/>
            <a:ext cx="2651760" cy="411480"/>
          </a:xfrm>
          <a:prstGeom prst="rect">
            <a:avLst/>
          </a:prstGeom>
          <a:noFill/>
          <a:ln/>
        </p:spPr>
        <p:txBody>
          <a:bodyPr wrap="square" lIns="0" tIns="0" rIns="0" bIns="0" rtlCol="0" anchor="t"/>
          <a:lstStyle/>
          <a:p>
            <a:pPr marL="0" indent="0">
              <a:buNone/>
            </a:pPr>
            <a:r>
              <a:rPr lang="en-US" sz="1200" dirty="0">
                <a:solidFill>
                  <a:srgbClr val="D5E7E8"/>
                </a:solidFill>
              </a:rPr>
              <a:t>implemented and validated</a:t>
            </a:r>
            <a:endParaRPr lang="en-US" sz="1200" dirty="0"/>
          </a:p>
        </p:txBody>
      </p:sp>
      <p:sp>
        <p:nvSpPr>
          <p:cNvPr id="30" name="stat card"/>
          <p:cNvSpPr/>
          <p:nvPr/>
        </p:nvSpPr>
        <p:spPr>
          <a:xfrm>
            <a:off x="8595360" y="1965960"/>
            <a:ext cx="3044952" cy="1097280"/>
          </a:xfrm>
          <a:prstGeom prst="roundRect">
            <a:avLst>
              <a:gd name="adj" fmla="val 8333"/>
            </a:avLst>
          </a:prstGeom>
          <a:solidFill>
            <a:srgbClr val="0E3B43">
              <a:alpha val="85000"/>
            </a:srgbClr>
          </a:solidFill>
          <a:ln w="12700">
            <a:solidFill>
              <a:srgbClr val="2E6A72"/>
            </a:solidFill>
            <a:prstDash val="solid"/>
          </a:ln>
        </p:spPr>
      </p:sp>
      <p:sp>
        <p:nvSpPr>
          <p:cNvPr id="31" name="Text 29"/>
          <p:cNvSpPr txBox="1"/>
          <p:nvPr/>
        </p:nvSpPr>
        <p:spPr>
          <a:xfrm>
            <a:off x="8823960" y="2103120"/>
            <a:ext cx="2651760" cy="457200"/>
          </a:xfrm>
          <a:prstGeom prst="rect">
            <a:avLst/>
          </a:prstGeom>
          <a:noFill/>
          <a:ln/>
        </p:spPr>
        <p:txBody>
          <a:bodyPr wrap="square" lIns="0" tIns="0" rIns="0" bIns="0" rtlCol="0" anchor="ctr"/>
          <a:lstStyle/>
          <a:p>
            <a:pPr marL="0" indent="0">
              <a:buNone/>
            </a:pPr>
            <a:r>
              <a:rPr lang="en-US" sz="2400" b="1" dirty="0">
                <a:solidFill>
                  <a:srgbClr val="F2A541"/>
                </a:solidFill>
                <a:latin typeface="+mj-lt" pitchFamily="34" charset="0"/>
                <a:ea typeface="+mj-lt" pitchFamily="34" charset="-122"/>
                <a:cs typeface="+mj-lt" pitchFamily="34" charset="-120"/>
              </a:rPr>
              <a:t>2 AZs</a:t>
            </a:r>
            <a:endParaRPr lang="en-US" sz="2400" dirty="0"/>
          </a:p>
        </p:txBody>
      </p:sp>
      <p:sp>
        <p:nvSpPr>
          <p:cNvPr id="32" name="Text 30"/>
          <p:cNvSpPr txBox="1"/>
          <p:nvPr/>
        </p:nvSpPr>
        <p:spPr>
          <a:xfrm>
            <a:off x="8823960" y="2569464"/>
            <a:ext cx="2651760" cy="411480"/>
          </a:xfrm>
          <a:prstGeom prst="rect">
            <a:avLst/>
          </a:prstGeom>
          <a:noFill/>
          <a:ln/>
        </p:spPr>
        <p:txBody>
          <a:bodyPr wrap="square" lIns="0" tIns="0" rIns="0" bIns="0" rtlCol="0" anchor="t"/>
          <a:lstStyle/>
          <a:p>
            <a:pPr marL="0" indent="0">
              <a:buNone/>
            </a:pPr>
            <a:r>
              <a:rPr lang="en-US" sz="1200" dirty="0">
                <a:solidFill>
                  <a:srgbClr val="D5E7E8"/>
                </a:solidFill>
              </a:rPr>
              <a:t>multi-AZ application + data layer</a:t>
            </a:r>
            <a:endParaRPr lang="en-US" sz="1200" dirty="0"/>
          </a:p>
        </p:txBody>
      </p:sp>
      <p:sp>
        <p:nvSpPr>
          <p:cNvPr id="33" name="stat card"/>
          <p:cNvSpPr/>
          <p:nvPr/>
        </p:nvSpPr>
        <p:spPr>
          <a:xfrm>
            <a:off x="8595360" y="3246120"/>
            <a:ext cx="3044952" cy="1097280"/>
          </a:xfrm>
          <a:prstGeom prst="roundRect">
            <a:avLst>
              <a:gd name="adj" fmla="val 8333"/>
            </a:avLst>
          </a:prstGeom>
          <a:solidFill>
            <a:srgbClr val="0E3B43">
              <a:alpha val="85000"/>
            </a:srgbClr>
          </a:solidFill>
          <a:ln w="12700">
            <a:solidFill>
              <a:srgbClr val="2E6A72"/>
            </a:solidFill>
            <a:prstDash val="solid"/>
          </a:ln>
        </p:spPr>
      </p:sp>
      <p:sp>
        <p:nvSpPr>
          <p:cNvPr id="34" name="Text 32"/>
          <p:cNvSpPr txBox="1"/>
          <p:nvPr/>
        </p:nvSpPr>
        <p:spPr>
          <a:xfrm>
            <a:off x="8823960" y="3383280"/>
            <a:ext cx="2651760" cy="457200"/>
          </a:xfrm>
          <a:prstGeom prst="rect">
            <a:avLst/>
          </a:prstGeom>
          <a:noFill/>
          <a:ln/>
        </p:spPr>
        <p:txBody>
          <a:bodyPr wrap="square" lIns="0" tIns="0" rIns="0" bIns="0" rtlCol="0" anchor="ctr"/>
          <a:lstStyle/>
          <a:p>
            <a:pPr marL="0" indent="0">
              <a:buNone/>
            </a:pPr>
            <a:r>
              <a:rPr lang="en-US" sz="2400" b="1" dirty="0">
                <a:solidFill>
                  <a:srgbClr val="F2A541"/>
                </a:solidFill>
                <a:latin typeface="+mj-lt" pitchFamily="34" charset="0"/>
                <a:ea typeface="+mj-lt" pitchFamily="34" charset="-122"/>
                <a:cs typeface="+mj-lt" pitchFamily="34" charset="-120"/>
              </a:rPr>
              <a:t>Auto recovery</a:t>
            </a:r>
            <a:endParaRPr lang="en-US" sz="2400" dirty="0"/>
          </a:p>
        </p:txBody>
      </p:sp>
      <p:sp>
        <p:nvSpPr>
          <p:cNvPr id="35" name="Text 33"/>
          <p:cNvSpPr txBox="1"/>
          <p:nvPr/>
        </p:nvSpPr>
        <p:spPr>
          <a:xfrm>
            <a:off x="8823960" y="3849624"/>
            <a:ext cx="2651760" cy="411480"/>
          </a:xfrm>
          <a:prstGeom prst="rect">
            <a:avLst/>
          </a:prstGeom>
          <a:noFill/>
          <a:ln/>
        </p:spPr>
        <p:txBody>
          <a:bodyPr wrap="square" lIns="0" tIns="0" rIns="0" bIns="0" rtlCol="0" anchor="t"/>
          <a:lstStyle/>
          <a:p>
            <a:pPr marL="0" indent="0">
              <a:buNone/>
            </a:pPr>
            <a:r>
              <a:rPr lang="en-US" sz="1200" dirty="0">
                <a:solidFill>
                  <a:srgbClr val="D5E7E8"/>
                </a:solidFill>
              </a:rPr>
              <a:t>morning rebuild after nightly cleanup + DNS sync</a:t>
            </a:r>
            <a:endParaRPr lang="en-US" sz="1200" dirty="0"/>
          </a:p>
        </p:txBody>
      </p:sp>
      <p:sp>
        <p:nvSpPr>
          <p:cNvPr id="36" name="stat card"/>
          <p:cNvSpPr/>
          <p:nvPr/>
        </p:nvSpPr>
        <p:spPr>
          <a:xfrm>
            <a:off x="8595360" y="4526280"/>
            <a:ext cx="3044952" cy="1097280"/>
          </a:xfrm>
          <a:prstGeom prst="roundRect">
            <a:avLst>
              <a:gd name="adj" fmla="val 8333"/>
            </a:avLst>
          </a:prstGeom>
          <a:solidFill>
            <a:srgbClr val="0E3B43">
              <a:alpha val="85000"/>
            </a:srgbClr>
          </a:solidFill>
          <a:ln w="12700">
            <a:solidFill>
              <a:srgbClr val="2E6A72"/>
            </a:solidFill>
            <a:prstDash val="solid"/>
          </a:ln>
        </p:spPr>
      </p:sp>
      <p:sp>
        <p:nvSpPr>
          <p:cNvPr id="37" name="Text 35"/>
          <p:cNvSpPr txBox="1"/>
          <p:nvPr/>
        </p:nvSpPr>
        <p:spPr>
          <a:xfrm>
            <a:off x="8823960" y="4663440"/>
            <a:ext cx="2651760" cy="457200"/>
          </a:xfrm>
          <a:prstGeom prst="rect">
            <a:avLst/>
          </a:prstGeom>
          <a:noFill/>
          <a:ln/>
        </p:spPr>
        <p:txBody>
          <a:bodyPr wrap="square" lIns="0" tIns="0" rIns="0" bIns="0" rtlCol="0" anchor="ctr"/>
          <a:lstStyle/>
          <a:p>
            <a:pPr marL="0" indent="0">
              <a:buNone/>
            </a:pPr>
            <a:r>
              <a:rPr lang="en-US" sz="2400" b="1" dirty="0">
                <a:solidFill>
                  <a:srgbClr val="FFFFFF"/>
                </a:solidFill>
                <a:latin typeface="+mj-lt" pitchFamily="34" charset="0"/>
                <a:ea typeface="+mj-lt" pitchFamily="34" charset="-122"/>
                <a:cs typeface="+mj-lt" pitchFamily="34" charset="-120"/>
              </a:rPr>
              <a:t>Live endpoint</a:t>
            </a:r>
            <a:endParaRPr lang="en-US" sz="2400" dirty="0"/>
          </a:p>
        </p:txBody>
      </p:sp>
      <p:sp>
        <p:nvSpPr>
          <p:cNvPr id="38" name="Text 36"/>
          <p:cNvSpPr txBox="1"/>
          <p:nvPr/>
        </p:nvSpPr>
        <p:spPr>
          <a:xfrm>
            <a:off x="8823960" y="5129784"/>
            <a:ext cx="2651760" cy="411480"/>
          </a:xfrm>
          <a:prstGeom prst="rect">
            <a:avLst/>
          </a:prstGeom>
          <a:noFill/>
          <a:ln/>
        </p:spPr>
        <p:txBody>
          <a:bodyPr wrap="square" lIns="0" tIns="0" rIns="0" bIns="0" rtlCol="0" anchor="t"/>
          <a:lstStyle/>
          <a:p>
            <a:pPr marL="0" indent="0">
              <a:buNone/>
            </a:pPr>
            <a:r>
              <a:rPr lang="en-US" sz="1200" b="1" dirty="0">
                <a:solidFill>
                  <a:srgbClr val="F2A541"/>
                </a:solidFill>
              </a:rPr>
              <a:t>cloud.langnation.com/de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The challenge and the design goal</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Real LangNation use case: students learn, teachers manage materials, admins operate the platform — on a repeatable, secure AWS foundation.</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Overview</a:t>
            </a:r>
            <a:endParaRPr lang="en-US" sz="1200" dirty="0"/>
          </a:p>
        </p:txBody>
      </p:sp>
      <p:sp>
        <p:nvSpPr>
          <p:cNvPr id="6" name="card"/>
          <p:cNvSpPr/>
          <p:nvPr/>
        </p:nvSpPr>
        <p:spPr>
          <a:xfrm>
            <a:off x="548640" y="1481328"/>
            <a:ext cx="5120640" cy="1371600"/>
          </a:xfrm>
          <a:prstGeom prst="roundRect">
            <a:avLst>
              <a:gd name="adj" fmla="val 6667"/>
            </a:avLst>
          </a:prstGeom>
          <a:solidFill>
            <a:srgbClr val="FFFFFF"/>
          </a:solidFill>
          <a:ln/>
          <a:effectLst>
            <a:outerShdw blurRad="114300" dist="25400" dir="5400000" algn="bl" rotWithShape="0">
              <a:srgbClr val="0E3B43">
                <a:alpha val="13000"/>
              </a:srgbClr>
            </a:outerShdw>
          </a:effectLst>
        </p:spPr>
      </p:sp>
      <p:sp>
        <p:nvSpPr>
          <p:cNvPr id="7" name="Sandbox resets circle"/>
          <p:cNvSpPr/>
          <p:nvPr/>
        </p:nvSpPr>
        <p:spPr>
          <a:xfrm>
            <a:off x="777240" y="1828800"/>
            <a:ext cx="658368" cy="658368"/>
          </a:xfrm>
          <a:prstGeom prst="ellipse">
            <a:avLst/>
          </a:prstGeom>
          <a:solidFill>
            <a:schemeClr val="accent2"/>
          </a:solidFill>
          <a:ln/>
        </p:spPr>
      </p:sp>
      <p:pic>
        <p:nvPicPr>
          <p:cNvPr id="8" name="Sandbox resets" descr="preencoded.png"/>
          <p:cNvPicPr>
            <a:picLocks noChangeAspect="1"/>
          </p:cNvPicPr>
          <p:nvPr/>
        </p:nvPicPr>
        <p:blipFill>
          <a:blip r:embed="rId3"/>
          <a:stretch>
            <a:fillRect/>
          </a:stretch>
        </p:blipFill>
        <p:spPr>
          <a:xfrm>
            <a:off x="935248" y="1986808"/>
            <a:ext cx="342351" cy="342351"/>
          </a:xfrm>
          <a:prstGeom prst="rect">
            <a:avLst/>
          </a:prstGeom>
        </p:spPr>
      </p:pic>
      <p:sp>
        <p:nvSpPr>
          <p:cNvPr id="9" name="Text 6"/>
          <p:cNvSpPr txBox="1"/>
          <p:nvPr/>
        </p:nvSpPr>
        <p:spPr>
          <a:xfrm>
            <a:off x="1691640" y="1591056"/>
            <a:ext cx="3749040" cy="228600"/>
          </a:xfrm>
          <a:prstGeom prst="rect">
            <a:avLst/>
          </a:prstGeom>
          <a:noFill/>
          <a:ln/>
        </p:spPr>
        <p:txBody>
          <a:bodyPr wrap="square" lIns="0" tIns="0" rIns="0" bIns="0" rtlCol="0" anchor="t"/>
          <a:lstStyle/>
          <a:p>
            <a:pPr marL="0" indent="0">
              <a:buNone/>
            </a:pPr>
            <a:r>
              <a:rPr lang="en-US" sz="1100" b="1" kern="0" spc="200" dirty="0">
                <a:solidFill>
                  <a:srgbClr val="6B7C7F"/>
                </a:solidFill>
              </a:rPr>
              <a:t>CHALLENGE 1</a:t>
            </a:r>
            <a:endParaRPr lang="en-US" sz="1100" dirty="0"/>
          </a:p>
        </p:txBody>
      </p:sp>
      <p:sp>
        <p:nvSpPr>
          <p:cNvPr id="10" name="Text 7"/>
          <p:cNvSpPr txBox="1"/>
          <p:nvPr/>
        </p:nvSpPr>
        <p:spPr>
          <a:xfrm>
            <a:off x="1691640" y="1792224"/>
            <a:ext cx="3749040" cy="310896"/>
          </a:xfrm>
          <a:prstGeom prst="rect">
            <a:avLst/>
          </a:prstGeom>
          <a:noFill/>
          <a:ln/>
        </p:spPr>
        <p:txBody>
          <a:bodyPr wrap="square" lIns="0" tIns="0" rIns="0" bIns="0" rtlCol="0" anchor="t"/>
          <a:lstStyle/>
          <a:p>
            <a:pPr marL="0" indent="0">
              <a:buNone/>
            </a:pPr>
            <a:r>
              <a:rPr lang="en-US" sz="1700" b="1" dirty="0">
                <a:solidFill>
                  <a:srgbClr val="132226"/>
                </a:solidFill>
                <a:latin typeface="+mj-lt" pitchFamily="34" charset="0"/>
                <a:ea typeface="+mj-lt" pitchFamily="34" charset="-122"/>
                <a:cs typeface="+mj-lt" pitchFamily="34" charset="-120"/>
              </a:rPr>
              <a:t>Sandbox resets</a:t>
            </a:r>
            <a:endParaRPr lang="en-US" sz="1700" dirty="0"/>
          </a:p>
        </p:txBody>
      </p:sp>
      <p:sp>
        <p:nvSpPr>
          <p:cNvPr id="11" name="Text 8"/>
          <p:cNvSpPr txBox="1"/>
          <p:nvPr/>
        </p:nvSpPr>
        <p:spPr>
          <a:xfrm>
            <a:off x="1691640" y="2121408"/>
            <a:ext cx="3794760" cy="685800"/>
          </a:xfrm>
          <a:prstGeom prst="rect">
            <a:avLst/>
          </a:prstGeom>
          <a:noFill/>
          <a:ln/>
        </p:spPr>
        <p:txBody>
          <a:bodyPr wrap="square" lIns="0" tIns="0" rIns="0" bIns="0" rtlCol="0" anchor="t"/>
          <a:lstStyle/>
          <a:p>
            <a:pPr marL="0" indent="0">
              <a:buNone/>
            </a:pPr>
            <a:r>
              <a:rPr lang="en-US" sz="1400" dirty="0">
                <a:solidFill>
                  <a:srgbClr val="4A5B5E"/>
                </a:solidFill>
              </a:rPr>
              <a:t>AWS resources are cleaned regularly, so the environment must be reproducible instead of manually rebuilt.</a:t>
            </a:r>
            <a:endParaRPr lang="en-US" sz="1400" dirty="0"/>
          </a:p>
        </p:txBody>
      </p:sp>
      <p:sp>
        <p:nvSpPr>
          <p:cNvPr id="12" name="card"/>
          <p:cNvSpPr/>
          <p:nvPr/>
        </p:nvSpPr>
        <p:spPr>
          <a:xfrm>
            <a:off x="548640" y="3035808"/>
            <a:ext cx="5120640" cy="1371600"/>
          </a:xfrm>
          <a:prstGeom prst="roundRect">
            <a:avLst>
              <a:gd name="adj" fmla="val 6667"/>
            </a:avLst>
          </a:prstGeom>
          <a:solidFill>
            <a:srgbClr val="FFFFFF"/>
          </a:solidFill>
          <a:ln/>
          <a:effectLst>
            <a:outerShdw blurRad="114300" dist="25400" dir="5400000" algn="bl" rotWithShape="0">
              <a:srgbClr val="0E3B43">
                <a:alpha val="13000"/>
              </a:srgbClr>
            </a:outerShdw>
          </a:effectLst>
        </p:spPr>
      </p:sp>
      <p:sp>
        <p:nvSpPr>
          <p:cNvPr id="13" name="Security circle"/>
          <p:cNvSpPr/>
          <p:nvPr/>
        </p:nvSpPr>
        <p:spPr>
          <a:xfrm>
            <a:off x="777240" y="3383280"/>
            <a:ext cx="658368" cy="658368"/>
          </a:xfrm>
          <a:prstGeom prst="ellipse">
            <a:avLst/>
          </a:prstGeom>
          <a:solidFill>
            <a:schemeClr val="accent4"/>
          </a:solidFill>
          <a:ln/>
        </p:spPr>
      </p:sp>
      <p:pic>
        <p:nvPicPr>
          <p:cNvPr id="14" name="Security" descr="preencoded.png"/>
          <p:cNvPicPr>
            <a:picLocks noChangeAspect="1"/>
          </p:cNvPicPr>
          <p:nvPr/>
        </p:nvPicPr>
        <p:blipFill>
          <a:blip r:embed="rId4"/>
          <a:stretch>
            <a:fillRect/>
          </a:stretch>
        </p:blipFill>
        <p:spPr>
          <a:xfrm>
            <a:off x="935248" y="3541288"/>
            <a:ext cx="342351" cy="342351"/>
          </a:xfrm>
          <a:prstGeom prst="rect">
            <a:avLst/>
          </a:prstGeom>
        </p:spPr>
      </p:pic>
      <p:sp>
        <p:nvSpPr>
          <p:cNvPr id="15" name="Text 11"/>
          <p:cNvSpPr txBox="1"/>
          <p:nvPr/>
        </p:nvSpPr>
        <p:spPr>
          <a:xfrm>
            <a:off x="1691640" y="3145536"/>
            <a:ext cx="3749040" cy="228600"/>
          </a:xfrm>
          <a:prstGeom prst="rect">
            <a:avLst/>
          </a:prstGeom>
          <a:noFill/>
          <a:ln/>
        </p:spPr>
        <p:txBody>
          <a:bodyPr wrap="square" lIns="0" tIns="0" rIns="0" bIns="0" rtlCol="0" anchor="t"/>
          <a:lstStyle/>
          <a:p>
            <a:pPr marL="0" indent="0">
              <a:buNone/>
            </a:pPr>
            <a:r>
              <a:rPr lang="en-US" sz="1100" b="1" kern="0" spc="200" dirty="0">
                <a:solidFill>
                  <a:srgbClr val="6B7C7F"/>
                </a:solidFill>
              </a:rPr>
              <a:t>CHALLENGE 2</a:t>
            </a:r>
            <a:endParaRPr lang="en-US" sz="1100" dirty="0"/>
          </a:p>
        </p:txBody>
      </p:sp>
      <p:sp>
        <p:nvSpPr>
          <p:cNvPr id="16" name="Text 12"/>
          <p:cNvSpPr txBox="1"/>
          <p:nvPr/>
        </p:nvSpPr>
        <p:spPr>
          <a:xfrm>
            <a:off x="1691640" y="3346704"/>
            <a:ext cx="3749040" cy="310896"/>
          </a:xfrm>
          <a:prstGeom prst="rect">
            <a:avLst/>
          </a:prstGeom>
          <a:noFill/>
          <a:ln/>
        </p:spPr>
        <p:txBody>
          <a:bodyPr wrap="square" lIns="0" tIns="0" rIns="0" bIns="0" rtlCol="0" anchor="t"/>
          <a:lstStyle/>
          <a:p>
            <a:pPr marL="0" indent="0">
              <a:buNone/>
            </a:pPr>
            <a:r>
              <a:rPr lang="en-US" sz="1700" b="1" dirty="0">
                <a:solidFill>
                  <a:srgbClr val="132226"/>
                </a:solidFill>
                <a:latin typeface="+mj-lt" pitchFamily="34" charset="0"/>
                <a:ea typeface="+mj-lt" pitchFamily="34" charset="-122"/>
                <a:cs typeface="+mj-lt" pitchFamily="34" charset="-120"/>
              </a:rPr>
              <a:t>Security</a:t>
            </a:r>
            <a:endParaRPr lang="en-US" sz="1700" dirty="0"/>
          </a:p>
        </p:txBody>
      </p:sp>
      <p:sp>
        <p:nvSpPr>
          <p:cNvPr id="17" name="Text 13"/>
          <p:cNvSpPr txBox="1"/>
          <p:nvPr/>
        </p:nvSpPr>
        <p:spPr>
          <a:xfrm>
            <a:off x="1691640" y="3675888"/>
            <a:ext cx="3794760" cy="685800"/>
          </a:xfrm>
          <a:prstGeom prst="rect">
            <a:avLst/>
          </a:prstGeom>
          <a:noFill/>
          <a:ln/>
        </p:spPr>
        <p:txBody>
          <a:bodyPr wrap="square" lIns="0" tIns="0" rIns="0" bIns="0" rtlCol="0" anchor="t"/>
          <a:lstStyle/>
          <a:p>
            <a:pPr marL="0" indent="0">
              <a:buNone/>
            </a:pPr>
            <a:r>
              <a:rPr lang="en-US" sz="1400" dirty="0">
                <a:solidFill>
                  <a:srgbClr val="4A5B5E"/>
                </a:solidFill>
              </a:rPr>
              <a:t>No direct access to ECS or RDS; edge traffic passes CloudFront + WAF; authentication uses Cognito JWTs.</a:t>
            </a:r>
            <a:endParaRPr lang="en-US" sz="1400" dirty="0"/>
          </a:p>
        </p:txBody>
      </p:sp>
      <p:sp>
        <p:nvSpPr>
          <p:cNvPr id="18" name="card"/>
          <p:cNvSpPr/>
          <p:nvPr/>
        </p:nvSpPr>
        <p:spPr>
          <a:xfrm>
            <a:off x="548640" y="4590288"/>
            <a:ext cx="5120640" cy="1371600"/>
          </a:xfrm>
          <a:prstGeom prst="roundRect">
            <a:avLst>
              <a:gd name="adj" fmla="val 6667"/>
            </a:avLst>
          </a:prstGeom>
          <a:solidFill>
            <a:srgbClr val="FFFFFF"/>
          </a:solidFill>
          <a:ln/>
          <a:effectLst>
            <a:outerShdw blurRad="114300" dist="25400" dir="5400000" algn="bl" rotWithShape="0">
              <a:srgbClr val="0E3B43">
                <a:alpha val="13000"/>
              </a:srgbClr>
            </a:outerShdw>
          </a:effectLst>
        </p:spPr>
      </p:sp>
      <p:sp>
        <p:nvSpPr>
          <p:cNvPr id="19" name="Availability circle"/>
          <p:cNvSpPr/>
          <p:nvPr/>
        </p:nvSpPr>
        <p:spPr>
          <a:xfrm>
            <a:off x="777240" y="4937760"/>
            <a:ext cx="658368" cy="658368"/>
          </a:xfrm>
          <a:prstGeom prst="ellipse">
            <a:avLst/>
          </a:prstGeom>
          <a:solidFill>
            <a:schemeClr val="accent1"/>
          </a:solidFill>
          <a:ln/>
        </p:spPr>
      </p:sp>
      <p:pic>
        <p:nvPicPr>
          <p:cNvPr id="20" name="Availability" descr="preencoded.png"/>
          <p:cNvPicPr>
            <a:picLocks noChangeAspect="1"/>
          </p:cNvPicPr>
          <p:nvPr/>
        </p:nvPicPr>
        <p:blipFill>
          <a:blip r:embed="rId5"/>
          <a:stretch>
            <a:fillRect/>
          </a:stretch>
        </p:blipFill>
        <p:spPr>
          <a:xfrm>
            <a:off x="935248" y="5095768"/>
            <a:ext cx="342351" cy="342351"/>
          </a:xfrm>
          <a:prstGeom prst="rect">
            <a:avLst/>
          </a:prstGeom>
        </p:spPr>
      </p:pic>
      <p:sp>
        <p:nvSpPr>
          <p:cNvPr id="21" name="Text 16"/>
          <p:cNvSpPr txBox="1"/>
          <p:nvPr/>
        </p:nvSpPr>
        <p:spPr>
          <a:xfrm>
            <a:off x="1691640" y="4700016"/>
            <a:ext cx="3749040" cy="228600"/>
          </a:xfrm>
          <a:prstGeom prst="rect">
            <a:avLst/>
          </a:prstGeom>
          <a:noFill/>
          <a:ln/>
        </p:spPr>
        <p:txBody>
          <a:bodyPr wrap="square" lIns="0" tIns="0" rIns="0" bIns="0" rtlCol="0" anchor="t"/>
          <a:lstStyle/>
          <a:p>
            <a:pPr marL="0" indent="0">
              <a:buNone/>
            </a:pPr>
            <a:r>
              <a:rPr lang="en-US" sz="1100" b="1" kern="0" spc="200" dirty="0">
                <a:solidFill>
                  <a:srgbClr val="6B7C7F"/>
                </a:solidFill>
              </a:rPr>
              <a:t>CHALLENGE 3</a:t>
            </a:r>
            <a:endParaRPr lang="en-US" sz="1100" dirty="0"/>
          </a:p>
        </p:txBody>
      </p:sp>
      <p:sp>
        <p:nvSpPr>
          <p:cNvPr id="22" name="Text 17"/>
          <p:cNvSpPr txBox="1"/>
          <p:nvPr/>
        </p:nvSpPr>
        <p:spPr>
          <a:xfrm>
            <a:off x="1691640" y="4901184"/>
            <a:ext cx="3749040" cy="310896"/>
          </a:xfrm>
          <a:prstGeom prst="rect">
            <a:avLst/>
          </a:prstGeom>
          <a:noFill/>
          <a:ln/>
        </p:spPr>
        <p:txBody>
          <a:bodyPr wrap="square" lIns="0" tIns="0" rIns="0" bIns="0" rtlCol="0" anchor="t"/>
          <a:lstStyle/>
          <a:p>
            <a:pPr marL="0" indent="0">
              <a:buNone/>
            </a:pPr>
            <a:r>
              <a:rPr lang="en-US" sz="1700" b="1" dirty="0">
                <a:solidFill>
                  <a:srgbClr val="132226"/>
                </a:solidFill>
                <a:latin typeface="+mj-lt" pitchFamily="34" charset="0"/>
                <a:ea typeface="+mj-lt" pitchFamily="34" charset="-122"/>
                <a:cs typeface="+mj-lt" pitchFamily="34" charset="-120"/>
              </a:rPr>
              <a:t>Availability</a:t>
            </a:r>
            <a:endParaRPr lang="en-US" sz="1700" dirty="0"/>
          </a:p>
        </p:txBody>
      </p:sp>
      <p:sp>
        <p:nvSpPr>
          <p:cNvPr id="23" name="Text 18"/>
          <p:cNvSpPr txBox="1"/>
          <p:nvPr/>
        </p:nvSpPr>
        <p:spPr>
          <a:xfrm>
            <a:off x="1691640" y="5230368"/>
            <a:ext cx="3794760" cy="685800"/>
          </a:xfrm>
          <a:prstGeom prst="rect">
            <a:avLst/>
          </a:prstGeom>
          <a:noFill/>
          <a:ln/>
        </p:spPr>
        <p:txBody>
          <a:bodyPr wrap="square" lIns="0" tIns="0" rIns="0" bIns="0" rtlCol="0" anchor="t"/>
          <a:lstStyle/>
          <a:p>
            <a:pPr marL="0" indent="0">
              <a:buNone/>
            </a:pPr>
            <a:r>
              <a:rPr lang="en-US" sz="1400" dirty="0">
                <a:solidFill>
                  <a:srgbClr val="4A5B5E"/>
                </a:solidFill>
              </a:rPr>
              <a:t>Application tasks, networking and database components span two Availability Zones.</a:t>
            </a:r>
            <a:endParaRPr lang="en-US" sz="1400" dirty="0"/>
          </a:p>
        </p:txBody>
      </p:sp>
      <p:sp>
        <p:nvSpPr>
          <p:cNvPr id="24" name="chevron"/>
          <p:cNvSpPr/>
          <p:nvPr/>
        </p:nvSpPr>
        <p:spPr>
          <a:xfrm>
            <a:off x="5833872" y="3493008"/>
            <a:ext cx="347472" cy="548640"/>
          </a:xfrm>
          <a:prstGeom prst="chevron">
            <a:avLst/>
          </a:prstGeom>
          <a:solidFill>
            <a:schemeClr val="accent2"/>
          </a:solidFill>
          <a:ln/>
        </p:spPr>
      </p:sp>
      <p:sp>
        <p:nvSpPr>
          <p:cNvPr id="25" name="card"/>
          <p:cNvSpPr/>
          <p:nvPr/>
        </p:nvSpPr>
        <p:spPr>
          <a:xfrm>
            <a:off x="6355080" y="1481328"/>
            <a:ext cx="5285232" cy="4526280"/>
          </a:xfrm>
          <a:prstGeom prst="roundRect">
            <a:avLst>
              <a:gd name="adj" fmla="val 2020"/>
            </a:avLst>
          </a:prstGeom>
          <a:solidFill>
            <a:srgbClr val="EEF4F3"/>
          </a:solidFill>
          <a:ln/>
        </p:spPr>
      </p:sp>
      <p:sp>
        <p:nvSpPr>
          <p:cNvPr id="26" name="Text 21"/>
          <p:cNvSpPr txBox="1"/>
          <p:nvPr/>
        </p:nvSpPr>
        <p:spPr>
          <a:xfrm>
            <a:off x="6629400" y="1645920"/>
            <a:ext cx="4754880" cy="365760"/>
          </a:xfrm>
          <a:prstGeom prst="rect">
            <a:avLst/>
          </a:prstGeom>
          <a:noFill/>
          <a:ln/>
        </p:spPr>
        <p:txBody>
          <a:bodyPr wrap="square" lIns="0" tIns="0" rIns="0" bIns="0" rtlCol="0" anchor="t"/>
          <a:lstStyle/>
          <a:p>
            <a:pPr marL="0" indent="0">
              <a:buNone/>
            </a:pPr>
            <a:r>
              <a:rPr lang="en-US" sz="1800" b="1" dirty="0">
                <a:solidFill>
                  <a:srgbClr val="0E3B43"/>
                </a:solidFill>
                <a:latin typeface="+mj-lt" pitchFamily="34" charset="0"/>
                <a:ea typeface="+mj-lt" pitchFamily="34" charset="-122"/>
                <a:cs typeface="+mj-lt" pitchFamily="34" charset="-120"/>
              </a:rPr>
              <a:t>Target platform</a:t>
            </a:r>
            <a:endParaRPr lang="en-US" sz="1800" dirty="0"/>
          </a:p>
        </p:txBody>
      </p:sp>
      <p:sp>
        <p:nvSpPr>
          <p:cNvPr id="27" name="check circle"/>
          <p:cNvSpPr/>
          <p:nvPr/>
        </p:nvSpPr>
        <p:spPr>
          <a:xfrm>
            <a:off x="6629400" y="2185416"/>
            <a:ext cx="329184" cy="329184"/>
          </a:xfrm>
          <a:prstGeom prst="ellipse">
            <a:avLst/>
          </a:prstGeom>
          <a:solidFill>
            <a:schemeClr val="accent3"/>
          </a:solidFill>
          <a:ln/>
        </p:spPr>
      </p:sp>
      <p:pic>
        <p:nvPicPr>
          <p:cNvPr id="28" name="check" descr="preencoded.png"/>
          <p:cNvPicPr>
            <a:picLocks noChangeAspect="1"/>
          </p:cNvPicPr>
          <p:nvPr/>
        </p:nvPicPr>
        <p:blipFill>
          <a:blip r:embed="rId6"/>
          <a:stretch>
            <a:fillRect/>
          </a:stretch>
        </p:blipFill>
        <p:spPr>
          <a:xfrm>
            <a:off x="6708404" y="2264420"/>
            <a:ext cx="171176" cy="171176"/>
          </a:xfrm>
          <a:prstGeom prst="rect">
            <a:avLst/>
          </a:prstGeom>
        </p:spPr>
      </p:pic>
      <p:sp>
        <p:nvSpPr>
          <p:cNvPr id="29" name="Text 23"/>
          <p:cNvSpPr txBox="1"/>
          <p:nvPr/>
        </p:nvSpPr>
        <p:spPr>
          <a:xfrm>
            <a:off x="7132320" y="2148840"/>
            <a:ext cx="2103120" cy="457200"/>
          </a:xfrm>
          <a:prstGeom prst="rect">
            <a:avLst/>
          </a:prstGeom>
          <a:noFill/>
          <a:ln/>
        </p:spPr>
        <p:txBody>
          <a:bodyPr wrap="square" lIns="0" tIns="0" rIns="0" bIns="0" rtlCol="0" anchor="ctr"/>
          <a:lstStyle/>
          <a:p>
            <a:pPr marL="0" indent="0">
              <a:buNone/>
            </a:pPr>
            <a:r>
              <a:rPr lang="en-US" sz="1500" b="1" dirty="0">
                <a:solidFill>
                  <a:srgbClr val="132226"/>
                </a:solidFill>
              </a:rPr>
              <a:t>Reproducible</a:t>
            </a:r>
            <a:endParaRPr lang="en-US" sz="1500" dirty="0"/>
          </a:p>
        </p:txBody>
      </p:sp>
      <p:sp>
        <p:nvSpPr>
          <p:cNvPr id="30" name="Text 24"/>
          <p:cNvSpPr txBox="1"/>
          <p:nvPr/>
        </p:nvSpPr>
        <p:spPr>
          <a:xfrm>
            <a:off x="9281160" y="2103120"/>
            <a:ext cx="2194560" cy="548640"/>
          </a:xfrm>
          <a:prstGeom prst="rect">
            <a:avLst/>
          </a:prstGeom>
          <a:noFill/>
          <a:ln/>
        </p:spPr>
        <p:txBody>
          <a:bodyPr wrap="square" lIns="0" tIns="0" rIns="0" bIns="0" rtlCol="0" anchor="ctr"/>
          <a:lstStyle/>
          <a:p>
            <a:pPr marL="0" indent="0">
              <a:buNone/>
            </a:pPr>
            <a:r>
              <a:rPr lang="en-US" sz="1400" dirty="0">
                <a:solidFill>
                  <a:srgbClr val="4A5B5E"/>
                </a:solidFill>
              </a:rPr>
              <a:t>Terraform / HCP Terraform owns infrastructure</a:t>
            </a:r>
            <a:endParaRPr lang="en-US" sz="1400" dirty="0"/>
          </a:p>
        </p:txBody>
      </p:sp>
      <p:sp>
        <p:nvSpPr>
          <p:cNvPr id="31" name="check circle"/>
          <p:cNvSpPr/>
          <p:nvPr/>
        </p:nvSpPr>
        <p:spPr>
          <a:xfrm>
            <a:off x="6629400" y="2807208"/>
            <a:ext cx="329184" cy="329184"/>
          </a:xfrm>
          <a:prstGeom prst="ellipse">
            <a:avLst/>
          </a:prstGeom>
          <a:solidFill>
            <a:schemeClr val="accent3"/>
          </a:solidFill>
          <a:ln/>
        </p:spPr>
      </p:sp>
      <p:pic>
        <p:nvPicPr>
          <p:cNvPr id="32" name="check" descr="preencoded.png"/>
          <p:cNvPicPr>
            <a:picLocks noChangeAspect="1"/>
          </p:cNvPicPr>
          <p:nvPr/>
        </p:nvPicPr>
        <p:blipFill>
          <a:blip r:embed="rId6"/>
          <a:stretch>
            <a:fillRect/>
          </a:stretch>
        </p:blipFill>
        <p:spPr>
          <a:xfrm>
            <a:off x="6708404" y="2886212"/>
            <a:ext cx="171176" cy="171176"/>
          </a:xfrm>
          <a:prstGeom prst="rect">
            <a:avLst/>
          </a:prstGeom>
        </p:spPr>
      </p:pic>
      <p:sp>
        <p:nvSpPr>
          <p:cNvPr id="33" name="Text 26"/>
          <p:cNvSpPr txBox="1"/>
          <p:nvPr/>
        </p:nvSpPr>
        <p:spPr>
          <a:xfrm>
            <a:off x="7132320" y="2770632"/>
            <a:ext cx="2103120" cy="457200"/>
          </a:xfrm>
          <a:prstGeom prst="rect">
            <a:avLst/>
          </a:prstGeom>
          <a:noFill/>
          <a:ln/>
        </p:spPr>
        <p:txBody>
          <a:bodyPr wrap="square" lIns="0" tIns="0" rIns="0" bIns="0" rtlCol="0" anchor="ctr"/>
          <a:lstStyle/>
          <a:p>
            <a:pPr marL="0" indent="0">
              <a:buNone/>
            </a:pPr>
            <a:r>
              <a:rPr lang="en-US" sz="1500" b="1" dirty="0">
                <a:solidFill>
                  <a:srgbClr val="132226"/>
                </a:solidFill>
              </a:rPr>
              <a:t>Deployable</a:t>
            </a:r>
            <a:endParaRPr lang="en-US" sz="1500" dirty="0"/>
          </a:p>
        </p:txBody>
      </p:sp>
      <p:sp>
        <p:nvSpPr>
          <p:cNvPr id="34" name="Text 27"/>
          <p:cNvSpPr txBox="1"/>
          <p:nvPr/>
        </p:nvSpPr>
        <p:spPr>
          <a:xfrm>
            <a:off x="9281160" y="2724912"/>
            <a:ext cx="2194560" cy="548640"/>
          </a:xfrm>
          <a:prstGeom prst="rect">
            <a:avLst/>
          </a:prstGeom>
          <a:noFill/>
          <a:ln/>
        </p:spPr>
        <p:txBody>
          <a:bodyPr wrap="square" lIns="0" tIns="0" rIns="0" bIns="0" rtlCol="0" anchor="ctr"/>
          <a:lstStyle/>
          <a:p>
            <a:pPr marL="0" indent="0">
              <a:buNone/>
            </a:pPr>
            <a:r>
              <a:rPr lang="en-US" sz="1400" dirty="0">
                <a:solidFill>
                  <a:srgbClr val="4A5B5E"/>
                </a:solidFill>
              </a:rPr>
              <a:t>GitHub Actions builds and releases the application</a:t>
            </a:r>
            <a:endParaRPr lang="en-US" sz="1400" dirty="0"/>
          </a:p>
        </p:txBody>
      </p:sp>
      <p:sp>
        <p:nvSpPr>
          <p:cNvPr id="35" name="check circle"/>
          <p:cNvSpPr/>
          <p:nvPr/>
        </p:nvSpPr>
        <p:spPr>
          <a:xfrm>
            <a:off x="6629400" y="3429000"/>
            <a:ext cx="329184" cy="329184"/>
          </a:xfrm>
          <a:prstGeom prst="ellipse">
            <a:avLst/>
          </a:prstGeom>
          <a:solidFill>
            <a:schemeClr val="accent3"/>
          </a:solidFill>
          <a:ln/>
        </p:spPr>
      </p:sp>
      <p:pic>
        <p:nvPicPr>
          <p:cNvPr id="36" name="check" descr="preencoded.png"/>
          <p:cNvPicPr>
            <a:picLocks noChangeAspect="1"/>
          </p:cNvPicPr>
          <p:nvPr/>
        </p:nvPicPr>
        <p:blipFill>
          <a:blip r:embed="rId6"/>
          <a:stretch>
            <a:fillRect/>
          </a:stretch>
        </p:blipFill>
        <p:spPr>
          <a:xfrm>
            <a:off x="6708404" y="3508004"/>
            <a:ext cx="171176" cy="171176"/>
          </a:xfrm>
          <a:prstGeom prst="rect">
            <a:avLst/>
          </a:prstGeom>
        </p:spPr>
      </p:pic>
      <p:sp>
        <p:nvSpPr>
          <p:cNvPr id="37" name="Text 29"/>
          <p:cNvSpPr txBox="1"/>
          <p:nvPr/>
        </p:nvSpPr>
        <p:spPr>
          <a:xfrm>
            <a:off x="7132320" y="3392424"/>
            <a:ext cx="2103120" cy="457200"/>
          </a:xfrm>
          <a:prstGeom prst="rect">
            <a:avLst/>
          </a:prstGeom>
          <a:noFill/>
          <a:ln/>
        </p:spPr>
        <p:txBody>
          <a:bodyPr wrap="square" lIns="0" tIns="0" rIns="0" bIns="0" rtlCol="0" anchor="ctr"/>
          <a:lstStyle/>
          <a:p>
            <a:pPr marL="0" indent="0">
              <a:buNone/>
            </a:pPr>
            <a:r>
              <a:rPr lang="en-US" sz="1500" b="1" dirty="0">
                <a:solidFill>
                  <a:srgbClr val="132226"/>
                </a:solidFill>
              </a:rPr>
              <a:t>Private by default</a:t>
            </a:r>
            <a:endParaRPr lang="en-US" sz="1500" dirty="0"/>
          </a:p>
        </p:txBody>
      </p:sp>
      <p:sp>
        <p:nvSpPr>
          <p:cNvPr id="38" name="Text 30"/>
          <p:cNvSpPr txBox="1"/>
          <p:nvPr/>
        </p:nvSpPr>
        <p:spPr>
          <a:xfrm>
            <a:off x="9281160" y="3346704"/>
            <a:ext cx="2194560" cy="548640"/>
          </a:xfrm>
          <a:prstGeom prst="rect">
            <a:avLst/>
          </a:prstGeom>
          <a:noFill/>
          <a:ln/>
        </p:spPr>
        <p:txBody>
          <a:bodyPr wrap="square" lIns="0" tIns="0" rIns="0" bIns="0" rtlCol="0" anchor="ctr"/>
          <a:lstStyle/>
          <a:p>
            <a:pPr marL="0" indent="0">
              <a:buNone/>
            </a:pPr>
            <a:r>
              <a:rPr lang="en-US" sz="1400" dirty="0">
                <a:solidFill>
                  <a:srgbClr val="4A5B5E"/>
                </a:solidFill>
              </a:rPr>
              <a:t>ECS and RDS stay in private subnets</a:t>
            </a:r>
            <a:endParaRPr lang="en-US" sz="1400" dirty="0"/>
          </a:p>
        </p:txBody>
      </p:sp>
      <p:sp>
        <p:nvSpPr>
          <p:cNvPr id="39" name="check circle"/>
          <p:cNvSpPr/>
          <p:nvPr/>
        </p:nvSpPr>
        <p:spPr>
          <a:xfrm>
            <a:off x="6629400" y="4050792"/>
            <a:ext cx="329184" cy="329184"/>
          </a:xfrm>
          <a:prstGeom prst="ellipse">
            <a:avLst/>
          </a:prstGeom>
          <a:solidFill>
            <a:schemeClr val="accent3"/>
          </a:solidFill>
          <a:ln/>
        </p:spPr>
      </p:sp>
      <p:pic>
        <p:nvPicPr>
          <p:cNvPr id="40" name="check" descr="preencoded.png"/>
          <p:cNvPicPr>
            <a:picLocks noChangeAspect="1"/>
          </p:cNvPicPr>
          <p:nvPr/>
        </p:nvPicPr>
        <p:blipFill>
          <a:blip r:embed="rId6"/>
          <a:stretch>
            <a:fillRect/>
          </a:stretch>
        </p:blipFill>
        <p:spPr>
          <a:xfrm>
            <a:off x="6708404" y="4129796"/>
            <a:ext cx="171176" cy="171176"/>
          </a:xfrm>
          <a:prstGeom prst="rect">
            <a:avLst/>
          </a:prstGeom>
        </p:spPr>
      </p:pic>
      <p:sp>
        <p:nvSpPr>
          <p:cNvPr id="41" name="Text 32"/>
          <p:cNvSpPr txBox="1"/>
          <p:nvPr/>
        </p:nvSpPr>
        <p:spPr>
          <a:xfrm>
            <a:off x="7132320" y="4014216"/>
            <a:ext cx="2103120" cy="457200"/>
          </a:xfrm>
          <a:prstGeom prst="rect">
            <a:avLst/>
          </a:prstGeom>
          <a:noFill/>
          <a:ln/>
        </p:spPr>
        <p:txBody>
          <a:bodyPr wrap="square" lIns="0" tIns="0" rIns="0" bIns="0" rtlCol="0" anchor="ctr"/>
          <a:lstStyle/>
          <a:p>
            <a:pPr marL="0" indent="0">
              <a:buNone/>
            </a:pPr>
            <a:r>
              <a:rPr lang="en-US" sz="1500" b="1" dirty="0">
                <a:solidFill>
                  <a:srgbClr val="132226"/>
                </a:solidFill>
              </a:rPr>
              <a:t>Protected at the edge</a:t>
            </a:r>
            <a:endParaRPr lang="en-US" sz="1500" dirty="0"/>
          </a:p>
        </p:txBody>
      </p:sp>
      <p:sp>
        <p:nvSpPr>
          <p:cNvPr id="42" name="Text 33"/>
          <p:cNvSpPr txBox="1"/>
          <p:nvPr/>
        </p:nvSpPr>
        <p:spPr>
          <a:xfrm>
            <a:off x="9281160" y="3968496"/>
            <a:ext cx="2194560" cy="548640"/>
          </a:xfrm>
          <a:prstGeom prst="rect">
            <a:avLst/>
          </a:prstGeom>
          <a:noFill/>
          <a:ln/>
        </p:spPr>
        <p:txBody>
          <a:bodyPr wrap="square" lIns="0" tIns="0" rIns="0" bIns="0" rtlCol="0" anchor="ctr"/>
          <a:lstStyle/>
          <a:p>
            <a:pPr marL="0" indent="0">
              <a:buNone/>
            </a:pPr>
            <a:r>
              <a:rPr lang="en-US" sz="1400" dirty="0">
                <a:solidFill>
                  <a:srgbClr val="4A5B5E"/>
                </a:solidFill>
              </a:rPr>
              <a:t>HTTPS + CloudFront + WAF</a:t>
            </a:r>
            <a:endParaRPr lang="en-US" sz="1400" dirty="0"/>
          </a:p>
        </p:txBody>
      </p:sp>
      <p:sp>
        <p:nvSpPr>
          <p:cNvPr id="43" name="check circle"/>
          <p:cNvSpPr/>
          <p:nvPr/>
        </p:nvSpPr>
        <p:spPr>
          <a:xfrm>
            <a:off x="6629400" y="4672584"/>
            <a:ext cx="329184" cy="329184"/>
          </a:xfrm>
          <a:prstGeom prst="ellipse">
            <a:avLst/>
          </a:prstGeom>
          <a:solidFill>
            <a:schemeClr val="accent3"/>
          </a:solidFill>
          <a:ln/>
        </p:spPr>
      </p:sp>
      <p:pic>
        <p:nvPicPr>
          <p:cNvPr id="44" name="check" descr="preencoded.png"/>
          <p:cNvPicPr>
            <a:picLocks noChangeAspect="1"/>
          </p:cNvPicPr>
          <p:nvPr/>
        </p:nvPicPr>
        <p:blipFill>
          <a:blip r:embed="rId6"/>
          <a:stretch>
            <a:fillRect/>
          </a:stretch>
        </p:blipFill>
        <p:spPr>
          <a:xfrm>
            <a:off x="6708404" y="4751588"/>
            <a:ext cx="171176" cy="171176"/>
          </a:xfrm>
          <a:prstGeom prst="rect">
            <a:avLst/>
          </a:prstGeom>
        </p:spPr>
      </p:pic>
      <p:sp>
        <p:nvSpPr>
          <p:cNvPr id="45" name="Text 35"/>
          <p:cNvSpPr txBox="1"/>
          <p:nvPr/>
        </p:nvSpPr>
        <p:spPr>
          <a:xfrm>
            <a:off x="7132320" y="4636008"/>
            <a:ext cx="2103120" cy="457200"/>
          </a:xfrm>
          <a:prstGeom prst="rect">
            <a:avLst/>
          </a:prstGeom>
          <a:noFill/>
          <a:ln/>
        </p:spPr>
        <p:txBody>
          <a:bodyPr wrap="square" lIns="0" tIns="0" rIns="0" bIns="0" rtlCol="0" anchor="ctr"/>
          <a:lstStyle/>
          <a:p>
            <a:pPr marL="0" indent="0">
              <a:buNone/>
            </a:pPr>
            <a:r>
              <a:rPr lang="en-US" sz="1500" b="1" dirty="0">
                <a:solidFill>
                  <a:srgbClr val="132226"/>
                </a:solidFill>
              </a:rPr>
              <a:t>Authenticated</a:t>
            </a:r>
            <a:endParaRPr lang="en-US" sz="1500" dirty="0"/>
          </a:p>
        </p:txBody>
      </p:sp>
      <p:sp>
        <p:nvSpPr>
          <p:cNvPr id="46" name="Text 36"/>
          <p:cNvSpPr txBox="1"/>
          <p:nvPr/>
        </p:nvSpPr>
        <p:spPr>
          <a:xfrm>
            <a:off x="9281160" y="4590288"/>
            <a:ext cx="2194560" cy="548640"/>
          </a:xfrm>
          <a:prstGeom prst="rect">
            <a:avLst/>
          </a:prstGeom>
          <a:noFill/>
          <a:ln/>
        </p:spPr>
        <p:txBody>
          <a:bodyPr wrap="square" lIns="0" tIns="0" rIns="0" bIns="0" rtlCol="0" anchor="ctr"/>
          <a:lstStyle/>
          <a:p>
            <a:pPr marL="0" indent="0">
              <a:buNone/>
            </a:pPr>
            <a:r>
              <a:rPr lang="en-US" sz="1400" dirty="0">
                <a:solidFill>
                  <a:srgbClr val="4A5B5E"/>
                </a:solidFill>
              </a:rPr>
              <a:t>Cognito access tokens protect API routes</a:t>
            </a:r>
            <a:endParaRPr lang="en-US" sz="1400" dirty="0"/>
          </a:p>
        </p:txBody>
      </p:sp>
      <p:sp>
        <p:nvSpPr>
          <p:cNvPr id="47" name="check circle"/>
          <p:cNvSpPr/>
          <p:nvPr/>
        </p:nvSpPr>
        <p:spPr>
          <a:xfrm>
            <a:off x="6629400" y="5294376"/>
            <a:ext cx="329184" cy="329184"/>
          </a:xfrm>
          <a:prstGeom prst="ellipse">
            <a:avLst/>
          </a:prstGeom>
          <a:solidFill>
            <a:schemeClr val="accent3"/>
          </a:solidFill>
          <a:ln/>
        </p:spPr>
      </p:sp>
      <p:pic>
        <p:nvPicPr>
          <p:cNvPr id="48" name="check" descr="preencoded.png"/>
          <p:cNvPicPr>
            <a:picLocks noChangeAspect="1"/>
          </p:cNvPicPr>
          <p:nvPr/>
        </p:nvPicPr>
        <p:blipFill>
          <a:blip r:embed="rId6"/>
          <a:stretch>
            <a:fillRect/>
          </a:stretch>
        </p:blipFill>
        <p:spPr>
          <a:xfrm>
            <a:off x="6708404" y="5373380"/>
            <a:ext cx="171176" cy="171176"/>
          </a:xfrm>
          <a:prstGeom prst="rect">
            <a:avLst/>
          </a:prstGeom>
        </p:spPr>
      </p:pic>
      <p:sp>
        <p:nvSpPr>
          <p:cNvPr id="49" name="Text 38"/>
          <p:cNvSpPr txBox="1"/>
          <p:nvPr/>
        </p:nvSpPr>
        <p:spPr>
          <a:xfrm>
            <a:off x="7132320" y="5257800"/>
            <a:ext cx="2103120" cy="457200"/>
          </a:xfrm>
          <a:prstGeom prst="rect">
            <a:avLst/>
          </a:prstGeom>
          <a:noFill/>
          <a:ln/>
        </p:spPr>
        <p:txBody>
          <a:bodyPr wrap="square" lIns="0" tIns="0" rIns="0" bIns="0" rtlCol="0" anchor="ctr"/>
          <a:lstStyle/>
          <a:p>
            <a:pPr marL="0" indent="0">
              <a:buNone/>
            </a:pPr>
            <a:r>
              <a:rPr lang="en-US" sz="1500" b="1" dirty="0">
                <a:solidFill>
                  <a:srgbClr val="132226"/>
                </a:solidFill>
              </a:rPr>
              <a:t>Recoverable</a:t>
            </a:r>
            <a:endParaRPr lang="en-US" sz="1500" dirty="0"/>
          </a:p>
        </p:txBody>
      </p:sp>
      <p:sp>
        <p:nvSpPr>
          <p:cNvPr id="50" name="Text 39"/>
          <p:cNvSpPr txBox="1"/>
          <p:nvPr/>
        </p:nvSpPr>
        <p:spPr>
          <a:xfrm>
            <a:off x="9281160" y="5212080"/>
            <a:ext cx="2194560" cy="548640"/>
          </a:xfrm>
          <a:prstGeom prst="rect">
            <a:avLst/>
          </a:prstGeom>
          <a:noFill/>
          <a:ln/>
        </p:spPr>
        <p:txBody>
          <a:bodyPr wrap="square" lIns="0" tIns="0" rIns="0" bIns="0" rtlCol="0" anchor="ctr"/>
          <a:lstStyle/>
          <a:p>
            <a:pPr marL="0" indent="0">
              <a:buNone/>
            </a:pPr>
            <a:r>
              <a:rPr lang="en-US" sz="1400" dirty="0">
                <a:solidFill>
                  <a:srgbClr val="4A5B5E"/>
                </a:solidFill>
              </a:rPr>
              <a:t>Morning automation rebuilds infra, app and DNS</a:t>
            </a:r>
            <a:endParaRPr lang="en-US" sz="1400" dirty="0"/>
          </a:p>
        </p:txBody>
      </p:sp>
      <p:sp>
        <p:nvSpPr>
          <p:cNvPr id="51"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Master architecture — Milestones 1–6</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Everything completed so far, on one map. Use it as the guide for the rest of the presentation.</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M1–M6</a:t>
            </a:r>
            <a:endParaRPr lang="en-US" sz="1200" dirty="0"/>
          </a:p>
        </p:txBody>
      </p:sp>
      <p:sp>
        <p:nvSpPr>
          <p:cNvPr id="6" name="Text 4"/>
          <p:cNvSpPr txBox="1"/>
          <p:nvPr/>
        </p:nvSpPr>
        <p:spPr>
          <a:xfrm>
            <a:off x="548640" y="1463040"/>
            <a:ext cx="1005840" cy="566928"/>
          </a:xfrm>
          <a:prstGeom prst="rect">
            <a:avLst/>
          </a:prstGeom>
          <a:noFill/>
          <a:ln/>
        </p:spPr>
        <p:txBody>
          <a:bodyPr wrap="square" lIns="0" tIns="0" rIns="0" bIns="0" rtlCol="0" anchor="ctr"/>
          <a:lstStyle/>
          <a:p>
            <a:pPr marL="0" indent="0">
              <a:buNone/>
            </a:pPr>
            <a:r>
              <a:rPr lang="en-US" sz="1000" b="1" kern="0" spc="100" dirty="0">
                <a:solidFill>
                  <a:srgbClr val="0E7C7B"/>
                </a:solidFill>
              </a:rPr>
              <a:t>PUBLIC ENTRY</a:t>
            </a:r>
            <a:endParaRPr lang="en-US" sz="1000" dirty="0"/>
          </a:p>
        </p:txBody>
      </p:sp>
      <p:sp>
        <p:nvSpPr>
          <p:cNvPr id="7" name="chip Users"/>
          <p:cNvSpPr/>
          <p:nvPr/>
        </p:nvSpPr>
        <p:spPr>
          <a:xfrm>
            <a:off x="1600200" y="1463040"/>
            <a:ext cx="1005840" cy="566928"/>
          </a:xfrm>
          <a:prstGeom prst="roundRect">
            <a:avLst>
              <a:gd name="adj" fmla="val 12903"/>
            </a:avLst>
          </a:prstGeom>
          <a:solidFill>
            <a:srgbClr val="E7EAF2"/>
          </a:solidFill>
          <a:ln/>
        </p:spPr>
      </p:sp>
      <p:sp>
        <p:nvSpPr>
          <p:cNvPr id="8" name="Text 6"/>
          <p:cNvSpPr txBox="1"/>
          <p:nvPr/>
        </p:nvSpPr>
        <p:spPr>
          <a:xfrm>
            <a:off x="1673352" y="1463040"/>
            <a:ext cx="859536" cy="566928"/>
          </a:xfrm>
          <a:prstGeom prst="rect">
            <a:avLst/>
          </a:prstGeom>
          <a:noFill/>
          <a:ln/>
        </p:spPr>
        <p:txBody>
          <a:bodyPr wrap="square" lIns="0" tIns="0" rIns="0" bIns="0" rtlCol="0" anchor="ctr"/>
          <a:lstStyle/>
          <a:p>
            <a:pPr marL="0" indent="0" algn="ctr">
              <a:buNone/>
            </a:pPr>
            <a:r>
              <a:rPr lang="en-US" sz="1300" b="1" dirty="0">
                <a:solidFill>
                  <a:srgbClr val="132226"/>
                </a:solidFill>
              </a:rPr>
              <a:t>Users</a:t>
            </a:r>
            <a:endParaRPr lang="en-US" sz="1400" dirty="0"/>
          </a:p>
        </p:txBody>
      </p:sp>
      <p:sp>
        <p:nvSpPr>
          <p:cNvPr id="9" name="chip Route 53"/>
          <p:cNvSpPr/>
          <p:nvPr/>
        </p:nvSpPr>
        <p:spPr>
          <a:xfrm>
            <a:off x="2880360" y="1463040"/>
            <a:ext cx="1691640" cy="566928"/>
          </a:xfrm>
          <a:prstGeom prst="roundRect">
            <a:avLst>
              <a:gd name="adj" fmla="val 12903"/>
            </a:avLst>
          </a:prstGeom>
          <a:solidFill>
            <a:srgbClr val="FDF0DC"/>
          </a:solidFill>
          <a:ln/>
        </p:spPr>
      </p:sp>
      <p:sp>
        <p:nvSpPr>
          <p:cNvPr id="10" name="Text 8"/>
          <p:cNvSpPr txBox="1"/>
          <p:nvPr/>
        </p:nvSpPr>
        <p:spPr>
          <a:xfrm>
            <a:off x="2953512" y="1463040"/>
            <a:ext cx="1545336" cy="566928"/>
          </a:xfrm>
          <a:prstGeom prst="rect">
            <a:avLst/>
          </a:prstGeom>
          <a:noFill/>
          <a:ln/>
        </p:spPr>
        <p:txBody>
          <a:bodyPr wrap="square" lIns="0" tIns="0" rIns="0" bIns="0" rtlCol="0" anchor="ctr"/>
          <a:lstStyle/>
          <a:p>
            <a:pPr marL="0" indent="0" algn="ctr">
              <a:buNone/>
            </a:pPr>
            <a:r>
              <a:rPr lang="en-US" sz="1300" b="1" dirty="0">
                <a:solidFill>
                  <a:srgbClr val="132226"/>
                </a:solidFill>
              </a:rPr>
              <a:t>Route 53</a:t>
            </a:r>
            <a:endParaRPr lang="en-US" sz="1400" dirty="0"/>
          </a:p>
          <a:p>
            <a:pPr marL="0" indent="0" algn="ctr">
              <a:buNone/>
            </a:pPr>
            <a:r>
              <a:rPr lang="en-US" sz="1100" dirty="0">
                <a:solidFill>
                  <a:srgbClr val="4A5B5E"/>
                </a:solidFill>
              </a:rPr>
              <a:t>personal AWS</a:t>
            </a:r>
            <a:endParaRPr lang="en-US" sz="1400" dirty="0"/>
          </a:p>
        </p:txBody>
      </p:sp>
      <p:sp>
        <p:nvSpPr>
          <p:cNvPr id="11" name="chip CloudFront + WAF + ACM"/>
          <p:cNvSpPr/>
          <p:nvPr/>
        </p:nvSpPr>
        <p:spPr>
          <a:xfrm>
            <a:off x="4846320" y="1463040"/>
            <a:ext cx="2331720" cy="566928"/>
          </a:xfrm>
          <a:prstGeom prst="roundRect">
            <a:avLst>
              <a:gd name="adj" fmla="val 12903"/>
            </a:avLst>
          </a:prstGeom>
          <a:solidFill>
            <a:srgbClr val="FBE4DE"/>
          </a:solidFill>
          <a:ln/>
        </p:spPr>
      </p:sp>
      <p:sp>
        <p:nvSpPr>
          <p:cNvPr id="12" name="Text 10"/>
          <p:cNvSpPr txBox="1"/>
          <p:nvPr/>
        </p:nvSpPr>
        <p:spPr>
          <a:xfrm>
            <a:off x="4919472" y="1463040"/>
            <a:ext cx="2185416" cy="566928"/>
          </a:xfrm>
          <a:prstGeom prst="rect">
            <a:avLst/>
          </a:prstGeom>
          <a:noFill/>
          <a:ln/>
        </p:spPr>
        <p:txBody>
          <a:bodyPr wrap="square" lIns="0" tIns="0" rIns="0" bIns="0" rtlCol="0" anchor="ctr"/>
          <a:lstStyle/>
          <a:p>
            <a:pPr marL="0" indent="0" algn="ctr">
              <a:buNone/>
            </a:pPr>
            <a:r>
              <a:rPr lang="en-US" sz="1300" b="1" dirty="0">
                <a:solidFill>
                  <a:srgbClr val="132226"/>
                </a:solidFill>
              </a:rPr>
              <a:t>CloudFront + WAF + ACM</a:t>
            </a:r>
            <a:endParaRPr lang="en-US" sz="1400" dirty="0"/>
          </a:p>
          <a:p>
            <a:pPr marL="0" indent="0" algn="ctr">
              <a:buNone/>
            </a:pPr>
            <a:r>
              <a:rPr lang="en-US" sz="1100" dirty="0">
                <a:solidFill>
                  <a:srgbClr val="4A5B5E"/>
                </a:solidFill>
              </a:rPr>
              <a:t>HTTPS edge · sandbox</a:t>
            </a:r>
            <a:endParaRPr lang="en-US" sz="1400" dirty="0"/>
          </a:p>
        </p:txBody>
      </p:sp>
      <p:sp>
        <p:nvSpPr>
          <p:cNvPr id="13" name="chip ALB"/>
          <p:cNvSpPr/>
          <p:nvPr/>
        </p:nvSpPr>
        <p:spPr>
          <a:xfrm>
            <a:off x="7452360" y="1463040"/>
            <a:ext cx="1234440" cy="566928"/>
          </a:xfrm>
          <a:prstGeom prst="roundRect">
            <a:avLst>
              <a:gd name="adj" fmla="val 12903"/>
            </a:avLst>
          </a:prstGeom>
          <a:solidFill>
            <a:srgbClr val="E8F5F6"/>
          </a:solidFill>
          <a:ln/>
        </p:spPr>
      </p:sp>
      <p:sp>
        <p:nvSpPr>
          <p:cNvPr id="14" name="Text 12"/>
          <p:cNvSpPr txBox="1"/>
          <p:nvPr/>
        </p:nvSpPr>
        <p:spPr>
          <a:xfrm>
            <a:off x="7525512" y="1463040"/>
            <a:ext cx="1088136" cy="566928"/>
          </a:xfrm>
          <a:prstGeom prst="rect">
            <a:avLst/>
          </a:prstGeom>
          <a:noFill/>
          <a:ln/>
        </p:spPr>
        <p:txBody>
          <a:bodyPr wrap="square" lIns="0" tIns="0" rIns="0" bIns="0" rtlCol="0" anchor="ctr"/>
          <a:lstStyle/>
          <a:p>
            <a:pPr marL="0" indent="0" algn="ctr">
              <a:buNone/>
            </a:pPr>
            <a:r>
              <a:rPr lang="en-US" sz="1300" b="1" dirty="0">
                <a:solidFill>
                  <a:srgbClr val="132226"/>
                </a:solidFill>
              </a:rPr>
              <a:t>ALB</a:t>
            </a:r>
            <a:endParaRPr lang="en-US" sz="1400" dirty="0"/>
          </a:p>
          <a:p>
            <a:pPr marL="0" indent="0" algn="ctr">
              <a:buNone/>
            </a:pPr>
            <a:r>
              <a:rPr lang="en-US" sz="1100" dirty="0">
                <a:solidFill>
                  <a:srgbClr val="4A5B5E"/>
                </a:solidFill>
              </a:rPr>
              <a:t>CloudFront-only</a:t>
            </a:r>
            <a:endParaRPr lang="en-US" sz="1400" dirty="0"/>
          </a:p>
        </p:txBody>
      </p:sp>
      <p:sp>
        <p:nvSpPr>
          <p:cNvPr id="15" name="chip Cognito"/>
          <p:cNvSpPr/>
          <p:nvPr/>
        </p:nvSpPr>
        <p:spPr>
          <a:xfrm>
            <a:off x="9509760" y="1463040"/>
            <a:ext cx="2130552" cy="566928"/>
          </a:xfrm>
          <a:prstGeom prst="roundRect">
            <a:avLst>
              <a:gd name="adj" fmla="val 12903"/>
            </a:avLst>
          </a:prstGeom>
          <a:solidFill>
            <a:srgbClr val="E7EAF2"/>
          </a:solidFill>
          <a:ln/>
        </p:spPr>
      </p:sp>
      <p:sp>
        <p:nvSpPr>
          <p:cNvPr id="16" name="Text 14"/>
          <p:cNvSpPr txBox="1"/>
          <p:nvPr/>
        </p:nvSpPr>
        <p:spPr>
          <a:xfrm>
            <a:off x="9582912" y="1463040"/>
            <a:ext cx="1984248" cy="566928"/>
          </a:xfrm>
          <a:prstGeom prst="rect">
            <a:avLst/>
          </a:prstGeom>
          <a:noFill/>
          <a:ln/>
        </p:spPr>
        <p:txBody>
          <a:bodyPr wrap="square" lIns="0" tIns="0" rIns="0" bIns="0" rtlCol="0" anchor="ctr"/>
          <a:lstStyle/>
          <a:p>
            <a:pPr marL="0" indent="0" algn="ctr">
              <a:buNone/>
            </a:pPr>
            <a:r>
              <a:rPr lang="en-US" sz="1300" b="1" dirty="0">
                <a:solidFill>
                  <a:srgbClr val="132226"/>
                </a:solidFill>
              </a:rPr>
              <a:t>Cognito</a:t>
            </a:r>
            <a:endParaRPr lang="en-US" sz="1400" dirty="0"/>
          </a:p>
          <a:p>
            <a:pPr marL="0" indent="0" algn="ctr">
              <a:buNone/>
            </a:pPr>
            <a:r>
              <a:rPr lang="en-US" sz="1100" dirty="0">
                <a:solidFill>
                  <a:srgbClr val="4A5B5E"/>
                </a:solidFill>
              </a:rPr>
              <a:t>JWT validated by the API</a:t>
            </a:r>
            <a:endParaRPr lang="en-US" sz="1400" dirty="0"/>
          </a:p>
        </p:txBody>
      </p:sp>
      <p:sp>
        <p:nvSpPr>
          <p:cNvPr id="17" name="connector"/>
          <p:cNvSpPr/>
          <p:nvPr/>
        </p:nvSpPr>
        <p:spPr>
          <a:xfrm>
            <a:off x="2633472" y="1746504"/>
            <a:ext cx="219456" cy="0"/>
          </a:xfrm>
          <a:prstGeom prst="line">
            <a:avLst/>
          </a:prstGeom>
          <a:noFill/>
          <a:ln w="19050">
            <a:solidFill>
              <a:srgbClr val="0E7C7B"/>
            </a:solidFill>
            <a:prstDash val="solid"/>
            <a:tailEnd type="triangle"/>
          </a:ln>
        </p:spPr>
      </p:sp>
      <p:sp>
        <p:nvSpPr>
          <p:cNvPr id="18" name="connector"/>
          <p:cNvSpPr/>
          <p:nvPr/>
        </p:nvSpPr>
        <p:spPr>
          <a:xfrm>
            <a:off x="4599432" y="1746504"/>
            <a:ext cx="219456" cy="0"/>
          </a:xfrm>
          <a:prstGeom prst="line">
            <a:avLst/>
          </a:prstGeom>
          <a:noFill/>
          <a:ln w="19050">
            <a:solidFill>
              <a:srgbClr val="0E7C7B"/>
            </a:solidFill>
            <a:prstDash val="solid"/>
            <a:tailEnd type="triangle"/>
          </a:ln>
        </p:spPr>
      </p:sp>
      <p:sp>
        <p:nvSpPr>
          <p:cNvPr id="19" name="connector"/>
          <p:cNvSpPr/>
          <p:nvPr/>
        </p:nvSpPr>
        <p:spPr>
          <a:xfrm>
            <a:off x="7205472" y="1746504"/>
            <a:ext cx="219456" cy="0"/>
          </a:xfrm>
          <a:prstGeom prst="line">
            <a:avLst/>
          </a:prstGeom>
          <a:noFill/>
          <a:ln w="19050">
            <a:solidFill>
              <a:srgbClr val="0E7C7B"/>
            </a:solidFill>
            <a:prstDash val="solid"/>
            <a:tailEnd type="triangle"/>
          </a:ln>
        </p:spPr>
      </p:sp>
      <p:sp>
        <p:nvSpPr>
          <p:cNvPr id="20" name="connector"/>
          <p:cNvSpPr/>
          <p:nvPr/>
        </p:nvSpPr>
        <p:spPr>
          <a:xfrm>
            <a:off x="8069580" y="2048256"/>
            <a:ext cx="0" cy="173736"/>
          </a:xfrm>
          <a:prstGeom prst="line">
            <a:avLst/>
          </a:prstGeom>
          <a:noFill/>
          <a:ln w="19050">
            <a:solidFill>
              <a:srgbClr val="0E7C7B"/>
            </a:solidFill>
            <a:prstDash val="solid"/>
            <a:tailEnd type="triangle"/>
          </a:ln>
        </p:spPr>
      </p:sp>
      <p:sp>
        <p:nvSpPr>
          <p:cNvPr id="21" name="connector"/>
          <p:cNvSpPr/>
          <p:nvPr/>
        </p:nvSpPr>
        <p:spPr>
          <a:xfrm>
            <a:off x="8714232" y="1746504"/>
            <a:ext cx="768096" cy="0"/>
          </a:xfrm>
          <a:prstGeom prst="line">
            <a:avLst/>
          </a:prstGeom>
          <a:noFill/>
          <a:ln w="19050">
            <a:solidFill>
              <a:srgbClr val="5B6C8F"/>
            </a:solidFill>
            <a:prstDash val="dash"/>
          </a:ln>
        </p:spPr>
      </p:sp>
      <p:sp>
        <p:nvSpPr>
          <p:cNvPr id="22" name="card"/>
          <p:cNvSpPr/>
          <p:nvPr/>
        </p:nvSpPr>
        <p:spPr>
          <a:xfrm>
            <a:off x="548640" y="2240280"/>
            <a:ext cx="8138160" cy="2423160"/>
          </a:xfrm>
          <a:prstGeom prst="roundRect">
            <a:avLst>
              <a:gd name="adj" fmla="val 2264"/>
            </a:avLst>
          </a:prstGeom>
          <a:solidFill>
            <a:srgbClr val="EEF4F3"/>
          </a:solidFill>
          <a:ln w="9525">
            <a:solidFill>
              <a:srgbClr val="0E7C7B"/>
            </a:solidFill>
            <a:prstDash val="dash"/>
          </a:ln>
        </p:spPr>
      </p:sp>
      <p:sp>
        <p:nvSpPr>
          <p:cNvPr id="23" name="Text 21"/>
          <p:cNvSpPr txBox="1"/>
          <p:nvPr/>
        </p:nvSpPr>
        <p:spPr>
          <a:xfrm>
            <a:off x="731520" y="2304288"/>
            <a:ext cx="7772400" cy="274320"/>
          </a:xfrm>
          <a:prstGeom prst="rect">
            <a:avLst/>
          </a:prstGeom>
          <a:noFill/>
          <a:ln/>
        </p:spPr>
        <p:txBody>
          <a:bodyPr wrap="square" lIns="0" tIns="0" rIns="0" bIns="0" rtlCol="0" anchor="t"/>
          <a:lstStyle/>
          <a:p>
            <a:pPr marL="0" indent="0">
              <a:buNone/>
            </a:pPr>
            <a:r>
              <a:rPr lang="en-US" sz="1200" b="1" dirty="0">
                <a:solidFill>
                  <a:srgbClr val="0E3B43"/>
                </a:solidFill>
              </a:rPr>
              <a:t>Sandbox AWS account  ·  VPC 10.0.0.0/16  ·  us-east-1  ·  2 Availability Zones</a:t>
            </a:r>
            <a:endParaRPr lang="en-US" sz="1200" dirty="0"/>
          </a:p>
        </p:txBody>
      </p:sp>
      <p:sp>
        <p:nvSpPr>
          <p:cNvPr id="24" name="Text 22"/>
          <p:cNvSpPr txBox="1"/>
          <p:nvPr/>
        </p:nvSpPr>
        <p:spPr>
          <a:xfrm>
            <a:off x="731520" y="2606040"/>
            <a:ext cx="3794760" cy="237744"/>
          </a:xfrm>
          <a:prstGeom prst="rect">
            <a:avLst/>
          </a:prstGeom>
          <a:noFill/>
          <a:ln/>
        </p:spPr>
        <p:txBody>
          <a:bodyPr wrap="square" lIns="0" tIns="0" rIns="0" bIns="0" rtlCol="0" anchor="t"/>
          <a:lstStyle/>
          <a:p>
            <a:pPr marL="0" indent="0">
              <a:buNone/>
            </a:pPr>
            <a:r>
              <a:rPr lang="en-US" sz="1100" b="1" dirty="0">
                <a:solidFill>
                  <a:srgbClr val="0E7C7B"/>
                </a:solidFill>
              </a:rPr>
              <a:t>Availability Zone us-east-1a</a:t>
            </a:r>
            <a:endParaRPr lang="en-US" sz="1100" dirty="0"/>
          </a:p>
        </p:txBody>
      </p:sp>
      <p:sp>
        <p:nvSpPr>
          <p:cNvPr id="25" name="subnet Public"/>
          <p:cNvSpPr/>
          <p:nvPr/>
        </p:nvSpPr>
        <p:spPr>
          <a:xfrm>
            <a:off x="731520" y="2880360"/>
            <a:ext cx="3794760" cy="493776"/>
          </a:xfrm>
          <a:prstGeom prst="roundRect">
            <a:avLst>
              <a:gd name="adj" fmla="val 11111"/>
            </a:avLst>
          </a:prstGeom>
          <a:solidFill>
            <a:srgbClr val="E8F5F6"/>
          </a:solidFill>
          <a:ln w="9525">
            <a:solidFill>
              <a:srgbClr val="D3E2E0"/>
            </a:solidFill>
            <a:prstDash val="solid"/>
          </a:ln>
        </p:spPr>
      </p:sp>
      <p:sp>
        <p:nvSpPr>
          <p:cNvPr id="26" name="Text 24"/>
          <p:cNvSpPr txBox="1"/>
          <p:nvPr/>
        </p:nvSpPr>
        <p:spPr>
          <a:xfrm>
            <a:off x="868680" y="2880360"/>
            <a:ext cx="3566160" cy="493776"/>
          </a:xfrm>
          <a:prstGeom prst="rect">
            <a:avLst/>
          </a:prstGeom>
          <a:noFill/>
          <a:ln/>
        </p:spPr>
        <p:txBody>
          <a:bodyPr wrap="square" lIns="0" tIns="0" rIns="0" bIns="0" rtlCol="0" anchor="ctr"/>
          <a:lstStyle/>
          <a:p>
            <a:pPr marL="0" indent="0">
              <a:buNone/>
            </a:pPr>
            <a:r>
              <a:rPr lang="en-US" sz="1200" b="1" dirty="0">
                <a:solidFill>
                  <a:srgbClr val="132226"/>
                </a:solidFill>
              </a:rPr>
              <a:t>Public  </a:t>
            </a:r>
            <a:r>
              <a:rPr lang="en-US" sz="1200" dirty="0">
                <a:solidFill>
                  <a:srgbClr val="132226"/>
                </a:solidFill>
              </a:rPr>
              <a:t>10.0.1.0/24  ·  NAT Gateway</a:t>
            </a:r>
            <a:endParaRPr lang="en-US" sz="1200" dirty="0"/>
          </a:p>
        </p:txBody>
      </p:sp>
      <p:sp>
        <p:nvSpPr>
          <p:cNvPr id="27" name="subnet App"/>
          <p:cNvSpPr/>
          <p:nvPr/>
        </p:nvSpPr>
        <p:spPr>
          <a:xfrm>
            <a:off x="731520" y="3465576"/>
            <a:ext cx="3794760" cy="493776"/>
          </a:xfrm>
          <a:prstGeom prst="roundRect">
            <a:avLst>
              <a:gd name="adj" fmla="val 11111"/>
            </a:avLst>
          </a:prstGeom>
          <a:solidFill>
            <a:srgbClr val="E1F0EF"/>
          </a:solidFill>
          <a:ln w="9525">
            <a:solidFill>
              <a:srgbClr val="D3E2E0"/>
            </a:solidFill>
            <a:prstDash val="solid"/>
          </a:ln>
        </p:spPr>
      </p:sp>
      <p:sp>
        <p:nvSpPr>
          <p:cNvPr id="28" name="Text 26"/>
          <p:cNvSpPr txBox="1"/>
          <p:nvPr/>
        </p:nvSpPr>
        <p:spPr>
          <a:xfrm>
            <a:off x="868680" y="3465576"/>
            <a:ext cx="3566160" cy="493776"/>
          </a:xfrm>
          <a:prstGeom prst="rect">
            <a:avLst/>
          </a:prstGeom>
          <a:noFill/>
          <a:ln/>
        </p:spPr>
        <p:txBody>
          <a:bodyPr wrap="square" lIns="0" tIns="0" rIns="0" bIns="0" rtlCol="0" anchor="ctr"/>
          <a:lstStyle/>
          <a:p>
            <a:pPr marL="0" indent="0">
              <a:buNone/>
            </a:pPr>
            <a:r>
              <a:rPr lang="en-US" sz="1200" b="1" dirty="0">
                <a:solidFill>
                  <a:srgbClr val="132226"/>
                </a:solidFill>
              </a:rPr>
              <a:t>App  </a:t>
            </a:r>
            <a:r>
              <a:rPr lang="en-US" sz="1200" dirty="0">
                <a:solidFill>
                  <a:srgbClr val="132226"/>
                </a:solidFill>
              </a:rPr>
              <a:t>10.0.11.0/24  ·  ECS Task A  ·  no public IP</a:t>
            </a:r>
            <a:endParaRPr lang="en-US" sz="1200" dirty="0"/>
          </a:p>
        </p:txBody>
      </p:sp>
      <p:sp>
        <p:nvSpPr>
          <p:cNvPr id="29" name="subnet DB"/>
          <p:cNvSpPr/>
          <p:nvPr/>
        </p:nvSpPr>
        <p:spPr>
          <a:xfrm>
            <a:off x="731520" y="4050792"/>
            <a:ext cx="3794760" cy="493776"/>
          </a:xfrm>
          <a:prstGeom prst="roundRect">
            <a:avLst>
              <a:gd name="adj" fmla="val 11111"/>
            </a:avLst>
          </a:prstGeom>
          <a:solidFill>
            <a:srgbClr val="E7EAF2"/>
          </a:solidFill>
          <a:ln w="9525">
            <a:solidFill>
              <a:srgbClr val="D3E2E0"/>
            </a:solidFill>
            <a:prstDash val="solid"/>
          </a:ln>
        </p:spPr>
      </p:sp>
      <p:sp>
        <p:nvSpPr>
          <p:cNvPr id="30" name="Text 28"/>
          <p:cNvSpPr txBox="1"/>
          <p:nvPr/>
        </p:nvSpPr>
        <p:spPr>
          <a:xfrm>
            <a:off x="868680" y="4050792"/>
            <a:ext cx="3566160" cy="493776"/>
          </a:xfrm>
          <a:prstGeom prst="rect">
            <a:avLst/>
          </a:prstGeom>
          <a:noFill/>
          <a:ln/>
        </p:spPr>
        <p:txBody>
          <a:bodyPr wrap="square" lIns="0" tIns="0" rIns="0" bIns="0" rtlCol="0" anchor="ctr"/>
          <a:lstStyle/>
          <a:p>
            <a:pPr marL="0" indent="0">
              <a:buNone/>
            </a:pPr>
            <a:r>
              <a:rPr lang="en-US" sz="1200" b="1" dirty="0">
                <a:solidFill>
                  <a:srgbClr val="132226"/>
                </a:solidFill>
              </a:rPr>
              <a:t>DB  </a:t>
            </a:r>
            <a:r>
              <a:rPr lang="en-US" sz="1200" dirty="0">
                <a:solidFill>
                  <a:srgbClr val="132226"/>
                </a:solidFill>
              </a:rPr>
              <a:t>10.0.21.0/24  ·  RDS Primary  ·  local-only route</a:t>
            </a:r>
            <a:endParaRPr lang="en-US" sz="1200" dirty="0"/>
          </a:p>
        </p:txBody>
      </p:sp>
      <p:sp>
        <p:nvSpPr>
          <p:cNvPr id="31" name="Text 29"/>
          <p:cNvSpPr txBox="1"/>
          <p:nvPr/>
        </p:nvSpPr>
        <p:spPr>
          <a:xfrm>
            <a:off x="4709160" y="2606040"/>
            <a:ext cx="3794760" cy="237744"/>
          </a:xfrm>
          <a:prstGeom prst="rect">
            <a:avLst/>
          </a:prstGeom>
          <a:noFill/>
          <a:ln/>
        </p:spPr>
        <p:txBody>
          <a:bodyPr wrap="square" lIns="0" tIns="0" rIns="0" bIns="0" rtlCol="0" anchor="t"/>
          <a:lstStyle/>
          <a:p>
            <a:pPr marL="0" indent="0">
              <a:buNone/>
            </a:pPr>
            <a:r>
              <a:rPr lang="en-US" sz="1100" b="1" dirty="0">
                <a:solidFill>
                  <a:srgbClr val="0E7C7B"/>
                </a:solidFill>
              </a:rPr>
              <a:t>Availability Zone us-east-1b</a:t>
            </a:r>
            <a:endParaRPr lang="en-US" sz="1100" dirty="0"/>
          </a:p>
        </p:txBody>
      </p:sp>
      <p:sp>
        <p:nvSpPr>
          <p:cNvPr id="32" name="subnet Public"/>
          <p:cNvSpPr/>
          <p:nvPr/>
        </p:nvSpPr>
        <p:spPr>
          <a:xfrm>
            <a:off x="4709160" y="2880360"/>
            <a:ext cx="3794760" cy="493776"/>
          </a:xfrm>
          <a:prstGeom prst="roundRect">
            <a:avLst>
              <a:gd name="adj" fmla="val 11111"/>
            </a:avLst>
          </a:prstGeom>
          <a:solidFill>
            <a:srgbClr val="E8F5F6"/>
          </a:solidFill>
          <a:ln w="9525">
            <a:solidFill>
              <a:srgbClr val="D3E2E0"/>
            </a:solidFill>
            <a:prstDash val="solid"/>
          </a:ln>
        </p:spPr>
      </p:sp>
      <p:sp>
        <p:nvSpPr>
          <p:cNvPr id="33" name="Text 31"/>
          <p:cNvSpPr txBox="1"/>
          <p:nvPr/>
        </p:nvSpPr>
        <p:spPr>
          <a:xfrm>
            <a:off x="4846320" y="2880360"/>
            <a:ext cx="3566160" cy="493776"/>
          </a:xfrm>
          <a:prstGeom prst="rect">
            <a:avLst/>
          </a:prstGeom>
          <a:noFill/>
          <a:ln/>
        </p:spPr>
        <p:txBody>
          <a:bodyPr wrap="square" lIns="0" tIns="0" rIns="0" bIns="0" rtlCol="0" anchor="ctr"/>
          <a:lstStyle/>
          <a:p>
            <a:pPr marL="0" indent="0">
              <a:buNone/>
            </a:pPr>
            <a:r>
              <a:rPr lang="en-US" sz="1200" b="1" dirty="0">
                <a:solidFill>
                  <a:srgbClr val="132226"/>
                </a:solidFill>
              </a:rPr>
              <a:t>Public  </a:t>
            </a:r>
            <a:r>
              <a:rPr lang="en-US" sz="1200" dirty="0">
                <a:solidFill>
                  <a:srgbClr val="132226"/>
                </a:solidFill>
              </a:rPr>
              <a:t>10.0.2.0/24  ·  NAT Gateway</a:t>
            </a:r>
            <a:endParaRPr lang="en-US" sz="1200" dirty="0"/>
          </a:p>
        </p:txBody>
      </p:sp>
      <p:sp>
        <p:nvSpPr>
          <p:cNvPr id="34" name="subnet App"/>
          <p:cNvSpPr/>
          <p:nvPr/>
        </p:nvSpPr>
        <p:spPr>
          <a:xfrm>
            <a:off x="4709160" y="3465576"/>
            <a:ext cx="3794760" cy="493776"/>
          </a:xfrm>
          <a:prstGeom prst="roundRect">
            <a:avLst>
              <a:gd name="adj" fmla="val 11111"/>
            </a:avLst>
          </a:prstGeom>
          <a:solidFill>
            <a:srgbClr val="E1F0EF"/>
          </a:solidFill>
          <a:ln w="9525">
            <a:solidFill>
              <a:srgbClr val="D3E2E0"/>
            </a:solidFill>
            <a:prstDash val="solid"/>
          </a:ln>
        </p:spPr>
      </p:sp>
      <p:sp>
        <p:nvSpPr>
          <p:cNvPr id="35" name="Text 33"/>
          <p:cNvSpPr txBox="1"/>
          <p:nvPr/>
        </p:nvSpPr>
        <p:spPr>
          <a:xfrm>
            <a:off x="4846320" y="3465576"/>
            <a:ext cx="3566160" cy="493776"/>
          </a:xfrm>
          <a:prstGeom prst="rect">
            <a:avLst/>
          </a:prstGeom>
          <a:noFill/>
          <a:ln/>
        </p:spPr>
        <p:txBody>
          <a:bodyPr wrap="square" lIns="0" tIns="0" rIns="0" bIns="0" rtlCol="0" anchor="ctr"/>
          <a:lstStyle/>
          <a:p>
            <a:pPr marL="0" indent="0">
              <a:buNone/>
            </a:pPr>
            <a:r>
              <a:rPr lang="en-US" sz="1200" b="1" dirty="0">
                <a:solidFill>
                  <a:srgbClr val="132226"/>
                </a:solidFill>
              </a:rPr>
              <a:t>App  </a:t>
            </a:r>
            <a:r>
              <a:rPr lang="en-US" sz="1200" dirty="0">
                <a:solidFill>
                  <a:srgbClr val="132226"/>
                </a:solidFill>
              </a:rPr>
              <a:t>10.0.12.0/24  ·  ECS Task B  ·  no public IP</a:t>
            </a:r>
            <a:endParaRPr lang="en-US" sz="1200" dirty="0"/>
          </a:p>
        </p:txBody>
      </p:sp>
      <p:sp>
        <p:nvSpPr>
          <p:cNvPr id="36" name="subnet DB"/>
          <p:cNvSpPr/>
          <p:nvPr/>
        </p:nvSpPr>
        <p:spPr>
          <a:xfrm>
            <a:off x="4709160" y="4050792"/>
            <a:ext cx="3794760" cy="493776"/>
          </a:xfrm>
          <a:prstGeom prst="roundRect">
            <a:avLst>
              <a:gd name="adj" fmla="val 11111"/>
            </a:avLst>
          </a:prstGeom>
          <a:solidFill>
            <a:srgbClr val="E7EAF2"/>
          </a:solidFill>
          <a:ln w="9525">
            <a:solidFill>
              <a:srgbClr val="D3E2E0"/>
            </a:solidFill>
            <a:prstDash val="solid"/>
          </a:ln>
        </p:spPr>
      </p:sp>
      <p:sp>
        <p:nvSpPr>
          <p:cNvPr id="37" name="Text 35"/>
          <p:cNvSpPr txBox="1"/>
          <p:nvPr/>
        </p:nvSpPr>
        <p:spPr>
          <a:xfrm>
            <a:off x="4846320" y="4050792"/>
            <a:ext cx="3566160" cy="493776"/>
          </a:xfrm>
          <a:prstGeom prst="rect">
            <a:avLst/>
          </a:prstGeom>
          <a:noFill/>
          <a:ln/>
        </p:spPr>
        <p:txBody>
          <a:bodyPr wrap="square" lIns="0" tIns="0" rIns="0" bIns="0" rtlCol="0" anchor="ctr"/>
          <a:lstStyle/>
          <a:p>
            <a:pPr marL="0" indent="0">
              <a:buNone/>
            </a:pPr>
            <a:r>
              <a:rPr lang="en-US" sz="1200" b="1" dirty="0">
                <a:solidFill>
                  <a:srgbClr val="132226"/>
                </a:solidFill>
              </a:rPr>
              <a:t>DB  </a:t>
            </a:r>
            <a:r>
              <a:rPr lang="en-US" sz="1200" dirty="0">
                <a:solidFill>
                  <a:srgbClr val="132226"/>
                </a:solidFill>
              </a:rPr>
              <a:t>10.0.22.0/24  ·  RDS Standby (Multi-AZ)</a:t>
            </a:r>
            <a:endParaRPr lang="en-US" sz="1200" dirty="0"/>
          </a:p>
        </p:txBody>
      </p:sp>
      <p:sp>
        <p:nvSpPr>
          <p:cNvPr id="38" name="card"/>
          <p:cNvSpPr/>
          <p:nvPr/>
        </p:nvSpPr>
        <p:spPr>
          <a:xfrm>
            <a:off x="8915400" y="2240280"/>
            <a:ext cx="2724912" cy="2423160"/>
          </a:xfrm>
          <a:prstGeom prst="roundRect">
            <a:avLst>
              <a:gd name="adj" fmla="val 2264"/>
            </a:avLst>
          </a:prstGeom>
          <a:solidFill>
            <a:srgbClr val="FFFFFF"/>
          </a:solidFill>
          <a:ln/>
          <a:effectLst>
            <a:outerShdw blurRad="114300" dist="25400" dir="5400000" algn="bl" rotWithShape="0">
              <a:srgbClr val="0E3B43">
                <a:alpha val="13000"/>
              </a:srgbClr>
            </a:outerShdw>
          </a:effectLst>
        </p:spPr>
      </p:sp>
      <p:sp>
        <p:nvSpPr>
          <p:cNvPr id="39" name="Secrets Manager circle"/>
          <p:cNvSpPr/>
          <p:nvPr/>
        </p:nvSpPr>
        <p:spPr>
          <a:xfrm>
            <a:off x="9052560" y="2395728"/>
            <a:ext cx="329184" cy="329184"/>
          </a:xfrm>
          <a:prstGeom prst="ellipse">
            <a:avLst/>
          </a:prstGeom>
          <a:solidFill>
            <a:schemeClr val="accent4"/>
          </a:solidFill>
          <a:ln/>
        </p:spPr>
      </p:sp>
      <p:pic>
        <p:nvPicPr>
          <p:cNvPr id="40" name="Secrets Manager" descr="preencoded.png"/>
          <p:cNvPicPr>
            <a:picLocks noChangeAspect="1"/>
          </p:cNvPicPr>
          <p:nvPr/>
        </p:nvPicPr>
        <p:blipFill>
          <a:blip r:embed="rId3"/>
          <a:stretch>
            <a:fillRect/>
          </a:stretch>
        </p:blipFill>
        <p:spPr>
          <a:xfrm>
            <a:off x="9131564" y="2474732"/>
            <a:ext cx="171176" cy="171176"/>
          </a:xfrm>
          <a:prstGeom prst="rect">
            <a:avLst/>
          </a:prstGeom>
        </p:spPr>
      </p:pic>
      <p:sp>
        <p:nvSpPr>
          <p:cNvPr id="41" name="Text 38"/>
          <p:cNvSpPr txBox="1"/>
          <p:nvPr/>
        </p:nvSpPr>
        <p:spPr>
          <a:xfrm>
            <a:off x="9491472" y="2340864"/>
            <a:ext cx="2057400" cy="502920"/>
          </a:xfrm>
          <a:prstGeom prst="rect">
            <a:avLst/>
          </a:prstGeom>
          <a:noFill/>
          <a:ln/>
        </p:spPr>
        <p:txBody>
          <a:bodyPr wrap="square" lIns="0" tIns="0" rIns="0" bIns="0" rtlCol="0" anchor="t"/>
          <a:lstStyle/>
          <a:p>
            <a:pPr marL="0" indent="0">
              <a:buNone/>
            </a:pPr>
            <a:r>
              <a:rPr lang="en-US" sz="1200" b="1" dirty="0">
                <a:solidFill>
                  <a:srgbClr val="132226"/>
                </a:solidFill>
              </a:rPr>
              <a:t>Secrets Manager</a:t>
            </a:r>
            <a:endParaRPr lang="en-US" sz="1200" dirty="0"/>
          </a:p>
          <a:p>
            <a:pPr marL="0" indent="0">
              <a:buNone/>
            </a:pPr>
            <a:r>
              <a:rPr lang="en-US" sz="1100" dirty="0">
                <a:solidFill>
                  <a:srgbClr val="4A5B5E"/>
                </a:solidFill>
              </a:rPr>
              <a:t>RDS credentials</a:t>
            </a:r>
            <a:endParaRPr lang="en-US" sz="1200" dirty="0"/>
          </a:p>
        </p:txBody>
      </p:sp>
      <p:sp>
        <p:nvSpPr>
          <p:cNvPr id="42" name="S3 circle"/>
          <p:cNvSpPr/>
          <p:nvPr/>
        </p:nvSpPr>
        <p:spPr>
          <a:xfrm>
            <a:off x="9052560" y="2944368"/>
            <a:ext cx="329184" cy="329184"/>
          </a:xfrm>
          <a:prstGeom prst="ellipse">
            <a:avLst/>
          </a:prstGeom>
          <a:solidFill>
            <a:schemeClr val="accent3"/>
          </a:solidFill>
          <a:ln/>
        </p:spPr>
      </p:sp>
      <p:pic>
        <p:nvPicPr>
          <p:cNvPr id="43" name="S3" descr="preencoded.png"/>
          <p:cNvPicPr>
            <a:picLocks noChangeAspect="1"/>
          </p:cNvPicPr>
          <p:nvPr/>
        </p:nvPicPr>
        <p:blipFill>
          <a:blip r:embed="rId4"/>
          <a:stretch>
            <a:fillRect/>
          </a:stretch>
        </p:blipFill>
        <p:spPr>
          <a:xfrm>
            <a:off x="9131564" y="3023372"/>
            <a:ext cx="171176" cy="171176"/>
          </a:xfrm>
          <a:prstGeom prst="rect">
            <a:avLst/>
          </a:prstGeom>
        </p:spPr>
      </p:pic>
      <p:sp>
        <p:nvSpPr>
          <p:cNvPr id="44" name="Text 40"/>
          <p:cNvSpPr txBox="1"/>
          <p:nvPr/>
        </p:nvSpPr>
        <p:spPr>
          <a:xfrm>
            <a:off x="9491472" y="2889504"/>
            <a:ext cx="2057400" cy="502920"/>
          </a:xfrm>
          <a:prstGeom prst="rect">
            <a:avLst/>
          </a:prstGeom>
          <a:noFill/>
          <a:ln/>
        </p:spPr>
        <p:txBody>
          <a:bodyPr wrap="square" lIns="0" tIns="0" rIns="0" bIns="0" rtlCol="0" anchor="t"/>
          <a:lstStyle/>
          <a:p>
            <a:pPr marL="0" indent="0">
              <a:buNone/>
            </a:pPr>
            <a:r>
              <a:rPr lang="en-US" sz="1200" b="1" dirty="0">
                <a:solidFill>
                  <a:srgbClr val="132226"/>
                </a:solidFill>
              </a:rPr>
              <a:t>S3</a:t>
            </a:r>
            <a:endParaRPr lang="en-US" sz="1200" dirty="0"/>
          </a:p>
          <a:p>
            <a:pPr marL="0" indent="0">
              <a:buNone/>
            </a:pPr>
            <a:r>
              <a:rPr lang="en-US" sz="1100" dirty="0">
                <a:solidFill>
                  <a:srgbClr val="4A5B5E"/>
                </a:solidFill>
              </a:rPr>
              <a:t>private · versioned · SSE‑S3</a:t>
            </a:r>
            <a:endParaRPr lang="en-US" sz="1200" dirty="0"/>
          </a:p>
        </p:txBody>
      </p:sp>
      <p:sp>
        <p:nvSpPr>
          <p:cNvPr id="45" name="CloudWatch circle"/>
          <p:cNvSpPr/>
          <p:nvPr/>
        </p:nvSpPr>
        <p:spPr>
          <a:xfrm>
            <a:off x="9052560" y="3493008"/>
            <a:ext cx="329184" cy="329184"/>
          </a:xfrm>
          <a:prstGeom prst="ellipse">
            <a:avLst/>
          </a:prstGeom>
          <a:solidFill>
            <a:schemeClr val="accent5"/>
          </a:solidFill>
          <a:ln/>
        </p:spPr>
      </p:sp>
      <p:pic>
        <p:nvPicPr>
          <p:cNvPr id="46" name="CloudWatch" descr="preencoded.png"/>
          <p:cNvPicPr>
            <a:picLocks noChangeAspect="1"/>
          </p:cNvPicPr>
          <p:nvPr/>
        </p:nvPicPr>
        <p:blipFill>
          <a:blip r:embed="rId5"/>
          <a:stretch>
            <a:fillRect/>
          </a:stretch>
        </p:blipFill>
        <p:spPr>
          <a:xfrm>
            <a:off x="9131564" y="3572012"/>
            <a:ext cx="171176" cy="171176"/>
          </a:xfrm>
          <a:prstGeom prst="rect">
            <a:avLst/>
          </a:prstGeom>
        </p:spPr>
      </p:pic>
      <p:sp>
        <p:nvSpPr>
          <p:cNvPr id="47" name="Text 42"/>
          <p:cNvSpPr txBox="1"/>
          <p:nvPr/>
        </p:nvSpPr>
        <p:spPr>
          <a:xfrm>
            <a:off x="9491472" y="3438144"/>
            <a:ext cx="2057400" cy="502920"/>
          </a:xfrm>
          <a:prstGeom prst="rect">
            <a:avLst/>
          </a:prstGeom>
          <a:noFill/>
          <a:ln/>
        </p:spPr>
        <p:txBody>
          <a:bodyPr wrap="square" lIns="0" tIns="0" rIns="0" bIns="0" rtlCol="0" anchor="t"/>
          <a:lstStyle/>
          <a:p>
            <a:pPr marL="0" indent="0">
              <a:buNone/>
            </a:pPr>
            <a:r>
              <a:rPr lang="en-US" sz="1200" b="1" dirty="0">
                <a:solidFill>
                  <a:srgbClr val="132226"/>
                </a:solidFill>
              </a:rPr>
              <a:t>CloudWatch</a:t>
            </a:r>
            <a:endParaRPr lang="en-US" sz="1200" dirty="0"/>
          </a:p>
          <a:p>
            <a:pPr marL="0" indent="0">
              <a:buNone/>
            </a:pPr>
            <a:r>
              <a:rPr lang="en-US" sz="1100" dirty="0">
                <a:solidFill>
                  <a:srgbClr val="4A5B5E"/>
                </a:solidFill>
              </a:rPr>
              <a:t>logs + metrics</a:t>
            </a:r>
            <a:endParaRPr lang="en-US" sz="1200" dirty="0"/>
          </a:p>
        </p:txBody>
      </p:sp>
      <p:sp>
        <p:nvSpPr>
          <p:cNvPr id="48" name="Security path circle"/>
          <p:cNvSpPr/>
          <p:nvPr/>
        </p:nvSpPr>
        <p:spPr>
          <a:xfrm>
            <a:off x="9052560" y="4041648"/>
            <a:ext cx="329184" cy="329184"/>
          </a:xfrm>
          <a:prstGeom prst="ellipse">
            <a:avLst/>
          </a:prstGeom>
          <a:solidFill>
            <a:schemeClr val="accent1"/>
          </a:solidFill>
          <a:ln/>
        </p:spPr>
      </p:sp>
      <p:pic>
        <p:nvPicPr>
          <p:cNvPr id="49" name="Security path" descr="preencoded.png"/>
          <p:cNvPicPr>
            <a:picLocks noChangeAspect="1"/>
          </p:cNvPicPr>
          <p:nvPr/>
        </p:nvPicPr>
        <p:blipFill>
          <a:blip r:embed="rId6"/>
          <a:stretch>
            <a:fillRect/>
          </a:stretch>
        </p:blipFill>
        <p:spPr>
          <a:xfrm>
            <a:off x="9131564" y="4120652"/>
            <a:ext cx="171176" cy="171176"/>
          </a:xfrm>
          <a:prstGeom prst="rect">
            <a:avLst/>
          </a:prstGeom>
        </p:spPr>
      </p:pic>
      <p:sp>
        <p:nvSpPr>
          <p:cNvPr id="50" name="Text 44"/>
          <p:cNvSpPr txBox="1"/>
          <p:nvPr/>
        </p:nvSpPr>
        <p:spPr>
          <a:xfrm>
            <a:off x="9491472" y="3986784"/>
            <a:ext cx="2057400" cy="658368"/>
          </a:xfrm>
          <a:prstGeom prst="rect">
            <a:avLst/>
          </a:prstGeom>
          <a:noFill/>
          <a:ln/>
        </p:spPr>
        <p:txBody>
          <a:bodyPr wrap="square" lIns="0" tIns="0" rIns="0" bIns="0" rtlCol="0" anchor="t"/>
          <a:lstStyle/>
          <a:p>
            <a:pPr marL="0" indent="0">
              <a:buNone/>
            </a:pPr>
            <a:r>
              <a:rPr lang="en-US" sz="1200" b="1" dirty="0">
                <a:solidFill>
                  <a:srgbClr val="132226"/>
                </a:solidFill>
              </a:rPr>
              <a:t>Security path</a:t>
            </a:r>
            <a:endParaRPr lang="en-US" sz="1200" dirty="0"/>
          </a:p>
          <a:p>
            <a:pPr marL="0" indent="0">
              <a:buNone/>
            </a:pPr>
            <a:r>
              <a:rPr lang="en-US" sz="1100" dirty="0">
                <a:solidFill>
                  <a:srgbClr val="4A5B5E"/>
                </a:solidFill>
              </a:rPr>
              <a:t>CF→ALB :80 · ALB→ECS :3000 · ECS→RDS :3306</a:t>
            </a:r>
            <a:endParaRPr lang="en-US" sz="1200" dirty="0"/>
          </a:p>
        </p:txBody>
      </p:sp>
      <p:sp>
        <p:nvSpPr>
          <p:cNvPr id="51" name="card"/>
          <p:cNvSpPr/>
          <p:nvPr/>
        </p:nvSpPr>
        <p:spPr>
          <a:xfrm>
            <a:off x="548640" y="4846320"/>
            <a:ext cx="11091672" cy="1298448"/>
          </a:xfrm>
          <a:prstGeom prst="roundRect">
            <a:avLst>
              <a:gd name="adj" fmla="val 4225"/>
            </a:avLst>
          </a:prstGeom>
          <a:solidFill>
            <a:srgbClr val="FFFFFF"/>
          </a:solidFill>
          <a:ln/>
          <a:effectLst>
            <a:outerShdw blurRad="114300" dist="25400" dir="5400000" algn="bl" rotWithShape="0">
              <a:srgbClr val="0E3B43">
                <a:alpha val="13000"/>
              </a:srgbClr>
            </a:outerShdw>
          </a:effectLst>
        </p:spPr>
      </p:sp>
      <p:sp>
        <p:nvSpPr>
          <p:cNvPr id="52" name="Text 46"/>
          <p:cNvSpPr txBox="1"/>
          <p:nvPr/>
        </p:nvSpPr>
        <p:spPr>
          <a:xfrm>
            <a:off x="731520" y="4919472"/>
            <a:ext cx="5486400" cy="228600"/>
          </a:xfrm>
          <a:prstGeom prst="rect">
            <a:avLst/>
          </a:prstGeom>
          <a:noFill/>
          <a:ln/>
        </p:spPr>
        <p:txBody>
          <a:bodyPr wrap="square" lIns="0" tIns="0" rIns="0" bIns="0" rtlCol="0" anchor="t"/>
          <a:lstStyle/>
          <a:p>
            <a:pPr marL="0" indent="0">
              <a:buNone/>
            </a:pPr>
            <a:r>
              <a:rPr lang="en-US" sz="1000" b="1" kern="0" spc="100" dirty="0">
                <a:solidFill>
                  <a:srgbClr val="0E7C7B"/>
                </a:solidFill>
              </a:rPr>
              <a:t>AUTOMATION &amp; DELIVERY</a:t>
            </a:r>
            <a:endParaRPr lang="en-US" sz="1000" dirty="0"/>
          </a:p>
        </p:txBody>
      </p:sp>
      <p:sp>
        <p:nvSpPr>
          <p:cNvPr id="53" name="chip Terraform modules"/>
          <p:cNvSpPr/>
          <p:nvPr/>
        </p:nvSpPr>
        <p:spPr>
          <a:xfrm>
            <a:off x="731520" y="5193792"/>
            <a:ext cx="1463040" cy="384048"/>
          </a:xfrm>
          <a:prstGeom prst="roundRect">
            <a:avLst>
              <a:gd name="adj" fmla="val 19048"/>
            </a:avLst>
          </a:prstGeom>
          <a:solidFill>
            <a:srgbClr val="E7EAF2"/>
          </a:solidFill>
          <a:ln/>
        </p:spPr>
      </p:sp>
      <p:sp>
        <p:nvSpPr>
          <p:cNvPr id="54" name="Text 48"/>
          <p:cNvSpPr txBox="1"/>
          <p:nvPr/>
        </p:nvSpPr>
        <p:spPr>
          <a:xfrm>
            <a:off x="804672" y="5193792"/>
            <a:ext cx="1316736" cy="384048"/>
          </a:xfrm>
          <a:prstGeom prst="rect">
            <a:avLst/>
          </a:prstGeom>
          <a:noFill/>
          <a:ln/>
        </p:spPr>
        <p:txBody>
          <a:bodyPr wrap="square" lIns="0" tIns="0" rIns="0" bIns="0" rtlCol="0" anchor="ctr"/>
          <a:lstStyle/>
          <a:p>
            <a:pPr marL="0" indent="0" algn="ctr">
              <a:buNone/>
            </a:pPr>
            <a:r>
              <a:rPr lang="en-US" sz="1200" b="1" dirty="0">
                <a:solidFill>
                  <a:srgbClr val="132226"/>
                </a:solidFill>
              </a:rPr>
              <a:t>Terraform modules</a:t>
            </a:r>
            <a:endParaRPr lang="en-US" sz="1400" dirty="0"/>
          </a:p>
        </p:txBody>
      </p:sp>
      <p:sp>
        <p:nvSpPr>
          <p:cNvPr id="55" name="connector"/>
          <p:cNvSpPr/>
          <p:nvPr/>
        </p:nvSpPr>
        <p:spPr>
          <a:xfrm>
            <a:off x="2221992" y="5385816"/>
            <a:ext cx="219456" cy="0"/>
          </a:xfrm>
          <a:prstGeom prst="line">
            <a:avLst/>
          </a:prstGeom>
          <a:noFill/>
          <a:ln w="19050">
            <a:solidFill>
              <a:srgbClr val="5B6C8F"/>
            </a:solidFill>
            <a:prstDash val="solid"/>
            <a:tailEnd type="triangle"/>
          </a:ln>
        </p:spPr>
      </p:sp>
      <p:sp>
        <p:nvSpPr>
          <p:cNvPr id="56" name="chip HCP Terraform · remote state"/>
          <p:cNvSpPr/>
          <p:nvPr/>
        </p:nvSpPr>
        <p:spPr>
          <a:xfrm>
            <a:off x="2468880" y="5193792"/>
            <a:ext cx="2286000" cy="384048"/>
          </a:xfrm>
          <a:prstGeom prst="roundRect">
            <a:avLst>
              <a:gd name="adj" fmla="val 19048"/>
            </a:avLst>
          </a:prstGeom>
          <a:solidFill>
            <a:srgbClr val="E7EAF2"/>
          </a:solidFill>
          <a:ln/>
        </p:spPr>
      </p:sp>
      <p:sp>
        <p:nvSpPr>
          <p:cNvPr id="57" name="Text 51"/>
          <p:cNvSpPr txBox="1"/>
          <p:nvPr/>
        </p:nvSpPr>
        <p:spPr>
          <a:xfrm>
            <a:off x="2542032" y="5193792"/>
            <a:ext cx="2139696" cy="384048"/>
          </a:xfrm>
          <a:prstGeom prst="rect">
            <a:avLst/>
          </a:prstGeom>
          <a:noFill/>
          <a:ln/>
        </p:spPr>
        <p:txBody>
          <a:bodyPr wrap="square" lIns="0" tIns="0" rIns="0" bIns="0" rtlCol="0" anchor="ctr"/>
          <a:lstStyle/>
          <a:p>
            <a:pPr marL="0" indent="0" algn="ctr">
              <a:buNone/>
            </a:pPr>
            <a:r>
              <a:rPr lang="en-US" sz="1200" b="1" dirty="0">
                <a:solidFill>
                  <a:srgbClr val="132226"/>
                </a:solidFill>
              </a:rPr>
              <a:t>HCP Terraform · remote state</a:t>
            </a:r>
            <a:endParaRPr lang="en-US" sz="1400" dirty="0"/>
          </a:p>
        </p:txBody>
      </p:sp>
      <p:sp>
        <p:nvSpPr>
          <p:cNvPr id="58" name="connector"/>
          <p:cNvSpPr/>
          <p:nvPr/>
        </p:nvSpPr>
        <p:spPr>
          <a:xfrm>
            <a:off x="4782312" y="5385816"/>
            <a:ext cx="219456" cy="0"/>
          </a:xfrm>
          <a:prstGeom prst="line">
            <a:avLst/>
          </a:prstGeom>
          <a:noFill/>
          <a:ln w="19050">
            <a:solidFill>
              <a:srgbClr val="5B6C8F"/>
            </a:solidFill>
            <a:prstDash val="solid"/>
            <a:tailEnd type="triangle"/>
          </a:ln>
        </p:spPr>
      </p:sp>
      <p:sp>
        <p:nvSpPr>
          <p:cNvPr id="59" name="chip Sandbox AWS"/>
          <p:cNvSpPr/>
          <p:nvPr/>
        </p:nvSpPr>
        <p:spPr>
          <a:xfrm>
            <a:off x="5029200" y="5193792"/>
            <a:ext cx="1188720" cy="384048"/>
          </a:xfrm>
          <a:prstGeom prst="roundRect">
            <a:avLst>
              <a:gd name="adj" fmla="val 19048"/>
            </a:avLst>
          </a:prstGeom>
          <a:solidFill>
            <a:srgbClr val="E7EAF2"/>
          </a:solidFill>
          <a:ln/>
        </p:spPr>
      </p:sp>
      <p:sp>
        <p:nvSpPr>
          <p:cNvPr id="60" name="Text 54"/>
          <p:cNvSpPr txBox="1"/>
          <p:nvPr/>
        </p:nvSpPr>
        <p:spPr>
          <a:xfrm>
            <a:off x="5102352" y="5193792"/>
            <a:ext cx="1042416" cy="384048"/>
          </a:xfrm>
          <a:prstGeom prst="rect">
            <a:avLst/>
          </a:prstGeom>
          <a:noFill/>
          <a:ln/>
        </p:spPr>
        <p:txBody>
          <a:bodyPr wrap="square" lIns="0" tIns="0" rIns="0" bIns="0" rtlCol="0" anchor="ctr"/>
          <a:lstStyle/>
          <a:p>
            <a:pPr marL="0" indent="0" algn="ctr">
              <a:buNone/>
            </a:pPr>
            <a:r>
              <a:rPr lang="en-US" sz="1200" b="1" dirty="0">
                <a:solidFill>
                  <a:srgbClr val="132226"/>
                </a:solidFill>
              </a:rPr>
              <a:t>Sandbox AWS</a:t>
            </a:r>
            <a:endParaRPr lang="en-US" sz="1400" dirty="0"/>
          </a:p>
        </p:txBody>
      </p:sp>
      <p:sp>
        <p:nvSpPr>
          <p:cNvPr id="61" name="chip GitHub Actions"/>
          <p:cNvSpPr/>
          <p:nvPr/>
        </p:nvSpPr>
        <p:spPr>
          <a:xfrm>
            <a:off x="6446520" y="5193792"/>
            <a:ext cx="1325880" cy="384048"/>
          </a:xfrm>
          <a:prstGeom prst="roundRect">
            <a:avLst>
              <a:gd name="adj" fmla="val 19048"/>
            </a:avLst>
          </a:prstGeom>
          <a:solidFill>
            <a:srgbClr val="E1F0EF"/>
          </a:solidFill>
          <a:ln/>
        </p:spPr>
      </p:sp>
      <p:sp>
        <p:nvSpPr>
          <p:cNvPr id="62" name="Text 56"/>
          <p:cNvSpPr txBox="1"/>
          <p:nvPr/>
        </p:nvSpPr>
        <p:spPr>
          <a:xfrm>
            <a:off x="6519672" y="5193792"/>
            <a:ext cx="1179576" cy="384048"/>
          </a:xfrm>
          <a:prstGeom prst="rect">
            <a:avLst/>
          </a:prstGeom>
          <a:noFill/>
          <a:ln/>
        </p:spPr>
        <p:txBody>
          <a:bodyPr wrap="square" lIns="0" tIns="0" rIns="0" bIns="0" rtlCol="0" anchor="ctr"/>
          <a:lstStyle/>
          <a:p>
            <a:pPr marL="0" indent="0" algn="ctr">
              <a:buNone/>
            </a:pPr>
            <a:r>
              <a:rPr lang="en-US" sz="1200" b="1" dirty="0">
                <a:solidFill>
                  <a:srgbClr val="132226"/>
                </a:solidFill>
              </a:rPr>
              <a:t>GitHub Actions</a:t>
            </a:r>
            <a:endParaRPr lang="en-US" sz="1400" dirty="0"/>
          </a:p>
        </p:txBody>
      </p:sp>
      <p:sp>
        <p:nvSpPr>
          <p:cNvPr id="63" name="connector"/>
          <p:cNvSpPr/>
          <p:nvPr/>
        </p:nvSpPr>
        <p:spPr>
          <a:xfrm>
            <a:off x="7799832" y="5385816"/>
            <a:ext cx="219456" cy="0"/>
          </a:xfrm>
          <a:prstGeom prst="line">
            <a:avLst/>
          </a:prstGeom>
          <a:noFill/>
          <a:ln w="19050">
            <a:solidFill>
              <a:srgbClr val="0E7C7B"/>
            </a:solidFill>
            <a:prstDash val="solid"/>
            <a:tailEnd type="triangle"/>
          </a:ln>
        </p:spPr>
      </p:sp>
      <p:sp>
        <p:nvSpPr>
          <p:cNvPr id="64" name="chip OIDC"/>
          <p:cNvSpPr/>
          <p:nvPr/>
        </p:nvSpPr>
        <p:spPr>
          <a:xfrm>
            <a:off x="8046720" y="5193792"/>
            <a:ext cx="731520" cy="384048"/>
          </a:xfrm>
          <a:prstGeom prst="roundRect">
            <a:avLst>
              <a:gd name="adj" fmla="val 19048"/>
            </a:avLst>
          </a:prstGeom>
          <a:solidFill>
            <a:srgbClr val="E1F0EF"/>
          </a:solidFill>
          <a:ln/>
        </p:spPr>
      </p:sp>
      <p:sp>
        <p:nvSpPr>
          <p:cNvPr id="65" name="Text 59"/>
          <p:cNvSpPr txBox="1"/>
          <p:nvPr/>
        </p:nvSpPr>
        <p:spPr>
          <a:xfrm>
            <a:off x="8119872" y="5193792"/>
            <a:ext cx="585216" cy="384048"/>
          </a:xfrm>
          <a:prstGeom prst="rect">
            <a:avLst/>
          </a:prstGeom>
          <a:noFill/>
          <a:ln/>
        </p:spPr>
        <p:txBody>
          <a:bodyPr wrap="square" lIns="0" tIns="0" rIns="0" bIns="0" rtlCol="0" anchor="ctr"/>
          <a:lstStyle/>
          <a:p>
            <a:pPr marL="0" indent="0" algn="ctr">
              <a:buNone/>
            </a:pPr>
            <a:r>
              <a:rPr lang="en-US" sz="1200" b="1" dirty="0">
                <a:solidFill>
                  <a:srgbClr val="132226"/>
                </a:solidFill>
              </a:rPr>
              <a:t>OIDC</a:t>
            </a:r>
            <a:endParaRPr lang="en-US" sz="1400" dirty="0"/>
          </a:p>
        </p:txBody>
      </p:sp>
      <p:sp>
        <p:nvSpPr>
          <p:cNvPr id="66" name="connector"/>
          <p:cNvSpPr/>
          <p:nvPr/>
        </p:nvSpPr>
        <p:spPr>
          <a:xfrm>
            <a:off x="8805672" y="5385816"/>
            <a:ext cx="219456" cy="0"/>
          </a:xfrm>
          <a:prstGeom prst="line">
            <a:avLst/>
          </a:prstGeom>
          <a:noFill/>
          <a:ln w="19050">
            <a:solidFill>
              <a:srgbClr val="0E7C7B"/>
            </a:solidFill>
            <a:prstDash val="solid"/>
            <a:tailEnd type="triangle"/>
          </a:ln>
        </p:spPr>
      </p:sp>
      <p:sp>
        <p:nvSpPr>
          <p:cNvPr id="67" name="chip ECR"/>
          <p:cNvSpPr/>
          <p:nvPr/>
        </p:nvSpPr>
        <p:spPr>
          <a:xfrm>
            <a:off x="9052560" y="5193792"/>
            <a:ext cx="685800" cy="384048"/>
          </a:xfrm>
          <a:prstGeom prst="roundRect">
            <a:avLst>
              <a:gd name="adj" fmla="val 19048"/>
            </a:avLst>
          </a:prstGeom>
          <a:solidFill>
            <a:srgbClr val="E1F0EF"/>
          </a:solidFill>
          <a:ln/>
        </p:spPr>
      </p:sp>
      <p:sp>
        <p:nvSpPr>
          <p:cNvPr id="68" name="Text 62"/>
          <p:cNvSpPr txBox="1"/>
          <p:nvPr/>
        </p:nvSpPr>
        <p:spPr>
          <a:xfrm>
            <a:off x="9125712" y="5193792"/>
            <a:ext cx="539496" cy="384048"/>
          </a:xfrm>
          <a:prstGeom prst="rect">
            <a:avLst/>
          </a:prstGeom>
          <a:noFill/>
          <a:ln/>
        </p:spPr>
        <p:txBody>
          <a:bodyPr wrap="square" lIns="0" tIns="0" rIns="0" bIns="0" rtlCol="0" anchor="ctr"/>
          <a:lstStyle/>
          <a:p>
            <a:pPr marL="0" indent="0" algn="ctr">
              <a:buNone/>
            </a:pPr>
            <a:r>
              <a:rPr lang="en-US" sz="1200" b="1" dirty="0">
                <a:solidFill>
                  <a:srgbClr val="132226"/>
                </a:solidFill>
              </a:rPr>
              <a:t>ECR</a:t>
            </a:r>
            <a:endParaRPr lang="en-US" sz="1400" dirty="0"/>
          </a:p>
        </p:txBody>
      </p:sp>
      <p:sp>
        <p:nvSpPr>
          <p:cNvPr id="69" name="connector"/>
          <p:cNvSpPr/>
          <p:nvPr/>
        </p:nvSpPr>
        <p:spPr>
          <a:xfrm>
            <a:off x="9765792" y="5385816"/>
            <a:ext cx="219456" cy="0"/>
          </a:xfrm>
          <a:prstGeom prst="line">
            <a:avLst/>
          </a:prstGeom>
          <a:noFill/>
          <a:ln w="19050">
            <a:solidFill>
              <a:srgbClr val="0E7C7B"/>
            </a:solidFill>
            <a:prstDash val="solid"/>
            <a:tailEnd type="triangle"/>
          </a:ln>
        </p:spPr>
      </p:sp>
      <p:sp>
        <p:nvSpPr>
          <p:cNvPr id="70" name="chip ECS rolling deploy"/>
          <p:cNvSpPr/>
          <p:nvPr/>
        </p:nvSpPr>
        <p:spPr>
          <a:xfrm>
            <a:off x="10012680" y="5193792"/>
            <a:ext cx="1463040" cy="384048"/>
          </a:xfrm>
          <a:prstGeom prst="roundRect">
            <a:avLst>
              <a:gd name="adj" fmla="val 19048"/>
            </a:avLst>
          </a:prstGeom>
          <a:solidFill>
            <a:srgbClr val="E1F0EF"/>
          </a:solidFill>
          <a:ln/>
        </p:spPr>
      </p:sp>
      <p:sp>
        <p:nvSpPr>
          <p:cNvPr id="71" name="Text 65"/>
          <p:cNvSpPr txBox="1"/>
          <p:nvPr/>
        </p:nvSpPr>
        <p:spPr>
          <a:xfrm>
            <a:off x="10085832" y="5193792"/>
            <a:ext cx="1316736" cy="384048"/>
          </a:xfrm>
          <a:prstGeom prst="rect">
            <a:avLst/>
          </a:prstGeom>
          <a:noFill/>
          <a:ln/>
        </p:spPr>
        <p:txBody>
          <a:bodyPr wrap="square" lIns="0" tIns="0" rIns="0" bIns="0" rtlCol="0" anchor="ctr"/>
          <a:lstStyle/>
          <a:p>
            <a:pPr marL="0" indent="0" algn="ctr">
              <a:buNone/>
            </a:pPr>
            <a:r>
              <a:rPr lang="en-US" sz="1200" b="1" dirty="0">
                <a:solidFill>
                  <a:srgbClr val="132226"/>
                </a:solidFill>
              </a:rPr>
              <a:t>ECS rolling deploy</a:t>
            </a:r>
            <a:endParaRPr lang="en-US" sz="1400" dirty="0"/>
          </a:p>
        </p:txBody>
      </p:sp>
      <p:sp>
        <p:nvSpPr>
          <p:cNvPr id="72" name="recovery strip"/>
          <p:cNvSpPr/>
          <p:nvPr/>
        </p:nvSpPr>
        <p:spPr>
          <a:xfrm>
            <a:off x="731520" y="5669280"/>
            <a:ext cx="10725912" cy="365760"/>
          </a:xfrm>
          <a:prstGeom prst="roundRect">
            <a:avLst>
              <a:gd name="adj" fmla="val 15000"/>
            </a:avLst>
          </a:prstGeom>
          <a:solidFill>
            <a:srgbClr val="FDF0DC"/>
          </a:solidFill>
          <a:ln/>
        </p:spPr>
      </p:sp>
      <p:sp>
        <p:nvSpPr>
          <p:cNvPr id="73" name="Text 67"/>
          <p:cNvSpPr txBox="1"/>
          <p:nvPr/>
        </p:nvSpPr>
        <p:spPr>
          <a:xfrm>
            <a:off x="868680" y="5669280"/>
            <a:ext cx="10515600" cy="365760"/>
          </a:xfrm>
          <a:prstGeom prst="rect">
            <a:avLst/>
          </a:prstGeom>
          <a:noFill/>
          <a:ln/>
        </p:spPr>
        <p:txBody>
          <a:bodyPr wrap="square" lIns="0" tIns="0" rIns="0" bIns="0" rtlCol="0" anchor="ctr"/>
          <a:lstStyle/>
          <a:p>
            <a:pPr marL="0" indent="0">
              <a:buNone/>
            </a:pPr>
            <a:r>
              <a:rPr lang="en-US" sz="1200" b="1" dirty="0">
                <a:solidFill>
                  <a:srgbClr val="A8620A"/>
                </a:solidFill>
              </a:rPr>
              <a:t>Morning recovery:  </a:t>
            </a:r>
            <a:r>
              <a:rPr lang="en-US" sz="1200" dirty="0">
                <a:solidFill>
                  <a:srgbClr val="132226"/>
                </a:solidFill>
              </a:rPr>
              <a:t>HCP Terraform rebuild  →  restore application  →  discover CloudFront  →  update persistent Route 53  →  verify public HTTPS</a:t>
            </a:r>
            <a:endParaRPr lang="en-US" sz="1200" dirty="0"/>
          </a:p>
        </p:txBody>
      </p:sp>
      <p:sp>
        <p:nvSpPr>
          <p:cNvPr id="74"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 0">
            <a:extLst>
              <a:ext uri="{FF2B5EF4-FFF2-40B4-BE49-F238E27FC236}">
                <a16:creationId xmlns:a16="http://schemas.microsoft.com/office/drawing/2014/main" id="{329FDCCB-6908-45C6-B6B0-DAA317283282}"/>
              </a:ext>
            </a:extLst>
          </p:cNvPr>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Why I chose these AWS resources</a:t>
            </a:r>
            <a:endParaRPr lang="en-US" sz="3000" dirty="0"/>
          </a:p>
        </p:txBody>
      </p:sp>
      <p:sp>
        <p:nvSpPr>
          <p:cNvPr id="159" name="Text 0">
            <a:extLst>
              <a:ext uri="{FF2B5EF4-FFF2-40B4-BE49-F238E27FC236}">
                <a16:creationId xmlns:a16="http://schemas.microsoft.com/office/drawing/2014/main" id="{75B30BF9-A62F-4F4A-81BB-0F73EFA1AB4D}"/>
              </a:ext>
            </a:extLst>
          </p:cNvPr>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Every service answers one of the four design goals: secure, highly available, reproducible or recoverable.</a:t>
            </a:r>
            <a:endParaRPr lang="en-US" sz="1400" dirty="0"/>
          </a:p>
        </p:txBody>
      </p:sp>
      <p:sp>
        <p:nvSpPr>
          <p:cNvPr id="160" name="milestone tag">
            <a:extLst>
              <a:ext uri="{FF2B5EF4-FFF2-40B4-BE49-F238E27FC236}">
                <a16:creationId xmlns:a16="http://schemas.microsoft.com/office/drawing/2014/main" id="{C8F7A62F-389F-4F1F-90B9-CCFD3FFA489A}"/>
              </a:ext>
            </a:extLst>
          </p:cNvPr>
          <p:cNvSpPr/>
          <p:nvPr/>
        </p:nvSpPr>
        <p:spPr>
          <a:xfrm>
            <a:off x="10177272" y="502920"/>
            <a:ext cx="1463040" cy="365760"/>
          </a:xfrm>
          <a:prstGeom prst="roundRect">
            <a:avLst>
              <a:gd name="adj" fmla="val 50000"/>
            </a:avLst>
          </a:prstGeom>
          <a:solidFill>
            <a:srgbClr val="0E3B43"/>
          </a:solidFill>
          <a:ln/>
        </p:spPr>
      </p:sp>
      <p:sp>
        <p:nvSpPr>
          <p:cNvPr id="161" name="Text 3">
            <a:extLst>
              <a:ext uri="{FF2B5EF4-FFF2-40B4-BE49-F238E27FC236}">
                <a16:creationId xmlns:a16="http://schemas.microsoft.com/office/drawing/2014/main" id="{5E3F4236-ED67-44FF-8F83-CD924A2CDD26}"/>
              </a:ext>
            </a:extLst>
          </p:cNvPr>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Design</a:t>
            </a:r>
            <a:endParaRPr lang="en-US" sz="1200" dirty="0"/>
          </a:p>
        </p:txBody>
      </p:sp>
      <p:sp>
        <p:nvSpPr>
          <p:cNvPr id="162" name="card">
            <a:extLst>
              <a:ext uri="{FF2B5EF4-FFF2-40B4-BE49-F238E27FC236}">
                <a16:creationId xmlns:a16="http://schemas.microsoft.com/office/drawing/2014/main" id="{A376169E-5EBC-4BC0-9B69-70F568B23C73}"/>
              </a:ext>
            </a:extLst>
          </p:cNvPr>
          <p:cNvSpPr/>
          <p:nvPr/>
        </p:nvSpPr>
        <p:spPr>
          <a:xfrm>
            <a:off x="548640" y="1463040"/>
            <a:ext cx="2635758" cy="1325880"/>
          </a:xfrm>
          <a:prstGeom prst="roundRect">
            <a:avLst>
              <a:gd name="adj" fmla="val 6897"/>
            </a:avLst>
          </a:prstGeom>
          <a:solidFill>
            <a:srgbClr val="FFFFFF"/>
          </a:solidFill>
          <a:ln/>
          <a:effectLst>
            <a:outerShdw blurRad="114300" dist="25400" dir="5400000" algn="bl" rotWithShape="0">
              <a:srgbClr val="0E3B43">
                <a:alpha val="13000"/>
              </a:srgbClr>
            </a:outerShdw>
          </a:effectLst>
        </p:spPr>
      </p:sp>
      <p:sp>
        <p:nvSpPr>
          <p:cNvPr id="163" name="VPC · 2 AZs circle">
            <a:extLst>
              <a:ext uri="{FF2B5EF4-FFF2-40B4-BE49-F238E27FC236}">
                <a16:creationId xmlns:a16="http://schemas.microsoft.com/office/drawing/2014/main" id="{F3D92144-1C82-41B2-9A2F-A0582BADBA06}"/>
              </a:ext>
            </a:extLst>
          </p:cNvPr>
          <p:cNvSpPr/>
          <p:nvPr/>
        </p:nvSpPr>
        <p:spPr>
          <a:xfrm>
            <a:off x="713232" y="1645920"/>
            <a:ext cx="420624" cy="420624"/>
          </a:xfrm>
          <a:prstGeom prst="ellipse">
            <a:avLst/>
          </a:prstGeom>
          <a:solidFill>
            <a:schemeClr val="accent2"/>
          </a:solidFill>
          <a:ln/>
        </p:spPr>
      </p:sp>
      <p:pic>
        <p:nvPicPr>
          <p:cNvPr id="164" name="VPC · 2 AZs" descr="preencoded.png">
            <a:extLst>
              <a:ext uri="{FF2B5EF4-FFF2-40B4-BE49-F238E27FC236}">
                <a16:creationId xmlns:a16="http://schemas.microsoft.com/office/drawing/2014/main" id="{64D4C5BC-8870-4A58-B67A-2658D9682892}"/>
              </a:ext>
            </a:extLst>
          </p:cNvPr>
          <p:cNvPicPr>
            <a:picLocks noChangeAspect="1"/>
          </p:cNvPicPr>
          <p:nvPr/>
        </p:nvPicPr>
        <p:blipFill>
          <a:blip r:embed="rId3"/>
          <a:stretch>
            <a:fillRect/>
          </a:stretch>
        </p:blipFill>
        <p:spPr>
          <a:xfrm>
            <a:off x="814182" y="1746870"/>
            <a:ext cx="218724" cy="218724"/>
          </a:xfrm>
          <a:prstGeom prst="rect">
            <a:avLst/>
          </a:prstGeom>
        </p:spPr>
      </p:pic>
      <p:sp>
        <p:nvSpPr>
          <p:cNvPr id="165" name="Text 6">
            <a:extLst>
              <a:ext uri="{FF2B5EF4-FFF2-40B4-BE49-F238E27FC236}">
                <a16:creationId xmlns:a16="http://schemas.microsoft.com/office/drawing/2014/main" id="{9BF47FCB-2F4A-465E-AFEA-B06A4FC9ADE5}"/>
              </a:ext>
            </a:extLst>
          </p:cNvPr>
          <p:cNvSpPr txBox="1"/>
          <p:nvPr/>
        </p:nvSpPr>
        <p:spPr>
          <a:xfrm>
            <a:off x="1261872" y="1600200"/>
            <a:ext cx="1812798" cy="201168"/>
          </a:xfrm>
          <a:prstGeom prst="rect">
            <a:avLst/>
          </a:prstGeom>
          <a:noFill/>
          <a:ln/>
        </p:spPr>
        <p:txBody>
          <a:bodyPr wrap="square" lIns="0" tIns="0" rIns="0" bIns="0" rtlCol="0" anchor="t"/>
          <a:lstStyle/>
          <a:p>
            <a:pPr marL="0" indent="0">
              <a:buNone/>
            </a:pPr>
            <a:r>
              <a:rPr lang="en-US" sz="1000" b="1" kern="0" spc="100" dirty="0">
                <a:solidFill>
                  <a:srgbClr val="A8620A"/>
                </a:solidFill>
              </a:rPr>
              <a:t>NETWORK &amp; EDGE</a:t>
            </a:r>
            <a:endParaRPr lang="en-US" sz="1000" dirty="0"/>
          </a:p>
        </p:txBody>
      </p:sp>
      <p:sp>
        <p:nvSpPr>
          <p:cNvPr id="166" name="Text 7">
            <a:extLst>
              <a:ext uri="{FF2B5EF4-FFF2-40B4-BE49-F238E27FC236}">
                <a16:creationId xmlns:a16="http://schemas.microsoft.com/office/drawing/2014/main" id="{024CE3C0-8241-404E-AF5F-ECEBEBC9BC2A}"/>
              </a:ext>
            </a:extLst>
          </p:cNvPr>
          <p:cNvSpPr txBox="1"/>
          <p:nvPr/>
        </p:nvSpPr>
        <p:spPr>
          <a:xfrm>
            <a:off x="1261872" y="1792224"/>
            <a:ext cx="1812798" cy="292608"/>
          </a:xfrm>
          <a:prstGeom prst="rect">
            <a:avLst/>
          </a:prstGeom>
          <a:noFill/>
          <a:ln/>
        </p:spPr>
        <p:txBody>
          <a:bodyPr wrap="square" lIns="0" tIns="0" rIns="0" bIns="0" rtlCol="0" anchor="t"/>
          <a:lstStyle/>
          <a:p>
            <a:pPr marL="0" indent="0">
              <a:buNone/>
            </a:pPr>
            <a:r>
              <a:rPr lang="en-US" sz="1500" b="1" dirty="0">
                <a:solidFill>
                  <a:srgbClr val="132226"/>
                </a:solidFill>
              </a:rPr>
              <a:t>VPC · 2 AZs</a:t>
            </a:r>
            <a:endParaRPr lang="en-US" sz="1500" dirty="0"/>
          </a:p>
        </p:txBody>
      </p:sp>
      <p:sp>
        <p:nvSpPr>
          <p:cNvPr id="167" name="Text 8">
            <a:extLst>
              <a:ext uri="{FF2B5EF4-FFF2-40B4-BE49-F238E27FC236}">
                <a16:creationId xmlns:a16="http://schemas.microsoft.com/office/drawing/2014/main" id="{18FB71CB-F21E-4544-ABFB-35FA1645500B}"/>
              </a:ext>
            </a:extLst>
          </p:cNvPr>
          <p:cNvSpPr txBox="1"/>
          <p:nvPr/>
        </p:nvSpPr>
        <p:spPr>
          <a:xfrm>
            <a:off x="713232" y="2157984"/>
            <a:ext cx="2343150" cy="585216"/>
          </a:xfrm>
          <a:prstGeom prst="rect">
            <a:avLst/>
          </a:prstGeom>
          <a:noFill/>
          <a:ln/>
        </p:spPr>
        <p:txBody>
          <a:bodyPr wrap="square" lIns="0" tIns="0" rIns="0" bIns="0" rtlCol="0" anchor="t"/>
          <a:lstStyle/>
          <a:p>
            <a:pPr marL="0" indent="0">
              <a:buNone/>
            </a:pPr>
            <a:r>
              <a:rPr lang="en-US" sz="1300" dirty="0">
                <a:solidFill>
                  <a:srgbClr val="4A5B5E"/>
                </a:solidFill>
              </a:rPr>
              <a:t>Isolates tiers; two AZs remove a single point of failure</a:t>
            </a:r>
            <a:endParaRPr lang="en-US" sz="1300" dirty="0"/>
          </a:p>
        </p:txBody>
      </p:sp>
      <p:sp>
        <p:nvSpPr>
          <p:cNvPr id="168" name="card">
            <a:extLst>
              <a:ext uri="{FF2B5EF4-FFF2-40B4-BE49-F238E27FC236}">
                <a16:creationId xmlns:a16="http://schemas.microsoft.com/office/drawing/2014/main" id="{A3559E3B-EC81-48B1-8CC8-88455BCC147A}"/>
              </a:ext>
            </a:extLst>
          </p:cNvPr>
          <p:cNvSpPr/>
          <p:nvPr/>
        </p:nvSpPr>
        <p:spPr>
          <a:xfrm>
            <a:off x="3367278" y="1463040"/>
            <a:ext cx="2635758" cy="1325880"/>
          </a:xfrm>
          <a:prstGeom prst="roundRect">
            <a:avLst>
              <a:gd name="adj" fmla="val 6897"/>
            </a:avLst>
          </a:prstGeom>
          <a:solidFill>
            <a:srgbClr val="FFFFFF"/>
          </a:solidFill>
          <a:ln/>
          <a:effectLst>
            <a:outerShdw blurRad="114300" dist="25400" dir="5400000" algn="bl" rotWithShape="0">
              <a:srgbClr val="0E3B43">
                <a:alpha val="13000"/>
              </a:srgbClr>
            </a:outerShdw>
          </a:effectLst>
        </p:spPr>
      </p:sp>
      <p:sp>
        <p:nvSpPr>
          <p:cNvPr id="169" name="NAT Gateways ×2 circle">
            <a:extLst>
              <a:ext uri="{FF2B5EF4-FFF2-40B4-BE49-F238E27FC236}">
                <a16:creationId xmlns:a16="http://schemas.microsoft.com/office/drawing/2014/main" id="{B3E41BBA-1C96-47EF-8C37-23535A6968D5}"/>
              </a:ext>
            </a:extLst>
          </p:cNvPr>
          <p:cNvSpPr/>
          <p:nvPr/>
        </p:nvSpPr>
        <p:spPr>
          <a:xfrm>
            <a:off x="3531870" y="1645920"/>
            <a:ext cx="420624" cy="420624"/>
          </a:xfrm>
          <a:prstGeom prst="ellipse">
            <a:avLst/>
          </a:prstGeom>
          <a:solidFill>
            <a:schemeClr val="accent2"/>
          </a:solidFill>
          <a:ln/>
        </p:spPr>
      </p:sp>
      <p:pic>
        <p:nvPicPr>
          <p:cNvPr id="170" name="NAT Gateways ×2" descr="preencoded.png">
            <a:extLst>
              <a:ext uri="{FF2B5EF4-FFF2-40B4-BE49-F238E27FC236}">
                <a16:creationId xmlns:a16="http://schemas.microsoft.com/office/drawing/2014/main" id="{D74819BB-77D9-43A1-B685-34AC3B59D165}"/>
              </a:ext>
            </a:extLst>
          </p:cNvPr>
          <p:cNvPicPr>
            <a:picLocks noChangeAspect="1"/>
          </p:cNvPicPr>
          <p:nvPr/>
        </p:nvPicPr>
        <p:blipFill>
          <a:blip r:embed="rId4"/>
          <a:stretch>
            <a:fillRect/>
          </a:stretch>
        </p:blipFill>
        <p:spPr>
          <a:xfrm>
            <a:off x="3632820" y="1746870"/>
            <a:ext cx="218724" cy="218724"/>
          </a:xfrm>
          <a:prstGeom prst="rect">
            <a:avLst/>
          </a:prstGeom>
        </p:spPr>
      </p:pic>
      <p:sp>
        <p:nvSpPr>
          <p:cNvPr id="171" name="Text 11">
            <a:extLst>
              <a:ext uri="{FF2B5EF4-FFF2-40B4-BE49-F238E27FC236}">
                <a16:creationId xmlns:a16="http://schemas.microsoft.com/office/drawing/2014/main" id="{8B75CF63-92C0-463B-8B91-E712ED57F563}"/>
              </a:ext>
            </a:extLst>
          </p:cNvPr>
          <p:cNvSpPr txBox="1"/>
          <p:nvPr/>
        </p:nvSpPr>
        <p:spPr>
          <a:xfrm>
            <a:off x="4080510" y="1600200"/>
            <a:ext cx="1812798" cy="201168"/>
          </a:xfrm>
          <a:prstGeom prst="rect">
            <a:avLst/>
          </a:prstGeom>
          <a:noFill/>
          <a:ln/>
        </p:spPr>
        <p:txBody>
          <a:bodyPr wrap="square" lIns="0" tIns="0" rIns="0" bIns="0" rtlCol="0" anchor="t"/>
          <a:lstStyle/>
          <a:p>
            <a:pPr marL="0" indent="0">
              <a:buNone/>
            </a:pPr>
            <a:r>
              <a:rPr lang="en-US" sz="1000" b="1" kern="0" spc="100" dirty="0">
                <a:solidFill>
                  <a:srgbClr val="A8620A"/>
                </a:solidFill>
              </a:rPr>
              <a:t>NETWORK &amp; EDGE</a:t>
            </a:r>
            <a:endParaRPr lang="en-US" sz="1000" dirty="0"/>
          </a:p>
        </p:txBody>
      </p:sp>
      <p:sp>
        <p:nvSpPr>
          <p:cNvPr id="172" name="Text 12">
            <a:extLst>
              <a:ext uri="{FF2B5EF4-FFF2-40B4-BE49-F238E27FC236}">
                <a16:creationId xmlns:a16="http://schemas.microsoft.com/office/drawing/2014/main" id="{8ABD7759-BA0F-447F-80E2-157D863CD061}"/>
              </a:ext>
            </a:extLst>
          </p:cNvPr>
          <p:cNvSpPr txBox="1"/>
          <p:nvPr/>
        </p:nvSpPr>
        <p:spPr>
          <a:xfrm>
            <a:off x="4080510" y="1792224"/>
            <a:ext cx="1812798" cy="292608"/>
          </a:xfrm>
          <a:prstGeom prst="rect">
            <a:avLst/>
          </a:prstGeom>
          <a:noFill/>
          <a:ln/>
        </p:spPr>
        <p:txBody>
          <a:bodyPr wrap="square" lIns="0" tIns="0" rIns="0" bIns="0" rtlCol="0" anchor="t"/>
          <a:lstStyle/>
          <a:p>
            <a:pPr marL="0" indent="0">
              <a:buNone/>
            </a:pPr>
            <a:r>
              <a:rPr lang="en-US" sz="1500" b="1" dirty="0">
                <a:solidFill>
                  <a:srgbClr val="132226"/>
                </a:solidFill>
              </a:rPr>
              <a:t>NAT Gateways ×2</a:t>
            </a:r>
            <a:endParaRPr lang="en-US" sz="1500" dirty="0"/>
          </a:p>
        </p:txBody>
      </p:sp>
      <p:sp>
        <p:nvSpPr>
          <p:cNvPr id="173" name="Text 13">
            <a:extLst>
              <a:ext uri="{FF2B5EF4-FFF2-40B4-BE49-F238E27FC236}">
                <a16:creationId xmlns:a16="http://schemas.microsoft.com/office/drawing/2014/main" id="{0DD5DBBC-5DF6-479F-850D-7AC211BF2C37}"/>
              </a:ext>
            </a:extLst>
          </p:cNvPr>
          <p:cNvSpPr txBox="1"/>
          <p:nvPr/>
        </p:nvSpPr>
        <p:spPr>
          <a:xfrm>
            <a:off x="3531870" y="2157984"/>
            <a:ext cx="2343150" cy="585216"/>
          </a:xfrm>
          <a:prstGeom prst="rect">
            <a:avLst/>
          </a:prstGeom>
          <a:noFill/>
          <a:ln/>
        </p:spPr>
        <p:txBody>
          <a:bodyPr wrap="square" lIns="0" tIns="0" rIns="0" bIns="0" rtlCol="0" anchor="t"/>
          <a:lstStyle/>
          <a:p>
            <a:pPr marL="0" indent="0">
              <a:buNone/>
            </a:pPr>
            <a:r>
              <a:rPr lang="en-US" sz="1300" dirty="0">
                <a:solidFill>
                  <a:srgbClr val="4A5B5E"/>
                </a:solidFill>
              </a:rPr>
              <a:t>Outbound-only internet for private tasks, one per AZ</a:t>
            </a:r>
            <a:endParaRPr lang="en-US" sz="1300" dirty="0"/>
          </a:p>
        </p:txBody>
      </p:sp>
      <p:sp>
        <p:nvSpPr>
          <p:cNvPr id="174" name="card">
            <a:extLst>
              <a:ext uri="{FF2B5EF4-FFF2-40B4-BE49-F238E27FC236}">
                <a16:creationId xmlns:a16="http://schemas.microsoft.com/office/drawing/2014/main" id="{4739D223-950F-4C3D-9D5C-48BC73B4B4EF}"/>
              </a:ext>
            </a:extLst>
          </p:cNvPr>
          <p:cNvSpPr/>
          <p:nvPr/>
        </p:nvSpPr>
        <p:spPr>
          <a:xfrm>
            <a:off x="6185916" y="1463040"/>
            <a:ext cx="2635758" cy="1325880"/>
          </a:xfrm>
          <a:prstGeom prst="roundRect">
            <a:avLst>
              <a:gd name="adj" fmla="val 6897"/>
            </a:avLst>
          </a:prstGeom>
          <a:solidFill>
            <a:srgbClr val="FFFFFF"/>
          </a:solidFill>
          <a:ln/>
          <a:effectLst>
            <a:outerShdw blurRad="114300" dist="25400" dir="5400000" algn="bl" rotWithShape="0">
              <a:srgbClr val="0E3B43">
                <a:alpha val="13000"/>
              </a:srgbClr>
            </a:outerShdw>
          </a:effectLst>
        </p:spPr>
      </p:sp>
      <p:sp>
        <p:nvSpPr>
          <p:cNvPr id="175" name="Route 53 circle">
            <a:extLst>
              <a:ext uri="{FF2B5EF4-FFF2-40B4-BE49-F238E27FC236}">
                <a16:creationId xmlns:a16="http://schemas.microsoft.com/office/drawing/2014/main" id="{CD2EFB60-51C9-46D7-B49B-E05208480B0E}"/>
              </a:ext>
            </a:extLst>
          </p:cNvPr>
          <p:cNvSpPr/>
          <p:nvPr/>
        </p:nvSpPr>
        <p:spPr>
          <a:xfrm>
            <a:off x="6350508" y="1645920"/>
            <a:ext cx="420624" cy="420624"/>
          </a:xfrm>
          <a:prstGeom prst="ellipse">
            <a:avLst/>
          </a:prstGeom>
          <a:solidFill>
            <a:schemeClr val="accent2"/>
          </a:solidFill>
          <a:ln/>
        </p:spPr>
      </p:sp>
      <p:pic>
        <p:nvPicPr>
          <p:cNvPr id="176" name="Route 53" descr="preencoded.png">
            <a:extLst>
              <a:ext uri="{FF2B5EF4-FFF2-40B4-BE49-F238E27FC236}">
                <a16:creationId xmlns:a16="http://schemas.microsoft.com/office/drawing/2014/main" id="{596CE554-B7FE-4067-9237-1F52EAD2A6A7}"/>
              </a:ext>
            </a:extLst>
          </p:cNvPr>
          <p:cNvPicPr>
            <a:picLocks noChangeAspect="1"/>
          </p:cNvPicPr>
          <p:nvPr/>
        </p:nvPicPr>
        <p:blipFill>
          <a:blip r:embed="rId5"/>
          <a:stretch>
            <a:fillRect/>
          </a:stretch>
        </p:blipFill>
        <p:spPr>
          <a:xfrm>
            <a:off x="6451458" y="1746870"/>
            <a:ext cx="218724" cy="218724"/>
          </a:xfrm>
          <a:prstGeom prst="rect">
            <a:avLst/>
          </a:prstGeom>
        </p:spPr>
      </p:pic>
      <p:sp>
        <p:nvSpPr>
          <p:cNvPr id="177" name="Text 16">
            <a:extLst>
              <a:ext uri="{FF2B5EF4-FFF2-40B4-BE49-F238E27FC236}">
                <a16:creationId xmlns:a16="http://schemas.microsoft.com/office/drawing/2014/main" id="{4201BFBF-C42A-4804-B812-649F2CE0D0CC}"/>
              </a:ext>
            </a:extLst>
          </p:cNvPr>
          <p:cNvSpPr txBox="1"/>
          <p:nvPr/>
        </p:nvSpPr>
        <p:spPr>
          <a:xfrm>
            <a:off x="6899148" y="1600200"/>
            <a:ext cx="1812798" cy="201168"/>
          </a:xfrm>
          <a:prstGeom prst="rect">
            <a:avLst/>
          </a:prstGeom>
          <a:noFill/>
          <a:ln/>
        </p:spPr>
        <p:txBody>
          <a:bodyPr wrap="square" lIns="0" tIns="0" rIns="0" bIns="0" rtlCol="0" anchor="t"/>
          <a:lstStyle/>
          <a:p>
            <a:pPr marL="0" indent="0">
              <a:buNone/>
            </a:pPr>
            <a:r>
              <a:rPr lang="en-US" sz="1000" b="1" kern="0" spc="100" dirty="0">
                <a:solidFill>
                  <a:srgbClr val="A8620A"/>
                </a:solidFill>
              </a:rPr>
              <a:t>NETWORK &amp; EDGE</a:t>
            </a:r>
            <a:endParaRPr lang="en-US" sz="1000" dirty="0"/>
          </a:p>
        </p:txBody>
      </p:sp>
      <p:sp>
        <p:nvSpPr>
          <p:cNvPr id="178" name="Text 17">
            <a:extLst>
              <a:ext uri="{FF2B5EF4-FFF2-40B4-BE49-F238E27FC236}">
                <a16:creationId xmlns:a16="http://schemas.microsoft.com/office/drawing/2014/main" id="{6F269F8A-8494-4AD8-A94C-F595EB226B99}"/>
              </a:ext>
            </a:extLst>
          </p:cNvPr>
          <p:cNvSpPr txBox="1"/>
          <p:nvPr/>
        </p:nvSpPr>
        <p:spPr>
          <a:xfrm>
            <a:off x="6899148" y="1792224"/>
            <a:ext cx="1812798" cy="292608"/>
          </a:xfrm>
          <a:prstGeom prst="rect">
            <a:avLst/>
          </a:prstGeom>
          <a:noFill/>
          <a:ln/>
        </p:spPr>
        <p:txBody>
          <a:bodyPr wrap="square" lIns="0" tIns="0" rIns="0" bIns="0" rtlCol="0" anchor="t"/>
          <a:lstStyle/>
          <a:p>
            <a:pPr marL="0" indent="0">
              <a:buNone/>
            </a:pPr>
            <a:r>
              <a:rPr lang="en-US" sz="1500" b="1" dirty="0">
                <a:solidFill>
                  <a:srgbClr val="132226"/>
                </a:solidFill>
              </a:rPr>
              <a:t>Route 53</a:t>
            </a:r>
            <a:endParaRPr lang="en-US" sz="1500" dirty="0"/>
          </a:p>
        </p:txBody>
      </p:sp>
      <p:sp>
        <p:nvSpPr>
          <p:cNvPr id="179" name="Text 18">
            <a:extLst>
              <a:ext uri="{FF2B5EF4-FFF2-40B4-BE49-F238E27FC236}">
                <a16:creationId xmlns:a16="http://schemas.microsoft.com/office/drawing/2014/main" id="{C5691388-E681-40C4-B59F-CA11E8DB05BB}"/>
              </a:ext>
            </a:extLst>
          </p:cNvPr>
          <p:cNvSpPr txBox="1"/>
          <p:nvPr/>
        </p:nvSpPr>
        <p:spPr>
          <a:xfrm>
            <a:off x="6350508" y="2157984"/>
            <a:ext cx="2343150" cy="585216"/>
          </a:xfrm>
          <a:prstGeom prst="rect">
            <a:avLst/>
          </a:prstGeom>
          <a:noFill/>
          <a:ln/>
        </p:spPr>
        <p:txBody>
          <a:bodyPr wrap="square" lIns="0" tIns="0" rIns="0" bIns="0" rtlCol="0" anchor="t"/>
          <a:lstStyle/>
          <a:p>
            <a:pPr marL="0" indent="0">
              <a:buNone/>
            </a:pPr>
            <a:r>
              <a:rPr lang="en-US" sz="1300" dirty="0">
                <a:solidFill>
                  <a:srgbClr val="4A5B5E"/>
                </a:solidFill>
              </a:rPr>
              <a:t>Persistent DNS in personal AWS — survives sandbox cleanup</a:t>
            </a:r>
            <a:endParaRPr lang="en-US" sz="1300" dirty="0"/>
          </a:p>
        </p:txBody>
      </p:sp>
      <p:sp>
        <p:nvSpPr>
          <p:cNvPr id="180" name="card">
            <a:extLst>
              <a:ext uri="{FF2B5EF4-FFF2-40B4-BE49-F238E27FC236}">
                <a16:creationId xmlns:a16="http://schemas.microsoft.com/office/drawing/2014/main" id="{5CA9E708-B372-40A6-9709-66FC328EF9B9}"/>
              </a:ext>
            </a:extLst>
          </p:cNvPr>
          <p:cNvSpPr/>
          <p:nvPr/>
        </p:nvSpPr>
        <p:spPr>
          <a:xfrm>
            <a:off x="9004554" y="1463040"/>
            <a:ext cx="2635758" cy="1325880"/>
          </a:xfrm>
          <a:prstGeom prst="roundRect">
            <a:avLst>
              <a:gd name="adj" fmla="val 6897"/>
            </a:avLst>
          </a:prstGeom>
          <a:solidFill>
            <a:srgbClr val="FFFFFF"/>
          </a:solidFill>
          <a:ln/>
          <a:effectLst>
            <a:outerShdw blurRad="114300" dist="25400" dir="5400000" algn="bl" rotWithShape="0">
              <a:srgbClr val="0E3B43">
                <a:alpha val="13000"/>
              </a:srgbClr>
            </a:outerShdw>
          </a:effectLst>
        </p:spPr>
      </p:sp>
      <p:sp>
        <p:nvSpPr>
          <p:cNvPr id="181" name="CloudFront + ACM circle">
            <a:extLst>
              <a:ext uri="{FF2B5EF4-FFF2-40B4-BE49-F238E27FC236}">
                <a16:creationId xmlns:a16="http://schemas.microsoft.com/office/drawing/2014/main" id="{FD8E6D3F-924D-46F5-8719-19E7E2039476}"/>
              </a:ext>
            </a:extLst>
          </p:cNvPr>
          <p:cNvSpPr/>
          <p:nvPr/>
        </p:nvSpPr>
        <p:spPr>
          <a:xfrm>
            <a:off x="9169146" y="1645920"/>
            <a:ext cx="420624" cy="420624"/>
          </a:xfrm>
          <a:prstGeom prst="ellipse">
            <a:avLst/>
          </a:prstGeom>
          <a:solidFill>
            <a:schemeClr val="accent2"/>
          </a:solidFill>
          <a:ln/>
        </p:spPr>
      </p:sp>
      <p:pic>
        <p:nvPicPr>
          <p:cNvPr id="182" name="CloudFront + ACM" descr="preencoded.png">
            <a:extLst>
              <a:ext uri="{FF2B5EF4-FFF2-40B4-BE49-F238E27FC236}">
                <a16:creationId xmlns:a16="http://schemas.microsoft.com/office/drawing/2014/main" id="{7A7CC6C4-618D-42C6-A973-68FDA98F72B9}"/>
              </a:ext>
            </a:extLst>
          </p:cNvPr>
          <p:cNvPicPr>
            <a:picLocks noChangeAspect="1"/>
          </p:cNvPicPr>
          <p:nvPr/>
        </p:nvPicPr>
        <p:blipFill>
          <a:blip r:embed="rId6"/>
          <a:stretch>
            <a:fillRect/>
          </a:stretch>
        </p:blipFill>
        <p:spPr>
          <a:xfrm>
            <a:off x="9270096" y="1746870"/>
            <a:ext cx="218724" cy="218724"/>
          </a:xfrm>
          <a:prstGeom prst="rect">
            <a:avLst/>
          </a:prstGeom>
        </p:spPr>
      </p:pic>
      <p:sp>
        <p:nvSpPr>
          <p:cNvPr id="183" name="Text 21">
            <a:extLst>
              <a:ext uri="{FF2B5EF4-FFF2-40B4-BE49-F238E27FC236}">
                <a16:creationId xmlns:a16="http://schemas.microsoft.com/office/drawing/2014/main" id="{A3B3C506-23DB-45D3-80AD-8D8F01AF02D3}"/>
              </a:ext>
            </a:extLst>
          </p:cNvPr>
          <p:cNvSpPr txBox="1"/>
          <p:nvPr/>
        </p:nvSpPr>
        <p:spPr>
          <a:xfrm>
            <a:off x="9717786" y="1600200"/>
            <a:ext cx="1812798" cy="201168"/>
          </a:xfrm>
          <a:prstGeom prst="rect">
            <a:avLst/>
          </a:prstGeom>
          <a:noFill/>
          <a:ln/>
        </p:spPr>
        <p:txBody>
          <a:bodyPr wrap="square" lIns="0" tIns="0" rIns="0" bIns="0" rtlCol="0" anchor="t"/>
          <a:lstStyle/>
          <a:p>
            <a:pPr marL="0" indent="0">
              <a:buNone/>
            </a:pPr>
            <a:r>
              <a:rPr lang="en-US" sz="1000" b="1" kern="0" spc="100" dirty="0">
                <a:solidFill>
                  <a:srgbClr val="A8620A"/>
                </a:solidFill>
              </a:rPr>
              <a:t>NETWORK &amp; EDGE</a:t>
            </a:r>
            <a:endParaRPr lang="en-US" sz="1000" dirty="0"/>
          </a:p>
        </p:txBody>
      </p:sp>
      <p:sp>
        <p:nvSpPr>
          <p:cNvPr id="184" name="Text 22">
            <a:extLst>
              <a:ext uri="{FF2B5EF4-FFF2-40B4-BE49-F238E27FC236}">
                <a16:creationId xmlns:a16="http://schemas.microsoft.com/office/drawing/2014/main" id="{037C7D31-B9FD-4140-9C51-0BE1E4DBC61A}"/>
              </a:ext>
            </a:extLst>
          </p:cNvPr>
          <p:cNvSpPr txBox="1"/>
          <p:nvPr/>
        </p:nvSpPr>
        <p:spPr>
          <a:xfrm>
            <a:off x="9717786" y="1792224"/>
            <a:ext cx="1812798" cy="292608"/>
          </a:xfrm>
          <a:prstGeom prst="rect">
            <a:avLst/>
          </a:prstGeom>
          <a:noFill/>
          <a:ln/>
        </p:spPr>
        <p:txBody>
          <a:bodyPr wrap="square" lIns="0" tIns="0" rIns="0" bIns="0" rtlCol="0" anchor="t"/>
          <a:lstStyle/>
          <a:p>
            <a:pPr marL="0" indent="0">
              <a:buNone/>
            </a:pPr>
            <a:r>
              <a:rPr lang="en-US" sz="1500" b="1" dirty="0">
                <a:solidFill>
                  <a:srgbClr val="132226"/>
                </a:solidFill>
              </a:rPr>
              <a:t>CloudFront + ACM</a:t>
            </a:r>
            <a:endParaRPr lang="en-US" sz="1500" dirty="0"/>
          </a:p>
        </p:txBody>
      </p:sp>
      <p:sp>
        <p:nvSpPr>
          <p:cNvPr id="185" name="Text 23">
            <a:extLst>
              <a:ext uri="{FF2B5EF4-FFF2-40B4-BE49-F238E27FC236}">
                <a16:creationId xmlns:a16="http://schemas.microsoft.com/office/drawing/2014/main" id="{43F6711F-2EBE-4236-A7D7-679AE58B3F40}"/>
              </a:ext>
            </a:extLst>
          </p:cNvPr>
          <p:cNvSpPr txBox="1"/>
          <p:nvPr/>
        </p:nvSpPr>
        <p:spPr>
          <a:xfrm>
            <a:off x="9169146" y="2157984"/>
            <a:ext cx="2343150" cy="585216"/>
          </a:xfrm>
          <a:prstGeom prst="rect">
            <a:avLst/>
          </a:prstGeom>
          <a:noFill/>
          <a:ln/>
        </p:spPr>
        <p:txBody>
          <a:bodyPr wrap="square" lIns="0" tIns="0" rIns="0" bIns="0" rtlCol="0" anchor="t"/>
          <a:lstStyle/>
          <a:p>
            <a:pPr marL="0" indent="0">
              <a:buNone/>
            </a:pPr>
            <a:r>
              <a:rPr lang="en-US" sz="1300" dirty="0">
                <a:solidFill>
                  <a:srgbClr val="4A5B5E"/>
                </a:solidFill>
              </a:rPr>
              <a:t>One HTTPS entry point with managed TLS certificates</a:t>
            </a:r>
            <a:endParaRPr lang="en-US" sz="1300" dirty="0"/>
          </a:p>
        </p:txBody>
      </p:sp>
      <p:sp>
        <p:nvSpPr>
          <p:cNvPr id="186" name="card">
            <a:extLst>
              <a:ext uri="{FF2B5EF4-FFF2-40B4-BE49-F238E27FC236}">
                <a16:creationId xmlns:a16="http://schemas.microsoft.com/office/drawing/2014/main" id="{D1D6DD8B-DDEF-45DB-811B-FA9D0984F67B}"/>
              </a:ext>
            </a:extLst>
          </p:cNvPr>
          <p:cNvSpPr/>
          <p:nvPr/>
        </p:nvSpPr>
        <p:spPr>
          <a:xfrm>
            <a:off x="548640" y="2944368"/>
            <a:ext cx="2635758" cy="1325880"/>
          </a:xfrm>
          <a:prstGeom prst="roundRect">
            <a:avLst>
              <a:gd name="adj" fmla="val 6897"/>
            </a:avLst>
          </a:prstGeom>
          <a:solidFill>
            <a:srgbClr val="FFFFFF"/>
          </a:solidFill>
          <a:ln/>
          <a:effectLst>
            <a:outerShdw blurRad="114300" dist="25400" dir="5400000" algn="bl" rotWithShape="0">
              <a:srgbClr val="0E3B43">
                <a:alpha val="13000"/>
              </a:srgbClr>
            </a:outerShdw>
          </a:effectLst>
        </p:spPr>
      </p:sp>
      <p:sp>
        <p:nvSpPr>
          <p:cNvPr id="187" name="AWS WAF circle">
            <a:extLst>
              <a:ext uri="{FF2B5EF4-FFF2-40B4-BE49-F238E27FC236}">
                <a16:creationId xmlns:a16="http://schemas.microsoft.com/office/drawing/2014/main" id="{1856AF2D-0155-4931-85B8-F52096A42686}"/>
              </a:ext>
            </a:extLst>
          </p:cNvPr>
          <p:cNvSpPr/>
          <p:nvPr/>
        </p:nvSpPr>
        <p:spPr>
          <a:xfrm>
            <a:off x="713232" y="3127248"/>
            <a:ext cx="420624" cy="420624"/>
          </a:xfrm>
          <a:prstGeom prst="ellipse">
            <a:avLst/>
          </a:prstGeom>
          <a:solidFill>
            <a:schemeClr val="accent2"/>
          </a:solidFill>
          <a:ln/>
        </p:spPr>
      </p:sp>
      <p:pic>
        <p:nvPicPr>
          <p:cNvPr id="188" name="AWS WAF" descr="preencoded.png">
            <a:extLst>
              <a:ext uri="{FF2B5EF4-FFF2-40B4-BE49-F238E27FC236}">
                <a16:creationId xmlns:a16="http://schemas.microsoft.com/office/drawing/2014/main" id="{703F26FA-3423-436F-A756-88E407B24F21}"/>
              </a:ext>
            </a:extLst>
          </p:cNvPr>
          <p:cNvPicPr>
            <a:picLocks noChangeAspect="1"/>
          </p:cNvPicPr>
          <p:nvPr/>
        </p:nvPicPr>
        <p:blipFill>
          <a:blip r:embed="rId7"/>
          <a:stretch>
            <a:fillRect/>
          </a:stretch>
        </p:blipFill>
        <p:spPr>
          <a:xfrm>
            <a:off x="814182" y="3228198"/>
            <a:ext cx="218724" cy="218724"/>
          </a:xfrm>
          <a:prstGeom prst="rect">
            <a:avLst/>
          </a:prstGeom>
        </p:spPr>
      </p:pic>
      <p:sp>
        <p:nvSpPr>
          <p:cNvPr id="189" name="Text 26">
            <a:extLst>
              <a:ext uri="{FF2B5EF4-FFF2-40B4-BE49-F238E27FC236}">
                <a16:creationId xmlns:a16="http://schemas.microsoft.com/office/drawing/2014/main" id="{614440EF-347B-49C4-B522-3E97DD4149F3}"/>
              </a:ext>
            </a:extLst>
          </p:cNvPr>
          <p:cNvSpPr txBox="1"/>
          <p:nvPr/>
        </p:nvSpPr>
        <p:spPr>
          <a:xfrm>
            <a:off x="1261872" y="3081528"/>
            <a:ext cx="1812798" cy="201168"/>
          </a:xfrm>
          <a:prstGeom prst="rect">
            <a:avLst/>
          </a:prstGeom>
          <a:noFill/>
          <a:ln/>
        </p:spPr>
        <p:txBody>
          <a:bodyPr wrap="square" lIns="0" tIns="0" rIns="0" bIns="0" rtlCol="0" anchor="t"/>
          <a:lstStyle/>
          <a:p>
            <a:pPr marL="0" indent="0">
              <a:buNone/>
            </a:pPr>
            <a:r>
              <a:rPr lang="en-US" sz="1000" b="1" kern="0" spc="100" dirty="0">
                <a:solidFill>
                  <a:srgbClr val="A8620A"/>
                </a:solidFill>
              </a:rPr>
              <a:t>NETWORK &amp; EDGE</a:t>
            </a:r>
            <a:endParaRPr lang="en-US" sz="1000" dirty="0"/>
          </a:p>
        </p:txBody>
      </p:sp>
      <p:sp>
        <p:nvSpPr>
          <p:cNvPr id="190" name="Text 27">
            <a:extLst>
              <a:ext uri="{FF2B5EF4-FFF2-40B4-BE49-F238E27FC236}">
                <a16:creationId xmlns:a16="http://schemas.microsoft.com/office/drawing/2014/main" id="{34566F28-735A-457C-B6B2-4C25333410D0}"/>
              </a:ext>
            </a:extLst>
          </p:cNvPr>
          <p:cNvSpPr txBox="1"/>
          <p:nvPr/>
        </p:nvSpPr>
        <p:spPr>
          <a:xfrm>
            <a:off x="1261872" y="3273552"/>
            <a:ext cx="1812798" cy="292608"/>
          </a:xfrm>
          <a:prstGeom prst="rect">
            <a:avLst/>
          </a:prstGeom>
          <a:noFill/>
          <a:ln/>
        </p:spPr>
        <p:txBody>
          <a:bodyPr wrap="square" lIns="0" tIns="0" rIns="0" bIns="0" rtlCol="0" anchor="t"/>
          <a:lstStyle/>
          <a:p>
            <a:pPr marL="0" indent="0">
              <a:buNone/>
            </a:pPr>
            <a:r>
              <a:rPr lang="en-US" sz="1500" b="1" dirty="0">
                <a:solidFill>
                  <a:srgbClr val="132226"/>
                </a:solidFill>
              </a:rPr>
              <a:t>AWS WAF</a:t>
            </a:r>
            <a:endParaRPr lang="en-US" sz="1500" dirty="0"/>
          </a:p>
        </p:txBody>
      </p:sp>
      <p:sp>
        <p:nvSpPr>
          <p:cNvPr id="191" name="Text 28">
            <a:extLst>
              <a:ext uri="{FF2B5EF4-FFF2-40B4-BE49-F238E27FC236}">
                <a16:creationId xmlns:a16="http://schemas.microsoft.com/office/drawing/2014/main" id="{68F259BD-9D56-495B-BF74-F11268ED23C9}"/>
              </a:ext>
            </a:extLst>
          </p:cNvPr>
          <p:cNvSpPr txBox="1"/>
          <p:nvPr/>
        </p:nvSpPr>
        <p:spPr>
          <a:xfrm>
            <a:off x="713232" y="3639312"/>
            <a:ext cx="2343150" cy="585216"/>
          </a:xfrm>
          <a:prstGeom prst="rect">
            <a:avLst/>
          </a:prstGeom>
          <a:noFill/>
          <a:ln/>
        </p:spPr>
        <p:txBody>
          <a:bodyPr wrap="square" lIns="0" tIns="0" rIns="0" bIns="0" rtlCol="0" anchor="t"/>
          <a:lstStyle/>
          <a:p>
            <a:pPr marL="0" indent="0">
              <a:buNone/>
            </a:pPr>
            <a:r>
              <a:rPr lang="en-US" sz="1300" dirty="0">
                <a:solidFill>
                  <a:srgbClr val="4A5B5E"/>
                </a:solidFill>
              </a:rPr>
              <a:t>Blocks common web attacks and rate-limits abusive IPs</a:t>
            </a:r>
            <a:endParaRPr lang="en-US" sz="1300" dirty="0"/>
          </a:p>
        </p:txBody>
      </p:sp>
      <p:sp>
        <p:nvSpPr>
          <p:cNvPr id="192" name="card">
            <a:extLst>
              <a:ext uri="{FF2B5EF4-FFF2-40B4-BE49-F238E27FC236}">
                <a16:creationId xmlns:a16="http://schemas.microsoft.com/office/drawing/2014/main" id="{B6D229E0-89C9-422F-8B41-61BE36136622}"/>
              </a:ext>
            </a:extLst>
          </p:cNvPr>
          <p:cNvSpPr/>
          <p:nvPr/>
        </p:nvSpPr>
        <p:spPr>
          <a:xfrm>
            <a:off x="3367278" y="2944368"/>
            <a:ext cx="2635758" cy="1325880"/>
          </a:xfrm>
          <a:prstGeom prst="roundRect">
            <a:avLst>
              <a:gd name="adj" fmla="val 6897"/>
            </a:avLst>
          </a:prstGeom>
          <a:solidFill>
            <a:srgbClr val="FFFFFF"/>
          </a:solidFill>
          <a:ln/>
          <a:effectLst>
            <a:outerShdw blurRad="114300" dist="25400" dir="5400000" algn="bl" rotWithShape="0">
              <a:srgbClr val="0E3B43">
                <a:alpha val="13000"/>
              </a:srgbClr>
            </a:outerShdw>
          </a:effectLst>
        </p:spPr>
      </p:sp>
      <p:sp>
        <p:nvSpPr>
          <p:cNvPr id="193" name="Amazon ECR circle">
            <a:extLst>
              <a:ext uri="{FF2B5EF4-FFF2-40B4-BE49-F238E27FC236}">
                <a16:creationId xmlns:a16="http://schemas.microsoft.com/office/drawing/2014/main" id="{A1B95477-A3DB-4630-95B3-7F9A3FF554DB}"/>
              </a:ext>
            </a:extLst>
          </p:cNvPr>
          <p:cNvSpPr/>
          <p:nvPr/>
        </p:nvSpPr>
        <p:spPr>
          <a:xfrm>
            <a:off x="3531870" y="3127248"/>
            <a:ext cx="420624" cy="420624"/>
          </a:xfrm>
          <a:prstGeom prst="ellipse">
            <a:avLst/>
          </a:prstGeom>
          <a:solidFill>
            <a:schemeClr val="accent1"/>
          </a:solidFill>
          <a:ln/>
        </p:spPr>
      </p:sp>
      <p:pic>
        <p:nvPicPr>
          <p:cNvPr id="194" name="Amazon ECR" descr="preencoded.png">
            <a:extLst>
              <a:ext uri="{FF2B5EF4-FFF2-40B4-BE49-F238E27FC236}">
                <a16:creationId xmlns:a16="http://schemas.microsoft.com/office/drawing/2014/main" id="{5A831546-629B-46C9-B4ED-92A2667682E4}"/>
              </a:ext>
            </a:extLst>
          </p:cNvPr>
          <p:cNvPicPr>
            <a:picLocks noChangeAspect="1"/>
          </p:cNvPicPr>
          <p:nvPr/>
        </p:nvPicPr>
        <p:blipFill>
          <a:blip r:embed="rId8"/>
          <a:stretch>
            <a:fillRect/>
          </a:stretch>
        </p:blipFill>
        <p:spPr>
          <a:xfrm>
            <a:off x="3632820" y="3228198"/>
            <a:ext cx="218724" cy="218724"/>
          </a:xfrm>
          <a:prstGeom prst="rect">
            <a:avLst/>
          </a:prstGeom>
        </p:spPr>
      </p:pic>
      <p:sp>
        <p:nvSpPr>
          <p:cNvPr id="195" name="Text 31">
            <a:extLst>
              <a:ext uri="{FF2B5EF4-FFF2-40B4-BE49-F238E27FC236}">
                <a16:creationId xmlns:a16="http://schemas.microsoft.com/office/drawing/2014/main" id="{B8D82D92-C168-4FC6-A73D-5AE643B69D42}"/>
              </a:ext>
            </a:extLst>
          </p:cNvPr>
          <p:cNvSpPr txBox="1"/>
          <p:nvPr/>
        </p:nvSpPr>
        <p:spPr>
          <a:xfrm>
            <a:off x="4080510" y="3081528"/>
            <a:ext cx="1812798" cy="201168"/>
          </a:xfrm>
          <a:prstGeom prst="rect">
            <a:avLst/>
          </a:prstGeom>
          <a:noFill/>
          <a:ln/>
        </p:spPr>
        <p:txBody>
          <a:bodyPr wrap="square" lIns="0" tIns="0" rIns="0" bIns="0" rtlCol="0" anchor="t"/>
          <a:lstStyle/>
          <a:p>
            <a:pPr marL="0" indent="0">
              <a:buNone/>
            </a:pPr>
            <a:r>
              <a:rPr lang="en-US" sz="1000" b="1" kern="0" spc="100" dirty="0">
                <a:solidFill>
                  <a:srgbClr val="0E7C7B"/>
                </a:solidFill>
              </a:rPr>
              <a:t>COMPUTE</a:t>
            </a:r>
            <a:endParaRPr lang="en-US" sz="1000" dirty="0"/>
          </a:p>
        </p:txBody>
      </p:sp>
      <p:sp>
        <p:nvSpPr>
          <p:cNvPr id="196" name="Text 32">
            <a:extLst>
              <a:ext uri="{FF2B5EF4-FFF2-40B4-BE49-F238E27FC236}">
                <a16:creationId xmlns:a16="http://schemas.microsoft.com/office/drawing/2014/main" id="{4906F173-8D21-4387-88DD-924C52187730}"/>
              </a:ext>
            </a:extLst>
          </p:cNvPr>
          <p:cNvSpPr txBox="1"/>
          <p:nvPr/>
        </p:nvSpPr>
        <p:spPr>
          <a:xfrm>
            <a:off x="4080510" y="3273552"/>
            <a:ext cx="1812798" cy="292608"/>
          </a:xfrm>
          <a:prstGeom prst="rect">
            <a:avLst/>
          </a:prstGeom>
          <a:noFill/>
          <a:ln/>
        </p:spPr>
        <p:txBody>
          <a:bodyPr wrap="square" lIns="0" tIns="0" rIns="0" bIns="0" rtlCol="0" anchor="t"/>
          <a:lstStyle/>
          <a:p>
            <a:pPr marL="0" indent="0">
              <a:buNone/>
            </a:pPr>
            <a:r>
              <a:rPr lang="en-US" sz="1500" b="1" dirty="0">
                <a:solidFill>
                  <a:srgbClr val="132226"/>
                </a:solidFill>
              </a:rPr>
              <a:t>Amazon ECR</a:t>
            </a:r>
            <a:endParaRPr lang="en-US" sz="1500" dirty="0"/>
          </a:p>
        </p:txBody>
      </p:sp>
      <p:sp>
        <p:nvSpPr>
          <p:cNvPr id="197" name="Text 33">
            <a:extLst>
              <a:ext uri="{FF2B5EF4-FFF2-40B4-BE49-F238E27FC236}">
                <a16:creationId xmlns:a16="http://schemas.microsoft.com/office/drawing/2014/main" id="{A5A7E94B-0B20-4518-80F4-88B5463180BE}"/>
              </a:ext>
            </a:extLst>
          </p:cNvPr>
          <p:cNvSpPr txBox="1"/>
          <p:nvPr/>
        </p:nvSpPr>
        <p:spPr>
          <a:xfrm>
            <a:off x="3531870" y="3639312"/>
            <a:ext cx="2343150" cy="585216"/>
          </a:xfrm>
          <a:prstGeom prst="rect">
            <a:avLst/>
          </a:prstGeom>
          <a:noFill/>
          <a:ln/>
        </p:spPr>
        <p:txBody>
          <a:bodyPr wrap="square" lIns="0" tIns="0" rIns="0" bIns="0" rtlCol="0" anchor="t"/>
          <a:lstStyle/>
          <a:p>
            <a:pPr marL="0" indent="0">
              <a:buNone/>
            </a:pPr>
            <a:r>
              <a:rPr lang="en-US" sz="1300" dirty="0">
                <a:solidFill>
                  <a:srgbClr val="4A5B5E"/>
                </a:solidFill>
              </a:rPr>
              <a:t>Private image registry; Git-SHA tags make deploys traceable</a:t>
            </a:r>
            <a:endParaRPr lang="en-US" sz="1300" dirty="0"/>
          </a:p>
        </p:txBody>
      </p:sp>
      <p:sp>
        <p:nvSpPr>
          <p:cNvPr id="198" name="card">
            <a:extLst>
              <a:ext uri="{FF2B5EF4-FFF2-40B4-BE49-F238E27FC236}">
                <a16:creationId xmlns:a16="http://schemas.microsoft.com/office/drawing/2014/main" id="{1F1652AC-5DC6-4A02-93C2-1A042E03C041}"/>
              </a:ext>
            </a:extLst>
          </p:cNvPr>
          <p:cNvSpPr/>
          <p:nvPr/>
        </p:nvSpPr>
        <p:spPr>
          <a:xfrm>
            <a:off x="6185916" y="2944368"/>
            <a:ext cx="2635758" cy="1325880"/>
          </a:xfrm>
          <a:prstGeom prst="roundRect">
            <a:avLst>
              <a:gd name="adj" fmla="val 6897"/>
            </a:avLst>
          </a:prstGeom>
          <a:solidFill>
            <a:srgbClr val="FFFFFF"/>
          </a:solidFill>
          <a:ln/>
          <a:effectLst>
            <a:outerShdw blurRad="114300" dist="25400" dir="5400000" algn="bl" rotWithShape="0">
              <a:srgbClr val="0E3B43">
                <a:alpha val="13000"/>
              </a:srgbClr>
            </a:outerShdw>
          </a:effectLst>
        </p:spPr>
      </p:sp>
      <p:sp>
        <p:nvSpPr>
          <p:cNvPr id="199" name="ECS Fargate circle">
            <a:extLst>
              <a:ext uri="{FF2B5EF4-FFF2-40B4-BE49-F238E27FC236}">
                <a16:creationId xmlns:a16="http://schemas.microsoft.com/office/drawing/2014/main" id="{0CA80B56-5E37-499B-A936-BB86BD27149A}"/>
              </a:ext>
            </a:extLst>
          </p:cNvPr>
          <p:cNvSpPr/>
          <p:nvPr/>
        </p:nvSpPr>
        <p:spPr>
          <a:xfrm>
            <a:off x="6350508" y="3127248"/>
            <a:ext cx="420624" cy="420624"/>
          </a:xfrm>
          <a:prstGeom prst="ellipse">
            <a:avLst/>
          </a:prstGeom>
          <a:solidFill>
            <a:schemeClr val="accent1"/>
          </a:solidFill>
          <a:ln/>
        </p:spPr>
      </p:sp>
      <p:pic>
        <p:nvPicPr>
          <p:cNvPr id="200" name="ECS Fargate" descr="preencoded.png">
            <a:extLst>
              <a:ext uri="{FF2B5EF4-FFF2-40B4-BE49-F238E27FC236}">
                <a16:creationId xmlns:a16="http://schemas.microsoft.com/office/drawing/2014/main" id="{EBFEF138-23CD-4E7F-A55A-2EF9EFDBC147}"/>
              </a:ext>
            </a:extLst>
          </p:cNvPr>
          <p:cNvPicPr>
            <a:picLocks noChangeAspect="1"/>
          </p:cNvPicPr>
          <p:nvPr/>
        </p:nvPicPr>
        <p:blipFill>
          <a:blip r:embed="rId9"/>
          <a:stretch>
            <a:fillRect/>
          </a:stretch>
        </p:blipFill>
        <p:spPr>
          <a:xfrm>
            <a:off x="6451458" y="3228198"/>
            <a:ext cx="218724" cy="218724"/>
          </a:xfrm>
          <a:prstGeom prst="rect">
            <a:avLst/>
          </a:prstGeom>
        </p:spPr>
      </p:pic>
      <p:sp>
        <p:nvSpPr>
          <p:cNvPr id="201" name="Text 36">
            <a:extLst>
              <a:ext uri="{FF2B5EF4-FFF2-40B4-BE49-F238E27FC236}">
                <a16:creationId xmlns:a16="http://schemas.microsoft.com/office/drawing/2014/main" id="{4BE4B523-3D8B-463B-9D4F-C01BA6FC4500}"/>
              </a:ext>
            </a:extLst>
          </p:cNvPr>
          <p:cNvSpPr txBox="1"/>
          <p:nvPr/>
        </p:nvSpPr>
        <p:spPr>
          <a:xfrm>
            <a:off x="6899148" y="3081528"/>
            <a:ext cx="1812798" cy="201168"/>
          </a:xfrm>
          <a:prstGeom prst="rect">
            <a:avLst/>
          </a:prstGeom>
          <a:noFill/>
          <a:ln/>
        </p:spPr>
        <p:txBody>
          <a:bodyPr wrap="square" lIns="0" tIns="0" rIns="0" bIns="0" rtlCol="0" anchor="t"/>
          <a:lstStyle/>
          <a:p>
            <a:pPr marL="0" indent="0">
              <a:buNone/>
            </a:pPr>
            <a:r>
              <a:rPr lang="en-US" sz="1000" b="1" kern="0" spc="100" dirty="0">
                <a:solidFill>
                  <a:srgbClr val="0E7C7B"/>
                </a:solidFill>
              </a:rPr>
              <a:t>COMPUTE</a:t>
            </a:r>
            <a:endParaRPr lang="en-US" sz="1000" dirty="0"/>
          </a:p>
        </p:txBody>
      </p:sp>
      <p:sp>
        <p:nvSpPr>
          <p:cNvPr id="202" name="Text 37">
            <a:extLst>
              <a:ext uri="{FF2B5EF4-FFF2-40B4-BE49-F238E27FC236}">
                <a16:creationId xmlns:a16="http://schemas.microsoft.com/office/drawing/2014/main" id="{F797743D-F650-4042-B2FA-EFC35DBA38EF}"/>
              </a:ext>
            </a:extLst>
          </p:cNvPr>
          <p:cNvSpPr txBox="1"/>
          <p:nvPr/>
        </p:nvSpPr>
        <p:spPr>
          <a:xfrm>
            <a:off x="6899148" y="3273552"/>
            <a:ext cx="1812798" cy="292608"/>
          </a:xfrm>
          <a:prstGeom prst="rect">
            <a:avLst/>
          </a:prstGeom>
          <a:noFill/>
          <a:ln/>
        </p:spPr>
        <p:txBody>
          <a:bodyPr wrap="square" lIns="0" tIns="0" rIns="0" bIns="0" rtlCol="0" anchor="t"/>
          <a:lstStyle/>
          <a:p>
            <a:pPr marL="0" indent="0">
              <a:buNone/>
            </a:pPr>
            <a:r>
              <a:rPr lang="en-US" sz="1500" b="1" dirty="0">
                <a:solidFill>
                  <a:srgbClr val="132226"/>
                </a:solidFill>
              </a:rPr>
              <a:t>ECS Fargate</a:t>
            </a:r>
            <a:endParaRPr lang="en-US" sz="1500" dirty="0"/>
          </a:p>
        </p:txBody>
      </p:sp>
      <p:sp>
        <p:nvSpPr>
          <p:cNvPr id="203" name="Text 38">
            <a:extLst>
              <a:ext uri="{FF2B5EF4-FFF2-40B4-BE49-F238E27FC236}">
                <a16:creationId xmlns:a16="http://schemas.microsoft.com/office/drawing/2014/main" id="{5F642837-543D-47CF-8DEF-6BCA4FBCFE6B}"/>
              </a:ext>
            </a:extLst>
          </p:cNvPr>
          <p:cNvSpPr txBox="1"/>
          <p:nvPr/>
        </p:nvSpPr>
        <p:spPr>
          <a:xfrm>
            <a:off x="6350508" y="3639312"/>
            <a:ext cx="2343150" cy="585216"/>
          </a:xfrm>
          <a:prstGeom prst="rect">
            <a:avLst/>
          </a:prstGeom>
          <a:noFill/>
          <a:ln/>
        </p:spPr>
        <p:txBody>
          <a:bodyPr wrap="square" lIns="0" tIns="0" rIns="0" bIns="0" rtlCol="0" anchor="t"/>
          <a:lstStyle/>
          <a:p>
            <a:pPr marL="0" indent="0">
              <a:buNone/>
            </a:pPr>
            <a:r>
              <a:rPr lang="en-US" sz="1300" dirty="0">
                <a:solidFill>
                  <a:srgbClr val="4A5B5E"/>
                </a:solidFill>
              </a:rPr>
              <a:t>Runs containers privately with no EC2 servers to manage</a:t>
            </a:r>
            <a:endParaRPr lang="en-US" sz="1300" dirty="0"/>
          </a:p>
        </p:txBody>
      </p:sp>
      <p:sp>
        <p:nvSpPr>
          <p:cNvPr id="204" name="card">
            <a:extLst>
              <a:ext uri="{FF2B5EF4-FFF2-40B4-BE49-F238E27FC236}">
                <a16:creationId xmlns:a16="http://schemas.microsoft.com/office/drawing/2014/main" id="{6C29AE47-9CAB-4B3A-BE06-FA195E50BB27}"/>
              </a:ext>
            </a:extLst>
          </p:cNvPr>
          <p:cNvSpPr/>
          <p:nvPr/>
        </p:nvSpPr>
        <p:spPr>
          <a:xfrm>
            <a:off x="9004554" y="2944368"/>
            <a:ext cx="2635758" cy="1325880"/>
          </a:xfrm>
          <a:prstGeom prst="roundRect">
            <a:avLst>
              <a:gd name="adj" fmla="val 6897"/>
            </a:avLst>
          </a:prstGeom>
          <a:solidFill>
            <a:srgbClr val="FFFFFF"/>
          </a:solidFill>
          <a:ln/>
          <a:effectLst>
            <a:outerShdw blurRad="114300" dist="25400" dir="5400000" algn="bl" rotWithShape="0">
              <a:srgbClr val="0E3B43">
                <a:alpha val="13000"/>
              </a:srgbClr>
            </a:outerShdw>
          </a:effectLst>
        </p:spPr>
      </p:sp>
      <p:sp>
        <p:nvSpPr>
          <p:cNvPr id="205" name="ALB + Auto Scaling circle">
            <a:extLst>
              <a:ext uri="{FF2B5EF4-FFF2-40B4-BE49-F238E27FC236}">
                <a16:creationId xmlns:a16="http://schemas.microsoft.com/office/drawing/2014/main" id="{B7B4BB79-B4DD-42EA-8639-BCA46AFEE011}"/>
              </a:ext>
            </a:extLst>
          </p:cNvPr>
          <p:cNvSpPr/>
          <p:nvPr/>
        </p:nvSpPr>
        <p:spPr>
          <a:xfrm>
            <a:off x="9169146" y="3127248"/>
            <a:ext cx="420624" cy="420624"/>
          </a:xfrm>
          <a:prstGeom prst="ellipse">
            <a:avLst/>
          </a:prstGeom>
          <a:solidFill>
            <a:schemeClr val="accent1"/>
          </a:solidFill>
          <a:ln/>
        </p:spPr>
      </p:sp>
      <p:pic>
        <p:nvPicPr>
          <p:cNvPr id="206" name="ALB + Auto Scaling" descr="preencoded.png">
            <a:extLst>
              <a:ext uri="{FF2B5EF4-FFF2-40B4-BE49-F238E27FC236}">
                <a16:creationId xmlns:a16="http://schemas.microsoft.com/office/drawing/2014/main" id="{570242A2-D9CE-4A43-B307-ACDD09031C60}"/>
              </a:ext>
            </a:extLst>
          </p:cNvPr>
          <p:cNvPicPr>
            <a:picLocks noChangeAspect="1"/>
          </p:cNvPicPr>
          <p:nvPr/>
        </p:nvPicPr>
        <p:blipFill>
          <a:blip r:embed="rId10"/>
          <a:stretch>
            <a:fillRect/>
          </a:stretch>
        </p:blipFill>
        <p:spPr>
          <a:xfrm>
            <a:off x="9270096" y="3228198"/>
            <a:ext cx="218724" cy="218724"/>
          </a:xfrm>
          <a:prstGeom prst="rect">
            <a:avLst/>
          </a:prstGeom>
        </p:spPr>
      </p:pic>
      <p:sp>
        <p:nvSpPr>
          <p:cNvPr id="207" name="Text 41">
            <a:extLst>
              <a:ext uri="{FF2B5EF4-FFF2-40B4-BE49-F238E27FC236}">
                <a16:creationId xmlns:a16="http://schemas.microsoft.com/office/drawing/2014/main" id="{41EF2B25-270C-46FD-BD92-30AFAED7B563}"/>
              </a:ext>
            </a:extLst>
          </p:cNvPr>
          <p:cNvSpPr txBox="1"/>
          <p:nvPr/>
        </p:nvSpPr>
        <p:spPr>
          <a:xfrm>
            <a:off x="9717786" y="3081528"/>
            <a:ext cx="1812798" cy="201168"/>
          </a:xfrm>
          <a:prstGeom prst="rect">
            <a:avLst/>
          </a:prstGeom>
          <a:noFill/>
          <a:ln/>
        </p:spPr>
        <p:txBody>
          <a:bodyPr wrap="square" lIns="0" tIns="0" rIns="0" bIns="0" rtlCol="0" anchor="t"/>
          <a:lstStyle/>
          <a:p>
            <a:pPr marL="0" indent="0">
              <a:buNone/>
            </a:pPr>
            <a:r>
              <a:rPr lang="en-US" sz="1000" b="1" kern="0" spc="100" dirty="0">
                <a:solidFill>
                  <a:srgbClr val="0E7C7B"/>
                </a:solidFill>
              </a:rPr>
              <a:t>COMPUTE</a:t>
            </a:r>
            <a:endParaRPr lang="en-US" sz="1000" dirty="0"/>
          </a:p>
        </p:txBody>
      </p:sp>
      <p:sp>
        <p:nvSpPr>
          <p:cNvPr id="208" name="Text 42">
            <a:extLst>
              <a:ext uri="{FF2B5EF4-FFF2-40B4-BE49-F238E27FC236}">
                <a16:creationId xmlns:a16="http://schemas.microsoft.com/office/drawing/2014/main" id="{FE2ED3CB-03C4-4E52-B90B-915C49ABB117}"/>
              </a:ext>
            </a:extLst>
          </p:cNvPr>
          <p:cNvSpPr txBox="1"/>
          <p:nvPr/>
        </p:nvSpPr>
        <p:spPr>
          <a:xfrm>
            <a:off x="9717786" y="3273552"/>
            <a:ext cx="1812798" cy="292608"/>
          </a:xfrm>
          <a:prstGeom prst="rect">
            <a:avLst/>
          </a:prstGeom>
          <a:noFill/>
          <a:ln/>
        </p:spPr>
        <p:txBody>
          <a:bodyPr wrap="square" lIns="0" tIns="0" rIns="0" bIns="0" rtlCol="0" anchor="t"/>
          <a:lstStyle/>
          <a:p>
            <a:pPr marL="0" indent="0">
              <a:buNone/>
            </a:pPr>
            <a:r>
              <a:rPr lang="en-US" sz="1500" b="1" dirty="0">
                <a:solidFill>
                  <a:srgbClr val="132226"/>
                </a:solidFill>
              </a:rPr>
              <a:t>ALB + Auto Scaling</a:t>
            </a:r>
            <a:endParaRPr lang="en-US" sz="1500" dirty="0"/>
          </a:p>
        </p:txBody>
      </p:sp>
      <p:sp>
        <p:nvSpPr>
          <p:cNvPr id="209" name="Text 43">
            <a:extLst>
              <a:ext uri="{FF2B5EF4-FFF2-40B4-BE49-F238E27FC236}">
                <a16:creationId xmlns:a16="http://schemas.microsoft.com/office/drawing/2014/main" id="{68988210-4F25-41B4-A555-BB00C173FBBE}"/>
              </a:ext>
            </a:extLst>
          </p:cNvPr>
          <p:cNvSpPr txBox="1"/>
          <p:nvPr/>
        </p:nvSpPr>
        <p:spPr>
          <a:xfrm>
            <a:off x="9169146" y="3639312"/>
            <a:ext cx="2343150" cy="585216"/>
          </a:xfrm>
          <a:prstGeom prst="rect">
            <a:avLst/>
          </a:prstGeom>
          <a:noFill/>
          <a:ln/>
        </p:spPr>
        <p:txBody>
          <a:bodyPr wrap="square" lIns="0" tIns="0" rIns="0" bIns="0" rtlCol="0" anchor="t"/>
          <a:lstStyle/>
          <a:p>
            <a:pPr marL="0" indent="0">
              <a:buNone/>
            </a:pPr>
            <a:r>
              <a:rPr lang="en-US" sz="1300" dirty="0">
                <a:solidFill>
                  <a:srgbClr val="4A5B5E"/>
                </a:solidFill>
              </a:rPr>
              <a:t>Health checks across both AZs; scales 2 → 4 tasks on CPU</a:t>
            </a:r>
            <a:endParaRPr lang="en-US" sz="1300" dirty="0"/>
          </a:p>
        </p:txBody>
      </p:sp>
      <p:sp>
        <p:nvSpPr>
          <p:cNvPr id="210" name="card">
            <a:extLst>
              <a:ext uri="{FF2B5EF4-FFF2-40B4-BE49-F238E27FC236}">
                <a16:creationId xmlns:a16="http://schemas.microsoft.com/office/drawing/2014/main" id="{D89C7976-84AB-4BE8-ACA8-1AF1472260A5}"/>
              </a:ext>
            </a:extLst>
          </p:cNvPr>
          <p:cNvSpPr/>
          <p:nvPr/>
        </p:nvSpPr>
        <p:spPr>
          <a:xfrm>
            <a:off x="548640" y="4425696"/>
            <a:ext cx="2635758" cy="1325880"/>
          </a:xfrm>
          <a:prstGeom prst="roundRect">
            <a:avLst>
              <a:gd name="adj" fmla="val 6897"/>
            </a:avLst>
          </a:prstGeom>
          <a:solidFill>
            <a:srgbClr val="FFFFFF"/>
          </a:solidFill>
          <a:ln/>
          <a:effectLst>
            <a:outerShdw blurRad="114300" dist="25400" dir="5400000" algn="bl" rotWithShape="0">
              <a:srgbClr val="0E3B43">
                <a:alpha val="13000"/>
              </a:srgbClr>
            </a:outerShdw>
          </a:effectLst>
        </p:spPr>
      </p:sp>
      <p:sp>
        <p:nvSpPr>
          <p:cNvPr id="211" name="RDS MySQL Multi-AZ circle">
            <a:extLst>
              <a:ext uri="{FF2B5EF4-FFF2-40B4-BE49-F238E27FC236}">
                <a16:creationId xmlns:a16="http://schemas.microsoft.com/office/drawing/2014/main" id="{0D75CF84-5E08-4CC3-B2D9-BEE3FE400C7F}"/>
              </a:ext>
            </a:extLst>
          </p:cNvPr>
          <p:cNvSpPr/>
          <p:nvPr/>
        </p:nvSpPr>
        <p:spPr>
          <a:xfrm>
            <a:off x="713232" y="4608576"/>
            <a:ext cx="420624" cy="420624"/>
          </a:xfrm>
          <a:prstGeom prst="ellipse">
            <a:avLst/>
          </a:prstGeom>
          <a:solidFill>
            <a:schemeClr val="accent5"/>
          </a:solidFill>
          <a:ln/>
        </p:spPr>
      </p:sp>
      <p:pic>
        <p:nvPicPr>
          <p:cNvPr id="212" name="RDS MySQL Multi-AZ" descr="preencoded.png">
            <a:extLst>
              <a:ext uri="{FF2B5EF4-FFF2-40B4-BE49-F238E27FC236}">
                <a16:creationId xmlns:a16="http://schemas.microsoft.com/office/drawing/2014/main" id="{273AC6D1-5E63-4A51-AA47-DD03E08C7BA3}"/>
              </a:ext>
            </a:extLst>
          </p:cNvPr>
          <p:cNvPicPr>
            <a:picLocks noChangeAspect="1"/>
          </p:cNvPicPr>
          <p:nvPr/>
        </p:nvPicPr>
        <p:blipFill>
          <a:blip r:embed="rId11"/>
          <a:stretch>
            <a:fillRect/>
          </a:stretch>
        </p:blipFill>
        <p:spPr>
          <a:xfrm>
            <a:off x="814182" y="4709526"/>
            <a:ext cx="218724" cy="218724"/>
          </a:xfrm>
          <a:prstGeom prst="rect">
            <a:avLst/>
          </a:prstGeom>
        </p:spPr>
      </p:pic>
      <p:sp>
        <p:nvSpPr>
          <p:cNvPr id="213" name="Text 46">
            <a:extLst>
              <a:ext uri="{FF2B5EF4-FFF2-40B4-BE49-F238E27FC236}">
                <a16:creationId xmlns:a16="http://schemas.microsoft.com/office/drawing/2014/main" id="{6AF999AF-B17F-44CA-BD93-CE2D8EA7EE88}"/>
              </a:ext>
            </a:extLst>
          </p:cNvPr>
          <p:cNvSpPr txBox="1"/>
          <p:nvPr/>
        </p:nvSpPr>
        <p:spPr>
          <a:xfrm>
            <a:off x="1261872" y="4562856"/>
            <a:ext cx="1812798" cy="201168"/>
          </a:xfrm>
          <a:prstGeom prst="rect">
            <a:avLst/>
          </a:prstGeom>
          <a:noFill/>
          <a:ln/>
        </p:spPr>
        <p:txBody>
          <a:bodyPr wrap="square" lIns="0" tIns="0" rIns="0" bIns="0" rtlCol="0" anchor="t"/>
          <a:lstStyle/>
          <a:p>
            <a:pPr marL="0" indent="0">
              <a:buNone/>
            </a:pPr>
            <a:r>
              <a:rPr lang="en-US" sz="1000" b="1" kern="0" spc="100" dirty="0">
                <a:solidFill>
                  <a:srgbClr val="5B6C8F"/>
                </a:solidFill>
              </a:rPr>
              <a:t>DATA</a:t>
            </a:r>
            <a:endParaRPr lang="en-US" sz="1000" dirty="0"/>
          </a:p>
        </p:txBody>
      </p:sp>
      <p:sp>
        <p:nvSpPr>
          <p:cNvPr id="214" name="Text 47">
            <a:extLst>
              <a:ext uri="{FF2B5EF4-FFF2-40B4-BE49-F238E27FC236}">
                <a16:creationId xmlns:a16="http://schemas.microsoft.com/office/drawing/2014/main" id="{8D23AC64-AB48-46AB-94CA-9A4CDD2AE986}"/>
              </a:ext>
            </a:extLst>
          </p:cNvPr>
          <p:cNvSpPr txBox="1"/>
          <p:nvPr/>
        </p:nvSpPr>
        <p:spPr>
          <a:xfrm>
            <a:off x="1261872" y="4754880"/>
            <a:ext cx="1812798" cy="292608"/>
          </a:xfrm>
          <a:prstGeom prst="rect">
            <a:avLst/>
          </a:prstGeom>
          <a:noFill/>
          <a:ln/>
        </p:spPr>
        <p:txBody>
          <a:bodyPr wrap="square" lIns="0" tIns="0" rIns="0" bIns="0" rtlCol="0" anchor="t"/>
          <a:lstStyle/>
          <a:p>
            <a:pPr marL="0" indent="0">
              <a:buNone/>
            </a:pPr>
            <a:r>
              <a:rPr lang="en-US" sz="1500" b="1" dirty="0">
                <a:solidFill>
                  <a:srgbClr val="132226"/>
                </a:solidFill>
              </a:rPr>
              <a:t>RDS MySQL Multi-AZ</a:t>
            </a:r>
            <a:endParaRPr lang="en-US" sz="1500" dirty="0"/>
          </a:p>
        </p:txBody>
      </p:sp>
      <p:sp>
        <p:nvSpPr>
          <p:cNvPr id="215" name="Text 48">
            <a:extLst>
              <a:ext uri="{FF2B5EF4-FFF2-40B4-BE49-F238E27FC236}">
                <a16:creationId xmlns:a16="http://schemas.microsoft.com/office/drawing/2014/main" id="{D31AA51D-DDF5-4DB2-83CF-D4CE93AAC698}"/>
              </a:ext>
            </a:extLst>
          </p:cNvPr>
          <p:cNvSpPr txBox="1"/>
          <p:nvPr/>
        </p:nvSpPr>
        <p:spPr>
          <a:xfrm>
            <a:off x="713232" y="5120640"/>
            <a:ext cx="2343150" cy="585216"/>
          </a:xfrm>
          <a:prstGeom prst="rect">
            <a:avLst/>
          </a:prstGeom>
          <a:noFill/>
          <a:ln/>
        </p:spPr>
        <p:txBody>
          <a:bodyPr wrap="square" lIns="0" tIns="0" rIns="0" bIns="0" rtlCol="0" anchor="t"/>
          <a:lstStyle/>
          <a:p>
            <a:pPr marL="0" indent="0">
              <a:buNone/>
            </a:pPr>
            <a:r>
              <a:rPr lang="en-US" sz="1300" dirty="0">
                <a:solidFill>
                  <a:srgbClr val="4A5B5E"/>
                </a:solidFill>
              </a:rPr>
              <a:t>Managed DB with synchronous standby, encryption, backups</a:t>
            </a:r>
            <a:endParaRPr lang="en-US" sz="1300" dirty="0"/>
          </a:p>
        </p:txBody>
      </p:sp>
      <p:sp>
        <p:nvSpPr>
          <p:cNvPr id="216" name="card">
            <a:extLst>
              <a:ext uri="{FF2B5EF4-FFF2-40B4-BE49-F238E27FC236}">
                <a16:creationId xmlns:a16="http://schemas.microsoft.com/office/drawing/2014/main" id="{9D825164-6647-48BE-BC00-5D2EAEE908A7}"/>
              </a:ext>
            </a:extLst>
          </p:cNvPr>
          <p:cNvSpPr/>
          <p:nvPr/>
        </p:nvSpPr>
        <p:spPr>
          <a:xfrm>
            <a:off x="3367278" y="4425696"/>
            <a:ext cx="2635758" cy="1325880"/>
          </a:xfrm>
          <a:prstGeom prst="roundRect">
            <a:avLst>
              <a:gd name="adj" fmla="val 6897"/>
            </a:avLst>
          </a:prstGeom>
          <a:solidFill>
            <a:srgbClr val="FFFFFF"/>
          </a:solidFill>
          <a:ln/>
          <a:effectLst>
            <a:outerShdw blurRad="114300" dist="25400" dir="5400000" algn="bl" rotWithShape="0">
              <a:srgbClr val="0E3B43">
                <a:alpha val="13000"/>
              </a:srgbClr>
            </a:outerShdw>
          </a:effectLst>
        </p:spPr>
      </p:sp>
      <p:sp>
        <p:nvSpPr>
          <p:cNvPr id="217" name="Amazon S3 circle">
            <a:extLst>
              <a:ext uri="{FF2B5EF4-FFF2-40B4-BE49-F238E27FC236}">
                <a16:creationId xmlns:a16="http://schemas.microsoft.com/office/drawing/2014/main" id="{AFD531DE-D4E6-430B-B00B-D0AE2702A974}"/>
              </a:ext>
            </a:extLst>
          </p:cNvPr>
          <p:cNvSpPr/>
          <p:nvPr/>
        </p:nvSpPr>
        <p:spPr>
          <a:xfrm>
            <a:off x="3531870" y="4608576"/>
            <a:ext cx="420624" cy="420624"/>
          </a:xfrm>
          <a:prstGeom prst="ellipse">
            <a:avLst/>
          </a:prstGeom>
          <a:solidFill>
            <a:schemeClr val="accent5"/>
          </a:solidFill>
          <a:ln/>
        </p:spPr>
      </p:sp>
      <p:pic>
        <p:nvPicPr>
          <p:cNvPr id="218" name="Amazon S3" descr="preencoded.png">
            <a:extLst>
              <a:ext uri="{FF2B5EF4-FFF2-40B4-BE49-F238E27FC236}">
                <a16:creationId xmlns:a16="http://schemas.microsoft.com/office/drawing/2014/main" id="{5A1978A4-9E5D-4C03-B3A4-C53F07B9739A}"/>
              </a:ext>
            </a:extLst>
          </p:cNvPr>
          <p:cNvPicPr>
            <a:picLocks noChangeAspect="1"/>
          </p:cNvPicPr>
          <p:nvPr/>
        </p:nvPicPr>
        <p:blipFill>
          <a:blip r:embed="rId12"/>
          <a:stretch>
            <a:fillRect/>
          </a:stretch>
        </p:blipFill>
        <p:spPr>
          <a:xfrm>
            <a:off x="3632820" y="4709526"/>
            <a:ext cx="218724" cy="218724"/>
          </a:xfrm>
          <a:prstGeom prst="rect">
            <a:avLst/>
          </a:prstGeom>
        </p:spPr>
      </p:pic>
      <p:sp>
        <p:nvSpPr>
          <p:cNvPr id="219" name="Text 51">
            <a:extLst>
              <a:ext uri="{FF2B5EF4-FFF2-40B4-BE49-F238E27FC236}">
                <a16:creationId xmlns:a16="http://schemas.microsoft.com/office/drawing/2014/main" id="{4A9E96A6-13E2-482D-9A0E-480BAD3B6D12}"/>
              </a:ext>
            </a:extLst>
          </p:cNvPr>
          <p:cNvSpPr txBox="1"/>
          <p:nvPr/>
        </p:nvSpPr>
        <p:spPr>
          <a:xfrm>
            <a:off x="4080510" y="4562856"/>
            <a:ext cx="1812798" cy="201168"/>
          </a:xfrm>
          <a:prstGeom prst="rect">
            <a:avLst/>
          </a:prstGeom>
          <a:noFill/>
          <a:ln/>
        </p:spPr>
        <p:txBody>
          <a:bodyPr wrap="square" lIns="0" tIns="0" rIns="0" bIns="0" rtlCol="0" anchor="t"/>
          <a:lstStyle/>
          <a:p>
            <a:pPr marL="0" indent="0">
              <a:buNone/>
            </a:pPr>
            <a:r>
              <a:rPr lang="en-US" sz="1000" b="1" kern="0" spc="100" dirty="0">
                <a:solidFill>
                  <a:srgbClr val="5B6C8F"/>
                </a:solidFill>
              </a:rPr>
              <a:t>DATA</a:t>
            </a:r>
            <a:endParaRPr lang="en-US" sz="1000" dirty="0"/>
          </a:p>
        </p:txBody>
      </p:sp>
      <p:sp>
        <p:nvSpPr>
          <p:cNvPr id="220" name="Text 52">
            <a:extLst>
              <a:ext uri="{FF2B5EF4-FFF2-40B4-BE49-F238E27FC236}">
                <a16:creationId xmlns:a16="http://schemas.microsoft.com/office/drawing/2014/main" id="{1C8B6C37-5868-4540-93C7-3E03E10CB646}"/>
              </a:ext>
            </a:extLst>
          </p:cNvPr>
          <p:cNvSpPr txBox="1"/>
          <p:nvPr/>
        </p:nvSpPr>
        <p:spPr>
          <a:xfrm>
            <a:off x="4080510" y="4754880"/>
            <a:ext cx="1812798" cy="292608"/>
          </a:xfrm>
          <a:prstGeom prst="rect">
            <a:avLst/>
          </a:prstGeom>
          <a:noFill/>
          <a:ln/>
        </p:spPr>
        <p:txBody>
          <a:bodyPr wrap="square" lIns="0" tIns="0" rIns="0" bIns="0" rtlCol="0" anchor="t"/>
          <a:lstStyle/>
          <a:p>
            <a:pPr marL="0" indent="0">
              <a:buNone/>
            </a:pPr>
            <a:r>
              <a:rPr lang="en-US" sz="1500" b="1" dirty="0">
                <a:solidFill>
                  <a:srgbClr val="132226"/>
                </a:solidFill>
              </a:rPr>
              <a:t>Amazon S3</a:t>
            </a:r>
            <a:endParaRPr lang="en-US" sz="1500" dirty="0"/>
          </a:p>
        </p:txBody>
      </p:sp>
      <p:sp>
        <p:nvSpPr>
          <p:cNvPr id="221" name="Text 53">
            <a:extLst>
              <a:ext uri="{FF2B5EF4-FFF2-40B4-BE49-F238E27FC236}">
                <a16:creationId xmlns:a16="http://schemas.microsoft.com/office/drawing/2014/main" id="{D8B2D339-6CA6-45A7-BEA8-2E9BA9952F79}"/>
              </a:ext>
            </a:extLst>
          </p:cNvPr>
          <p:cNvSpPr txBox="1"/>
          <p:nvPr/>
        </p:nvSpPr>
        <p:spPr>
          <a:xfrm>
            <a:off x="3531870" y="5120640"/>
            <a:ext cx="2343150" cy="585216"/>
          </a:xfrm>
          <a:prstGeom prst="rect">
            <a:avLst/>
          </a:prstGeom>
          <a:noFill/>
          <a:ln/>
        </p:spPr>
        <p:txBody>
          <a:bodyPr wrap="square" lIns="0" tIns="0" rIns="0" bIns="0" rtlCol="0" anchor="t"/>
          <a:lstStyle/>
          <a:p>
            <a:pPr marL="0" indent="0">
              <a:buNone/>
            </a:pPr>
            <a:r>
              <a:rPr lang="en-US" sz="1300" dirty="0">
                <a:solidFill>
                  <a:srgbClr val="4A5B5E"/>
                </a:solidFill>
              </a:rPr>
              <a:t>Private, versioned, encrypted storage with lifecycle cleanup</a:t>
            </a:r>
            <a:endParaRPr lang="en-US" sz="1300" dirty="0"/>
          </a:p>
        </p:txBody>
      </p:sp>
      <p:sp>
        <p:nvSpPr>
          <p:cNvPr id="222" name="card">
            <a:extLst>
              <a:ext uri="{FF2B5EF4-FFF2-40B4-BE49-F238E27FC236}">
                <a16:creationId xmlns:a16="http://schemas.microsoft.com/office/drawing/2014/main" id="{E9CFCFA3-5924-49AE-B42E-2CC279EB01A7}"/>
              </a:ext>
            </a:extLst>
          </p:cNvPr>
          <p:cNvSpPr/>
          <p:nvPr/>
        </p:nvSpPr>
        <p:spPr>
          <a:xfrm>
            <a:off x="6185916" y="4425696"/>
            <a:ext cx="2635758" cy="1325880"/>
          </a:xfrm>
          <a:prstGeom prst="roundRect">
            <a:avLst>
              <a:gd name="adj" fmla="val 6897"/>
            </a:avLst>
          </a:prstGeom>
          <a:solidFill>
            <a:srgbClr val="FFFFFF"/>
          </a:solidFill>
          <a:ln/>
          <a:effectLst>
            <a:outerShdw blurRad="114300" dist="25400" dir="5400000" algn="bl" rotWithShape="0">
              <a:srgbClr val="0E3B43">
                <a:alpha val="13000"/>
              </a:srgbClr>
            </a:outerShdw>
          </a:effectLst>
        </p:spPr>
      </p:sp>
      <p:sp>
        <p:nvSpPr>
          <p:cNvPr id="223" name="Secrets Manager circle">
            <a:extLst>
              <a:ext uri="{FF2B5EF4-FFF2-40B4-BE49-F238E27FC236}">
                <a16:creationId xmlns:a16="http://schemas.microsoft.com/office/drawing/2014/main" id="{219CC743-E5B7-42E4-B1B1-5A8D2DC26235}"/>
              </a:ext>
            </a:extLst>
          </p:cNvPr>
          <p:cNvSpPr/>
          <p:nvPr/>
        </p:nvSpPr>
        <p:spPr>
          <a:xfrm>
            <a:off x="6350508" y="4608576"/>
            <a:ext cx="420624" cy="420624"/>
          </a:xfrm>
          <a:prstGeom prst="ellipse">
            <a:avLst/>
          </a:prstGeom>
          <a:solidFill>
            <a:schemeClr val="accent4"/>
          </a:solidFill>
          <a:ln/>
        </p:spPr>
      </p:sp>
      <p:pic>
        <p:nvPicPr>
          <p:cNvPr id="224" name="Secrets Manager" descr="preencoded.png">
            <a:extLst>
              <a:ext uri="{FF2B5EF4-FFF2-40B4-BE49-F238E27FC236}">
                <a16:creationId xmlns:a16="http://schemas.microsoft.com/office/drawing/2014/main" id="{691DBAC5-239E-4701-872F-9C0F0FE5CA61}"/>
              </a:ext>
            </a:extLst>
          </p:cNvPr>
          <p:cNvPicPr>
            <a:picLocks noChangeAspect="1"/>
          </p:cNvPicPr>
          <p:nvPr/>
        </p:nvPicPr>
        <p:blipFill>
          <a:blip r:embed="rId13"/>
          <a:stretch>
            <a:fillRect/>
          </a:stretch>
        </p:blipFill>
        <p:spPr>
          <a:xfrm>
            <a:off x="6451458" y="4709526"/>
            <a:ext cx="218724" cy="218724"/>
          </a:xfrm>
          <a:prstGeom prst="rect">
            <a:avLst/>
          </a:prstGeom>
        </p:spPr>
      </p:pic>
      <p:sp>
        <p:nvSpPr>
          <p:cNvPr id="225" name="Text 56">
            <a:extLst>
              <a:ext uri="{FF2B5EF4-FFF2-40B4-BE49-F238E27FC236}">
                <a16:creationId xmlns:a16="http://schemas.microsoft.com/office/drawing/2014/main" id="{03EFC5AE-0721-444A-8E2A-44D00D5082E1}"/>
              </a:ext>
            </a:extLst>
          </p:cNvPr>
          <p:cNvSpPr txBox="1"/>
          <p:nvPr/>
        </p:nvSpPr>
        <p:spPr>
          <a:xfrm>
            <a:off x="6899148" y="4562856"/>
            <a:ext cx="1812798" cy="201168"/>
          </a:xfrm>
          <a:prstGeom prst="rect">
            <a:avLst/>
          </a:prstGeom>
          <a:noFill/>
          <a:ln/>
        </p:spPr>
        <p:txBody>
          <a:bodyPr wrap="square" lIns="0" tIns="0" rIns="0" bIns="0" rtlCol="0" anchor="t"/>
          <a:lstStyle/>
          <a:p>
            <a:pPr marL="0" indent="0">
              <a:buNone/>
            </a:pPr>
            <a:r>
              <a:rPr lang="en-US" sz="1000" b="1" kern="0" spc="100" dirty="0">
                <a:solidFill>
                  <a:srgbClr val="D9482B"/>
                </a:solidFill>
              </a:rPr>
              <a:t>SECURITY</a:t>
            </a:r>
            <a:endParaRPr lang="en-US" sz="1000" dirty="0"/>
          </a:p>
        </p:txBody>
      </p:sp>
      <p:sp>
        <p:nvSpPr>
          <p:cNvPr id="226" name="Text 57">
            <a:extLst>
              <a:ext uri="{FF2B5EF4-FFF2-40B4-BE49-F238E27FC236}">
                <a16:creationId xmlns:a16="http://schemas.microsoft.com/office/drawing/2014/main" id="{CD372CDE-86C6-4B43-8E66-E0BE8903B03C}"/>
              </a:ext>
            </a:extLst>
          </p:cNvPr>
          <p:cNvSpPr txBox="1"/>
          <p:nvPr/>
        </p:nvSpPr>
        <p:spPr>
          <a:xfrm>
            <a:off x="6899148" y="4754880"/>
            <a:ext cx="1812798" cy="292608"/>
          </a:xfrm>
          <a:prstGeom prst="rect">
            <a:avLst/>
          </a:prstGeom>
          <a:noFill/>
          <a:ln/>
        </p:spPr>
        <p:txBody>
          <a:bodyPr wrap="square" lIns="0" tIns="0" rIns="0" bIns="0" rtlCol="0" anchor="t"/>
          <a:lstStyle/>
          <a:p>
            <a:pPr marL="0" indent="0">
              <a:buNone/>
            </a:pPr>
            <a:r>
              <a:rPr lang="en-US" sz="1500" b="1" dirty="0">
                <a:solidFill>
                  <a:srgbClr val="132226"/>
                </a:solidFill>
              </a:rPr>
              <a:t>Secrets Manager</a:t>
            </a:r>
            <a:endParaRPr lang="en-US" sz="1500" dirty="0"/>
          </a:p>
        </p:txBody>
      </p:sp>
      <p:sp>
        <p:nvSpPr>
          <p:cNvPr id="227" name="Text 58">
            <a:extLst>
              <a:ext uri="{FF2B5EF4-FFF2-40B4-BE49-F238E27FC236}">
                <a16:creationId xmlns:a16="http://schemas.microsoft.com/office/drawing/2014/main" id="{FAB390F2-EEDA-49CD-AB07-1E4AFF154A7C}"/>
              </a:ext>
            </a:extLst>
          </p:cNvPr>
          <p:cNvSpPr txBox="1"/>
          <p:nvPr/>
        </p:nvSpPr>
        <p:spPr>
          <a:xfrm>
            <a:off x="6350508" y="5120640"/>
            <a:ext cx="2343150" cy="585216"/>
          </a:xfrm>
          <a:prstGeom prst="rect">
            <a:avLst/>
          </a:prstGeom>
          <a:noFill/>
          <a:ln/>
        </p:spPr>
        <p:txBody>
          <a:bodyPr wrap="square" lIns="0" tIns="0" rIns="0" bIns="0" rtlCol="0" anchor="t"/>
          <a:lstStyle/>
          <a:p>
            <a:pPr marL="0" indent="0">
              <a:buNone/>
            </a:pPr>
            <a:r>
              <a:rPr lang="en-US" sz="1300" dirty="0">
                <a:solidFill>
                  <a:srgbClr val="4A5B5E"/>
                </a:solidFill>
              </a:rPr>
              <a:t>Database credentials never stored in code or config</a:t>
            </a:r>
            <a:endParaRPr lang="en-US" sz="1300" dirty="0"/>
          </a:p>
        </p:txBody>
      </p:sp>
      <p:sp>
        <p:nvSpPr>
          <p:cNvPr id="228" name="card">
            <a:extLst>
              <a:ext uri="{FF2B5EF4-FFF2-40B4-BE49-F238E27FC236}">
                <a16:creationId xmlns:a16="http://schemas.microsoft.com/office/drawing/2014/main" id="{1B7595B1-0167-46C5-A543-33AB84F96B07}"/>
              </a:ext>
            </a:extLst>
          </p:cNvPr>
          <p:cNvSpPr/>
          <p:nvPr/>
        </p:nvSpPr>
        <p:spPr>
          <a:xfrm>
            <a:off x="9004554" y="4425696"/>
            <a:ext cx="2635758" cy="1325880"/>
          </a:xfrm>
          <a:prstGeom prst="roundRect">
            <a:avLst>
              <a:gd name="adj" fmla="val 6897"/>
            </a:avLst>
          </a:prstGeom>
          <a:solidFill>
            <a:srgbClr val="FFFFFF"/>
          </a:solidFill>
          <a:ln/>
          <a:effectLst>
            <a:outerShdw blurRad="114300" dist="25400" dir="5400000" algn="bl" rotWithShape="0">
              <a:srgbClr val="0E3B43">
                <a:alpha val="13000"/>
              </a:srgbClr>
            </a:outerShdw>
          </a:effectLst>
        </p:spPr>
      </p:sp>
      <p:sp>
        <p:nvSpPr>
          <p:cNvPr id="229" name="Amazon Cognito circle">
            <a:extLst>
              <a:ext uri="{FF2B5EF4-FFF2-40B4-BE49-F238E27FC236}">
                <a16:creationId xmlns:a16="http://schemas.microsoft.com/office/drawing/2014/main" id="{D4181E5A-8705-4AB3-9FF8-D804E7F1B044}"/>
              </a:ext>
            </a:extLst>
          </p:cNvPr>
          <p:cNvSpPr/>
          <p:nvPr/>
        </p:nvSpPr>
        <p:spPr>
          <a:xfrm>
            <a:off x="9169146" y="4608576"/>
            <a:ext cx="420624" cy="420624"/>
          </a:xfrm>
          <a:prstGeom prst="ellipse">
            <a:avLst/>
          </a:prstGeom>
          <a:solidFill>
            <a:schemeClr val="accent4"/>
          </a:solidFill>
          <a:ln/>
        </p:spPr>
      </p:sp>
      <p:pic>
        <p:nvPicPr>
          <p:cNvPr id="230" name="Amazon Cognito" descr="preencoded.png">
            <a:extLst>
              <a:ext uri="{FF2B5EF4-FFF2-40B4-BE49-F238E27FC236}">
                <a16:creationId xmlns:a16="http://schemas.microsoft.com/office/drawing/2014/main" id="{D2217849-A6E5-4AF7-9CD1-063CD58A2C01}"/>
              </a:ext>
            </a:extLst>
          </p:cNvPr>
          <p:cNvPicPr>
            <a:picLocks noChangeAspect="1"/>
          </p:cNvPicPr>
          <p:nvPr/>
        </p:nvPicPr>
        <p:blipFill>
          <a:blip r:embed="rId14"/>
          <a:stretch>
            <a:fillRect/>
          </a:stretch>
        </p:blipFill>
        <p:spPr>
          <a:xfrm>
            <a:off x="9270096" y="4709526"/>
            <a:ext cx="218724" cy="218724"/>
          </a:xfrm>
          <a:prstGeom prst="rect">
            <a:avLst/>
          </a:prstGeom>
        </p:spPr>
      </p:pic>
      <p:sp>
        <p:nvSpPr>
          <p:cNvPr id="231" name="Text 61">
            <a:extLst>
              <a:ext uri="{FF2B5EF4-FFF2-40B4-BE49-F238E27FC236}">
                <a16:creationId xmlns:a16="http://schemas.microsoft.com/office/drawing/2014/main" id="{BFABC7F3-A204-403B-8D6A-091A89970386}"/>
              </a:ext>
            </a:extLst>
          </p:cNvPr>
          <p:cNvSpPr txBox="1"/>
          <p:nvPr/>
        </p:nvSpPr>
        <p:spPr>
          <a:xfrm>
            <a:off x="9717786" y="4562856"/>
            <a:ext cx="1812798" cy="201168"/>
          </a:xfrm>
          <a:prstGeom prst="rect">
            <a:avLst/>
          </a:prstGeom>
          <a:noFill/>
          <a:ln/>
        </p:spPr>
        <p:txBody>
          <a:bodyPr wrap="square" lIns="0" tIns="0" rIns="0" bIns="0" rtlCol="0" anchor="t"/>
          <a:lstStyle/>
          <a:p>
            <a:pPr marL="0" indent="0">
              <a:buNone/>
            </a:pPr>
            <a:r>
              <a:rPr lang="en-US" sz="1000" b="1" kern="0" spc="100" dirty="0">
                <a:solidFill>
                  <a:srgbClr val="D9482B"/>
                </a:solidFill>
              </a:rPr>
              <a:t>SECURITY</a:t>
            </a:r>
            <a:endParaRPr lang="en-US" sz="1000" dirty="0"/>
          </a:p>
        </p:txBody>
      </p:sp>
      <p:sp>
        <p:nvSpPr>
          <p:cNvPr id="232" name="Text 62">
            <a:extLst>
              <a:ext uri="{FF2B5EF4-FFF2-40B4-BE49-F238E27FC236}">
                <a16:creationId xmlns:a16="http://schemas.microsoft.com/office/drawing/2014/main" id="{48118200-4751-40F5-9123-E1174172DDAD}"/>
              </a:ext>
            </a:extLst>
          </p:cNvPr>
          <p:cNvSpPr txBox="1"/>
          <p:nvPr/>
        </p:nvSpPr>
        <p:spPr>
          <a:xfrm>
            <a:off x="9717786" y="4754880"/>
            <a:ext cx="1812798" cy="292608"/>
          </a:xfrm>
          <a:prstGeom prst="rect">
            <a:avLst/>
          </a:prstGeom>
          <a:noFill/>
          <a:ln/>
        </p:spPr>
        <p:txBody>
          <a:bodyPr wrap="square" lIns="0" tIns="0" rIns="0" bIns="0" rtlCol="0" anchor="t"/>
          <a:lstStyle/>
          <a:p>
            <a:pPr marL="0" indent="0">
              <a:buNone/>
            </a:pPr>
            <a:r>
              <a:rPr lang="en-US" sz="1500" b="1" dirty="0">
                <a:solidFill>
                  <a:srgbClr val="132226"/>
                </a:solidFill>
              </a:rPr>
              <a:t>Amazon Cognito</a:t>
            </a:r>
            <a:endParaRPr lang="en-US" sz="1500" dirty="0"/>
          </a:p>
        </p:txBody>
      </p:sp>
      <p:sp>
        <p:nvSpPr>
          <p:cNvPr id="233" name="Text 63">
            <a:extLst>
              <a:ext uri="{FF2B5EF4-FFF2-40B4-BE49-F238E27FC236}">
                <a16:creationId xmlns:a16="http://schemas.microsoft.com/office/drawing/2014/main" id="{FEBFF060-0196-407C-A104-B2BE63FB8B8E}"/>
              </a:ext>
            </a:extLst>
          </p:cNvPr>
          <p:cNvSpPr txBox="1"/>
          <p:nvPr/>
        </p:nvSpPr>
        <p:spPr>
          <a:xfrm>
            <a:off x="9169146" y="5120640"/>
            <a:ext cx="2343150" cy="585216"/>
          </a:xfrm>
          <a:prstGeom prst="rect">
            <a:avLst/>
          </a:prstGeom>
          <a:noFill/>
          <a:ln/>
        </p:spPr>
        <p:txBody>
          <a:bodyPr wrap="square" lIns="0" tIns="0" rIns="0" bIns="0" rtlCol="0" anchor="t"/>
          <a:lstStyle/>
          <a:p>
            <a:pPr marL="0" indent="0">
              <a:buNone/>
            </a:pPr>
            <a:r>
              <a:rPr lang="en-US" sz="1300" dirty="0">
                <a:solidFill>
                  <a:srgbClr val="4A5B5E"/>
                </a:solidFill>
              </a:rPr>
              <a:t>Managed sign-in; the API only verifies JWT access tokens</a:t>
            </a:r>
            <a:endParaRPr lang="en-US" sz="1300" dirty="0"/>
          </a:p>
        </p:txBody>
      </p:sp>
      <p:sp>
        <p:nvSpPr>
          <p:cNvPr id="234" name="also used strip">
            <a:extLst>
              <a:ext uri="{FF2B5EF4-FFF2-40B4-BE49-F238E27FC236}">
                <a16:creationId xmlns:a16="http://schemas.microsoft.com/office/drawing/2014/main" id="{247B08AC-2937-40A5-BFD3-274615148220}"/>
              </a:ext>
            </a:extLst>
          </p:cNvPr>
          <p:cNvSpPr/>
          <p:nvPr/>
        </p:nvSpPr>
        <p:spPr>
          <a:xfrm>
            <a:off x="548640" y="5870448"/>
            <a:ext cx="11091672" cy="347472"/>
          </a:xfrm>
          <a:prstGeom prst="roundRect">
            <a:avLst>
              <a:gd name="adj" fmla="val 15789"/>
            </a:avLst>
          </a:prstGeom>
          <a:solidFill>
            <a:srgbClr val="EEF4F3"/>
          </a:solidFill>
          <a:ln/>
        </p:spPr>
      </p:sp>
      <p:sp>
        <p:nvSpPr>
          <p:cNvPr id="235" name="Text 65">
            <a:extLst>
              <a:ext uri="{FF2B5EF4-FFF2-40B4-BE49-F238E27FC236}">
                <a16:creationId xmlns:a16="http://schemas.microsoft.com/office/drawing/2014/main" id="{ED1A1B62-F65B-4FCB-88EC-2D461D9F402D}"/>
              </a:ext>
            </a:extLst>
          </p:cNvPr>
          <p:cNvSpPr txBox="1"/>
          <p:nvPr/>
        </p:nvSpPr>
        <p:spPr>
          <a:xfrm>
            <a:off x="731520" y="5870448"/>
            <a:ext cx="10789920" cy="347472"/>
          </a:xfrm>
          <a:prstGeom prst="rect">
            <a:avLst/>
          </a:prstGeom>
          <a:noFill/>
          <a:ln/>
        </p:spPr>
        <p:txBody>
          <a:bodyPr wrap="square" lIns="0" tIns="0" rIns="0" bIns="0" rtlCol="0" anchor="ctr"/>
          <a:lstStyle/>
          <a:p>
            <a:pPr marL="0" indent="0">
              <a:buNone/>
            </a:pPr>
            <a:r>
              <a:rPr lang="en-US" sz="1300" b="1" dirty="0">
                <a:solidFill>
                  <a:srgbClr val="0E7C7B"/>
                </a:solidFill>
              </a:rPr>
              <a:t>Also:  </a:t>
            </a:r>
            <a:r>
              <a:rPr lang="en-US" sz="1300" dirty="0">
                <a:solidFill>
                  <a:srgbClr val="132226"/>
                </a:solidFill>
              </a:rPr>
              <a:t>IAM OIDC — GitHub deploys with no long-lived keys   ·   CloudWatch — logs, metrics and Container Insights</a:t>
            </a:r>
            <a:endParaRPr lang="en-US" sz="1300" dirty="0"/>
          </a:p>
        </p:txBody>
      </p:sp>
      <p:sp>
        <p:nvSpPr>
          <p:cNvPr id="236" name="Slide Number Placeholder 0">
            <a:extLst>
              <a:ext uri="{FF2B5EF4-FFF2-40B4-BE49-F238E27FC236}">
                <a16:creationId xmlns:a16="http://schemas.microsoft.com/office/drawing/2014/main" id="{F958ACA4-F0FC-4328-B461-0E76851D47CC}"/>
              </a:ext>
            </a:extLst>
          </p:cNvPr>
          <p:cNvSpPr>
            <a:spLocks noGrp="1"/>
          </p:cNvSpPr>
          <p:nvPr>
            <p:ph type="sldNum" sz="quarter" idx="4294967295"/>
          </p:nvPr>
        </p:nvSpPr>
        <p:spPr>
          <a:xfrm>
            <a:off x="11091672"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C7F"/>
                </a:solidFill>
              </a:defRPr>
            </a:lvl1pPr>
          </a:lstStyle>
          <a:p>
            <a:pPr algn="r"/>
            <a:fld id="{F7021451-1387-4CA6-816F-3879F97B5CBC}" type="slidenum">
              <a:rPr lang="en-US" b="0"/>
              <a:t>4</a:t>
            </a:fld>
            <a:endParaRPr lang="en-US"/>
          </a:p>
        </p:txBody>
      </p:sp>
    </p:spTree>
    <p:extLst>
      <p:ext uri="{BB962C8B-B14F-4D97-AF65-F5344CB8AC3E}">
        <p14:creationId xmlns:p14="http://schemas.microsoft.com/office/powerpoint/2010/main" val="1561351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Master architecture</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The complete Milestones 1–6 reference diagram, from source code to the private data tier.</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M1–M6</a:t>
            </a:r>
            <a:endParaRPr lang="en-US" sz="1200" dirty="0"/>
          </a:p>
        </p:txBody>
      </p:sp>
      <p:sp>
        <p:nvSpPr>
          <p:cNvPr id="6" name="card"/>
          <p:cNvSpPr/>
          <p:nvPr/>
        </p:nvSpPr>
        <p:spPr>
          <a:xfrm>
            <a:off x="548640" y="1463040"/>
            <a:ext cx="5871340" cy="4709160"/>
          </a:xfrm>
          <a:prstGeom prst="roundRect">
            <a:avLst>
              <a:gd name="adj" fmla="val 388"/>
            </a:avLst>
          </a:prstGeom>
          <a:solidFill>
            <a:srgbClr val="FFFFFF"/>
          </a:solidFill>
          <a:ln/>
          <a:effectLst>
            <a:outerShdw blurRad="114300" dist="25400" dir="5400000" algn="bl" rotWithShape="0">
              <a:srgbClr val="0E3B43">
                <a:alpha val="13000"/>
              </a:srgbClr>
            </a:outerShdw>
          </a:effectLst>
        </p:spPr>
      </p:sp>
      <p:sp>
        <p:nvSpPr>
          <p:cNvPr id="8" name="card"/>
          <p:cNvSpPr/>
          <p:nvPr/>
        </p:nvSpPr>
        <p:spPr>
          <a:xfrm>
            <a:off x="6694300" y="1463040"/>
            <a:ext cx="4946012" cy="4709160"/>
          </a:xfrm>
          <a:prstGeom prst="roundRect">
            <a:avLst>
              <a:gd name="adj" fmla="val 1942"/>
            </a:avLst>
          </a:prstGeom>
          <a:solidFill>
            <a:srgbClr val="FFFFFF"/>
          </a:solidFill>
          <a:ln/>
          <a:effectLst>
            <a:outerShdw blurRad="114300" dist="25400" dir="5400000" algn="bl" rotWithShape="0">
              <a:srgbClr val="0E3B43">
                <a:alpha val="13000"/>
              </a:srgbClr>
            </a:outerShdw>
          </a:effectLst>
        </p:spPr>
      </p:sp>
      <p:sp>
        <p:nvSpPr>
          <p:cNvPr id="30"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5</a:t>
            </a:fld>
            <a:endParaRPr lang="en-US"/>
          </a:p>
        </p:txBody>
      </p:sp>
      <p:pic>
        <p:nvPicPr>
          <p:cNvPr id="31" name="Picture 30">
            <a:extLst>
              <a:ext uri="{FF2B5EF4-FFF2-40B4-BE49-F238E27FC236}">
                <a16:creationId xmlns:a16="http://schemas.microsoft.com/office/drawing/2014/main" id="{79A0BE34-78FF-43D4-8F75-373FA84F2CD0}"/>
              </a:ext>
            </a:extLst>
          </p:cNvPr>
          <p:cNvPicPr>
            <a:picLocks noChangeAspect="1"/>
          </p:cNvPicPr>
          <p:nvPr/>
        </p:nvPicPr>
        <p:blipFill>
          <a:blip r:embed="rId3"/>
          <a:srcRect/>
          <a:stretch/>
        </p:blipFill>
        <p:spPr>
          <a:xfrm>
            <a:off x="523166" y="1472184"/>
            <a:ext cx="5871340" cy="4403504"/>
          </a:xfrm>
          <a:prstGeom prst="rect">
            <a:avLst/>
          </a:prstGeom>
        </p:spPr>
      </p:pic>
      <p:pic>
        <p:nvPicPr>
          <p:cNvPr id="32" name="Master architecture M1-M6 diagram">
            <a:extLst>
              <a:ext uri="{FF2B5EF4-FFF2-40B4-BE49-F238E27FC236}">
                <a16:creationId xmlns:a16="http://schemas.microsoft.com/office/drawing/2014/main" id="{62AE295C-EB34-45DB-B3A5-AE5B986260FA}"/>
              </a:ext>
            </a:extLst>
          </p:cNvPr>
          <p:cNvPicPr>
            <a:picLocks noChangeAspect="1"/>
          </p:cNvPicPr>
          <p:nvPr/>
        </p:nvPicPr>
        <p:blipFill>
          <a:blip r:embed="rId4"/>
          <a:srcRect/>
          <a:stretch/>
        </p:blipFill>
        <p:spPr>
          <a:xfrm>
            <a:off x="6722246" y="1860507"/>
            <a:ext cx="4943540" cy="329569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Master architecture — full detail</a:t>
            </a:r>
            <a:endParaRPr lang="en-US" sz="30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M1–M6</a:t>
            </a:r>
            <a:endParaRPr lang="en-US" sz="1200" dirty="0"/>
          </a:p>
        </p:txBody>
      </p:sp>
      <p:sp>
        <p:nvSpPr>
          <p:cNvPr id="30"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C7F"/>
                </a:solidFill>
              </a:defRPr>
            </a:lvl1pPr>
          </a:lstStyle>
          <a:p>
            <a:pPr algn="r"/>
            <a:fld id="{F7021451-1387-4CA6-816F-3879F97B5CBC}" type="slidenum">
              <a:rPr lang="en-US" b="0"/>
              <a:t>6</a:t>
            </a:fld>
            <a:endParaRPr lang="en-US"/>
          </a:p>
        </p:txBody>
      </p:sp>
      <p:pic>
        <p:nvPicPr>
          <p:cNvPr id="37" name="Picture 36">
            <a:extLst>
              <a:ext uri="{FF2B5EF4-FFF2-40B4-BE49-F238E27FC236}">
                <a16:creationId xmlns:a16="http://schemas.microsoft.com/office/drawing/2014/main" id="{99A6A378-3203-461E-B885-51E797438D1D}"/>
              </a:ext>
            </a:extLst>
          </p:cNvPr>
          <p:cNvPicPr>
            <a:picLocks noChangeAspect="1"/>
          </p:cNvPicPr>
          <p:nvPr/>
        </p:nvPicPr>
        <p:blipFill rotWithShape="1">
          <a:blip r:embed="rId3"/>
          <a:srcRect t="5347"/>
          <a:stretch/>
        </p:blipFill>
        <p:spPr>
          <a:xfrm>
            <a:off x="472440" y="868680"/>
            <a:ext cx="10525760" cy="5604152"/>
          </a:xfrm>
          <a:prstGeom prst="rect">
            <a:avLst/>
          </a:prstGeom>
        </p:spPr>
      </p:pic>
    </p:spTree>
    <p:extLst>
      <p:ext uri="{BB962C8B-B14F-4D97-AF65-F5344CB8AC3E}">
        <p14:creationId xmlns:p14="http://schemas.microsoft.com/office/powerpoint/2010/main" val="1646023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Live interactive walkthrough</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An animated version of the architecture — choose a milestone or flow and watch the request path move.</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Live demo</a:t>
            </a:r>
            <a:endParaRPr lang="en-US" sz="1200" dirty="0"/>
          </a:p>
        </p:txBody>
      </p:sp>
      <p:sp>
        <p:nvSpPr>
          <p:cNvPr id="6" name="card"/>
          <p:cNvSpPr/>
          <p:nvPr/>
        </p:nvSpPr>
        <p:spPr>
          <a:xfrm>
            <a:off x="548640" y="1463040"/>
            <a:ext cx="6949440" cy="4063688"/>
          </a:xfrm>
          <a:prstGeom prst="roundRect">
            <a:avLst>
              <a:gd name="adj" fmla="val 450"/>
            </a:avLst>
          </a:prstGeom>
          <a:solidFill>
            <a:srgbClr val="FFFFFF"/>
          </a:solidFill>
          <a:ln/>
          <a:effectLst>
            <a:outerShdw blurRad="114300" dist="25400" dir="5400000" algn="bl" rotWithShape="0">
              <a:srgbClr val="0E3B43">
                <a:alpha val="13000"/>
              </a:srgbClr>
            </a:outerShdw>
          </a:effectLst>
        </p:spPr>
      </p:sp>
      <p:pic>
        <p:nvPicPr>
          <p:cNvPr id="7" name="Live walkthrough screenshot" descr="Interactive architecture walkthrough showing the public web request flow">
            <a:hlinkClick r:id="rId3" tooltip="Open the live walkthrough"/>
          </p:cNvPr>
          <p:cNvPicPr>
            <a:picLocks noChangeAspect="1"/>
          </p:cNvPicPr>
          <p:nvPr/>
        </p:nvPicPr>
        <p:blipFill>
          <a:blip r:embed="rId4"/>
          <a:stretch>
            <a:fillRect/>
          </a:stretch>
        </p:blipFill>
        <p:spPr>
          <a:xfrm>
            <a:off x="548640" y="1463040"/>
            <a:ext cx="6949440" cy="4063688"/>
          </a:xfrm>
          <a:prstGeom prst="rect">
            <a:avLst/>
          </a:prstGeom>
        </p:spPr>
      </p:pic>
      <p:sp>
        <p:nvSpPr>
          <p:cNvPr id="8" name="Text 5"/>
          <p:cNvSpPr txBox="1"/>
          <p:nvPr/>
        </p:nvSpPr>
        <p:spPr>
          <a:xfrm>
            <a:off x="548640" y="5636456"/>
            <a:ext cx="6949440" cy="457200"/>
          </a:xfrm>
          <a:prstGeom prst="rect">
            <a:avLst/>
          </a:prstGeom>
          <a:noFill/>
          <a:ln/>
        </p:spPr>
        <p:txBody>
          <a:bodyPr wrap="square" lIns="0" tIns="0" rIns="0" bIns="0" rtlCol="0" anchor="t"/>
          <a:lstStyle/>
          <a:p>
            <a:pPr marL="0" indent="0">
              <a:buNone/>
            </a:pPr>
            <a:r>
              <a:rPr lang="en-US" sz="1200" i="1" dirty="0">
                <a:solidFill>
                  <a:srgbClr val="6B7C7F"/>
                </a:solidFill>
              </a:rPr>
              <a:t>Shown: Flow · Public web request — User → Route 53 → CloudFront + WAF → ALB → target group → ECS task.</a:t>
            </a:r>
            <a:endParaRPr lang="en-US" sz="1200" dirty="0"/>
          </a:p>
        </p:txBody>
      </p:sp>
      <p:sp>
        <p:nvSpPr>
          <p:cNvPr id="9" name="open walkthrough button"/>
          <p:cNvSpPr/>
          <p:nvPr/>
        </p:nvSpPr>
        <p:spPr>
          <a:xfrm>
            <a:off x="7772400" y="1463040"/>
            <a:ext cx="3867912" cy="566928"/>
          </a:xfrm>
          <a:prstGeom prst="roundRect">
            <a:avLst>
              <a:gd name="adj" fmla="val 50000"/>
            </a:avLst>
          </a:prstGeom>
          <a:solidFill>
            <a:schemeClr val="accent2"/>
          </a:solidFill>
          <a:ln/>
          <a:effectLst>
            <a:outerShdw blurRad="114300" dist="25400" dir="5400000" algn="bl" rotWithShape="0">
              <a:srgbClr val="0E3B43">
                <a:alpha val="13000"/>
              </a:srgbClr>
            </a:outerShdw>
          </a:effectLst>
        </p:spPr>
      </p:sp>
      <p:pic>
        <p:nvPicPr>
          <p:cNvPr id="10" name="play icon" descr="preencoded.png">
            <a:hlinkClick r:id="rId3" tooltip="Open the live walkthrough"/>
          </p:cNvPr>
          <p:cNvPicPr>
            <a:picLocks noChangeAspect="1"/>
          </p:cNvPicPr>
          <p:nvPr/>
        </p:nvPicPr>
        <p:blipFill>
          <a:blip r:embed="rId5"/>
          <a:stretch>
            <a:fillRect/>
          </a:stretch>
        </p:blipFill>
        <p:spPr>
          <a:xfrm>
            <a:off x="8156448" y="1581912"/>
            <a:ext cx="329184" cy="329184"/>
          </a:xfrm>
          <a:prstGeom prst="rect">
            <a:avLst/>
          </a:prstGeom>
        </p:spPr>
      </p:pic>
      <p:sp>
        <p:nvSpPr>
          <p:cNvPr id="11" name="Text 7"/>
          <p:cNvSpPr txBox="1"/>
          <p:nvPr/>
        </p:nvSpPr>
        <p:spPr>
          <a:xfrm>
            <a:off x="8275320" y="1463040"/>
            <a:ext cx="3182112" cy="566928"/>
          </a:xfrm>
          <a:prstGeom prst="rect">
            <a:avLst/>
          </a:prstGeom>
          <a:noFill/>
          <a:ln/>
        </p:spPr>
        <p:txBody>
          <a:bodyPr wrap="square" lIns="0" tIns="0" rIns="0" bIns="0" rtlCol="0" anchor="ctr"/>
          <a:lstStyle/>
          <a:p>
            <a:pPr marL="0" indent="0" algn="ctr">
              <a:buNone/>
            </a:pPr>
            <a:r>
              <a:rPr lang="en-US" sz="1600" b="1" u="sng" dirty="0">
                <a:solidFill>
                  <a:srgbClr val="132226"/>
                </a:solidFill>
                <a:hlinkClick r:id="rId3" tooltip="Open the live walkthrough">
                  <a:extLst>
                    <a:ext uri="{A12FA001-AC4F-418D-AE19-62706E023703}">
                      <ahyp:hlinkClr xmlns:ahyp="http://schemas.microsoft.com/office/drawing/2018/hyperlinkcolor" val="tx"/>
                    </a:ext>
                  </a:extLst>
                </a:hlinkClick>
              </a:rPr>
              <a:t>Live walkthrough</a:t>
            </a:r>
            <a:endParaRPr lang="en-US" sz="1600" dirty="0"/>
          </a:p>
        </p:txBody>
      </p:sp>
      <p:sp>
        <p:nvSpPr>
          <p:cNvPr id="12" name="Text 8"/>
          <p:cNvSpPr txBox="1"/>
          <p:nvPr/>
        </p:nvSpPr>
        <p:spPr>
          <a:xfrm>
            <a:off x="7863840" y="2121408"/>
            <a:ext cx="3685032" cy="457200"/>
          </a:xfrm>
          <a:prstGeom prst="rect">
            <a:avLst/>
          </a:prstGeom>
          <a:noFill/>
          <a:ln/>
        </p:spPr>
        <p:txBody>
          <a:bodyPr wrap="square" lIns="0" tIns="0" rIns="0" bIns="0" rtlCol="0" anchor="t"/>
          <a:lstStyle/>
          <a:p>
            <a:pPr marL="0" indent="0">
              <a:buNone/>
            </a:pPr>
            <a:r>
              <a:rPr lang="en-US" sz="1200" dirty="0">
                <a:solidFill>
                  <a:srgbClr val="6B7C7F"/>
                </a:solidFill>
              </a:rPr>
              <a:t>Opens the HTML file in your browser. Keep it in the same folder as this deck.</a:t>
            </a:r>
            <a:endParaRPr lang="en-US" sz="1200" dirty="0"/>
          </a:p>
        </p:txBody>
      </p:sp>
      <p:sp>
        <p:nvSpPr>
          <p:cNvPr id="13" name="card"/>
          <p:cNvSpPr/>
          <p:nvPr/>
        </p:nvSpPr>
        <p:spPr>
          <a:xfrm>
            <a:off x="7772400" y="2743200"/>
            <a:ext cx="3867912" cy="1920240"/>
          </a:xfrm>
          <a:prstGeom prst="roundRect">
            <a:avLst>
              <a:gd name="adj" fmla="val 4762"/>
            </a:avLst>
          </a:prstGeom>
          <a:solidFill>
            <a:srgbClr val="FFFFFF"/>
          </a:solidFill>
          <a:ln/>
          <a:effectLst>
            <a:outerShdw blurRad="114300" dist="25400" dir="5400000" algn="bl" rotWithShape="0">
              <a:srgbClr val="0E3B43">
                <a:alpha val="13000"/>
              </a:srgbClr>
            </a:outerShdw>
          </a:effectLst>
        </p:spPr>
      </p:sp>
      <p:sp>
        <p:nvSpPr>
          <p:cNvPr id="14" name="Text 10"/>
          <p:cNvSpPr txBox="1"/>
          <p:nvPr/>
        </p:nvSpPr>
        <p:spPr>
          <a:xfrm>
            <a:off x="8001000" y="2852928"/>
            <a:ext cx="3410712" cy="329184"/>
          </a:xfrm>
          <a:prstGeom prst="rect">
            <a:avLst/>
          </a:prstGeom>
          <a:noFill/>
          <a:ln/>
        </p:spPr>
        <p:txBody>
          <a:bodyPr wrap="square" lIns="0" tIns="0" rIns="0" bIns="0" rtlCol="0" anchor="t"/>
          <a:lstStyle/>
          <a:p>
            <a:pPr marL="0" indent="0">
              <a:buNone/>
            </a:pPr>
            <a:r>
              <a:rPr lang="en-US" sz="1600" b="1" dirty="0">
                <a:solidFill>
                  <a:srgbClr val="0E3B43"/>
                </a:solidFill>
                <a:latin typeface="+mj-lt" pitchFamily="34" charset="0"/>
                <a:ea typeface="+mj-lt" pitchFamily="34" charset="-122"/>
                <a:cs typeface="+mj-lt" pitchFamily="34" charset="-120"/>
              </a:rPr>
              <a:t>Suggested demo order</a:t>
            </a:r>
            <a:endParaRPr lang="en-US" sz="1600" dirty="0"/>
          </a:p>
        </p:txBody>
      </p:sp>
      <p:sp>
        <p:nvSpPr>
          <p:cNvPr id="15" name="demo step"/>
          <p:cNvSpPr/>
          <p:nvPr/>
        </p:nvSpPr>
        <p:spPr>
          <a:xfrm>
            <a:off x="8001000" y="3300984"/>
            <a:ext cx="256032" cy="256032"/>
          </a:xfrm>
          <a:prstGeom prst="ellipse">
            <a:avLst/>
          </a:prstGeom>
          <a:solidFill>
            <a:schemeClr val="accent1"/>
          </a:solidFill>
          <a:ln/>
        </p:spPr>
      </p:sp>
      <p:sp>
        <p:nvSpPr>
          <p:cNvPr id="16" name="Text 12"/>
          <p:cNvSpPr txBox="1"/>
          <p:nvPr/>
        </p:nvSpPr>
        <p:spPr>
          <a:xfrm>
            <a:off x="8001000" y="330098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17" name="Text 13"/>
          <p:cNvSpPr txBox="1"/>
          <p:nvPr/>
        </p:nvSpPr>
        <p:spPr>
          <a:xfrm>
            <a:off x="8366760" y="3273552"/>
            <a:ext cx="3090672" cy="310896"/>
          </a:xfrm>
          <a:prstGeom prst="rect">
            <a:avLst/>
          </a:prstGeom>
          <a:noFill/>
          <a:ln/>
        </p:spPr>
        <p:txBody>
          <a:bodyPr wrap="square" lIns="0" tIns="0" rIns="0" bIns="0" rtlCol="0" anchor="ctr"/>
          <a:lstStyle/>
          <a:p>
            <a:pPr marL="0" indent="0">
              <a:buNone/>
            </a:pPr>
            <a:r>
              <a:rPr lang="en-US" sz="1400" dirty="0">
                <a:solidFill>
                  <a:srgbClr val="132226"/>
                </a:solidFill>
              </a:rPr>
              <a:t>Milestones M1 → M6 (keys 1–6)</a:t>
            </a:r>
            <a:endParaRPr lang="en-US" sz="1400" dirty="0"/>
          </a:p>
        </p:txBody>
      </p:sp>
      <p:sp>
        <p:nvSpPr>
          <p:cNvPr id="18" name="demo step"/>
          <p:cNvSpPr/>
          <p:nvPr/>
        </p:nvSpPr>
        <p:spPr>
          <a:xfrm>
            <a:off x="8001000" y="3639312"/>
            <a:ext cx="256032" cy="256032"/>
          </a:xfrm>
          <a:prstGeom prst="ellipse">
            <a:avLst/>
          </a:prstGeom>
          <a:solidFill>
            <a:schemeClr val="accent1"/>
          </a:solidFill>
          <a:ln/>
        </p:spPr>
      </p:sp>
      <p:sp>
        <p:nvSpPr>
          <p:cNvPr id="19" name="Text 15"/>
          <p:cNvSpPr txBox="1"/>
          <p:nvPr/>
        </p:nvSpPr>
        <p:spPr>
          <a:xfrm>
            <a:off x="8001000" y="363931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20" name="Text 16"/>
          <p:cNvSpPr txBox="1"/>
          <p:nvPr/>
        </p:nvSpPr>
        <p:spPr>
          <a:xfrm>
            <a:off x="8366760" y="3611880"/>
            <a:ext cx="3090672" cy="310896"/>
          </a:xfrm>
          <a:prstGeom prst="rect">
            <a:avLst/>
          </a:prstGeom>
          <a:noFill/>
          <a:ln/>
        </p:spPr>
        <p:txBody>
          <a:bodyPr wrap="square" lIns="0" tIns="0" rIns="0" bIns="0" rtlCol="0" anchor="ctr"/>
          <a:lstStyle/>
          <a:p>
            <a:pPr marL="0" indent="0">
              <a:buNone/>
            </a:pPr>
            <a:r>
              <a:rPr lang="en-US" sz="1400" dirty="0">
                <a:solidFill>
                  <a:srgbClr val="132226"/>
                </a:solidFill>
              </a:rPr>
              <a:t>Flow · CI/CD deployment</a:t>
            </a:r>
            <a:endParaRPr lang="en-US" sz="1400" dirty="0"/>
          </a:p>
        </p:txBody>
      </p:sp>
      <p:sp>
        <p:nvSpPr>
          <p:cNvPr id="21" name="demo step"/>
          <p:cNvSpPr/>
          <p:nvPr/>
        </p:nvSpPr>
        <p:spPr>
          <a:xfrm>
            <a:off x="8001000" y="3977640"/>
            <a:ext cx="256032" cy="256032"/>
          </a:xfrm>
          <a:prstGeom prst="ellipse">
            <a:avLst/>
          </a:prstGeom>
          <a:solidFill>
            <a:schemeClr val="accent1"/>
          </a:solidFill>
          <a:ln/>
        </p:spPr>
      </p:sp>
      <p:sp>
        <p:nvSpPr>
          <p:cNvPr id="22" name="Text 18"/>
          <p:cNvSpPr txBox="1"/>
          <p:nvPr/>
        </p:nvSpPr>
        <p:spPr>
          <a:xfrm>
            <a:off x="8001000" y="397764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23" name="Text 19"/>
          <p:cNvSpPr txBox="1"/>
          <p:nvPr/>
        </p:nvSpPr>
        <p:spPr>
          <a:xfrm>
            <a:off x="8366760" y="3950208"/>
            <a:ext cx="3090672" cy="310896"/>
          </a:xfrm>
          <a:prstGeom prst="rect">
            <a:avLst/>
          </a:prstGeom>
          <a:noFill/>
          <a:ln/>
        </p:spPr>
        <p:txBody>
          <a:bodyPr wrap="square" lIns="0" tIns="0" rIns="0" bIns="0" rtlCol="0" anchor="ctr"/>
          <a:lstStyle/>
          <a:p>
            <a:pPr marL="0" indent="0">
              <a:buNone/>
            </a:pPr>
            <a:r>
              <a:rPr lang="en-US" sz="1400" dirty="0">
                <a:solidFill>
                  <a:srgbClr val="132226"/>
                </a:solidFill>
              </a:rPr>
              <a:t>Flow · Cognito authentication</a:t>
            </a:r>
            <a:endParaRPr lang="en-US" sz="1400" dirty="0"/>
          </a:p>
        </p:txBody>
      </p:sp>
      <p:sp>
        <p:nvSpPr>
          <p:cNvPr id="24" name="demo step"/>
          <p:cNvSpPr/>
          <p:nvPr/>
        </p:nvSpPr>
        <p:spPr>
          <a:xfrm>
            <a:off x="8001000" y="4315968"/>
            <a:ext cx="256032" cy="256032"/>
          </a:xfrm>
          <a:prstGeom prst="ellipse">
            <a:avLst/>
          </a:prstGeom>
          <a:solidFill>
            <a:schemeClr val="accent1"/>
          </a:solidFill>
          <a:ln/>
        </p:spPr>
      </p:sp>
      <p:sp>
        <p:nvSpPr>
          <p:cNvPr id="25" name="Text 21"/>
          <p:cNvSpPr txBox="1"/>
          <p:nvPr/>
        </p:nvSpPr>
        <p:spPr>
          <a:xfrm>
            <a:off x="8001000" y="431596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6" name="Text 22"/>
          <p:cNvSpPr txBox="1"/>
          <p:nvPr/>
        </p:nvSpPr>
        <p:spPr>
          <a:xfrm>
            <a:off x="8366760" y="4288536"/>
            <a:ext cx="3090672" cy="310896"/>
          </a:xfrm>
          <a:prstGeom prst="rect">
            <a:avLst/>
          </a:prstGeom>
          <a:noFill/>
          <a:ln/>
        </p:spPr>
        <p:txBody>
          <a:bodyPr wrap="square" lIns="0" tIns="0" rIns="0" bIns="0" rtlCol="0" anchor="ctr"/>
          <a:lstStyle/>
          <a:p>
            <a:pPr marL="0" indent="0">
              <a:buNone/>
            </a:pPr>
            <a:r>
              <a:rPr lang="en-US" sz="1400" dirty="0">
                <a:solidFill>
                  <a:srgbClr val="132226"/>
                </a:solidFill>
              </a:rPr>
              <a:t>Flow · Morning sandbox recovery</a:t>
            </a:r>
            <a:endParaRPr lang="en-US" sz="1400" dirty="0"/>
          </a:p>
        </p:txBody>
      </p:sp>
      <p:sp>
        <p:nvSpPr>
          <p:cNvPr id="27" name="card"/>
          <p:cNvSpPr/>
          <p:nvPr/>
        </p:nvSpPr>
        <p:spPr>
          <a:xfrm>
            <a:off x="7772400" y="4846320"/>
            <a:ext cx="3867912" cy="1325880"/>
          </a:xfrm>
          <a:prstGeom prst="roundRect">
            <a:avLst>
              <a:gd name="adj" fmla="val 6897"/>
            </a:avLst>
          </a:prstGeom>
          <a:solidFill>
            <a:srgbClr val="EEF4F3"/>
          </a:solidFill>
          <a:ln/>
        </p:spPr>
      </p:sp>
      <p:sp>
        <p:nvSpPr>
          <p:cNvPr id="28" name="Text 24"/>
          <p:cNvSpPr txBox="1"/>
          <p:nvPr/>
        </p:nvSpPr>
        <p:spPr>
          <a:xfrm>
            <a:off x="8001000" y="4937760"/>
            <a:ext cx="3410712" cy="274320"/>
          </a:xfrm>
          <a:prstGeom prst="rect">
            <a:avLst/>
          </a:prstGeom>
          <a:noFill/>
          <a:ln/>
        </p:spPr>
        <p:txBody>
          <a:bodyPr wrap="square" lIns="0" tIns="0" rIns="0" bIns="0" rtlCol="0" anchor="t"/>
          <a:lstStyle/>
          <a:p>
            <a:pPr marL="0" indent="0">
              <a:buNone/>
            </a:pPr>
            <a:r>
              <a:rPr lang="en-US" sz="1300" b="1" dirty="0">
                <a:solidFill>
                  <a:srgbClr val="0E7C7B"/>
                </a:solidFill>
              </a:rPr>
              <a:t>Keyboard</a:t>
            </a:r>
            <a:endParaRPr lang="en-US" sz="1300" dirty="0"/>
          </a:p>
        </p:txBody>
      </p:sp>
      <p:sp>
        <p:nvSpPr>
          <p:cNvPr id="29" name="Text 25"/>
          <p:cNvSpPr txBox="1"/>
          <p:nvPr/>
        </p:nvSpPr>
        <p:spPr>
          <a:xfrm>
            <a:off x="8001000" y="5230368"/>
            <a:ext cx="1828800" cy="274320"/>
          </a:xfrm>
          <a:prstGeom prst="rect">
            <a:avLst/>
          </a:prstGeom>
          <a:noFill/>
          <a:ln/>
        </p:spPr>
        <p:txBody>
          <a:bodyPr wrap="square" lIns="0" tIns="0" rIns="0" bIns="0" rtlCol="0" anchor="ctr"/>
          <a:lstStyle/>
          <a:p>
            <a:pPr marL="0" indent="0">
              <a:buNone/>
            </a:pPr>
            <a:r>
              <a:rPr lang="en-US" sz="1300" b="1" dirty="0">
                <a:solidFill>
                  <a:srgbClr val="0E3B43"/>
                </a:solidFill>
                <a:latin typeface="Courier New" pitchFamily="34" charset="0"/>
                <a:ea typeface="Courier New" pitchFamily="34" charset="-122"/>
                <a:cs typeface="Courier New" pitchFamily="34" charset="-120"/>
              </a:rPr>
              <a:t>1–6  </a:t>
            </a:r>
            <a:r>
              <a:rPr lang="en-US" sz="1300" dirty="0">
                <a:solidFill>
                  <a:srgbClr val="132226"/>
                </a:solidFill>
              </a:rPr>
              <a:t>milestone</a:t>
            </a:r>
            <a:endParaRPr lang="en-US" sz="1300" dirty="0"/>
          </a:p>
        </p:txBody>
      </p:sp>
      <p:sp>
        <p:nvSpPr>
          <p:cNvPr id="30" name="Text 26"/>
          <p:cNvSpPr txBox="1"/>
          <p:nvPr/>
        </p:nvSpPr>
        <p:spPr>
          <a:xfrm>
            <a:off x="8001000" y="5522976"/>
            <a:ext cx="1828800" cy="274320"/>
          </a:xfrm>
          <a:prstGeom prst="rect">
            <a:avLst/>
          </a:prstGeom>
          <a:noFill/>
          <a:ln/>
        </p:spPr>
        <p:txBody>
          <a:bodyPr wrap="square" lIns="0" tIns="0" rIns="0" bIns="0" rtlCol="0" anchor="ctr"/>
          <a:lstStyle/>
          <a:p>
            <a:pPr marL="0" indent="0">
              <a:buNone/>
            </a:pPr>
            <a:r>
              <a:rPr lang="en-US" sz="1300" b="1" dirty="0">
                <a:solidFill>
                  <a:srgbClr val="0E3B43"/>
                </a:solidFill>
                <a:latin typeface="Courier New" pitchFamily="34" charset="0"/>
                <a:ea typeface="Courier New" pitchFamily="34" charset="-122"/>
                <a:cs typeface="Courier New" pitchFamily="34" charset="-120"/>
              </a:rPr>
              <a:t>A  </a:t>
            </a:r>
            <a:r>
              <a:rPr lang="en-US" sz="1300" dirty="0">
                <a:solidFill>
                  <a:srgbClr val="132226"/>
                </a:solidFill>
              </a:rPr>
              <a:t>all flows</a:t>
            </a:r>
            <a:endParaRPr lang="en-US" sz="1300" dirty="0"/>
          </a:p>
        </p:txBody>
      </p:sp>
      <p:sp>
        <p:nvSpPr>
          <p:cNvPr id="31" name="Text 27"/>
          <p:cNvSpPr txBox="1"/>
          <p:nvPr/>
        </p:nvSpPr>
        <p:spPr>
          <a:xfrm>
            <a:off x="8001000" y="5815584"/>
            <a:ext cx="1828800" cy="274320"/>
          </a:xfrm>
          <a:prstGeom prst="rect">
            <a:avLst/>
          </a:prstGeom>
          <a:noFill/>
          <a:ln/>
        </p:spPr>
        <p:txBody>
          <a:bodyPr wrap="square" lIns="0" tIns="0" rIns="0" bIns="0" rtlCol="0" anchor="ctr"/>
          <a:lstStyle/>
          <a:p>
            <a:pPr marL="0" indent="0">
              <a:buNone/>
            </a:pPr>
            <a:r>
              <a:rPr lang="en-US" sz="1300" b="1" dirty="0">
                <a:solidFill>
                  <a:srgbClr val="0E3B43"/>
                </a:solidFill>
                <a:latin typeface="Courier New" pitchFamily="34" charset="0"/>
                <a:ea typeface="Courier New" pitchFamily="34" charset="-122"/>
                <a:cs typeface="Courier New" pitchFamily="34" charset="-120"/>
              </a:rPr>
              <a:t>S  </a:t>
            </a:r>
            <a:r>
              <a:rPr lang="en-US" sz="1300" dirty="0">
                <a:solidFill>
                  <a:srgbClr val="132226"/>
                </a:solidFill>
              </a:rPr>
              <a:t>auto sequence</a:t>
            </a:r>
            <a:endParaRPr lang="en-US" sz="1300" dirty="0"/>
          </a:p>
        </p:txBody>
      </p:sp>
      <p:sp>
        <p:nvSpPr>
          <p:cNvPr id="32" name="Text 28"/>
          <p:cNvSpPr txBox="1"/>
          <p:nvPr/>
        </p:nvSpPr>
        <p:spPr>
          <a:xfrm>
            <a:off x="9875520" y="5230368"/>
            <a:ext cx="1828800" cy="274320"/>
          </a:xfrm>
          <a:prstGeom prst="rect">
            <a:avLst/>
          </a:prstGeom>
          <a:noFill/>
          <a:ln/>
        </p:spPr>
        <p:txBody>
          <a:bodyPr wrap="square" lIns="0" tIns="0" rIns="0" bIns="0" rtlCol="0" anchor="ctr"/>
          <a:lstStyle/>
          <a:p>
            <a:pPr marL="0" indent="0">
              <a:buNone/>
            </a:pPr>
            <a:r>
              <a:rPr lang="en-US" sz="1300" b="1" dirty="0">
                <a:solidFill>
                  <a:srgbClr val="0E3B43"/>
                </a:solidFill>
                <a:latin typeface="Courier New" pitchFamily="34" charset="0"/>
                <a:ea typeface="Courier New" pitchFamily="34" charset="-122"/>
                <a:cs typeface="Courier New" pitchFamily="34" charset="-120"/>
              </a:rPr>
              <a:t>Space  </a:t>
            </a:r>
            <a:r>
              <a:rPr lang="en-US" sz="1300" dirty="0">
                <a:solidFill>
                  <a:srgbClr val="132226"/>
                </a:solidFill>
              </a:rPr>
              <a:t>play / pause</a:t>
            </a:r>
            <a:endParaRPr lang="en-US" sz="1300" dirty="0"/>
          </a:p>
        </p:txBody>
      </p:sp>
      <p:sp>
        <p:nvSpPr>
          <p:cNvPr id="33" name="Text 29"/>
          <p:cNvSpPr txBox="1"/>
          <p:nvPr/>
        </p:nvSpPr>
        <p:spPr>
          <a:xfrm>
            <a:off x="9875520" y="5522976"/>
            <a:ext cx="1828800" cy="274320"/>
          </a:xfrm>
          <a:prstGeom prst="rect">
            <a:avLst/>
          </a:prstGeom>
          <a:noFill/>
          <a:ln/>
        </p:spPr>
        <p:txBody>
          <a:bodyPr wrap="square" lIns="0" tIns="0" rIns="0" bIns="0" rtlCol="0" anchor="ctr"/>
          <a:lstStyle/>
          <a:p>
            <a:pPr marL="0" indent="0">
              <a:buNone/>
            </a:pPr>
            <a:r>
              <a:rPr lang="en-US" sz="1300" b="1" dirty="0">
                <a:solidFill>
                  <a:srgbClr val="0E3B43"/>
                </a:solidFill>
                <a:latin typeface="Courier New" pitchFamily="34" charset="0"/>
                <a:ea typeface="Courier New" pitchFamily="34" charset="-122"/>
                <a:cs typeface="Courier New" pitchFamily="34" charset="-120"/>
              </a:rPr>
              <a:t>F  </a:t>
            </a:r>
            <a:r>
              <a:rPr lang="en-US" sz="1300" dirty="0">
                <a:solidFill>
                  <a:srgbClr val="132226"/>
                </a:solidFill>
              </a:rPr>
              <a:t>fullscreen</a:t>
            </a:r>
            <a:endParaRPr lang="en-US" sz="1300" dirty="0"/>
          </a:p>
        </p:txBody>
      </p:sp>
      <p:sp>
        <p:nvSpPr>
          <p:cNvPr id="34"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Foundation &amp; networking</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A two-AZ VPC separates public ingress, application compute and the database layer.</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M1</a:t>
            </a:r>
            <a:endParaRPr lang="en-US" sz="1200" dirty="0"/>
          </a:p>
        </p:txBody>
      </p:sp>
      <p:sp>
        <p:nvSpPr>
          <p:cNvPr id="6" name="card"/>
          <p:cNvSpPr/>
          <p:nvPr/>
        </p:nvSpPr>
        <p:spPr>
          <a:xfrm>
            <a:off x="548640" y="1463040"/>
            <a:ext cx="7406640" cy="4663440"/>
          </a:xfrm>
          <a:prstGeom prst="roundRect">
            <a:avLst>
              <a:gd name="adj" fmla="val 1961"/>
            </a:avLst>
          </a:prstGeom>
          <a:solidFill>
            <a:srgbClr val="FFFFFF"/>
          </a:solidFill>
          <a:ln/>
          <a:effectLst>
            <a:outerShdw blurRad="114300" dist="25400" dir="5400000" algn="bl" rotWithShape="0">
              <a:srgbClr val="0E3B43">
                <a:alpha val="13000"/>
              </a:srgbClr>
            </a:outerShdw>
          </a:effectLst>
        </p:spPr>
      </p:sp>
      <p:sp>
        <p:nvSpPr>
          <p:cNvPr id="7" name="vpc pill"/>
          <p:cNvSpPr/>
          <p:nvPr/>
        </p:nvSpPr>
        <p:spPr>
          <a:xfrm>
            <a:off x="731520" y="1627632"/>
            <a:ext cx="1783080" cy="347472"/>
          </a:xfrm>
          <a:prstGeom prst="roundRect">
            <a:avLst>
              <a:gd name="adj" fmla="val 50000"/>
            </a:avLst>
          </a:prstGeom>
          <a:solidFill>
            <a:schemeClr val="tx2"/>
          </a:solidFill>
          <a:ln/>
        </p:spPr>
      </p:sp>
      <p:sp>
        <p:nvSpPr>
          <p:cNvPr id="8" name="Text 6"/>
          <p:cNvSpPr txBox="1"/>
          <p:nvPr/>
        </p:nvSpPr>
        <p:spPr>
          <a:xfrm>
            <a:off x="731520" y="1627632"/>
            <a:ext cx="1783080" cy="347472"/>
          </a:xfrm>
          <a:prstGeom prst="rect">
            <a:avLst/>
          </a:prstGeom>
          <a:noFill/>
          <a:ln/>
        </p:spPr>
        <p:txBody>
          <a:bodyPr wrap="square" lIns="0" tIns="0" rIns="0" bIns="0" rtlCol="0" anchor="ctr"/>
          <a:lstStyle/>
          <a:p>
            <a:pPr marL="0" indent="0" algn="ctr">
              <a:buNone/>
            </a:pPr>
            <a:r>
              <a:rPr lang="en-US" sz="1200" b="1" dirty="0">
                <a:solidFill>
                  <a:srgbClr val="FFFFFF"/>
                </a:solidFill>
              </a:rPr>
              <a:t>VPC 10.0.0.0/16</a:t>
            </a:r>
            <a:endParaRPr lang="en-US" sz="1200" dirty="0"/>
          </a:p>
        </p:txBody>
      </p:sp>
      <p:sp>
        <p:nvSpPr>
          <p:cNvPr id="9" name="Text 7"/>
          <p:cNvSpPr txBox="1"/>
          <p:nvPr/>
        </p:nvSpPr>
        <p:spPr>
          <a:xfrm>
            <a:off x="2697480" y="1627632"/>
            <a:ext cx="2468880" cy="347472"/>
          </a:xfrm>
          <a:prstGeom prst="rect">
            <a:avLst/>
          </a:prstGeom>
          <a:noFill/>
          <a:ln/>
        </p:spPr>
        <p:txBody>
          <a:bodyPr wrap="square" lIns="0" tIns="0" rIns="0" bIns="0" rtlCol="0" anchor="ctr"/>
          <a:lstStyle/>
          <a:p>
            <a:pPr marL="0" indent="0" algn="ctr">
              <a:buNone/>
            </a:pPr>
            <a:r>
              <a:rPr lang="en-US" sz="1300" b="1" dirty="0">
                <a:solidFill>
                  <a:srgbClr val="0E7C7B"/>
                </a:solidFill>
              </a:rPr>
              <a:t>Availability Zone us-east-1a</a:t>
            </a:r>
            <a:endParaRPr lang="en-US" sz="1300" dirty="0"/>
          </a:p>
        </p:txBody>
      </p:sp>
      <p:sp>
        <p:nvSpPr>
          <p:cNvPr id="10" name="Text 8"/>
          <p:cNvSpPr txBox="1"/>
          <p:nvPr/>
        </p:nvSpPr>
        <p:spPr>
          <a:xfrm>
            <a:off x="5303520" y="1627632"/>
            <a:ext cx="2468880" cy="347472"/>
          </a:xfrm>
          <a:prstGeom prst="rect">
            <a:avLst/>
          </a:prstGeom>
          <a:noFill/>
          <a:ln/>
        </p:spPr>
        <p:txBody>
          <a:bodyPr wrap="square" lIns="0" tIns="0" rIns="0" bIns="0" rtlCol="0" anchor="ctr"/>
          <a:lstStyle/>
          <a:p>
            <a:pPr marL="0" indent="0" algn="ctr">
              <a:buNone/>
            </a:pPr>
            <a:r>
              <a:rPr lang="en-US" sz="1300" b="1" dirty="0">
                <a:solidFill>
                  <a:srgbClr val="0E7C7B"/>
                </a:solidFill>
              </a:rPr>
              <a:t>Availability Zone us-east-1b</a:t>
            </a:r>
            <a:endParaRPr lang="en-US" sz="1300" dirty="0"/>
          </a:p>
        </p:txBody>
      </p:sp>
      <p:sp>
        <p:nvSpPr>
          <p:cNvPr id="11" name="Public circle"/>
          <p:cNvSpPr/>
          <p:nvPr/>
        </p:nvSpPr>
        <p:spPr>
          <a:xfrm>
            <a:off x="777240" y="2240280"/>
            <a:ext cx="457200" cy="457200"/>
          </a:xfrm>
          <a:prstGeom prst="ellipse">
            <a:avLst/>
          </a:prstGeom>
          <a:solidFill>
            <a:schemeClr val="accent6"/>
          </a:solidFill>
          <a:ln/>
        </p:spPr>
      </p:sp>
      <p:pic>
        <p:nvPicPr>
          <p:cNvPr id="12" name="Public" descr="preencoded.png"/>
          <p:cNvPicPr>
            <a:picLocks noChangeAspect="1"/>
          </p:cNvPicPr>
          <p:nvPr/>
        </p:nvPicPr>
        <p:blipFill>
          <a:blip r:embed="rId3"/>
          <a:stretch>
            <a:fillRect/>
          </a:stretch>
        </p:blipFill>
        <p:spPr>
          <a:xfrm>
            <a:off x="886968" y="2350008"/>
            <a:ext cx="237744" cy="237744"/>
          </a:xfrm>
          <a:prstGeom prst="rect">
            <a:avLst/>
          </a:prstGeom>
        </p:spPr>
      </p:pic>
      <p:sp>
        <p:nvSpPr>
          <p:cNvPr id="13" name="Text 10"/>
          <p:cNvSpPr txBox="1"/>
          <p:nvPr/>
        </p:nvSpPr>
        <p:spPr>
          <a:xfrm>
            <a:off x="777240" y="2770632"/>
            <a:ext cx="1783080" cy="274320"/>
          </a:xfrm>
          <a:prstGeom prst="rect">
            <a:avLst/>
          </a:prstGeom>
          <a:noFill/>
          <a:ln/>
        </p:spPr>
        <p:txBody>
          <a:bodyPr wrap="square" lIns="0" tIns="0" rIns="0" bIns="0" rtlCol="0" anchor="t"/>
          <a:lstStyle/>
          <a:p>
            <a:pPr marL="0" indent="0">
              <a:buNone/>
            </a:pPr>
            <a:r>
              <a:rPr lang="en-US" sz="1400" b="1" dirty="0">
                <a:solidFill>
                  <a:srgbClr val="132226"/>
                </a:solidFill>
              </a:rPr>
              <a:t>Public</a:t>
            </a:r>
            <a:endParaRPr lang="en-US" sz="1400" dirty="0"/>
          </a:p>
        </p:txBody>
      </p:sp>
      <p:sp>
        <p:nvSpPr>
          <p:cNvPr id="14" name="Text 11"/>
          <p:cNvSpPr txBox="1"/>
          <p:nvPr/>
        </p:nvSpPr>
        <p:spPr>
          <a:xfrm>
            <a:off x="777240" y="3026664"/>
            <a:ext cx="1783080" cy="237744"/>
          </a:xfrm>
          <a:prstGeom prst="rect">
            <a:avLst/>
          </a:prstGeom>
          <a:noFill/>
          <a:ln/>
        </p:spPr>
        <p:txBody>
          <a:bodyPr wrap="square" lIns="0" tIns="0" rIns="0" bIns="0" rtlCol="0" anchor="t"/>
          <a:lstStyle/>
          <a:p>
            <a:pPr marL="0" indent="0">
              <a:buNone/>
            </a:pPr>
            <a:r>
              <a:rPr lang="en-US" sz="1100" dirty="0">
                <a:solidFill>
                  <a:srgbClr val="6B7C7F"/>
                </a:solidFill>
              </a:rPr>
              <a:t>internet-facing</a:t>
            </a:r>
            <a:endParaRPr lang="en-US" sz="1100" dirty="0"/>
          </a:p>
        </p:txBody>
      </p:sp>
      <p:sp>
        <p:nvSpPr>
          <p:cNvPr id="15" name="subnet Public"/>
          <p:cNvSpPr/>
          <p:nvPr/>
        </p:nvSpPr>
        <p:spPr>
          <a:xfrm>
            <a:off x="2697480" y="2148840"/>
            <a:ext cx="2468880" cy="1143000"/>
          </a:xfrm>
          <a:prstGeom prst="roundRect">
            <a:avLst>
              <a:gd name="adj" fmla="val 6400"/>
            </a:avLst>
          </a:prstGeom>
          <a:solidFill>
            <a:srgbClr val="E8F5F6"/>
          </a:solidFill>
          <a:ln w="9525">
            <a:solidFill>
              <a:srgbClr val="D3E2E0"/>
            </a:solidFill>
            <a:prstDash val="solid"/>
          </a:ln>
        </p:spPr>
      </p:sp>
      <p:sp>
        <p:nvSpPr>
          <p:cNvPr id="16" name="Text 13"/>
          <p:cNvSpPr txBox="1"/>
          <p:nvPr/>
        </p:nvSpPr>
        <p:spPr>
          <a:xfrm>
            <a:off x="2880360" y="2313432"/>
            <a:ext cx="210312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10.0.1.0/24</a:t>
            </a:r>
            <a:endParaRPr lang="en-US" sz="1700" dirty="0"/>
          </a:p>
        </p:txBody>
      </p:sp>
      <p:sp>
        <p:nvSpPr>
          <p:cNvPr id="17" name="Text 14"/>
          <p:cNvSpPr txBox="1"/>
          <p:nvPr/>
        </p:nvSpPr>
        <p:spPr>
          <a:xfrm>
            <a:off x="2880360" y="2697480"/>
            <a:ext cx="2148840" cy="502920"/>
          </a:xfrm>
          <a:prstGeom prst="rect">
            <a:avLst/>
          </a:prstGeom>
          <a:noFill/>
          <a:ln/>
        </p:spPr>
        <p:txBody>
          <a:bodyPr wrap="square" lIns="0" tIns="0" rIns="0" bIns="0" rtlCol="0" anchor="t"/>
          <a:lstStyle/>
          <a:p>
            <a:pPr marL="0" indent="0">
              <a:buNone/>
            </a:pPr>
            <a:r>
              <a:rPr lang="en-US" sz="1300" dirty="0">
                <a:solidFill>
                  <a:srgbClr val="4A5B5E"/>
                </a:solidFill>
              </a:rPr>
              <a:t>ALB  ·  NAT Gateway</a:t>
            </a:r>
            <a:endParaRPr lang="en-US" sz="1300" dirty="0"/>
          </a:p>
        </p:txBody>
      </p:sp>
      <p:sp>
        <p:nvSpPr>
          <p:cNvPr id="18" name="subnet Public"/>
          <p:cNvSpPr/>
          <p:nvPr/>
        </p:nvSpPr>
        <p:spPr>
          <a:xfrm>
            <a:off x="5303520" y="2148840"/>
            <a:ext cx="2468880" cy="1143000"/>
          </a:xfrm>
          <a:prstGeom prst="roundRect">
            <a:avLst>
              <a:gd name="adj" fmla="val 6400"/>
            </a:avLst>
          </a:prstGeom>
          <a:solidFill>
            <a:srgbClr val="E8F5F6"/>
          </a:solidFill>
          <a:ln w="9525">
            <a:solidFill>
              <a:srgbClr val="D3E2E0"/>
            </a:solidFill>
            <a:prstDash val="solid"/>
          </a:ln>
        </p:spPr>
      </p:sp>
      <p:sp>
        <p:nvSpPr>
          <p:cNvPr id="19" name="Text 16"/>
          <p:cNvSpPr txBox="1"/>
          <p:nvPr/>
        </p:nvSpPr>
        <p:spPr>
          <a:xfrm>
            <a:off x="5486400" y="2313432"/>
            <a:ext cx="210312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10.0.2.0/24</a:t>
            </a:r>
            <a:endParaRPr lang="en-US" sz="1700" dirty="0"/>
          </a:p>
        </p:txBody>
      </p:sp>
      <p:sp>
        <p:nvSpPr>
          <p:cNvPr id="20" name="Text 17"/>
          <p:cNvSpPr txBox="1"/>
          <p:nvPr/>
        </p:nvSpPr>
        <p:spPr>
          <a:xfrm>
            <a:off x="5486400" y="2697480"/>
            <a:ext cx="2148840" cy="502920"/>
          </a:xfrm>
          <a:prstGeom prst="rect">
            <a:avLst/>
          </a:prstGeom>
          <a:noFill/>
          <a:ln/>
        </p:spPr>
        <p:txBody>
          <a:bodyPr wrap="square" lIns="0" tIns="0" rIns="0" bIns="0" rtlCol="0" anchor="t"/>
          <a:lstStyle/>
          <a:p>
            <a:pPr marL="0" indent="0">
              <a:buNone/>
            </a:pPr>
            <a:r>
              <a:rPr lang="en-US" sz="1300" dirty="0">
                <a:solidFill>
                  <a:srgbClr val="4A5B5E"/>
                </a:solidFill>
              </a:rPr>
              <a:t>ALB  ·  NAT Gateway</a:t>
            </a:r>
            <a:endParaRPr lang="en-US" sz="1300" dirty="0"/>
          </a:p>
        </p:txBody>
      </p:sp>
      <p:sp>
        <p:nvSpPr>
          <p:cNvPr id="21" name="Private app circle"/>
          <p:cNvSpPr/>
          <p:nvPr/>
        </p:nvSpPr>
        <p:spPr>
          <a:xfrm>
            <a:off x="777240" y="3566160"/>
            <a:ext cx="457200" cy="457200"/>
          </a:xfrm>
          <a:prstGeom prst="ellipse">
            <a:avLst/>
          </a:prstGeom>
          <a:solidFill>
            <a:schemeClr val="accent1"/>
          </a:solidFill>
          <a:ln/>
        </p:spPr>
      </p:sp>
      <p:pic>
        <p:nvPicPr>
          <p:cNvPr id="22" name="Private app" descr="preencoded.png"/>
          <p:cNvPicPr>
            <a:picLocks noChangeAspect="1"/>
          </p:cNvPicPr>
          <p:nvPr/>
        </p:nvPicPr>
        <p:blipFill>
          <a:blip r:embed="rId4"/>
          <a:stretch>
            <a:fillRect/>
          </a:stretch>
        </p:blipFill>
        <p:spPr>
          <a:xfrm>
            <a:off x="886968" y="3675888"/>
            <a:ext cx="237744" cy="237744"/>
          </a:xfrm>
          <a:prstGeom prst="rect">
            <a:avLst/>
          </a:prstGeom>
        </p:spPr>
      </p:pic>
      <p:sp>
        <p:nvSpPr>
          <p:cNvPr id="23" name="Text 19"/>
          <p:cNvSpPr txBox="1"/>
          <p:nvPr/>
        </p:nvSpPr>
        <p:spPr>
          <a:xfrm>
            <a:off x="777240" y="4096512"/>
            <a:ext cx="1783080" cy="274320"/>
          </a:xfrm>
          <a:prstGeom prst="rect">
            <a:avLst/>
          </a:prstGeom>
          <a:noFill/>
          <a:ln/>
        </p:spPr>
        <p:txBody>
          <a:bodyPr wrap="square" lIns="0" tIns="0" rIns="0" bIns="0" rtlCol="0" anchor="t"/>
          <a:lstStyle/>
          <a:p>
            <a:pPr marL="0" indent="0">
              <a:buNone/>
            </a:pPr>
            <a:r>
              <a:rPr lang="en-US" sz="1400" b="1" dirty="0">
                <a:solidFill>
                  <a:srgbClr val="132226"/>
                </a:solidFill>
              </a:rPr>
              <a:t>Private app</a:t>
            </a:r>
            <a:endParaRPr lang="en-US" sz="1400" dirty="0"/>
          </a:p>
        </p:txBody>
      </p:sp>
      <p:sp>
        <p:nvSpPr>
          <p:cNvPr id="24" name="Text 20"/>
          <p:cNvSpPr txBox="1"/>
          <p:nvPr/>
        </p:nvSpPr>
        <p:spPr>
          <a:xfrm>
            <a:off x="777240" y="4352544"/>
            <a:ext cx="1783080" cy="237744"/>
          </a:xfrm>
          <a:prstGeom prst="rect">
            <a:avLst/>
          </a:prstGeom>
          <a:noFill/>
          <a:ln/>
        </p:spPr>
        <p:txBody>
          <a:bodyPr wrap="square" lIns="0" tIns="0" rIns="0" bIns="0" rtlCol="0" anchor="t"/>
          <a:lstStyle/>
          <a:p>
            <a:pPr marL="0" indent="0">
              <a:buNone/>
            </a:pPr>
            <a:r>
              <a:rPr lang="en-US" sz="1100" dirty="0">
                <a:solidFill>
                  <a:srgbClr val="6B7C7F"/>
                </a:solidFill>
              </a:rPr>
              <a:t>compute</a:t>
            </a:r>
            <a:endParaRPr lang="en-US" sz="1100" dirty="0"/>
          </a:p>
        </p:txBody>
      </p:sp>
      <p:sp>
        <p:nvSpPr>
          <p:cNvPr id="25" name="subnet Private app"/>
          <p:cNvSpPr/>
          <p:nvPr/>
        </p:nvSpPr>
        <p:spPr>
          <a:xfrm>
            <a:off x="2697480" y="3474720"/>
            <a:ext cx="2468880" cy="1143000"/>
          </a:xfrm>
          <a:prstGeom prst="roundRect">
            <a:avLst>
              <a:gd name="adj" fmla="val 6400"/>
            </a:avLst>
          </a:prstGeom>
          <a:solidFill>
            <a:srgbClr val="E1F0EF"/>
          </a:solidFill>
          <a:ln w="9525">
            <a:solidFill>
              <a:srgbClr val="D3E2E0"/>
            </a:solidFill>
            <a:prstDash val="solid"/>
          </a:ln>
        </p:spPr>
      </p:sp>
      <p:sp>
        <p:nvSpPr>
          <p:cNvPr id="26" name="Text 22"/>
          <p:cNvSpPr txBox="1"/>
          <p:nvPr/>
        </p:nvSpPr>
        <p:spPr>
          <a:xfrm>
            <a:off x="2880360" y="3639312"/>
            <a:ext cx="210312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10.0.11.0/24</a:t>
            </a:r>
            <a:endParaRPr lang="en-US" sz="1700" dirty="0"/>
          </a:p>
        </p:txBody>
      </p:sp>
      <p:sp>
        <p:nvSpPr>
          <p:cNvPr id="27" name="Text 23"/>
          <p:cNvSpPr txBox="1"/>
          <p:nvPr/>
        </p:nvSpPr>
        <p:spPr>
          <a:xfrm>
            <a:off x="2880360" y="4023360"/>
            <a:ext cx="2148840" cy="502920"/>
          </a:xfrm>
          <a:prstGeom prst="rect">
            <a:avLst/>
          </a:prstGeom>
          <a:noFill/>
          <a:ln/>
        </p:spPr>
        <p:txBody>
          <a:bodyPr wrap="square" lIns="0" tIns="0" rIns="0" bIns="0" rtlCol="0" anchor="t"/>
          <a:lstStyle/>
          <a:p>
            <a:pPr marL="0" indent="0">
              <a:buNone/>
            </a:pPr>
            <a:r>
              <a:rPr lang="en-US" sz="1300" dirty="0">
                <a:solidFill>
                  <a:srgbClr val="4A5B5E"/>
                </a:solidFill>
              </a:rPr>
              <a:t>ECS Fargate tasks</a:t>
            </a:r>
            <a:endParaRPr lang="en-US" sz="1300" dirty="0"/>
          </a:p>
        </p:txBody>
      </p:sp>
      <p:sp>
        <p:nvSpPr>
          <p:cNvPr id="28" name="subnet Private app"/>
          <p:cNvSpPr/>
          <p:nvPr/>
        </p:nvSpPr>
        <p:spPr>
          <a:xfrm>
            <a:off x="5303520" y="3474720"/>
            <a:ext cx="2468880" cy="1143000"/>
          </a:xfrm>
          <a:prstGeom prst="roundRect">
            <a:avLst>
              <a:gd name="adj" fmla="val 6400"/>
            </a:avLst>
          </a:prstGeom>
          <a:solidFill>
            <a:srgbClr val="E1F0EF"/>
          </a:solidFill>
          <a:ln w="9525">
            <a:solidFill>
              <a:srgbClr val="D3E2E0"/>
            </a:solidFill>
            <a:prstDash val="solid"/>
          </a:ln>
        </p:spPr>
      </p:sp>
      <p:sp>
        <p:nvSpPr>
          <p:cNvPr id="29" name="Text 25"/>
          <p:cNvSpPr txBox="1"/>
          <p:nvPr/>
        </p:nvSpPr>
        <p:spPr>
          <a:xfrm>
            <a:off x="5486400" y="3639312"/>
            <a:ext cx="210312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10.0.12.0/24</a:t>
            </a:r>
            <a:endParaRPr lang="en-US" sz="1700" dirty="0"/>
          </a:p>
        </p:txBody>
      </p:sp>
      <p:sp>
        <p:nvSpPr>
          <p:cNvPr id="30" name="Text 26"/>
          <p:cNvSpPr txBox="1"/>
          <p:nvPr/>
        </p:nvSpPr>
        <p:spPr>
          <a:xfrm>
            <a:off x="5486400" y="4023360"/>
            <a:ext cx="2148840" cy="502920"/>
          </a:xfrm>
          <a:prstGeom prst="rect">
            <a:avLst/>
          </a:prstGeom>
          <a:noFill/>
          <a:ln/>
        </p:spPr>
        <p:txBody>
          <a:bodyPr wrap="square" lIns="0" tIns="0" rIns="0" bIns="0" rtlCol="0" anchor="t"/>
          <a:lstStyle/>
          <a:p>
            <a:pPr marL="0" indent="0">
              <a:buNone/>
            </a:pPr>
            <a:r>
              <a:rPr lang="en-US" sz="1300" dirty="0">
                <a:solidFill>
                  <a:srgbClr val="4A5B5E"/>
                </a:solidFill>
              </a:rPr>
              <a:t>ECS Fargate tasks</a:t>
            </a:r>
            <a:endParaRPr lang="en-US" sz="1300" dirty="0"/>
          </a:p>
        </p:txBody>
      </p:sp>
      <p:sp>
        <p:nvSpPr>
          <p:cNvPr id="31" name="Private DB circle"/>
          <p:cNvSpPr/>
          <p:nvPr/>
        </p:nvSpPr>
        <p:spPr>
          <a:xfrm>
            <a:off x="777240" y="4892040"/>
            <a:ext cx="457200" cy="457200"/>
          </a:xfrm>
          <a:prstGeom prst="ellipse">
            <a:avLst/>
          </a:prstGeom>
          <a:solidFill>
            <a:schemeClr val="accent5"/>
          </a:solidFill>
          <a:ln/>
        </p:spPr>
      </p:sp>
      <p:pic>
        <p:nvPicPr>
          <p:cNvPr id="32" name="Private DB" descr="preencoded.png"/>
          <p:cNvPicPr>
            <a:picLocks noChangeAspect="1"/>
          </p:cNvPicPr>
          <p:nvPr/>
        </p:nvPicPr>
        <p:blipFill>
          <a:blip r:embed="rId5"/>
          <a:stretch>
            <a:fillRect/>
          </a:stretch>
        </p:blipFill>
        <p:spPr>
          <a:xfrm>
            <a:off x="886968" y="5001768"/>
            <a:ext cx="237744" cy="237744"/>
          </a:xfrm>
          <a:prstGeom prst="rect">
            <a:avLst/>
          </a:prstGeom>
        </p:spPr>
      </p:pic>
      <p:sp>
        <p:nvSpPr>
          <p:cNvPr id="33" name="Text 28"/>
          <p:cNvSpPr txBox="1"/>
          <p:nvPr/>
        </p:nvSpPr>
        <p:spPr>
          <a:xfrm>
            <a:off x="777240" y="5422392"/>
            <a:ext cx="1783080" cy="274320"/>
          </a:xfrm>
          <a:prstGeom prst="rect">
            <a:avLst/>
          </a:prstGeom>
          <a:noFill/>
          <a:ln/>
        </p:spPr>
        <p:txBody>
          <a:bodyPr wrap="square" lIns="0" tIns="0" rIns="0" bIns="0" rtlCol="0" anchor="t"/>
          <a:lstStyle/>
          <a:p>
            <a:pPr marL="0" indent="0">
              <a:buNone/>
            </a:pPr>
            <a:r>
              <a:rPr lang="en-US" sz="1400" b="1" dirty="0">
                <a:solidFill>
                  <a:srgbClr val="132226"/>
                </a:solidFill>
              </a:rPr>
              <a:t>Private DB</a:t>
            </a:r>
            <a:endParaRPr lang="en-US" sz="1400" dirty="0"/>
          </a:p>
        </p:txBody>
      </p:sp>
      <p:sp>
        <p:nvSpPr>
          <p:cNvPr id="34" name="Text 29"/>
          <p:cNvSpPr txBox="1"/>
          <p:nvPr/>
        </p:nvSpPr>
        <p:spPr>
          <a:xfrm>
            <a:off x="777240" y="5678424"/>
            <a:ext cx="1783080" cy="237744"/>
          </a:xfrm>
          <a:prstGeom prst="rect">
            <a:avLst/>
          </a:prstGeom>
          <a:noFill/>
          <a:ln/>
        </p:spPr>
        <p:txBody>
          <a:bodyPr wrap="square" lIns="0" tIns="0" rIns="0" bIns="0" rtlCol="0" anchor="t"/>
          <a:lstStyle/>
          <a:p>
            <a:pPr marL="0" indent="0">
              <a:buNone/>
            </a:pPr>
            <a:r>
              <a:rPr lang="en-US" sz="1100" dirty="0">
                <a:solidFill>
                  <a:srgbClr val="6B7C7F"/>
                </a:solidFill>
              </a:rPr>
              <a:t>data</a:t>
            </a:r>
            <a:endParaRPr lang="en-US" sz="1100" dirty="0"/>
          </a:p>
        </p:txBody>
      </p:sp>
      <p:sp>
        <p:nvSpPr>
          <p:cNvPr id="35" name="subnet Private DB"/>
          <p:cNvSpPr/>
          <p:nvPr/>
        </p:nvSpPr>
        <p:spPr>
          <a:xfrm>
            <a:off x="2697480" y="4800600"/>
            <a:ext cx="2468880" cy="1143000"/>
          </a:xfrm>
          <a:prstGeom prst="roundRect">
            <a:avLst>
              <a:gd name="adj" fmla="val 6400"/>
            </a:avLst>
          </a:prstGeom>
          <a:solidFill>
            <a:srgbClr val="E7EAF2"/>
          </a:solidFill>
          <a:ln w="9525">
            <a:solidFill>
              <a:srgbClr val="D3E2E0"/>
            </a:solidFill>
            <a:prstDash val="solid"/>
          </a:ln>
        </p:spPr>
      </p:sp>
      <p:sp>
        <p:nvSpPr>
          <p:cNvPr id="36" name="Text 31"/>
          <p:cNvSpPr txBox="1"/>
          <p:nvPr/>
        </p:nvSpPr>
        <p:spPr>
          <a:xfrm>
            <a:off x="2880360" y="4965192"/>
            <a:ext cx="210312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10.0.21.0/24</a:t>
            </a:r>
            <a:endParaRPr lang="en-US" sz="1700" dirty="0"/>
          </a:p>
        </p:txBody>
      </p:sp>
      <p:sp>
        <p:nvSpPr>
          <p:cNvPr id="37" name="Text 32"/>
          <p:cNvSpPr txBox="1"/>
          <p:nvPr/>
        </p:nvSpPr>
        <p:spPr>
          <a:xfrm>
            <a:off x="2880360" y="5349240"/>
            <a:ext cx="2148840" cy="502920"/>
          </a:xfrm>
          <a:prstGeom prst="rect">
            <a:avLst/>
          </a:prstGeom>
          <a:noFill/>
          <a:ln/>
        </p:spPr>
        <p:txBody>
          <a:bodyPr wrap="square" lIns="0" tIns="0" rIns="0" bIns="0" rtlCol="0" anchor="t"/>
          <a:lstStyle/>
          <a:p>
            <a:pPr marL="0" indent="0">
              <a:buNone/>
            </a:pPr>
            <a:r>
              <a:rPr lang="en-US" sz="1300" dirty="0">
                <a:solidFill>
                  <a:srgbClr val="4A5B5E"/>
                </a:solidFill>
              </a:rPr>
              <a:t>RDS only  ·  no internet route</a:t>
            </a:r>
            <a:endParaRPr lang="en-US" sz="1300" dirty="0"/>
          </a:p>
        </p:txBody>
      </p:sp>
      <p:sp>
        <p:nvSpPr>
          <p:cNvPr id="38" name="subnet Private DB"/>
          <p:cNvSpPr/>
          <p:nvPr/>
        </p:nvSpPr>
        <p:spPr>
          <a:xfrm>
            <a:off x="5303520" y="4800600"/>
            <a:ext cx="2468880" cy="1143000"/>
          </a:xfrm>
          <a:prstGeom prst="roundRect">
            <a:avLst>
              <a:gd name="adj" fmla="val 6400"/>
            </a:avLst>
          </a:prstGeom>
          <a:solidFill>
            <a:srgbClr val="E7EAF2"/>
          </a:solidFill>
          <a:ln w="9525">
            <a:solidFill>
              <a:srgbClr val="D3E2E0"/>
            </a:solidFill>
            <a:prstDash val="solid"/>
          </a:ln>
        </p:spPr>
      </p:sp>
      <p:sp>
        <p:nvSpPr>
          <p:cNvPr id="39" name="Text 34"/>
          <p:cNvSpPr txBox="1"/>
          <p:nvPr/>
        </p:nvSpPr>
        <p:spPr>
          <a:xfrm>
            <a:off x="5486400" y="4965192"/>
            <a:ext cx="210312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10.0.22.0/24</a:t>
            </a:r>
            <a:endParaRPr lang="en-US" sz="1700" dirty="0"/>
          </a:p>
        </p:txBody>
      </p:sp>
      <p:sp>
        <p:nvSpPr>
          <p:cNvPr id="40" name="Text 35"/>
          <p:cNvSpPr txBox="1"/>
          <p:nvPr/>
        </p:nvSpPr>
        <p:spPr>
          <a:xfrm>
            <a:off x="5486400" y="5349240"/>
            <a:ext cx="2148840" cy="502920"/>
          </a:xfrm>
          <a:prstGeom prst="rect">
            <a:avLst/>
          </a:prstGeom>
          <a:noFill/>
          <a:ln/>
        </p:spPr>
        <p:txBody>
          <a:bodyPr wrap="square" lIns="0" tIns="0" rIns="0" bIns="0" rtlCol="0" anchor="t"/>
          <a:lstStyle/>
          <a:p>
            <a:pPr marL="0" indent="0">
              <a:buNone/>
            </a:pPr>
            <a:r>
              <a:rPr lang="en-US" sz="1300" dirty="0">
                <a:solidFill>
                  <a:srgbClr val="4A5B5E"/>
                </a:solidFill>
              </a:rPr>
              <a:t>RDS only  ·  no internet route</a:t>
            </a:r>
            <a:endParaRPr lang="en-US" sz="1300" dirty="0"/>
          </a:p>
        </p:txBody>
      </p:sp>
      <p:sp>
        <p:nvSpPr>
          <p:cNvPr id="41" name="card"/>
          <p:cNvSpPr/>
          <p:nvPr/>
        </p:nvSpPr>
        <p:spPr>
          <a:xfrm>
            <a:off x="8183880" y="1463040"/>
            <a:ext cx="3456432" cy="2743200"/>
          </a:xfrm>
          <a:prstGeom prst="roundRect">
            <a:avLst>
              <a:gd name="adj" fmla="val 3333"/>
            </a:avLst>
          </a:prstGeom>
          <a:solidFill>
            <a:srgbClr val="FFFFFF"/>
          </a:solidFill>
          <a:ln/>
          <a:effectLst>
            <a:outerShdw blurRad="114300" dist="25400" dir="5400000" algn="bl" rotWithShape="0">
              <a:srgbClr val="0E3B43">
                <a:alpha val="13000"/>
              </a:srgbClr>
            </a:outerShdw>
          </a:effectLst>
        </p:spPr>
      </p:sp>
      <p:sp>
        <p:nvSpPr>
          <p:cNvPr id="42" name="Text 37"/>
          <p:cNvSpPr txBox="1"/>
          <p:nvPr/>
        </p:nvSpPr>
        <p:spPr>
          <a:xfrm>
            <a:off x="8412480" y="1600200"/>
            <a:ext cx="301752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Routing design</a:t>
            </a:r>
            <a:endParaRPr lang="en-US" sz="1700" dirty="0"/>
          </a:p>
        </p:txBody>
      </p:sp>
      <p:sp>
        <p:nvSpPr>
          <p:cNvPr id="43" name="route row"/>
          <p:cNvSpPr/>
          <p:nvPr/>
        </p:nvSpPr>
        <p:spPr>
          <a:xfrm>
            <a:off x="8412480" y="2103120"/>
            <a:ext cx="2999232" cy="512064"/>
          </a:xfrm>
          <a:prstGeom prst="roundRect">
            <a:avLst>
              <a:gd name="adj" fmla="val 10714"/>
            </a:avLst>
          </a:prstGeom>
          <a:solidFill>
            <a:srgbClr val="EEF4F3"/>
          </a:solidFill>
          <a:ln/>
        </p:spPr>
      </p:sp>
      <p:sp>
        <p:nvSpPr>
          <p:cNvPr id="44" name="Text 39"/>
          <p:cNvSpPr txBox="1"/>
          <p:nvPr/>
        </p:nvSpPr>
        <p:spPr>
          <a:xfrm>
            <a:off x="8549640" y="2103120"/>
            <a:ext cx="1188720" cy="512064"/>
          </a:xfrm>
          <a:prstGeom prst="rect">
            <a:avLst/>
          </a:prstGeom>
          <a:noFill/>
          <a:ln/>
        </p:spPr>
        <p:txBody>
          <a:bodyPr wrap="square" lIns="0" tIns="0" rIns="0" bIns="0" rtlCol="0" anchor="ctr"/>
          <a:lstStyle/>
          <a:p>
            <a:pPr marL="0" indent="0">
              <a:buNone/>
            </a:pPr>
            <a:r>
              <a:rPr lang="en-US" sz="1400" b="1" dirty="0">
                <a:solidFill>
                  <a:srgbClr val="132226"/>
                </a:solidFill>
              </a:rPr>
              <a:t>Public</a:t>
            </a:r>
            <a:endParaRPr lang="en-US" sz="1400" dirty="0"/>
          </a:p>
        </p:txBody>
      </p:sp>
      <p:pic>
        <p:nvPicPr>
          <p:cNvPr id="45" name="arrow icon" descr="preencoded.png"/>
          <p:cNvPicPr>
            <a:picLocks noChangeAspect="1"/>
          </p:cNvPicPr>
          <p:nvPr/>
        </p:nvPicPr>
        <p:blipFill>
          <a:blip r:embed="rId6"/>
          <a:stretch>
            <a:fillRect/>
          </a:stretch>
        </p:blipFill>
        <p:spPr>
          <a:xfrm>
            <a:off x="9738360" y="2258568"/>
            <a:ext cx="201168" cy="201168"/>
          </a:xfrm>
          <a:prstGeom prst="rect">
            <a:avLst/>
          </a:prstGeom>
        </p:spPr>
      </p:pic>
      <p:sp>
        <p:nvSpPr>
          <p:cNvPr id="46" name="Text 40"/>
          <p:cNvSpPr txBox="1"/>
          <p:nvPr/>
        </p:nvSpPr>
        <p:spPr>
          <a:xfrm>
            <a:off x="10058400" y="2103120"/>
            <a:ext cx="1325880" cy="512064"/>
          </a:xfrm>
          <a:prstGeom prst="rect">
            <a:avLst/>
          </a:prstGeom>
          <a:noFill/>
          <a:ln/>
        </p:spPr>
        <p:txBody>
          <a:bodyPr wrap="square" lIns="0" tIns="0" rIns="0" bIns="0" rtlCol="0" anchor="ctr"/>
          <a:lstStyle/>
          <a:p>
            <a:pPr marL="0" indent="0">
              <a:buNone/>
            </a:pPr>
            <a:r>
              <a:rPr lang="en-US" sz="1400" b="1" dirty="0">
                <a:solidFill>
                  <a:srgbClr val="0E7C7B"/>
                </a:solidFill>
              </a:rPr>
              <a:t>Internet Gateway</a:t>
            </a:r>
            <a:endParaRPr lang="en-US" sz="1400" dirty="0"/>
          </a:p>
        </p:txBody>
      </p:sp>
      <p:sp>
        <p:nvSpPr>
          <p:cNvPr id="47" name="route row"/>
          <p:cNvSpPr/>
          <p:nvPr/>
        </p:nvSpPr>
        <p:spPr>
          <a:xfrm>
            <a:off x="8412480" y="2761488"/>
            <a:ext cx="2999232" cy="512064"/>
          </a:xfrm>
          <a:prstGeom prst="roundRect">
            <a:avLst>
              <a:gd name="adj" fmla="val 10714"/>
            </a:avLst>
          </a:prstGeom>
          <a:solidFill>
            <a:srgbClr val="EEF4F3"/>
          </a:solidFill>
          <a:ln/>
        </p:spPr>
      </p:sp>
      <p:sp>
        <p:nvSpPr>
          <p:cNvPr id="48" name="Text 42"/>
          <p:cNvSpPr txBox="1"/>
          <p:nvPr/>
        </p:nvSpPr>
        <p:spPr>
          <a:xfrm>
            <a:off x="8549640" y="2761488"/>
            <a:ext cx="1188720" cy="512064"/>
          </a:xfrm>
          <a:prstGeom prst="rect">
            <a:avLst/>
          </a:prstGeom>
          <a:noFill/>
          <a:ln/>
        </p:spPr>
        <p:txBody>
          <a:bodyPr wrap="square" lIns="0" tIns="0" rIns="0" bIns="0" rtlCol="0" anchor="ctr"/>
          <a:lstStyle/>
          <a:p>
            <a:pPr marL="0" indent="0">
              <a:buNone/>
            </a:pPr>
            <a:r>
              <a:rPr lang="en-US" sz="1400" b="1" dirty="0">
                <a:solidFill>
                  <a:srgbClr val="132226"/>
                </a:solidFill>
              </a:rPr>
              <a:t>Private app</a:t>
            </a:r>
            <a:endParaRPr lang="en-US" sz="1400" dirty="0"/>
          </a:p>
        </p:txBody>
      </p:sp>
      <p:pic>
        <p:nvPicPr>
          <p:cNvPr id="49" name="arrow icon" descr="preencoded.png"/>
          <p:cNvPicPr>
            <a:picLocks noChangeAspect="1"/>
          </p:cNvPicPr>
          <p:nvPr/>
        </p:nvPicPr>
        <p:blipFill>
          <a:blip r:embed="rId6"/>
          <a:stretch>
            <a:fillRect/>
          </a:stretch>
        </p:blipFill>
        <p:spPr>
          <a:xfrm>
            <a:off x="9738360" y="2916936"/>
            <a:ext cx="201168" cy="201168"/>
          </a:xfrm>
          <a:prstGeom prst="rect">
            <a:avLst/>
          </a:prstGeom>
        </p:spPr>
      </p:pic>
      <p:sp>
        <p:nvSpPr>
          <p:cNvPr id="50" name="Text 43"/>
          <p:cNvSpPr txBox="1"/>
          <p:nvPr/>
        </p:nvSpPr>
        <p:spPr>
          <a:xfrm>
            <a:off x="10058400" y="2761488"/>
            <a:ext cx="1325880" cy="512064"/>
          </a:xfrm>
          <a:prstGeom prst="rect">
            <a:avLst/>
          </a:prstGeom>
          <a:noFill/>
          <a:ln/>
        </p:spPr>
        <p:txBody>
          <a:bodyPr wrap="square" lIns="0" tIns="0" rIns="0" bIns="0" rtlCol="0" anchor="ctr"/>
          <a:lstStyle/>
          <a:p>
            <a:pPr marL="0" indent="0">
              <a:buNone/>
            </a:pPr>
            <a:r>
              <a:rPr lang="en-US" sz="1400" b="1" dirty="0">
                <a:solidFill>
                  <a:srgbClr val="0E7C7B"/>
                </a:solidFill>
              </a:rPr>
              <a:t>same-AZ NAT</a:t>
            </a:r>
            <a:endParaRPr lang="en-US" sz="1400" dirty="0"/>
          </a:p>
        </p:txBody>
      </p:sp>
      <p:sp>
        <p:nvSpPr>
          <p:cNvPr id="51" name="route row"/>
          <p:cNvSpPr/>
          <p:nvPr/>
        </p:nvSpPr>
        <p:spPr>
          <a:xfrm>
            <a:off x="8412480" y="3419856"/>
            <a:ext cx="2999232" cy="512064"/>
          </a:xfrm>
          <a:prstGeom prst="roundRect">
            <a:avLst>
              <a:gd name="adj" fmla="val 10714"/>
            </a:avLst>
          </a:prstGeom>
          <a:solidFill>
            <a:srgbClr val="EEF4F3"/>
          </a:solidFill>
          <a:ln/>
        </p:spPr>
      </p:sp>
      <p:sp>
        <p:nvSpPr>
          <p:cNvPr id="52" name="Text 45"/>
          <p:cNvSpPr txBox="1"/>
          <p:nvPr/>
        </p:nvSpPr>
        <p:spPr>
          <a:xfrm>
            <a:off x="8549640" y="3419856"/>
            <a:ext cx="1188720" cy="512064"/>
          </a:xfrm>
          <a:prstGeom prst="rect">
            <a:avLst/>
          </a:prstGeom>
          <a:noFill/>
          <a:ln/>
        </p:spPr>
        <p:txBody>
          <a:bodyPr wrap="square" lIns="0" tIns="0" rIns="0" bIns="0" rtlCol="0" anchor="ctr"/>
          <a:lstStyle/>
          <a:p>
            <a:pPr marL="0" indent="0">
              <a:buNone/>
            </a:pPr>
            <a:r>
              <a:rPr lang="en-US" sz="1400" b="1" dirty="0">
                <a:solidFill>
                  <a:srgbClr val="132226"/>
                </a:solidFill>
              </a:rPr>
              <a:t>Private DB</a:t>
            </a:r>
            <a:endParaRPr lang="en-US" sz="1400" dirty="0"/>
          </a:p>
        </p:txBody>
      </p:sp>
      <p:pic>
        <p:nvPicPr>
          <p:cNvPr id="53" name="arrow icon" descr="preencoded.png"/>
          <p:cNvPicPr>
            <a:picLocks noChangeAspect="1"/>
          </p:cNvPicPr>
          <p:nvPr/>
        </p:nvPicPr>
        <p:blipFill>
          <a:blip r:embed="rId6"/>
          <a:stretch>
            <a:fillRect/>
          </a:stretch>
        </p:blipFill>
        <p:spPr>
          <a:xfrm>
            <a:off x="9738360" y="3575304"/>
            <a:ext cx="201168" cy="201168"/>
          </a:xfrm>
          <a:prstGeom prst="rect">
            <a:avLst/>
          </a:prstGeom>
        </p:spPr>
      </p:pic>
      <p:sp>
        <p:nvSpPr>
          <p:cNvPr id="54" name="Text 46"/>
          <p:cNvSpPr txBox="1"/>
          <p:nvPr/>
        </p:nvSpPr>
        <p:spPr>
          <a:xfrm>
            <a:off x="10058400" y="3419856"/>
            <a:ext cx="1325880" cy="512064"/>
          </a:xfrm>
          <a:prstGeom prst="rect">
            <a:avLst/>
          </a:prstGeom>
          <a:noFill/>
          <a:ln/>
        </p:spPr>
        <p:txBody>
          <a:bodyPr wrap="square" lIns="0" tIns="0" rIns="0" bIns="0" rtlCol="0" anchor="ctr"/>
          <a:lstStyle/>
          <a:p>
            <a:pPr marL="0" indent="0">
              <a:buNone/>
            </a:pPr>
            <a:r>
              <a:rPr lang="en-US" sz="1400" b="1" dirty="0">
                <a:solidFill>
                  <a:srgbClr val="0E7C7B"/>
                </a:solidFill>
              </a:rPr>
              <a:t>local only</a:t>
            </a:r>
            <a:endParaRPr lang="en-US" sz="1400" dirty="0"/>
          </a:p>
        </p:txBody>
      </p:sp>
      <p:sp>
        <p:nvSpPr>
          <p:cNvPr id="55" name="card"/>
          <p:cNvSpPr/>
          <p:nvPr/>
        </p:nvSpPr>
        <p:spPr>
          <a:xfrm>
            <a:off x="8183880" y="4407408"/>
            <a:ext cx="3456432" cy="768096"/>
          </a:xfrm>
          <a:prstGeom prst="roundRect">
            <a:avLst>
              <a:gd name="adj" fmla="val 11905"/>
            </a:avLst>
          </a:prstGeom>
          <a:solidFill>
            <a:srgbClr val="E0F3EE"/>
          </a:solidFill>
          <a:ln/>
        </p:spPr>
      </p:sp>
      <p:sp>
        <p:nvSpPr>
          <p:cNvPr id="56" name="No public IP on ECS circle"/>
          <p:cNvSpPr/>
          <p:nvPr/>
        </p:nvSpPr>
        <p:spPr>
          <a:xfrm>
            <a:off x="8366760" y="4562856"/>
            <a:ext cx="457200" cy="457200"/>
          </a:xfrm>
          <a:prstGeom prst="ellipse">
            <a:avLst/>
          </a:prstGeom>
          <a:solidFill>
            <a:schemeClr val="accent3"/>
          </a:solidFill>
          <a:ln/>
        </p:spPr>
      </p:sp>
      <p:pic>
        <p:nvPicPr>
          <p:cNvPr id="57" name="No public IP on ECS" descr="preencoded.png"/>
          <p:cNvPicPr>
            <a:picLocks noChangeAspect="1"/>
          </p:cNvPicPr>
          <p:nvPr/>
        </p:nvPicPr>
        <p:blipFill>
          <a:blip r:embed="rId7"/>
          <a:stretch>
            <a:fillRect/>
          </a:stretch>
        </p:blipFill>
        <p:spPr>
          <a:xfrm>
            <a:off x="8476488" y="4672584"/>
            <a:ext cx="237744" cy="237744"/>
          </a:xfrm>
          <a:prstGeom prst="rect">
            <a:avLst/>
          </a:prstGeom>
        </p:spPr>
      </p:pic>
      <p:sp>
        <p:nvSpPr>
          <p:cNvPr id="58" name="Text 49"/>
          <p:cNvSpPr txBox="1"/>
          <p:nvPr/>
        </p:nvSpPr>
        <p:spPr>
          <a:xfrm>
            <a:off x="8961120" y="4498848"/>
            <a:ext cx="2606040" cy="603504"/>
          </a:xfrm>
          <a:prstGeom prst="rect">
            <a:avLst/>
          </a:prstGeom>
          <a:noFill/>
          <a:ln/>
        </p:spPr>
        <p:txBody>
          <a:bodyPr wrap="square" lIns="0" tIns="0" rIns="0" bIns="0" rtlCol="0" anchor="ctr"/>
          <a:lstStyle/>
          <a:p>
            <a:pPr marL="0" indent="0">
              <a:buNone/>
            </a:pPr>
            <a:r>
              <a:rPr lang="en-US" sz="1400" b="1" dirty="0">
                <a:solidFill>
                  <a:srgbClr val="132226"/>
                </a:solidFill>
              </a:rPr>
              <a:t>No public IP on ECS</a:t>
            </a:r>
            <a:endParaRPr lang="en-US" sz="1400" dirty="0"/>
          </a:p>
          <a:p>
            <a:pPr marL="0" indent="0">
              <a:buNone/>
            </a:pPr>
            <a:r>
              <a:rPr lang="en-US" sz="1200" dirty="0">
                <a:solidFill>
                  <a:srgbClr val="4A5B5E"/>
                </a:solidFill>
              </a:rPr>
              <a:t>tasks are reachable only through the ALB</a:t>
            </a:r>
            <a:endParaRPr lang="en-US" sz="1400" dirty="0"/>
          </a:p>
        </p:txBody>
      </p:sp>
      <p:sp>
        <p:nvSpPr>
          <p:cNvPr id="59" name="card"/>
          <p:cNvSpPr/>
          <p:nvPr/>
        </p:nvSpPr>
        <p:spPr>
          <a:xfrm>
            <a:off x="8183880" y="5358384"/>
            <a:ext cx="3456432" cy="768096"/>
          </a:xfrm>
          <a:prstGeom prst="roundRect">
            <a:avLst>
              <a:gd name="adj" fmla="val 11905"/>
            </a:avLst>
          </a:prstGeom>
          <a:solidFill>
            <a:srgbClr val="E0F3EE"/>
          </a:solidFill>
          <a:ln/>
        </p:spPr>
      </p:sp>
      <p:sp>
        <p:nvSpPr>
          <p:cNvPr id="60" name="RDS not public circle"/>
          <p:cNvSpPr/>
          <p:nvPr/>
        </p:nvSpPr>
        <p:spPr>
          <a:xfrm>
            <a:off x="8366760" y="5513832"/>
            <a:ext cx="457200" cy="457200"/>
          </a:xfrm>
          <a:prstGeom prst="ellipse">
            <a:avLst/>
          </a:prstGeom>
          <a:solidFill>
            <a:schemeClr val="accent3"/>
          </a:solidFill>
          <a:ln/>
        </p:spPr>
      </p:sp>
      <p:pic>
        <p:nvPicPr>
          <p:cNvPr id="61" name="RDS not public" descr="preencoded.png"/>
          <p:cNvPicPr>
            <a:picLocks noChangeAspect="1"/>
          </p:cNvPicPr>
          <p:nvPr/>
        </p:nvPicPr>
        <p:blipFill>
          <a:blip r:embed="rId8"/>
          <a:stretch>
            <a:fillRect/>
          </a:stretch>
        </p:blipFill>
        <p:spPr>
          <a:xfrm>
            <a:off x="8476488" y="5623560"/>
            <a:ext cx="237744" cy="237744"/>
          </a:xfrm>
          <a:prstGeom prst="rect">
            <a:avLst/>
          </a:prstGeom>
        </p:spPr>
      </p:pic>
      <p:sp>
        <p:nvSpPr>
          <p:cNvPr id="62" name="Text 52"/>
          <p:cNvSpPr txBox="1"/>
          <p:nvPr/>
        </p:nvSpPr>
        <p:spPr>
          <a:xfrm>
            <a:off x="8961120" y="5449824"/>
            <a:ext cx="2606040" cy="603504"/>
          </a:xfrm>
          <a:prstGeom prst="rect">
            <a:avLst/>
          </a:prstGeom>
          <a:noFill/>
          <a:ln/>
        </p:spPr>
        <p:txBody>
          <a:bodyPr wrap="square" lIns="0" tIns="0" rIns="0" bIns="0" rtlCol="0" anchor="ctr"/>
          <a:lstStyle/>
          <a:p>
            <a:pPr marL="0" indent="0">
              <a:buNone/>
            </a:pPr>
            <a:r>
              <a:rPr lang="en-US" sz="1400" b="1" dirty="0">
                <a:solidFill>
                  <a:srgbClr val="132226"/>
                </a:solidFill>
              </a:rPr>
              <a:t>RDS not public</a:t>
            </a:r>
            <a:endParaRPr lang="en-US" sz="1400" dirty="0"/>
          </a:p>
          <a:p>
            <a:pPr marL="0" indent="0">
              <a:buNone/>
            </a:pPr>
            <a:r>
              <a:rPr lang="en-US" sz="1200" dirty="0">
                <a:solidFill>
                  <a:srgbClr val="4A5B5E"/>
                </a:solidFill>
              </a:rPr>
              <a:t>database has no internet route</a:t>
            </a:r>
            <a:endParaRPr lang="en-US" sz="1400" dirty="0"/>
          </a:p>
        </p:txBody>
      </p:sp>
      <p:sp>
        <p:nvSpPr>
          <p:cNvPr id="63"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Foundation &amp; networking — as built</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Milestone 1 delivered the VPC, six subnets, per-tier route tables and layered security groups — all from Terraform.</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M1</a:t>
            </a:r>
            <a:endParaRPr lang="en-US" sz="1200" dirty="0"/>
          </a:p>
        </p:txBody>
      </p:sp>
      <p:sp>
        <p:nvSpPr>
          <p:cNvPr id="6" name="card"/>
          <p:cNvSpPr/>
          <p:nvPr/>
        </p:nvSpPr>
        <p:spPr>
          <a:xfrm>
            <a:off x="548640" y="1463040"/>
            <a:ext cx="8229600" cy="4211619"/>
          </a:xfrm>
          <a:prstGeom prst="roundRect">
            <a:avLst>
              <a:gd name="adj" fmla="val 434"/>
            </a:avLst>
          </a:prstGeom>
          <a:solidFill>
            <a:srgbClr val="FFFFFF"/>
          </a:solidFill>
          <a:ln/>
          <a:effectLst>
            <a:outerShdw blurRad="114300" dist="25400" dir="5400000" algn="bl" rotWithShape="0">
              <a:srgbClr val="0E3B43">
                <a:alpha val="13000"/>
              </a:srgbClr>
            </a:outerShdw>
          </a:effectLst>
        </p:spPr>
      </p:sp>
      <p:pic>
        <p:nvPicPr>
          <p:cNvPr id="7" name="Milestone 1 networking diagram"/>
          <p:cNvPicPr>
            <a:picLocks noChangeAspect="1"/>
          </p:cNvPicPr>
          <p:nvPr/>
        </p:nvPicPr>
        <p:blipFill>
          <a:blip r:embed="rId3"/>
          <a:srcRect/>
          <a:stretch/>
        </p:blipFill>
        <p:spPr>
          <a:xfrm>
            <a:off x="921768" y="1463040"/>
            <a:ext cx="7483344" cy="4211619"/>
          </a:xfrm>
          <a:prstGeom prst="rect">
            <a:avLst/>
          </a:prstGeom>
        </p:spPr>
      </p:pic>
      <p:sp>
        <p:nvSpPr>
          <p:cNvPr id="8" name="Text 5"/>
          <p:cNvSpPr txBox="1"/>
          <p:nvPr/>
        </p:nvSpPr>
        <p:spPr>
          <a:xfrm>
            <a:off x="548640" y="5784387"/>
            <a:ext cx="8229600" cy="274320"/>
          </a:xfrm>
          <a:prstGeom prst="rect">
            <a:avLst/>
          </a:prstGeom>
          <a:noFill/>
          <a:ln/>
        </p:spPr>
        <p:txBody>
          <a:bodyPr wrap="square" lIns="0" tIns="0" rIns="0" bIns="0" rtlCol="0" anchor="t"/>
          <a:lstStyle/>
          <a:p>
            <a:pPr marL="0" indent="0">
              <a:buNone/>
            </a:pPr>
            <a:r>
              <a:rPr lang="en-US" sz="1200" i="1" dirty="0">
                <a:solidFill>
                  <a:srgbClr val="6B7C7F"/>
                </a:solidFill>
              </a:rPr>
              <a:t>Milestone 1 diagram — each tier has its own route table; each AZ has its own NAT gateway.</a:t>
            </a:r>
            <a:endParaRPr lang="en-US" sz="1200" dirty="0"/>
          </a:p>
        </p:txBody>
      </p:sp>
      <p:sp>
        <p:nvSpPr>
          <p:cNvPr id="9" name="card"/>
          <p:cNvSpPr/>
          <p:nvPr/>
        </p:nvSpPr>
        <p:spPr>
          <a:xfrm>
            <a:off x="9052560" y="1463040"/>
            <a:ext cx="2587752" cy="1280160"/>
          </a:xfrm>
          <a:prstGeom prst="roundRect">
            <a:avLst>
              <a:gd name="adj" fmla="val 7143"/>
            </a:avLst>
          </a:prstGeom>
          <a:solidFill>
            <a:srgbClr val="FFFFFF"/>
          </a:solidFill>
          <a:ln/>
          <a:effectLst>
            <a:outerShdw blurRad="114300" dist="25400" dir="5400000" algn="bl" rotWithShape="0">
              <a:srgbClr val="0E3B43">
                <a:alpha val="13000"/>
              </a:srgbClr>
            </a:outerShdw>
          </a:effectLst>
        </p:spPr>
      </p:sp>
      <p:sp>
        <p:nvSpPr>
          <p:cNvPr id="10" name="Text 7"/>
          <p:cNvSpPr txBox="1"/>
          <p:nvPr/>
        </p:nvSpPr>
        <p:spPr>
          <a:xfrm>
            <a:off x="9281160" y="1572768"/>
            <a:ext cx="2194560" cy="594360"/>
          </a:xfrm>
          <a:prstGeom prst="rect">
            <a:avLst/>
          </a:prstGeom>
          <a:noFill/>
          <a:ln/>
        </p:spPr>
        <p:txBody>
          <a:bodyPr wrap="square" lIns="0" tIns="0" rIns="0" bIns="0" rtlCol="0" anchor="ctr"/>
          <a:lstStyle/>
          <a:p>
            <a:pPr marL="0" indent="0">
              <a:buNone/>
            </a:pPr>
            <a:r>
              <a:rPr lang="en-US" sz="4000" b="1" dirty="0">
                <a:solidFill>
                  <a:srgbClr val="0E3B43"/>
                </a:solidFill>
                <a:latin typeface="+mj-lt" pitchFamily="34" charset="0"/>
                <a:ea typeface="+mj-lt" pitchFamily="34" charset="-122"/>
                <a:cs typeface="+mj-lt" pitchFamily="34" charset="-120"/>
              </a:rPr>
              <a:t>6</a:t>
            </a:r>
            <a:endParaRPr lang="en-US" sz="4000" dirty="0"/>
          </a:p>
        </p:txBody>
      </p:sp>
      <p:sp>
        <p:nvSpPr>
          <p:cNvPr id="11" name="Text 8"/>
          <p:cNvSpPr txBox="1"/>
          <p:nvPr/>
        </p:nvSpPr>
        <p:spPr>
          <a:xfrm>
            <a:off x="9281160" y="2176272"/>
            <a:ext cx="2240280" cy="502920"/>
          </a:xfrm>
          <a:prstGeom prst="rect">
            <a:avLst/>
          </a:prstGeom>
          <a:noFill/>
          <a:ln/>
        </p:spPr>
        <p:txBody>
          <a:bodyPr wrap="square" lIns="0" tIns="0" rIns="0" bIns="0" rtlCol="0" anchor="t"/>
          <a:lstStyle/>
          <a:p>
            <a:pPr marL="0" indent="0">
              <a:buNone/>
            </a:pPr>
            <a:r>
              <a:rPr lang="en-US" sz="1300" dirty="0">
                <a:solidFill>
                  <a:srgbClr val="4A5B5E"/>
                </a:solidFill>
              </a:rPr>
              <a:t>subnets across two Availability Zones</a:t>
            </a:r>
            <a:endParaRPr lang="en-US" sz="1300" dirty="0"/>
          </a:p>
        </p:txBody>
      </p:sp>
      <p:sp>
        <p:nvSpPr>
          <p:cNvPr id="12" name="card"/>
          <p:cNvSpPr/>
          <p:nvPr/>
        </p:nvSpPr>
        <p:spPr>
          <a:xfrm>
            <a:off x="9052560" y="2926080"/>
            <a:ext cx="2587752" cy="1280160"/>
          </a:xfrm>
          <a:prstGeom prst="roundRect">
            <a:avLst>
              <a:gd name="adj" fmla="val 7143"/>
            </a:avLst>
          </a:prstGeom>
          <a:solidFill>
            <a:srgbClr val="FFFFFF"/>
          </a:solidFill>
          <a:ln/>
          <a:effectLst>
            <a:outerShdw blurRad="114300" dist="25400" dir="5400000" algn="bl" rotWithShape="0">
              <a:srgbClr val="0E3B43">
                <a:alpha val="13000"/>
              </a:srgbClr>
            </a:outerShdw>
          </a:effectLst>
        </p:spPr>
      </p:sp>
      <p:sp>
        <p:nvSpPr>
          <p:cNvPr id="13" name="Text 10"/>
          <p:cNvSpPr txBox="1"/>
          <p:nvPr/>
        </p:nvSpPr>
        <p:spPr>
          <a:xfrm>
            <a:off x="9281160" y="3035808"/>
            <a:ext cx="2194560" cy="594360"/>
          </a:xfrm>
          <a:prstGeom prst="rect">
            <a:avLst/>
          </a:prstGeom>
          <a:noFill/>
          <a:ln/>
        </p:spPr>
        <p:txBody>
          <a:bodyPr wrap="square" lIns="0" tIns="0" rIns="0" bIns="0" rtlCol="0" anchor="ctr"/>
          <a:lstStyle/>
          <a:p>
            <a:pPr marL="0" indent="0">
              <a:buNone/>
            </a:pPr>
            <a:r>
              <a:rPr lang="en-US" sz="4000" b="1" dirty="0">
                <a:solidFill>
                  <a:srgbClr val="0E3B43"/>
                </a:solidFill>
                <a:latin typeface="+mj-lt" pitchFamily="34" charset="0"/>
                <a:ea typeface="+mj-lt" pitchFamily="34" charset="-122"/>
                <a:cs typeface="+mj-lt" pitchFamily="34" charset="-120"/>
              </a:rPr>
              <a:t>2</a:t>
            </a:r>
            <a:endParaRPr lang="en-US" sz="4000" dirty="0"/>
          </a:p>
        </p:txBody>
      </p:sp>
      <p:sp>
        <p:nvSpPr>
          <p:cNvPr id="14" name="Text 11"/>
          <p:cNvSpPr txBox="1"/>
          <p:nvPr/>
        </p:nvSpPr>
        <p:spPr>
          <a:xfrm>
            <a:off x="9281160" y="3639312"/>
            <a:ext cx="2240280" cy="502920"/>
          </a:xfrm>
          <a:prstGeom prst="rect">
            <a:avLst/>
          </a:prstGeom>
          <a:noFill/>
          <a:ln/>
        </p:spPr>
        <p:txBody>
          <a:bodyPr wrap="square" lIns="0" tIns="0" rIns="0" bIns="0" rtlCol="0" anchor="t"/>
          <a:lstStyle/>
          <a:p>
            <a:pPr marL="0" indent="0">
              <a:buNone/>
            </a:pPr>
            <a:r>
              <a:rPr lang="en-US" sz="1300" dirty="0">
                <a:solidFill>
                  <a:srgbClr val="4A5B5E"/>
                </a:solidFill>
              </a:rPr>
              <a:t>NAT gateways, one per AZ</a:t>
            </a:r>
            <a:endParaRPr lang="en-US" sz="1300" dirty="0"/>
          </a:p>
        </p:txBody>
      </p:sp>
      <p:sp>
        <p:nvSpPr>
          <p:cNvPr id="15" name="card"/>
          <p:cNvSpPr/>
          <p:nvPr/>
        </p:nvSpPr>
        <p:spPr>
          <a:xfrm>
            <a:off x="9052560" y="4389120"/>
            <a:ext cx="2587752" cy="1280160"/>
          </a:xfrm>
          <a:prstGeom prst="roundRect">
            <a:avLst>
              <a:gd name="adj" fmla="val 7143"/>
            </a:avLst>
          </a:prstGeom>
          <a:solidFill>
            <a:srgbClr val="FFFFFF"/>
          </a:solidFill>
          <a:ln/>
          <a:effectLst>
            <a:outerShdw blurRad="114300" dist="25400" dir="5400000" algn="bl" rotWithShape="0">
              <a:srgbClr val="0E3B43">
                <a:alpha val="13000"/>
              </a:srgbClr>
            </a:outerShdw>
          </a:effectLst>
        </p:spPr>
      </p:sp>
      <p:sp>
        <p:nvSpPr>
          <p:cNvPr id="16" name="Text 13"/>
          <p:cNvSpPr txBox="1"/>
          <p:nvPr/>
        </p:nvSpPr>
        <p:spPr>
          <a:xfrm>
            <a:off x="9281160" y="4498848"/>
            <a:ext cx="2194560" cy="594360"/>
          </a:xfrm>
          <a:prstGeom prst="rect">
            <a:avLst/>
          </a:prstGeom>
          <a:noFill/>
          <a:ln/>
        </p:spPr>
        <p:txBody>
          <a:bodyPr wrap="square" lIns="0" tIns="0" rIns="0" bIns="0" rtlCol="0" anchor="ctr"/>
          <a:lstStyle/>
          <a:p>
            <a:pPr marL="0" indent="0">
              <a:buNone/>
            </a:pPr>
            <a:r>
              <a:rPr lang="en-US" sz="4000" b="1" dirty="0">
                <a:solidFill>
                  <a:srgbClr val="0E3B43"/>
                </a:solidFill>
                <a:latin typeface="+mj-lt" pitchFamily="34" charset="0"/>
                <a:ea typeface="+mj-lt" pitchFamily="34" charset="-122"/>
                <a:cs typeface="+mj-lt" pitchFamily="34" charset="-120"/>
              </a:rPr>
              <a:t>3</a:t>
            </a:r>
            <a:endParaRPr lang="en-US" sz="4000" dirty="0"/>
          </a:p>
        </p:txBody>
      </p:sp>
      <p:sp>
        <p:nvSpPr>
          <p:cNvPr id="17" name="Text 14"/>
          <p:cNvSpPr txBox="1"/>
          <p:nvPr/>
        </p:nvSpPr>
        <p:spPr>
          <a:xfrm>
            <a:off x="9281160" y="5102352"/>
            <a:ext cx="2240280" cy="502920"/>
          </a:xfrm>
          <a:prstGeom prst="rect">
            <a:avLst/>
          </a:prstGeom>
          <a:noFill/>
          <a:ln/>
        </p:spPr>
        <p:txBody>
          <a:bodyPr wrap="square" lIns="0" tIns="0" rIns="0" bIns="0" rtlCol="0" anchor="t"/>
          <a:lstStyle/>
          <a:p>
            <a:pPr marL="0" indent="0">
              <a:buNone/>
            </a:pPr>
            <a:r>
              <a:rPr lang="en-US" sz="1300" dirty="0">
                <a:solidFill>
                  <a:srgbClr val="4A5B5E"/>
                </a:solidFill>
              </a:rPr>
              <a:t>security groups: ALB · ECS · DB</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Containers, load balancing &amp; auto scaling</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Docker images are stored in ECR and deployed as private ECS Fargate tasks behind an Application Load Balancer.</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M2 · M3</a:t>
            </a:r>
            <a:endParaRPr lang="en-US" sz="1200" dirty="0"/>
          </a:p>
        </p:txBody>
      </p:sp>
      <p:sp>
        <p:nvSpPr>
          <p:cNvPr id="6" name="card"/>
          <p:cNvSpPr/>
          <p:nvPr/>
        </p:nvSpPr>
        <p:spPr>
          <a:xfrm>
            <a:off x="548640" y="1463040"/>
            <a:ext cx="6858000" cy="3657600"/>
          </a:xfrm>
          <a:prstGeom prst="roundRect">
            <a:avLst>
              <a:gd name="adj" fmla="val 500"/>
            </a:avLst>
          </a:prstGeom>
          <a:solidFill>
            <a:srgbClr val="FFFFFF"/>
          </a:solidFill>
          <a:ln/>
          <a:effectLst>
            <a:outerShdw blurRad="114300" dist="25400" dir="5400000" algn="bl" rotWithShape="0">
              <a:srgbClr val="0E3B43">
                <a:alpha val="13000"/>
              </a:srgbClr>
            </a:outerShdw>
          </a:effectLst>
        </p:spPr>
      </p:sp>
      <p:pic>
        <p:nvPicPr>
          <p:cNvPr id="7" name="Milestone 2 architecture diagram"/>
          <p:cNvPicPr>
            <a:picLocks noChangeAspect="1"/>
          </p:cNvPicPr>
          <p:nvPr/>
        </p:nvPicPr>
        <p:blipFill>
          <a:blip r:embed="rId3"/>
          <a:srcRect/>
          <a:stretch/>
        </p:blipFill>
        <p:spPr>
          <a:xfrm>
            <a:off x="728168" y="1463040"/>
            <a:ext cx="6498944" cy="3657600"/>
          </a:xfrm>
          <a:prstGeom prst="rect">
            <a:avLst/>
          </a:prstGeom>
        </p:spPr>
      </p:pic>
      <p:sp>
        <p:nvSpPr>
          <p:cNvPr id="8" name="Text 5"/>
          <p:cNvSpPr txBox="1"/>
          <p:nvPr/>
        </p:nvSpPr>
        <p:spPr>
          <a:xfrm>
            <a:off x="548640" y="5257800"/>
            <a:ext cx="6858000" cy="457200"/>
          </a:xfrm>
          <a:prstGeom prst="rect">
            <a:avLst/>
          </a:prstGeom>
          <a:noFill/>
          <a:ln/>
        </p:spPr>
        <p:txBody>
          <a:bodyPr wrap="square" lIns="0" tIns="0" rIns="0" bIns="0" rtlCol="0" anchor="t"/>
          <a:lstStyle/>
          <a:p>
            <a:pPr marL="0" indent="0">
              <a:buNone/>
            </a:pPr>
            <a:r>
              <a:rPr lang="en-US" sz="1200" i="1" dirty="0">
                <a:solidFill>
                  <a:srgbClr val="6B7C7F"/>
                </a:solidFill>
              </a:rPr>
              <a:t>Milestone 2 build snapshot (one task at that stage). The service now runs two tasks with auto scaling, as summarised on the right.</a:t>
            </a:r>
            <a:endParaRPr lang="en-US" sz="1200" dirty="0"/>
          </a:p>
        </p:txBody>
      </p:sp>
      <p:sp>
        <p:nvSpPr>
          <p:cNvPr id="9" name="card"/>
          <p:cNvSpPr/>
          <p:nvPr/>
        </p:nvSpPr>
        <p:spPr>
          <a:xfrm>
            <a:off x="7680960" y="1463040"/>
            <a:ext cx="3959352" cy="1014984"/>
          </a:xfrm>
          <a:prstGeom prst="roundRect">
            <a:avLst>
              <a:gd name="adj" fmla="val 9009"/>
            </a:avLst>
          </a:prstGeom>
          <a:solidFill>
            <a:srgbClr val="FFFFFF"/>
          </a:solidFill>
          <a:ln/>
          <a:effectLst>
            <a:outerShdw blurRad="114300" dist="25400" dir="5400000" algn="bl" rotWithShape="0">
              <a:srgbClr val="0E3B43">
                <a:alpha val="13000"/>
              </a:srgbClr>
            </a:outerShdw>
          </a:effectLst>
        </p:spPr>
      </p:sp>
      <p:sp>
        <p:nvSpPr>
          <p:cNvPr id="10" name="Baseline capacity circle"/>
          <p:cNvSpPr/>
          <p:nvPr/>
        </p:nvSpPr>
        <p:spPr>
          <a:xfrm>
            <a:off x="7863840" y="1709928"/>
            <a:ext cx="512064" cy="512064"/>
          </a:xfrm>
          <a:prstGeom prst="ellipse">
            <a:avLst/>
          </a:prstGeom>
          <a:solidFill>
            <a:schemeClr val="accent1"/>
          </a:solidFill>
          <a:ln/>
        </p:spPr>
      </p:sp>
      <p:pic>
        <p:nvPicPr>
          <p:cNvPr id="11" name="Baseline capacity" descr="preencoded.png"/>
          <p:cNvPicPr>
            <a:picLocks noChangeAspect="1"/>
          </p:cNvPicPr>
          <p:nvPr/>
        </p:nvPicPr>
        <p:blipFill>
          <a:blip r:embed="rId4"/>
          <a:stretch>
            <a:fillRect/>
          </a:stretch>
        </p:blipFill>
        <p:spPr>
          <a:xfrm>
            <a:off x="7986735" y="1832823"/>
            <a:ext cx="266273" cy="266273"/>
          </a:xfrm>
          <a:prstGeom prst="rect">
            <a:avLst/>
          </a:prstGeom>
        </p:spPr>
      </p:pic>
      <p:sp>
        <p:nvSpPr>
          <p:cNvPr id="12" name="Text 8"/>
          <p:cNvSpPr txBox="1"/>
          <p:nvPr/>
        </p:nvSpPr>
        <p:spPr>
          <a:xfrm>
            <a:off x="8549640" y="1591056"/>
            <a:ext cx="2971800" cy="292608"/>
          </a:xfrm>
          <a:prstGeom prst="rect">
            <a:avLst/>
          </a:prstGeom>
          <a:noFill/>
          <a:ln/>
        </p:spPr>
        <p:txBody>
          <a:bodyPr wrap="square" lIns="0" tIns="0" rIns="0" bIns="0" rtlCol="0" anchor="t"/>
          <a:lstStyle/>
          <a:p>
            <a:pPr marL="0" indent="0">
              <a:buNone/>
            </a:pPr>
            <a:r>
              <a:rPr lang="en-US" sz="1500" b="1" dirty="0">
                <a:solidFill>
                  <a:srgbClr val="132226"/>
                </a:solidFill>
              </a:rPr>
              <a:t>Baseline capacity</a:t>
            </a:r>
            <a:endParaRPr lang="en-US" sz="1500" dirty="0"/>
          </a:p>
        </p:txBody>
      </p:sp>
      <p:sp>
        <p:nvSpPr>
          <p:cNvPr id="13" name="Text 9"/>
          <p:cNvSpPr txBox="1"/>
          <p:nvPr/>
        </p:nvSpPr>
        <p:spPr>
          <a:xfrm>
            <a:off x="8549640" y="1892808"/>
            <a:ext cx="2971800" cy="530352"/>
          </a:xfrm>
          <a:prstGeom prst="rect">
            <a:avLst/>
          </a:prstGeom>
          <a:noFill/>
          <a:ln/>
        </p:spPr>
        <p:txBody>
          <a:bodyPr wrap="square" lIns="0" tIns="0" rIns="0" bIns="0" rtlCol="0" anchor="t"/>
          <a:lstStyle/>
          <a:p>
            <a:pPr marL="0" indent="0">
              <a:buNone/>
            </a:pPr>
            <a:r>
              <a:rPr lang="en-US" sz="1400" dirty="0">
                <a:solidFill>
                  <a:srgbClr val="4A5B5E"/>
                </a:solidFill>
              </a:rPr>
              <a:t>2 ECS tasks spread across both Availability Zones</a:t>
            </a:r>
            <a:endParaRPr lang="en-US" sz="1400" dirty="0"/>
          </a:p>
        </p:txBody>
      </p:sp>
      <p:sp>
        <p:nvSpPr>
          <p:cNvPr id="14" name="card"/>
          <p:cNvSpPr/>
          <p:nvPr/>
        </p:nvSpPr>
        <p:spPr>
          <a:xfrm>
            <a:off x="7680960" y="2642616"/>
            <a:ext cx="3959352" cy="1014984"/>
          </a:xfrm>
          <a:prstGeom prst="roundRect">
            <a:avLst>
              <a:gd name="adj" fmla="val 9009"/>
            </a:avLst>
          </a:prstGeom>
          <a:solidFill>
            <a:srgbClr val="FFFFFF"/>
          </a:solidFill>
          <a:ln/>
          <a:effectLst>
            <a:outerShdw blurRad="114300" dist="25400" dir="5400000" algn="bl" rotWithShape="0">
              <a:srgbClr val="0E3B43">
                <a:alpha val="13000"/>
              </a:srgbClr>
            </a:outerShdw>
          </a:effectLst>
        </p:spPr>
      </p:sp>
      <p:sp>
        <p:nvSpPr>
          <p:cNvPr id="15" name="Auto scaling circle"/>
          <p:cNvSpPr/>
          <p:nvPr/>
        </p:nvSpPr>
        <p:spPr>
          <a:xfrm>
            <a:off x="7863840" y="2889504"/>
            <a:ext cx="512064" cy="512064"/>
          </a:xfrm>
          <a:prstGeom prst="ellipse">
            <a:avLst/>
          </a:prstGeom>
          <a:solidFill>
            <a:schemeClr val="accent5"/>
          </a:solidFill>
          <a:ln/>
        </p:spPr>
      </p:sp>
      <p:pic>
        <p:nvPicPr>
          <p:cNvPr id="16" name="Auto scaling" descr="preencoded.png"/>
          <p:cNvPicPr>
            <a:picLocks noChangeAspect="1"/>
          </p:cNvPicPr>
          <p:nvPr/>
        </p:nvPicPr>
        <p:blipFill>
          <a:blip r:embed="rId5"/>
          <a:stretch>
            <a:fillRect/>
          </a:stretch>
        </p:blipFill>
        <p:spPr>
          <a:xfrm>
            <a:off x="7986735" y="3012399"/>
            <a:ext cx="266273" cy="266273"/>
          </a:xfrm>
          <a:prstGeom prst="rect">
            <a:avLst/>
          </a:prstGeom>
        </p:spPr>
      </p:pic>
      <p:sp>
        <p:nvSpPr>
          <p:cNvPr id="17" name="Text 12"/>
          <p:cNvSpPr txBox="1"/>
          <p:nvPr/>
        </p:nvSpPr>
        <p:spPr>
          <a:xfrm>
            <a:off x="8549640" y="2770632"/>
            <a:ext cx="2971800" cy="292608"/>
          </a:xfrm>
          <a:prstGeom prst="rect">
            <a:avLst/>
          </a:prstGeom>
          <a:noFill/>
          <a:ln/>
        </p:spPr>
        <p:txBody>
          <a:bodyPr wrap="square" lIns="0" tIns="0" rIns="0" bIns="0" rtlCol="0" anchor="t"/>
          <a:lstStyle/>
          <a:p>
            <a:pPr marL="0" indent="0">
              <a:buNone/>
            </a:pPr>
            <a:r>
              <a:rPr lang="en-US" sz="1500" b="1" dirty="0">
                <a:solidFill>
                  <a:srgbClr val="132226"/>
                </a:solidFill>
              </a:rPr>
              <a:t>Auto scaling</a:t>
            </a:r>
            <a:endParaRPr lang="en-US" sz="1500" dirty="0"/>
          </a:p>
        </p:txBody>
      </p:sp>
      <p:sp>
        <p:nvSpPr>
          <p:cNvPr id="18" name="Text 13"/>
          <p:cNvSpPr txBox="1"/>
          <p:nvPr/>
        </p:nvSpPr>
        <p:spPr>
          <a:xfrm>
            <a:off x="8549640" y="3072384"/>
            <a:ext cx="2971800" cy="530352"/>
          </a:xfrm>
          <a:prstGeom prst="rect">
            <a:avLst/>
          </a:prstGeom>
          <a:noFill/>
          <a:ln/>
        </p:spPr>
        <p:txBody>
          <a:bodyPr wrap="square" lIns="0" tIns="0" rIns="0" bIns="0" rtlCol="0" anchor="t"/>
          <a:lstStyle/>
          <a:p>
            <a:pPr marL="0" indent="0">
              <a:buNone/>
            </a:pPr>
            <a:r>
              <a:rPr lang="en-US" sz="1400" dirty="0">
                <a:solidFill>
                  <a:srgbClr val="4A5B5E"/>
                </a:solidFill>
              </a:rPr>
              <a:t>Min 2  ·  max 4  ·  CPU target 50%</a:t>
            </a:r>
            <a:endParaRPr lang="en-US" sz="1400" dirty="0"/>
          </a:p>
        </p:txBody>
      </p:sp>
      <p:sp>
        <p:nvSpPr>
          <p:cNvPr id="19" name="card"/>
          <p:cNvSpPr/>
          <p:nvPr/>
        </p:nvSpPr>
        <p:spPr>
          <a:xfrm>
            <a:off x="7680960" y="3822192"/>
            <a:ext cx="3959352" cy="1014984"/>
          </a:xfrm>
          <a:prstGeom prst="roundRect">
            <a:avLst>
              <a:gd name="adj" fmla="val 9009"/>
            </a:avLst>
          </a:prstGeom>
          <a:solidFill>
            <a:srgbClr val="FFFFFF"/>
          </a:solidFill>
          <a:ln/>
          <a:effectLst>
            <a:outerShdw blurRad="114300" dist="25400" dir="5400000" algn="bl" rotWithShape="0">
              <a:srgbClr val="0E3B43">
                <a:alpha val="13000"/>
              </a:srgbClr>
            </a:outerShdw>
          </a:effectLst>
        </p:spPr>
      </p:sp>
      <p:sp>
        <p:nvSpPr>
          <p:cNvPr id="20" name="Health &amp; self-healing circle"/>
          <p:cNvSpPr/>
          <p:nvPr/>
        </p:nvSpPr>
        <p:spPr>
          <a:xfrm>
            <a:off x="7863840" y="4069080"/>
            <a:ext cx="512064" cy="512064"/>
          </a:xfrm>
          <a:prstGeom prst="ellipse">
            <a:avLst/>
          </a:prstGeom>
          <a:solidFill>
            <a:schemeClr val="accent4"/>
          </a:solidFill>
          <a:ln/>
        </p:spPr>
      </p:sp>
      <p:pic>
        <p:nvPicPr>
          <p:cNvPr id="21" name="Health &amp; self-healing" descr="preencoded.png"/>
          <p:cNvPicPr>
            <a:picLocks noChangeAspect="1"/>
          </p:cNvPicPr>
          <p:nvPr/>
        </p:nvPicPr>
        <p:blipFill>
          <a:blip r:embed="rId6"/>
          <a:stretch>
            <a:fillRect/>
          </a:stretch>
        </p:blipFill>
        <p:spPr>
          <a:xfrm>
            <a:off x="7986735" y="4191975"/>
            <a:ext cx="266273" cy="266273"/>
          </a:xfrm>
          <a:prstGeom prst="rect">
            <a:avLst/>
          </a:prstGeom>
        </p:spPr>
      </p:pic>
      <p:sp>
        <p:nvSpPr>
          <p:cNvPr id="22" name="Text 16"/>
          <p:cNvSpPr txBox="1"/>
          <p:nvPr/>
        </p:nvSpPr>
        <p:spPr>
          <a:xfrm>
            <a:off x="8549640" y="3950208"/>
            <a:ext cx="2971800" cy="292608"/>
          </a:xfrm>
          <a:prstGeom prst="rect">
            <a:avLst/>
          </a:prstGeom>
          <a:noFill/>
          <a:ln/>
        </p:spPr>
        <p:txBody>
          <a:bodyPr wrap="square" lIns="0" tIns="0" rIns="0" bIns="0" rtlCol="0" anchor="t"/>
          <a:lstStyle/>
          <a:p>
            <a:pPr marL="0" indent="0">
              <a:buNone/>
            </a:pPr>
            <a:r>
              <a:rPr lang="en-US" sz="1500" b="1" dirty="0">
                <a:solidFill>
                  <a:srgbClr val="132226"/>
                </a:solidFill>
              </a:rPr>
              <a:t>Health &amp; self-healing</a:t>
            </a:r>
            <a:endParaRPr lang="en-US" sz="1500" dirty="0"/>
          </a:p>
        </p:txBody>
      </p:sp>
      <p:sp>
        <p:nvSpPr>
          <p:cNvPr id="23" name="Text 17"/>
          <p:cNvSpPr txBox="1"/>
          <p:nvPr/>
        </p:nvSpPr>
        <p:spPr>
          <a:xfrm>
            <a:off x="8549640" y="4251960"/>
            <a:ext cx="2971800" cy="530352"/>
          </a:xfrm>
          <a:prstGeom prst="rect">
            <a:avLst/>
          </a:prstGeom>
          <a:noFill/>
          <a:ln/>
        </p:spPr>
        <p:txBody>
          <a:bodyPr wrap="square" lIns="0" tIns="0" rIns="0" bIns="0" rtlCol="0" anchor="t"/>
          <a:lstStyle/>
          <a:p>
            <a:pPr marL="0" indent="0">
              <a:buNone/>
            </a:pPr>
            <a:r>
              <a:rPr lang="en-US" sz="1400" dirty="0">
                <a:solidFill>
                  <a:srgbClr val="4A5B5E"/>
                </a:solidFill>
              </a:rPr>
              <a:t>ALB checks /health on port 3000; failed tasks are replaced</a:t>
            </a:r>
            <a:endParaRPr lang="en-US" sz="1400" dirty="0"/>
          </a:p>
        </p:txBody>
      </p:sp>
      <p:sp>
        <p:nvSpPr>
          <p:cNvPr id="24" name="card"/>
          <p:cNvSpPr/>
          <p:nvPr/>
        </p:nvSpPr>
        <p:spPr>
          <a:xfrm>
            <a:off x="7680960" y="5001768"/>
            <a:ext cx="3959352" cy="1014984"/>
          </a:xfrm>
          <a:prstGeom prst="roundRect">
            <a:avLst>
              <a:gd name="adj" fmla="val 9009"/>
            </a:avLst>
          </a:prstGeom>
          <a:solidFill>
            <a:srgbClr val="FFFFFF"/>
          </a:solidFill>
          <a:ln/>
          <a:effectLst>
            <a:outerShdw blurRad="114300" dist="25400" dir="5400000" algn="bl" rotWithShape="0">
              <a:srgbClr val="0E3B43">
                <a:alpha val="13000"/>
              </a:srgbClr>
            </a:outerShdw>
          </a:effectLst>
        </p:spPr>
      </p:sp>
      <p:sp>
        <p:nvSpPr>
          <p:cNvPr id="25" name="Controlled validation circle"/>
          <p:cNvSpPr/>
          <p:nvPr/>
        </p:nvSpPr>
        <p:spPr>
          <a:xfrm>
            <a:off x="7863840" y="5248656"/>
            <a:ext cx="512064" cy="512064"/>
          </a:xfrm>
          <a:prstGeom prst="ellipse">
            <a:avLst/>
          </a:prstGeom>
          <a:solidFill>
            <a:schemeClr val="accent2"/>
          </a:solidFill>
          <a:ln/>
        </p:spPr>
      </p:sp>
      <p:pic>
        <p:nvPicPr>
          <p:cNvPr id="26" name="Controlled validation" descr="preencoded.png"/>
          <p:cNvPicPr>
            <a:picLocks noChangeAspect="1"/>
          </p:cNvPicPr>
          <p:nvPr/>
        </p:nvPicPr>
        <p:blipFill>
          <a:blip r:embed="rId7"/>
          <a:stretch>
            <a:fillRect/>
          </a:stretch>
        </p:blipFill>
        <p:spPr>
          <a:xfrm>
            <a:off x="7986735" y="5371551"/>
            <a:ext cx="266273" cy="266273"/>
          </a:xfrm>
          <a:prstGeom prst="rect">
            <a:avLst/>
          </a:prstGeom>
        </p:spPr>
      </p:pic>
      <p:sp>
        <p:nvSpPr>
          <p:cNvPr id="27" name="Text 20"/>
          <p:cNvSpPr txBox="1"/>
          <p:nvPr/>
        </p:nvSpPr>
        <p:spPr>
          <a:xfrm>
            <a:off x="8549640" y="5129784"/>
            <a:ext cx="2971800" cy="292608"/>
          </a:xfrm>
          <a:prstGeom prst="rect">
            <a:avLst/>
          </a:prstGeom>
          <a:noFill/>
          <a:ln/>
        </p:spPr>
        <p:txBody>
          <a:bodyPr wrap="square" lIns="0" tIns="0" rIns="0" bIns="0" rtlCol="0" anchor="t"/>
          <a:lstStyle/>
          <a:p>
            <a:pPr marL="0" indent="0">
              <a:buNone/>
            </a:pPr>
            <a:r>
              <a:rPr lang="en-US" sz="1500" b="1" dirty="0">
                <a:solidFill>
                  <a:srgbClr val="132226"/>
                </a:solidFill>
              </a:rPr>
              <a:t>Controlled validation</a:t>
            </a:r>
            <a:endParaRPr lang="en-US" sz="1500" dirty="0"/>
          </a:p>
        </p:txBody>
      </p:sp>
      <p:sp>
        <p:nvSpPr>
          <p:cNvPr id="28" name="Text 21"/>
          <p:cNvSpPr txBox="1"/>
          <p:nvPr/>
        </p:nvSpPr>
        <p:spPr>
          <a:xfrm>
            <a:off x="8549640" y="5431536"/>
            <a:ext cx="2971800" cy="530352"/>
          </a:xfrm>
          <a:prstGeom prst="rect">
            <a:avLst/>
          </a:prstGeom>
          <a:noFill/>
          <a:ln/>
        </p:spPr>
        <p:txBody>
          <a:bodyPr wrap="square" lIns="0" tIns="0" rIns="0" bIns="0" rtlCol="0" anchor="t"/>
          <a:lstStyle/>
          <a:p>
            <a:pPr marL="0" indent="0">
              <a:buNone/>
            </a:pPr>
            <a:r>
              <a:rPr lang="en-US" sz="1400" dirty="0">
                <a:solidFill>
                  <a:srgbClr val="4A5B5E"/>
                </a:solidFill>
              </a:rPr>
              <a:t>CPU threshold test scaled the service from 2 → 4 tasks</a:t>
            </a:r>
            <a:endParaRPr lang="en-US" sz="1400" dirty="0"/>
          </a:p>
        </p:txBody>
      </p:sp>
      <p:sp>
        <p:nvSpPr>
          <p:cNvPr id="29"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CI/CD and Infrastructure as Code</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GitHub Actions owns application releases; Terraform code + HCP Terraform own infrastructure and remote state.</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M4</a:t>
            </a:r>
            <a:endParaRPr lang="en-US" sz="1200" dirty="0"/>
          </a:p>
        </p:txBody>
      </p:sp>
      <p:sp>
        <p:nvSpPr>
          <p:cNvPr id="6" name="card"/>
          <p:cNvSpPr/>
          <p:nvPr/>
        </p:nvSpPr>
        <p:spPr>
          <a:xfrm>
            <a:off x="548640" y="1463040"/>
            <a:ext cx="11091672" cy="2011680"/>
          </a:xfrm>
          <a:prstGeom prst="roundRect">
            <a:avLst>
              <a:gd name="adj" fmla="val 4545"/>
            </a:avLst>
          </a:prstGeom>
          <a:solidFill>
            <a:srgbClr val="FFFFFF"/>
          </a:solidFill>
          <a:ln/>
          <a:effectLst>
            <a:outerShdw blurRad="114300" dist="25400" dir="5400000" algn="bl" rotWithShape="0">
              <a:srgbClr val="0E3B43">
                <a:alpha val="13000"/>
              </a:srgbClr>
            </a:outerShdw>
          </a:effectLst>
        </p:spPr>
      </p:sp>
      <p:sp>
        <p:nvSpPr>
          <p:cNvPr id="7" name="Application deployment — GitHub Actions circle"/>
          <p:cNvSpPr/>
          <p:nvPr/>
        </p:nvSpPr>
        <p:spPr>
          <a:xfrm>
            <a:off x="777240" y="1600200"/>
            <a:ext cx="438912" cy="438912"/>
          </a:xfrm>
          <a:prstGeom prst="ellipse">
            <a:avLst/>
          </a:prstGeom>
          <a:solidFill>
            <a:schemeClr val="tx2"/>
          </a:solidFill>
          <a:ln/>
        </p:spPr>
      </p:sp>
      <p:pic>
        <p:nvPicPr>
          <p:cNvPr id="8" name="Application deployment — GitHub Actions" descr="preencoded.png"/>
          <p:cNvPicPr>
            <a:picLocks noChangeAspect="1"/>
          </p:cNvPicPr>
          <p:nvPr/>
        </p:nvPicPr>
        <p:blipFill>
          <a:blip r:embed="rId3"/>
          <a:stretch>
            <a:fillRect/>
          </a:stretch>
        </p:blipFill>
        <p:spPr>
          <a:xfrm>
            <a:off x="882579" y="1705539"/>
            <a:ext cx="228234" cy="228234"/>
          </a:xfrm>
          <a:prstGeom prst="rect">
            <a:avLst/>
          </a:prstGeom>
        </p:spPr>
      </p:pic>
      <p:sp>
        <p:nvSpPr>
          <p:cNvPr id="9" name="Text 6"/>
          <p:cNvSpPr txBox="1"/>
          <p:nvPr/>
        </p:nvSpPr>
        <p:spPr>
          <a:xfrm>
            <a:off x="1371600" y="1600200"/>
            <a:ext cx="6858000" cy="438912"/>
          </a:xfrm>
          <a:prstGeom prst="rect">
            <a:avLst/>
          </a:prstGeom>
          <a:noFill/>
          <a:ln/>
        </p:spPr>
        <p:txBody>
          <a:bodyPr wrap="square" lIns="0" tIns="0" rIns="0" bIns="0" rtlCol="0" anchor="ctr"/>
          <a:lstStyle/>
          <a:p>
            <a:pPr marL="0" indent="0">
              <a:buNone/>
            </a:pPr>
            <a:r>
              <a:rPr lang="en-US" sz="1700" b="1" dirty="0">
                <a:solidFill>
                  <a:srgbClr val="0E3B43"/>
                </a:solidFill>
                <a:latin typeface="+mj-lt" pitchFamily="34" charset="0"/>
                <a:ea typeface="+mj-lt" pitchFamily="34" charset="-122"/>
                <a:cs typeface="+mj-lt" pitchFamily="34" charset="-120"/>
              </a:rPr>
              <a:t>Application deployment — GitHub Actions</a:t>
            </a:r>
            <a:endParaRPr lang="en-US" sz="1700" dirty="0"/>
          </a:p>
        </p:txBody>
      </p:sp>
      <p:sp>
        <p:nvSpPr>
          <p:cNvPr id="10" name="lane line"/>
          <p:cNvSpPr/>
          <p:nvPr/>
        </p:nvSpPr>
        <p:spPr>
          <a:xfrm>
            <a:off x="1481900" y="2468880"/>
            <a:ext cx="9225153" cy="0"/>
          </a:xfrm>
          <a:prstGeom prst="line">
            <a:avLst/>
          </a:prstGeom>
          <a:noFill/>
          <a:ln w="25400">
            <a:solidFill>
              <a:srgbClr val="D3E2E0"/>
            </a:solidFill>
            <a:prstDash val="solid"/>
          </a:ln>
        </p:spPr>
      </p:sp>
      <p:sp>
        <p:nvSpPr>
          <p:cNvPr id="11" name="step 1"/>
          <p:cNvSpPr/>
          <p:nvPr/>
        </p:nvSpPr>
        <p:spPr>
          <a:xfrm>
            <a:off x="1253300" y="2240280"/>
            <a:ext cx="457200" cy="457200"/>
          </a:xfrm>
          <a:prstGeom prst="ellipse">
            <a:avLst/>
          </a:prstGeom>
          <a:solidFill>
            <a:schemeClr val="accent1"/>
          </a:solidFill>
          <a:ln w="25400">
            <a:solidFill>
              <a:srgbClr val="FFFFFF"/>
            </a:solidFill>
            <a:prstDash val="solid"/>
          </a:ln>
        </p:spPr>
      </p:sp>
      <p:sp>
        <p:nvSpPr>
          <p:cNvPr id="12" name="Text 9"/>
          <p:cNvSpPr txBox="1"/>
          <p:nvPr/>
        </p:nvSpPr>
        <p:spPr>
          <a:xfrm>
            <a:off x="1253300" y="2240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3" name="Text 10"/>
          <p:cNvSpPr txBox="1"/>
          <p:nvPr/>
        </p:nvSpPr>
        <p:spPr>
          <a:xfrm>
            <a:off x="868680" y="2788920"/>
            <a:ext cx="1226439" cy="566928"/>
          </a:xfrm>
          <a:prstGeom prst="rect">
            <a:avLst/>
          </a:prstGeom>
          <a:noFill/>
          <a:ln/>
        </p:spPr>
        <p:txBody>
          <a:bodyPr wrap="square" lIns="0" tIns="0" rIns="0" bIns="0" rtlCol="0" anchor="t"/>
          <a:lstStyle/>
          <a:p>
            <a:pPr marL="0" indent="0" algn="ctr">
              <a:buNone/>
            </a:pPr>
            <a:r>
              <a:rPr lang="en-US" sz="1300" dirty="0">
                <a:solidFill>
                  <a:srgbClr val="132226"/>
                </a:solidFill>
              </a:rPr>
              <a:t>Push to main</a:t>
            </a:r>
            <a:endParaRPr lang="en-US" sz="1300" dirty="0"/>
          </a:p>
        </p:txBody>
      </p:sp>
      <p:sp>
        <p:nvSpPr>
          <p:cNvPr id="14" name="step 2"/>
          <p:cNvSpPr/>
          <p:nvPr/>
        </p:nvSpPr>
        <p:spPr>
          <a:xfrm>
            <a:off x="2571179" y="2240280"/>
            <a:ext cx="457200" cy="457200"/>
          </a:xfrm>
          <a:prstGeom prst="ellipse">
            <a:avLst/>
          </a:prstGeom>
          <a:solidFill>
            <a:schemeClr val="accent1"/>
          </a:solidFill>
          <a:ln w="25400">
            <a:solidFill>
              <a:srgbClr val="FFFFFF"/>
            </a:solidFill>
            <a:prstDash val="solid"/>
          </a:ln>
        </p:spPr>
      </p:sp>
      <p:sp>
        <p:nvSpPr>
          <p:cNvPr id="15" name="Text 12"/>
          <p:cNvSpPr txBox="1"/>
          <p:nvPr/>
        </p:nvSpPr>
        <p:spPr>
          <a:xfrm>
            <a:off x="2571179" y="2240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6" name="Text 13"/>
          <p:cNvSpPr txBox="1"/>
          <p:nvPr/>
        </p:nvSpPr>
        <p:spPr>
          <a:xfrm>
            <a:off x="2186559" y="2788920"/>
            <a:ext cx="1226439" cy="566928"/>
          </a:xfrm>
          <a:prstGeom prst="rect">
            <a:avLst/>
          </a:prstGeom>
          <a:noFill/>
          <a:ln/>
        </p:spPr>
        <p:txBody>
          <a:bodyPr wrap="square" lIns="0" tIns="0" rIns="0" bIns="0" rtlCol="0" anchor="t"/>
          <a:lstStyle/>
          <a:p>
            <a:pPr marL="0" indent="0" algn="ctr">
              <a:buNone/>
            </a:pPr>
            <a:r>
              <a:rPr lang="en-US" sz="1300" dirty="0">
                <a:solidFill>
                  <a:srgbClr val="132226"/>
                </a:solidFill>
              </a:rPr>
              <a:t>OIDC to AWS</a:t>
            </a:r>
            <a:endParaRPr lang="en-US" sz="1300" dirty="0"/>
          </a:p>
        </p:txBody>
      </p:sp>
      <p:sp>
        <p:nvSpPr>
          <p:cNvPr id="17" name="step 3"/>
          <p:cNvSpPr/>
          <p:nvPr/>
        </p:nvSpPr>
        <p:spPr>
          <a:xfrm>
            <a:off x="3889058" y="2240280"/>
            <a:ext cx="457200" cy="457200"/>
          </a:xfrm>
          <a:prstGeom prst="ellipse">
            <a:avLst/>
          </a:prstGeom>
          <a:solidFill>
            <a:schemeClr val="accent1"/>
          </a:solidFill>
          <a:ln w="25400">
            <a:solidFill>
              <a:srgbClr val="FFFFFF"/>
            </a:solidFill>
            <a:prstDash val="solid"/>
          </a:ln>
        </p:spPr>
      </p:sp>
      <p:sp>
        <p:nvSpPr>
          <p:cNvPr id="18" name="Text 15"/>
          <p:cNvSpPr txBox="1"/>
          <p:nvPr/>
        </p:nvSpPr>
        <p:spPr>
          <a:xfrm>
            <a:off x="3889058" y="2240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9" name="Text 16"/>
          <p:cNvSpPr txBox="1"/>
          <p:nvPr/>
        </p:nvSpPr>
        <p:spPr>
          <a:xfrm>
            <a:off x="3504438" y="2788920"/>
            <a:ext cx="1226439" cy="566928"/>
          </a:xfrm>
          <a:prstGeom prst="rect">
            <a:avLst/>
          </a:prstGeom>
          <a:noFill/>
          <a:ln/>
        </p:spPr>
        <p:txBody>
          <a:bodyPr wrap="square" lIns="0" tIns="0" rIns="0" bIns="0" rtlCol="0" anchor="t"/>
          <a:lstStyle/>
          <a:p>
            <a:pPr marL="0" indent="0" algn="ctr">
              <a:buNone/>
            </a:pPr>
            <a:r>
              <a:rPr lang="en-US" sz="1300" dirty="0">
                <a:solidFill>
                  <a:srgbClr val="132226"/>
                </a:solidFill>
              </a:rPr>
              <a:t>Build Docker</a:t>
            </a:r>
            <a:endParaRPr lang="en-US" sz="1300" dirty="0"/>
          </a:p>
        </p:txBody>
      </p:sp>
      <p:sp>
        <p:nvSpPr>
          <p:cNvPr id="20" name="step 4"/>
          <p:cNvSpPr/>
          <p:nvPr/>
        </p:nvSpPr>
        <p:spPr>
          <a:xfrm>
            <a:off x="5206937" y="2240280"/>
            <a:ext cx="457200" cy="457200"/>
          </a:xfrm>
          <a:prstGeom prst="ellipse">
            <a:avLst/>
          </a:prstGeom>
          <a:solidFill>
            <a:schemeClr val="accent1"/>
          </a:solidFill>
          <a:ln w="25400">
            <a:solidFill>
              <a:srgbClr val="FFFFFF"/>
            </a:solidFill>
            <a:prstDash val="solid"/>
          </a:ln>
        </p:spPr>
      </p:sp>
      <p:sp>
        <p:nvSpPr>
          <p:cNvPr id="21" name="Text 18"/>
          <p:cNvSpPr txBox="1"/>
          <p:nvPr/>
        </p:nvSpPr>
        <p:spPr>
          <a:xfrm>
            <a:off x="5206937" y="2240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19"/>
          <p:cNvSpPr txBox="1"/>
          <p:nvPr/>
        </p:nvSpPr>
        <p:spPr>
          <a:xfrm>
            <a:off x="4822317" y="2788920"/>
            <a:ext cx="1226439" cy="566928"/>
          </a:xfrm>
          <a:prstGeom prst="rect">
            <a:avLst/>
          </a:prstGeom>
          <a:noFill/>
          <a:ln/>
        </p:spPr>
        <p:txBody>
          <a:bodyPr wrap="square" lIns="0" tIns="0" rIns="0" bIns="0" rtlCol="0" anchor="t"/>
          <a:lstStyle/>
          <a:p>
            <a:pPr marL="0" indent="0" algn="ctr">
              <a:buNone/>
            </a:pPr>
            <a:r>
              <a:rPr lang="en-US" sz="1300" dirty="0">
                <a:solidFill>
                  <a:srgbClr val="132226"/>
                </a:solidFill>
              </a:rPr>
              <a:t>Push to ECR</a:t>
            </a:r>
            <a:endParaRPr lang="en-US" sz="1300" dirty="0"/>
          </a:p>
        </p:txBody>
      </p:sp>
      <p:sp>
        <p:nvSpPr>
          <p:cNvPr id="23" name="step 5"/>
          <p:cNvSpPr/>
          <p:nvPr/>
        </p:nvSpPr>
        <p:spPr>
          <a:xfrm>
            <a:off x="6524816" y="2240280"/>
            <a:ext cx="457200" cy="457200"/>
          </a:xfrm>
          <a:prstGeom prst="ellipse">
            <a:avLst/>
          </a:prstGeom>
          <a:solidFill>
            <a:schemeClr val="accent1"/>
          </a:solidFill>
          <a:ln w="25400">
            <a:solidFill>
              <a:srgbClr val="FFFFFF"/>
            </a:solidFill>
            <a:prstDash val="solid"/>
          </a:ln>
        </p:spPr>
      </p:sp>
      <p:sp>
        <p:nvSpPr>
          <p:cNvPr id="24" name="Text 21"/>
          <p:cNvSpPr txBox="1"/>
          <p:nvPr/>
        </p:nvSpPr>
        <p:spPr>
          <a:xfrm>
            <a:off x="6524816" y="2240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5" name="Text 22"/>
          <p:cNvSpPr txBox="1"/>
          <p:nvPr/>
        </p:nvSpPr>
        <p:spPr>
          <a:xfrm>
            <a:off x="6140196" y="2788920"/>
            <a:ext cx="1226439" cy="566928"/>
          </a:xfrm>
          <a:prstGeom prst="rect">
            <a:avLst/>
          </a:prstGeom>
          <a:noFill/>
          <a:ln/>
        </p:spPr>
        <p:txBody>
          <a:bodyPr wrap="square" lIns="0" tIns="0" rIns="0" bIns="0" rtlCol="0" anchor="t"/>
          <a:lstStyle/>
          <a:p>
            <a:pPr marL="0" indent="0" algn="ctr">
              <a:buNone/>
            </a:pPr>
            <a:r>
              <a:rPr lang="en-US" sz="1300" dirty="0">
                <a:solidFill>
                  <a:srgbClr val="132226"/>
                </a:solidFill>
              </a:rPr>
              <a:t>Render task definition</a:t>
            </a:r>
            <a:endParaRPr lang="en-US" sz="1300" dirty="0"/>
          </a:p>
        </p:txBody>
      </p:sp>
      <p:sp>
        <p:nvSpPr>
          <p:cNvPr id="26" name="step 6"/>
          <p:cNvSpPr/>
          <p:nvPr/>
        </p:nvSpPr>
        <p:spPr>
          <a:xfrm>
            <a:off x="7842694" y="2240280"/>
            <a:ext cx="457200" cy="457200"/>
          </a:xfrm>
          <a:prstGeom prst="ellipse">
            <a:avLst/>
          </a:prstGeom>
          <a:solidFill>
            <a:schemeClr val="accent1"/>
          </a:solidFill>
          <a:ln w="25400">
            <a:solidFill>
              <a:srgbClr val="FFFFFF"/>
            </a:solidFill>
            <a:prstDash val="solid"/>
          </a:ln>
        </p:spPr>
      </p:sp>
      <p:sp>
        <p:nvSpPr>
          <p:cNvPr id="27" name="Text 24"/>
          <p:cNvSpPr txBox="1"/>
          <p:nvPr/>
        </p:nvSpPr>
        <p:spPr>
          <a:xfrm>
            <a:off x="7842694" y="2240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8" name="Text 25"/>
          <p:cNvSpPr txBox="1"/>
          <p:nvPr/>
        </p:nvSpPr>
        <p:spPr>
          <a:xfrm>
            <a:off x="7458075" y="2788920"/>
            <a:ext cx="1226439" cy="566928"/>
          </a:xfrm>
          <a:prstGeom prst="rect">
            <a:avLst/>
          </a:prstGeom>
          <a:noFill/>
          <a:ln/>
        </p:spPr>
        <p:txBody>
          <a:bodyPr wrap="square" lIns="0" tIns="0" rIns="0" bIns="0" rtlCol="0" anchor="t"/>
          <a:lstStyle/>
          <a:p>
            <a:pPr marL="0" indent="0" algn="ctr">
              <a:buNone/>
            </a:pPr>
            <a:r>
              <a:rPr lang="en-US" sz="1300" dirty="0">
                <a:solidFill>
                  <a:srgbClr val="132226"/>
                </a:solidFill>
              </a:rPr>
              <a:t>Deploy ECS</a:t>
            </a:r>
            <a:endParaRPr lang="en-US" sz="1300" dirty="0"/>
          </a:p>
        </p:txBody>
      </p:sp>
      <p:sp>
        <p:nvSpPr>
          <p:cNvPr id="29" name="step 7"/>
          <p:cNvSpPr/>
          <p:nvPr/>
        </p:nvSpPr>
        <p:spPr>
          <a:xfrm>
            <a:off x="9160574" y="2240280"/>
            <a:ext cx="457200" cy="457200"/>
          </a:xfrm>
          <a:prstGeom prst="ellipse">
            <a:avLst/>
          </a:prstGeom>
          <a:solidFill>
            <a:schemeClr val="accent1"/>
          </a:solidFill>
          <a:ln w="25400">
            <a:solidFill>
              <a:srgbClr val="FFFFFF"/>
            </a:solidFill>
            <a:prstDash val="solid"/>
          </a:ln>
        </p:spPr>
      </p:sp>
      <p:sp>
        <p:nvSpPr>
          <p:cNvPr id="30" name="Text 27"/>
          <p:cNvSpPr txBox="1"/>
          <p:nvPr/>
        </p:nvSpPr>
        <p:spPr>
          <a:xfrm>
            <a:off x="9160574" y="2240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7</a:t>
            </a:r>
            <a:endParaRPr lang="en-US" sz="1400" dirty="0"/>
          </a:p>
        </p:txBody>
      </p:sp>
      <p:sp>
        <p:nvSpPr>
          <p:cNvPr id="31" name="Text 28"/>
          <p:cNvSpPr txBox="1"/>
          <p:nvPr/>
        </p:nvSpPr>
        <p:spPr>
          <a:xfrm>
            <a:off x="8775954" y="2788920"/>
            <a:ext cx="1226439" cy="566928"/>
          </a:xfrm>
          <a:prstGeom prst="rect">
            <a:avLst/>
          </a:prstGeom>
          <a:noFill/>
          <a:ln/>
        </p:spPr>
        <p:txBody>
          <a:bodyPr wrap="square" lIns="0" tIns="0" rIns="0" bIns="0" rtlCol="0" anchor="t"/>
          <a:lstStyle/>
          <a:p>
            <a:pPr marL="0" indent="0" algn="ctr">
              <a:buNone/>
            </a:pPr>
            <a:r>
              <a:rPr lang="en-US" sz="1300" dirty="0">
                <a:solidFill>
                  <a:srgbClr val="132226"/>
                </a:solidFill>
              </a:rPr>
              <a:t>Verify SHA + counts</a:t>
            </a:r>
            <a:endParaRPr lang="en-US" sz="1300" dirty="0"/>
          </a:p>
        </p:txBody>
      </p:sp>
      <p:sp>
        <p:nvSpPr>
          <p:cNvPr id="32" name="step 8"/>
          <p:cNvSpPr/>
          <p:nvPr/>
        </p:nvSpPr>
        <p:spPr>
          <a:xfrm>
            <a:off x="10478453" y="2240280"/>
            <a:ext cx="457200" cy="457200"/>
          </a:xfrm>
          <a:prstGeom prst="ellipse">
            <a:avLst/>
          </a:prstGeom>
          <a:solidFill>
            <a:schemeClr val="accent3"/>
          </a:solidFill>
          <a:ln w="25400">
            <a:solidFill>
              <a:srgbClr val="FFFFFF"/>
            </a:solidFill>
            <a:prstDash val="solid"/>
          </a:ln>
        </p:spPr>
      </p:sp>
      <p:sp>
        <p:nvSpPr>
          <p:cNvPr id="33" name="Text 30"/>
          <p:cNvSpPr txBox="1"/>
          <p:nvPr/>
        </p:nvSpPr>
        <p:spPr>
          <a:xfrm>
            <a:off x="10478453" y="2240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8</a:t>
            </a:r>
            <a:endParaRPr lang="en-US" sz="1400" dirty="0"/>
          </a:p>
        </p:txBody>
      </p:sp>
      <p:sp>
        <p:nvSpPr>
          <p:cNvPr id="34" name="Text 31"/>
          <p:cNvSpPr txBox="1"/>
          <p:nvPr/>
        </p:nvSpPr>
        <p:spPr>
          <a:xfrm>
            <a:off x="10093833" y="2788920"/>
            <a:ext cx="1226439" cy="566928"/>
          </a:xfrm>
          <a:prstGeom prst="rect">
            <a:avLst/>
          </a:prstGeom>
          <a:noFill/>
          <a:ln/>
        </p:spPr>
        <p:txBody>
          <a:bodyPr wrap="square" lIns="0" tIns="0" rIns="0" bIns="0" rtlCol="0" anchor="t"/>
          <a:lstStyle/>
          <a:p>
            <a:pPr marL="0" indent="0" algn="ctr">
              <a:buNone/>
            </a:pPr>
            <a:r>
              <a:rPr lang="en-US" sz="1300" dirty="0">
                <a:solidFill>
                  <a:srgbClr val="132226"/>
                </a:solidFill>
              </a:rPr>
              <a:t>Health via CloudFront</a:t>
            </a:r>
            <a:endParaRPr lang="en-US" sz="1300" dirty="0"/>
          </a:p>
        </p:txBody>
      </p:sp>
      <p:sp>
        <p:nvSpPr>
          <p:cNvPr id="35" name="oidc pill"/>
          <p:cNvSpPr/>
          <p:nvPr/>
        </p:nvSpPr>
        <p:spPr>
          <a:xfrm>
            <a:off x="8503920" y="1627632"/>
            <a:ext cx="2953512" cy="347472"/>
          </a:xfrm>
          <a:prstGeom prst="roundRect">
            <a:avLst>
              <a:gd name="adj" fmla="val 50000"/>
            </a:avLst>
          </a:prstGeom>
          <a:solidFill>
            <a:srgbClr val="E0F3EE"/>
          </a:solidFill>
          <a:ln/>
        </p:spPr>
      </p:sp>
      <p:sp>
        <p:nvSpPr>
          <p:cNvPr id="36" name="Text 33"/>
          <p:cNvSpPr txBox="1"/>
          <p:nvPr/>
        </p:nvSpPr>
        <p:spPr>
          <a:xfrm>
            <a:off x="8503920" y="1627632"/>
            <a:ext cx="2953512" cy="347472"/>
          </a:xfrm>
          <a:prstGeom prst="rect">
            <a:avLst/>
          </a:prstGeom>
          <a:noFill/>
          <a:ln/>
        </p:spPr>
        <p:txBody>
          <a:bodyPr wrap="square" lIns="0" tIns="0" rIns="0" bIns="0" rtlCol="0" anchor="ctr"/>
          <a:lstStyle/>
          <a:p>
            <a:pPr marL="0" indent="0" algn="ctr">
              <a:buNone/>
            </a:pPr>
            <a:r>
              <a:rPr lang="en-US" sz="1200" b="1" dirty="0">
                <a:solidFill>
                  <a:srgbClr val="1F9A82"/>
                </a:solidFill>
              </a:rPr>
              <a:t>No long-lived AWS keys · GitHub OIDC</a:t>
            </a:r>
            <a:endParaRPr lang="en-US" sz="1200" dirty="0"/>
          </a:p>
        </p:txBody>
      </p:sp>
      <p:sp>
        <p:nvSpPr>
          <p:cNvPr id="37" name="card"/>
          <p:cNvSpPr/>
          <p:nvPr/>
        </p:nvSpPr>
        <p:spPr>
          <a:xfrm>
            <a:off x="548640" y="3657600"/>
            <a:ext cx="11091672" cy="1828800"/>
          </a:xfrm>
          <a:prstGeom prst="roundRect">
            <a:avLst>
              <a:gd name="adj" fmla="val 5000"/>
            </a:avLst>
          </a:prstGeom>
          <a:solidFill>
            <a:srgbClr val="FFFFFF"/>
          </a:solidFill>
          <a:ln/>
          <a:effectLst>
            <a:outerShdw blurRad="114300" dist="25400" dir="5400000" algn="bl" rotWithShape="0">
              <a:srgbClr val="0E3B43">
                <a:alpha val="13000"/>
              </a:srgbClr>
            </a:outerShdw>
          </a:effectLst>
        </p:spPr>
      </p:sp>
      <p:sp>
        <p:nvSpPr>
          <p:cNvPr id="38" name="Infrastructure as Code — Terraform + HCP Terraform circle"/>
          <p:cNvSpPr/>
          <p:nvPr/>
        </p:nvSpPr>
        <p:spPr>
          <a:xfrm>
            <a:off x="777240" y="3794760"/>
            <a:ext cx="438912" cy="438912"/>
          </a:xfrm>
          <a:prstGeom prst="ellipse">
            <a:avLst/>
          </a:prstGeom>
          <a:solidFill>
            <a:schemeClr val="accent5"/>
          </a:solidFill>
          <a:ln/>
        </p:spPr>
      </p:sp>
      <p:pic>
        <p:nvPicPr>
          <p:cNvPr id="39" name="Infrastructure as Code — Terraform + HCP Terraform" descr="preencoded.png"/>
          <p:cNvPicPr>
            <a:picLocks noChangeAspect="1"/>
          </p:cNvPicPr>
          <p:nvPr/>
        </p:nvPicPr>
        <p:blipFill>
          <a:blip r:embed="rId4"/>
          <a:stretch>
            <a:fillRect/>
          </a:stretch>
        </p:blipFill>
        <p:spPr>
          <a:xfrm>
            <a:off x="882579" y="3900099"/>
            <a:ext cx="228234" cy="228234"/>
          </a:xfrm>
          <a:prstGeom prst="rect">
            <a:avLst/>
          </a:prstGeom>
        </p:spPr>
      </p:pic>
      <p:sp>
        <p:nvSpPr>
          <p:cNvPr id="40" name="Text 36"/>
          <p:cNvSpPr txBox="1"/>
          <p:nvPr/>
        </p:nvSpPr>
        <p:spPr>
          <a:xfrm>
            <a:off x="1371600" y="3794760"/>
            <a:ext cx="6858000" cy="438912"/>
          </a:xfrm>
          <a:prstGeom prst="rect">
            <a:avLst/>
          </a:prstGeom>
          <a:noFill/>
          <a:ln/>
        </p:spPr>
        <p:txBody>
          <a:bodyPr wrap="square" lIns="0" tIns="0" rIns="0" bIns="0" rtlCol="0" anchor="ctr"/>
          <a:lstStyle/>
          <a:p>
            <a:pPr marL="0" indent="0">
              <a:buNone/>
            </a:pPr>
            <a:r>
              <a:rPr lang="en-US" sz="1700" b="1" dirty="0">
                <a:solidFill>
                  <a:srgbClr val="0E3B43"/>
                </a:solidFill>
                <a:latin typeface="+mj-lt" pitchFamily="34" charset="0"/>
                <a:ea typeface="+mj-lt" pitchFamily="34" charset="-122"/>
                <a:cs typeface="+mj-lt" pitchFamily="34" charset="-120"/>
              </a:rPr>
              <a:t>Infrastructure as Code — Terraform + HCP Terraform</a:t>
            </a:r>
            <a:endParaRPr lang="en-US" sz="1700" dirty="0"/>
          </a:p>
        </p:txBody>
      </p:sp>
      <p:sp>
        <p:nvSpPr>
          <p:cNvPr id="41" name="lane line"/>
          <p:cNvSpPr/>
          <p:nvPr/>
        </p:nvSpPr>
        <p:spPr>
          <a:xfrm>
            <a:off x="1877263" y="4663440"/>
            <a:ext cx="8434426" cy="0"/>
          </a:xfrm>
          <a:prstGeom prst="line">
            <a:avLst/>
          </a:prstGeom>
          <a:noFill/>
          <a:ln w="25400">
            <a:solidFill>
              <a:srgbClr val="D3E2E0"/>
            </a:solidFill>
            <a:prstDash val="solid"/>
          </a:ln>
        </p:spPr>
      </p:sp>
      <p:sp>
        <p:nvSpPr>
          <p:cNvPr id="42" name="step 1"/>
          <p:cNvSpPr/>
          <p:nvPr/>
        </p:nvSpPr>
        <p:spPr>
          <a:xfrm>
            <a:off x="1648663" y="4434840"/>
            <a:ext cx="457200" cy="457200"/>
          </a:xfrm>
          <a:prstGeom prst="ellipse">
            <a:avLst/>
          </a:prstGeom>
          <a:solidFill>
            <a:schemeClr val="tx2"/>
          </a:solidFill>
          <a:ln w="25400">
            <a:solidFill>
              <a:srgbClr val="FFFFFF"/>
            </a:solidFill>
            <a:prstDash val="solid"/>
          </a:ln>
        </p:spPr>
      </p:sp>
      <p:sp>
        <p:nvSpPr>
          <p:cNvPr id="43" name="Text 39"/>
          <p:cNvSpPr txBox="1"/>
          <p:nvPr/>
        </p:nvSpPr>
        <p:spPr>
          <a:xfrm>
            <a:off x="1648663" y="44348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44" name="Text 40"/>
          <p:cNvSpPr txBox="1"/>
          <p:nvPr/>
        </p:nvSpPr>
        <p:spPr>
          <a:xfrm>
            <a:off x="868680" y="4965192"/>
            <a:ext cx="2017166" cy="566928"/>
          </a:xfrm>
          <a:prstGeom prst="rect">
            <a:avLst/>
          </a:prstGeom>
          <a:noFill/>
          <a:ln/>
        </p:spPr>
        <p:txBody>
          <a:bodyPr wrap="square" lIns="0" tIns="0" rIns="0" bIns="0" rtlCol="0" anchor="t"/>
          <a:lstStyle/>
          <a:p>
            <a:pPr marL="0" indent="0" algn="ctr">
              <a:buNone/>
            </a:pPr>
            <a:r>
              <a:rPr lang="en-US" sz="1300" dirty="0">
                <a:solidFill>
                  <a:srgbClr val="132226"/>
                </a:solidFill>
              </a:rPr>
              <a:t>Commit Terraform changes</a:t>
            </a:r>
            <a:endParaRPr lang="en-US" sz="1300" dirty="0"/>
          </a:p>
        </p:txBody>
      </p:sp>
      <p:sp>
        <p:nvSpPr>
          <p:cNvPr id="45" name="step 2"/>
          <p:cNvSpPr/>
          <p:nvPr/>
        </p:nvSpPr>
        <p:spPr>
          <a:xfrm>
            <a:off x="3757270" y="4434840"/>
            <a:ext cx="457200" cy="457200"/>
          </a:xfrm>
          <a:prstGeom prst="ellipse">
            <a:avLst/>
          </a:prstGeom>
          <a:solidFill>
            <a:schemeClr val="tx2"/>
          </a:solidFill>
          <a:ln w="25400">
            <a:solidFill>
              <a:srgbClr val="FFFFFF"/>
            </a:solidFill>
            <a:prstDash val="solid"/>
          </a:ln>
        </p:spPr>
      </p:sp>
      <p:sp>
        <p:nvSpPr>
          <p:cNvPr id="46" name="Text 42"/>
          <p:cNvSpPr txBox="1"/>
          <p:nvPr/>
        </p:nvSpPr>
        <p:spPr>
          <a:xfrm>
            <a:off x="3757270" y="44348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47" name="Text 43"/>
          <p:cNvSpPr txBox="1"/>
          <p:nvPr/>
        </p:nvSpPr>
        <p:spPr>
          <a:xfrm>
            <a:off x="2977286" y="4965192"/>
            <a:ext cx="2017166" cy="566928"/>
          </a:xfrm>
          <a:prstGeom prst="rect">
            <a:avLst/>
          </a:prstGeom>
          <a:noFill/>
          <a:ln/>
        </p:spPr>
        <p:txBody>
          <a:bodyPr wrap="square" lIns="0" tIns="0" rIns="0" bIns="0" rtlCol="0" anchor="t"/>
          <a:lstStyle/>
          <a:p>
            <a:pPr marL="0" indent="0" algn="ctr">
              <a:buNone/>
            </a:pPr>
            <a:r>
              <a:rPr lang="en-US" sz="1300" dirty="0">
                <a:solidFill>
                  <a:srgbClr val="132226"/>
                </a:solidFill>
              </a:rPr>
              <a:t>HCP Terraform plan</a:t>
            </a:r>
            <a:endParaRPr lang="en-US" sz="1300" dirty="0"/>
          </a:p>
        </p:txBody>
      </p:sp>
      <p:sp>
        <p:nvSpPr>
          <p:cNvPr id="48" name="step 3"/>
          <p:cNvSpPr/>
          <p:nvPr/>
        </p:nvSpPr>
        <p:spPr>
          <a:xfrm>
            <a:off x="5865876" y="4434840"/>
            <a:ext cx="457200" cy="457200"/>
          </a:xfrm>
          <a:prstGeom prst="ellipse">
            <a:avLst/>
          </a:prstGeom>
          <a:solidFill>
            <a:schemeClr val="tx2"/>
          </a:solidFill>
          <a:ln w="25400">
            <a:solidFill>
              <a:srgbClr val="FFFFFF"/>
            </a:solidFill>
            <a:prstDash val="solid"/>
          </a:ln>
        </p:spPr>
      </p:sp>
      <p:sp>
        <p:nvSpPr>
          <p:cNvPr id="49" name="Text 45"/>
          <p:cNvSpPr txBox="1"/>
          <p:nvPr/>
        </p:nvSpPr>
        <p:spPr>
          <a:xfrm>
            <a:off x="5865876" y="44348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50" name="Text 46"/>
          <p:cNvSpPr txBox="1"/>
          <p:nvPr/>
        </p:nvSpPr>
        <p:spPr>
          <a:xfrm>
            <a:off x="5085893" y="4965192"/>
            <a:ext cx="2017166" cy="566928"/>
          </a:xfrm>
          <a:prstGeom prst="rect">
            <a:avLst/>
          </a:prstGeom>
          <a:noFill/>
          <a:ln/>
        </p:spPr>
        <p:txBody>
          <a:bodyPr wrap="square" lIns="0" tIns="0" rIns="0" bIns="0" rtlCol="0" anchor="t"/>
          <a:lstStyle/>
          <a:p>
            <a:pPr marL="0" indent="0" algn="ctr">
              <a:buNone/>
            </a:pPr>
            <a:r>
              <a:rPr lang="en-US" sz="1300" dirty="0">
                <a:solidFill>
                  <a:srgbClr val="132226"/>
                </a:solidFill>
              </a:rPr>
              <a:t>Review / apply</a:t>
            </a:r>
            <a:endParaRPr lang="en-US" sz="1300" dirty="0"/>
          </a:p>
        </p:txBody>
      </p:sp>
      <p:sp>
        <p:nvSpPr>
          <p:cNvPr id="51" name="step 4"/>
          <p:cNvSpPr/>
          <p:nvPr/>
        </p:nvSpPr>
        <p:spPr>
          <a:xfrm>
            <a:off x="7974482" y="4434840"/>
            <a:ext cx="457200" cy="457200"/>
          </a:xfrm>
          <a:prstGeom prst="ellipse">
            <a:avLst/>
          </a:prstGeom>
          <a:solidFill>
            <a:schemeClr val="tx2"/>
          </a:solidFill>
          <a:ln w="25400">
            <a:solidFill>
              <a:srgbClr val="FFFFFF"/>
            </a:solidFill>
            <a:prstDash val="solid"/>
          </a:ln>
        </p:spPr>
      </p:sp>
      <p:sp>
        <p:nvSpPr>
          <p:cNvPr id="52" name="Text 48"/>
          <p:cNvSpPr txBox="1"/>
          <p:nvPr/>
        </p:nvSpPr>
        <p:spPr>
          <a:xfrm>
            <a:off x="7974482" y="44348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53" name="Text 49"/>
          <p:cNvSpPr txBox="1"/>
          <p:nvPr/>
        </p:nvSpPr>
        <p:spPr>
          <a:xfrm>
            <a:off x="7194499" y="4965192"/>
            <a:ext cx="2017166" cy="566928"/>
          </a:xfrm>
          <a:prstGeom prst="rect">
            <a:avLst/>
          </a:prstGeom>
          <a:noFill/>
          <a:ln/>
        </p:spPr>
        <p:txBody>
          <a:bodyPr wrap="square" lIns="0" tIns="0" rIns="0" bIns="0" rtlCol="0" anchor="t"/>
          <a:lstStyle/>
          <a:p>
            <a:pPr marL="0" indent="0" algn="ctr">
              <a:buNone/>
            </a:pPr>
            <a:r>
              <a:rPr lang="en-US" sz="1300" dirty="0">
                <a:solidFill>
                  <a:srgbClr val="132226"/>
                </a:solidFill>
              </a:rPr>
              <a:t>Authoritative remote state</a:t>
            </a:r>
            <a:endParaRPr lang="en-US" sz="1300" dirty="0"/>
          </a:p>
        </p:txBody>
      </p:sp>
      <p:sp>
        <p:nvSpPr>
          <p:cNvPr id="54" name="step 5"/>
          <p:cNvSpPr/>
          <p:nvPr/>
        </p:nvSpPr>
        <p:spPr>
          <a:xfrm>
            <a:off x="10083089" y="4434840"/>
            <a:ext cx="457200" cy="457200"/>
          </a:xfrm>
          <a:prstGeom prst="ellipse">
            <a:avLst/>
          </a:prstGeom>
          <a:solidFill>
            <a:schemeClr val="accent3"/>
          </a:solidFill>
          <a:ln w="25400">
            <a:solidFill>
              <a:srgbClr val="FFFFFF"/>
            </a:solidFill>
            <a:prstDash val="solid"/>
          </a:ln>
        </p:spPr>
      </p:sp>
      <p:sp>
        <p:nvSpPr>
          <p:cNvPr id="55" name="Text 51"/>
          <p:cNvSpPr txBox="1"/>
          <p:nvPr/>
        </p:nvSpPr>
        <p:spPr>
          <a:xfrm>
            <a:off x="10083089" y="44348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56" name="Text 52"/>
          <p:cNvSpPr txBox="1"/>
          <p:nvPr/>
        </p:nvSpPr>
        <p:spPr>
          <a:xfrm>
            <a:off x="9303106" y="4965192"/>
            <a:ext cx="2017166" cy="566928"/>
          </a:xfrm>
          <a:prstGeom prst="rect">
            <a:avLst/>
          </a:prstGeom>
          <a:noFill/>
          <a:ln/>
        </p:spPr>
        <p:txBody>
          <a:bodyPr wrap="square" lIns="0" tIns="0" rIns="0" bIns="0" rtlCol="0" anchor="t"/>
          <a:lstStyle/>
          <a:p>
            <a:pPr marL="0" indent="0" algn="ctr">
              <a:buNone/>
            </a:pPr>
            <a:r>
              <a:rPr lang="en-US" sz="1300" dirty="0">
                <a:solidFill>
                  <a:srgbClr val="132226"/>
                </a:solidFill>
              </a:rPr>
              <a:t>Reproducible sandbox rebuild</a:t>
            </a:r>
            <a:endParaRPr lang="en-US" sz="1300" dirty="0"/>
          </a:p>
        </p:txBody>
      </p:sp>
      <p:sp>
        <p:nvSpPr>
          <p:cNvPr id="57" name="ownership strip"/>
          <p:cNvSpPr/>
          <p:nvPr/>
        </p:nvSpPr>
        <p:spPr>
          <a:xfrm>
            <a:off x="548640" y="5669280"/>
            <a:ext cx="11091672" cy="457200"/>
          </a:xfrm>
          <a:prstGeom prst="roundRect">
            <a:avLst>
              <a:gd name="adj" fmla="val 16000"/>
            </a:avLst>
          </a:prstGeom>
          <a:solidFill>
            <a:srgbClr val="FDF0DC"/>
          </a:solidFill>
          <a:ln/>
        </p:spPr>
      </p:sp>
      <p:sp>
        <p:nvSpPr>
          <p:cNvPr id="58" name="Text 54"/>
          <p:cNvSpPr txBox="1"/>
          <p:nvPr/>
        </p:nvSpPr>
        <p:spPr>
          <a:xfrm>
            <a:off x="777240" y="5669280"/>
            <a:ext cx="10698480" cy="457200"/>
          </a:xfrm>
          <a:prstGeom prst="rect">
            <a:avLst/>
          </a:prstGeom>
          <a:noFill/>
          <a:ln/>
        </p:spPr>
        <p:txBody>
          <a:bodyPr wrap="square" lIns="0" tIns="0" rIns="0" bIns="0" rtlCol="0" anchor="ctr"/>
          <a:lstStyle/>
          <a:p>
            <a:pPr marL="0" indent="0">
              <a:buNone/>
            </a:pPr>
            <a:r>
              <a:rPr lang="en-US" sz="1400" b="1" dirty="0">
                <a:solidFill>
                  <a:srgbClr val="A8620A"/>
                </a:solidFill>
              </a:rPr>
              <a:t>Clear ownership:  </a:t>
            </a:r>
            <a:r>
              <a:rPr lang="en-US" sz="1400" dirty="0">
                <a:solidFill>
                  <a:srgbClr val="132226"/>
                </a:solidFill>
              </a:rPr>
              <a:t>Terraform owns the infrastructure  ·  GitHub Actions owns application task-definition revisions</a:t>
            </a:r>
            <a:endParaRPr lang="en-US" sz="1400" dirty="0"/>
          </a:p>
        </p:txBody>
      </p:sp>
      <p:sp>
        <p:nvSpPr>
          <p:cNvPr id="59"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CI/CD pipeline — end to end</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From a git push to healthy Fargate tasks in both Availability Zones — six stages, no static AWS keys.</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M4</a:t>
            </a:r>
            <a:endParaRPr lang="en-US" sz="1200" dirty="0"/>
          </a:p>
        </p:txBody>
      </p:sp>
      <p:sp>
        <p:nvSpPr>
          <p:cNvPr id="6" name="card"/>
          <p:cNvSpPr/>
          <p:nvPr/>
        </p:nvSpPr>
        <p:spPr>
          <a:xfrm>
            <a:off x="548640" y="1463040"/>
            <a:ext cx="3887827" cy="4709160"/>
          </a:xfrm>
          <a:prstGeom prst="roundRect">
            <a:avLst>
              <a:gd name="adj" fmla="val 470"/>
            </a:avLst>
          </a:prstGeom>
          <a:solidFill>
            <a:srgbClr val="FFFFFF"/>
          </a:solidFill>
          <a:ln/>
          <a:effectLst>
            <a:outerShdw blurRad="114300" dist="25400" dir="5400000" algn="bl" rotWithShape="0">
              <a:srgbClr val="0E3B43">
                <a:alpha val="13000"/>
              </a:srgbClr>
            </a:outerShdw>
          </a:effectLst>
        </p:spPr>
      </p:sp>
      <p:pic>
        <p:nvPicPr>
          <p:cNvPr id="7" name="CI/CD architecture diagram"/>
          <p:cNvPicPr>
            <a:picLocks noChangeAspect="1"/>
          </p:cNvPicPr>
          <p:nvPr/>
        </p:nvPicPr>
        <p:blipFill>
          <a:blip r:embed="rId3"/>
          <a:srcRect/>
          <a:stretch/>
        </p:blipFill>
        <p:spPr>
          <a:xfrm>
            <a:off x="548688" y="1463040"/>
            <a:ext cx="3887731" cy="4709160"/>
          </a:xfrm>
          <a:prstGeom prst="rect">
            <a:avLst/>
          </a:prstGeom>
        </p:spPr>
      </p:pic>
      <p:sp>
        <p:nvSpPr>
          <p:cNvPr id="8" name="card"/>
          <p:cNvSpPr/>
          <p:nvPr/>
        </p:nvSpPr>
        <p:spPr>
          <a:xfrm>
            <a:off x="4710787" y="1463040"/>
            <a:ext cx="3373322"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9" name="stage 1"/>
          <p:cNvSpPr/>
          <p:nvPr/>
        </p:nvSpPr>
        <p:spPr>
          <a:xfrm>
            <a:off x="4893667" y="1627632"/>
            <a:ext cx="384048" cy="384048"/>
          </a:xfrm>
          <a:prstGeom prst="ellipse">
            <a:avLst/>
          </a:prstGeom>
          <a:solidFill>
            <a:schemeClr val="accent1"/>
          </a:solidFill>
          <a:ln/>
        </p:spPr>
      </p:sp>
      <p:sp>
        <p:nvSpPr>
          <p:cNvPr id="10" name="Text 7"/>
          <p:cNvSpPr txBox="1"/>
          <p:nvPr/>
        </p:nvSpPr>
        <p:spPr>
          <a:xfrm>
            <a:off x="4893667" y="16276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1" name="Text 8"/>
          <p:cNvSpPr txBox="1"/>
          <p:nvPr/>
        </p:nvSpPr>
        <p:spPr>
          <a:xfrm>
            <a:off x="5396587" y="1627632"/>
            <a:ext cx="2550362" cy="384048"/>
          </a:xfrm>
          <a:prstGeom prst="rect">
            <a:avLst/>
          </a:prstGeom>
          <a:noFill/>
          <a:ln/>
        </p:spPr>
        <p:txBody>
          <a:bodyPr wrap="square" lIns="0" tIns="0" rIns="0" bIns="0" rtlCol="0" anchor="ctr"/>
          <a:lstStyle/>
          <a:p>
            <a:pPr marL="0" indent="0">
              <a:buNone/>
            </a:pPr>
            <a:r>
              <a:rPr lang="en-US" sz="1500" b="1" dirty="0">
                <a:solidFill>
                  <a:srgbClr val="132226"/>
                </a:solidFill>
              </a:rPr>
              <a:t>Source</a:t>
            </a:r>
            <a:endParaRPr lang="en-US" sz="1500" dirty="0"/>
          </a:p>
        </p:txBody>
      </p:sp>
      <p:sp>
        <p:nvSpPr>
          <p:cNvPr id="12" name="Text 9"/>
          <p:cNvSpPr txBox="1"/>
          <p:nvPr/>
        </p:nvSpPr>
        <p:spPr>
          <a:xfrm>
            <a:off x="4893667" y="2121408"/>
            <a:ext cx="3007562" cy="713232"/>
          </a:xfrm>
          <a:prstGeom prst="rect">
            <a:avLst/>
          </a:prstGeom>
          <a:noFill/>
          <a:ln/>
        </p:spPr>
        <p:txBody>
          <a:bodyPr wrap="square" lIns="0" tIns="0" rIns="0" bIns="0" rtlCol="0" anchor="t"/>
          <a:lstStyle/>
          <a:p>
            <a:pPr marL="0" indent="0">
              <a:buNone/>
            </a:pPr>
            <a:r>
              <a:rPr lang="en-US" sz="1400" dirty="0">
                <a:solidFill>
                  <a:srgbClr val="4A5B5E"/>
                </a:solidFill>
              </a:rPr>
              <a:t>Developer pushes to the main branch of the GitHub repository</a:t>
            </a:r>
            <a:endParaRPr lang="en-US" sz="1400" dirty="0"/>
          </a:p>
        </p:txBody>
      </p:sp>
      <p:sp>
        <p:nvSpPr>
          <p:cNvPr id="13" name="card"/>
          <p:cNvSpPr/>
          <p:nvPr/>
        </p:nvSpPr>
        <p:spPr>
          <a:xfrm>
            <a:off x="8266990" y="1463040"/>
            <a:ext cx="3373322"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14" name="stage 2"/>
          <p:cNvSpPr/>
          <p:nvPr/>
        </p:nvSpPr>
        <p:spPr>
          <a:xfrm>
            <a:off x="8449870" y="1627632"/>
            <a:ext cx="384048" cy="384048"/>
          </a:xfrm>
          <a:prstGeom prst="ellipse">
            <a:avLst/>
          </a:prstGeom>
          <a:solidFill>
            <a:schemeClr val="accent1"/>
          </a:solidFill>
          <a:ln/>
        </p:spPr>
      </p:sp>
      <p:sp>
        <p:nvSpPr>
          <p:cNvPr id="15" name="Text 12"/>
          <p:cNvSpPr txBox="1"/>
          <p:nvPr/>
        </p:nvSpPr>
        <p:spPr>
          <a:xfrm>
            <a:off x="8449870" y="16276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6" name="Text 13"/>
          <p:cNvSpPr txBox="1"/>
          <p:nvPr/>
        </p:nvSpPr>
        <p:spPr>
          <a:xfrm>
            <a:off x="8952790" y="1627632"/>
            <a:ext cx="2550362" cy="384048"/>
          </a:xfrm>
          <a:prstGeom prst="rect">
            <a:avLst/>
          </a:prstGeom>
          <a:noFill/>
          <a:ln/>
        </p:spPr>
        <p:txBody>
          <a:bodyPr wrap="square" lIns="0" tIns="0" rIns="0" bIns="0" rtlCol="0" anchor="ctr"/>
          <a:lstStyle/>
          <a:p>
            <a:pPr marL="0" indent="0">
              <a:buNone/>
            </a:pPr>
            <a:r>
              <a:rPr lang="en-US" sz="1500" b="1" dirty="0">
                <a:solidFill>
                  <a:srgbClr val="132226"/>
                </a:solidFill>
              </a:rPr>
              <a:t>Build &amp; CI</a:t>
            </a:r>
            <a:endParaRPr lang="en-US" sz="1500" dirty="0"/>
          </a:p>
        </p:txBody>
      </p:sp>
      <p:sp>
        <p:nvSpPr>
          <p:cNvPr id="17" name="Text 14"/>
          <p:cNvSpPr txBox="1"/>
          <p:nvPr/>
        </p:nvSpPr>
        <p:spPr>
          <a:xfrm>
            <a:off x="8449870" y="2121408"/>
            <a:ext cx="3007562" cy="713232"/>
          </a:xfrm>
          <a:prstGeom prst="rect">
            <a:avLst/>
          </a:prstGeom>
          <a:noFill/>
          <a:ln/>
        </p:spPr>
        <p:txBody>
          <a:bodyPr wrap="square" lIns="0" tIns="0" rIns="0" bIns="0" rtlCol="0" anchor="t"/>
          <a:lstStyle/>
          <a:p>
            <a:pPr marL="0" indent="0">
              <a:buNone/>
            </a:pPr>
            <a:r>
              <a:rPr lang="en-US" sz="1400" dirty="0">
                <a:solidFill>
                  <a:srgbClr val="4A5B5E"/>
                </a:solidFill>
              </a:rPr>
              <a:t>GitHub Actions workflow starts automatically on every push</a:t>
            </a:r>
            <a:endParaRPr lang="en-US" sz="1400" dirty="0"/>
          </a:p>
        </p:txBody>
      </p:sp>
      <p:sp>
        <p:nvSpPr>
          <p:cNvPr id="18" name="card"/>
          <p:cNvSpPr/>
          <p:nvPr/>
        </p:nvSpPr>
        <p:spPr>
          <a:xfrm>
            <a:off x="4710787" y="3063240"/>
            <a:ext cx="3373322"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19" name="stage 3"/>
          <p:cNvSpPr/>
          <p:nvPr/>
        </p:nvSpPr>
        <p:spPr>
          <a:xfrm>
            <a:off x="4893667" y="3227832"/>
            <a:ext cx="384048" cy="384048"/>
          </a:xfrm>
          <a:prstGeom prst="ellipse">
            <a:avLst/>
          </a:prstGeom>
          <a:solidFill>
            <a:schemeClr val="accent1"/>
          </a:solidFill>
          <a:ln/>
        </p:spPr>
      </p:sp>
      <p:sp>
        <p:nvSpPr>
          <p:cNvPr id="20" name="Text 17"/>
          <p:cNvSpPr txBox="1"/>
          <p:nvPr/>
        </p:nvSpPr>
        <p:spPr>
          <a:xfrm>
            <a:off x="4893667" y="32278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1" name="Text 18"/>
          <p:cNvSpPr txBox="1"/>
          <p:nvPr/>
        </p:nvSpPr>
        <p:spPr>
          <a:xfrm>
            <a:off x="5396587" y="3227832"/>
            <a:ext cx="2550362" cy="384048"/>
          </a:xfrm>
          <a:prstGeom prst="rect">
            <a:avLst/>
          </a:prstGeom>
          <a:noFill/>
          <a:ln/>
        </p:spPr>
        <p:txBody>
          <a:bodyPr wrap="square" lIns="0" tIns="0" rIns="0" bIns="0" rtlCol="0" anchor="ctr"/>
          <a:lstStyle/>
          <a:p>
            <a:pPr marL="0" indent="0">
              <a:buNone/>
            </a:pPr>
            <a:r>
              <a:rPr lang="en-US" sz="1500" b="1" dirty="0">
                <a:solidFill>
                  <a:srgbClr val="132226"/>
                </a:solidFill>
              </a:rPr>
              <a:t>Identity</a:t>
            </a:r>
            <a:endParaRPr lang="en-US" sz="1500" dirty="0"/>
          </a:p>
        </p:txBody>
      </p:sp>
      <p:sp>
        <p:nvSpPr>
          <p:cNvPr id="22" name="Text 19"/>
          <p:cNvSpPr txBox="1"/>
          <p:nvPr/>
        </p:nvSpPr>
        <p:spPr>
          <a:xfrm>
            <a:off x="4893667" y="3721608"/>
            <a:ext cx="3007562" cy="713232"/>
          </a:xfrm>
          <a:prstGeom prst="rect">
            <a:avLst/>
          </a:prstGeom>
          <a:noFill/>
          <a:ln/>
        </p:spPr>
        <p:txBody>
          <a:bodyPr wrap="square" lIns="0" tIns="0" rIns="0" bIns="0" rtlCol="0" anchor="t"/>
          <a:lstStyle/>
          <a:p>
            <a:pPr marL="0" indent="0">
              <a:buNone/>
            </a:pPr>
            <a:r>
              <a:rPr lang="en-US" sz="1400" dirty="0">
                <a:solidFill>
                  <a:srgbClr val="4A5B5E"/>
                </a:solidFill>
              </a:rPr>
              <a:t>OIDC token → IAM OIDC provider → deployment role; no static keys</a:t>
            </a:r>
            <a:endParaRPr lang="en-US" sz="1400" dirty="0"/>
          </a:p>
        </p:txBody>
      </p:sp>
      <p:sp>
        <p:nvSpPr>
          <p:cNvPr id="23" name="card"/>
          <p:cNvSpPr/>
          <p:nvPr/>
        </p:nvSpPr>
        <p:spPr>
          <a:xfrm>
            <a:off x="8266990" y="3063240"/>
            <a:ext cx="3373322"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24" name="stage 4"/>
          <p:cNvSpPr/>
          <p:nvPr/>
        </p:nvSpPr>
        <p:spPr>
          <a:xfrm>
            <a:off x="8449870" y="3227832"/>
            <a:ext cx="384048" cy="384048"/>
          </a:xfrm>
          <a:prstGeom prst="ellipse">
            <a:avLst/>
          </a:prstGeom>
          <a:solidFill>
            <a:schemeClr val="accent1"/>
          </a:solidFill>
          <a:ln/>
        </p:spPr>
      </p:sp>
      <p:sp>
        <p:nvSpPr>
          <p:cNvPr id="25" name="Text 22"/>
          <p:cNvSpPr txBox="1"/>
          <p:nvPr/>
        </p:nvSpPr>
        <p:spPr>
          <a:xfrm>
            <a:off x="8449870" y="32278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6" name="Text 23"/>
          <p:cNvSpPr txBox="1"/>
          <p:nvPr/>
        </p:nvSpPr>
        <p:spPr>
          <a:xfrm>
            <a:off x="8952790" y="3227832"/>
            <a:ext cx="2550362" cy="384048"/>
          </a:xfrm>
          <a:prstGeom prst="rect">
            <a:avLst/>
          </a:prstGeom>
          <a:noFill/>
          <a:ln/>
        </p:spPr>
        <p:txBody>
          <a:bodyPr wrap="square" lIns="0" tIns="0" rIns="0" bIns="0" rtlCol="0" anchor="ctr"/>
          <a:lstStyle/>
          <a:p>
            <a:pPr marL="0" indent="0">
              <a:buNone/>
            </a:pPr>
            <a:r>
              <a:rPr lang="en-US" sz="1500" b="1" dirty="0">
                <a:solidFill>
                  <a:srgbClr val="132226"/>
                </a:solidFill>
              </a:rPr>
              <a:t>Build &amp; registry</a:t>
            </a:r>
            <a:endParaRPr lang="en-US" sz="1500" dirty="0"/>
          </a:p>
        </p:txBody>
      </p:sp>
      <p:sp>
        <p:nvSpPr>
          <p:cNvPr id="27" name="Text 24"/>
          <p:cNvSpPr txBox="1"/>
          <p:nvPr/>
        </p:nvSpPr>
        <p:spPr>
          <a:xfrm>
            <a:off x="8449870" y="3721608"/>
            <a:ext cx="3007562" cy="713232"/>
          </a:xfrm>
          <a:prstGeom prst="rect">
            <a:avLst/>
          </a:prstGeom>
          <a:noFill/>
          <a:ln/>
        </p:spPr>
        <p:txBody>
          <a:bodyPr wrap="square" lIns="0" tIns="0" rIns="0" bIns="0" rtlCol="0" anchor="t"/>
          <a:lstStyle/>
          <a:p>
            <a:pPr marL="0" indent="0">
              <a:buNone/>
            </a:pPr>
            <a:r>
              <a:rPr lang="en-US" sz="1400" dirty="0">
                <a:solidFill>
                  <a:srgbClr val="4A5B5E"/>
                </a:solidFill>
              </a:rPr>
              <a:t>Docker image built, tagged with the Git SHA and pushed to ECR</a:t>
            </a:r>
            <a:endParaRPr lang="en-US" sz="1400" dirty="0"/>
          </a:p>
        </p:txBody>
      </p:sp>
      <p:sp>
        <p:nvSpPr>
          <p:cNvPr id="28" name="card"/>
          <p:cNvSpPr/>
          <p:nvPr/>
        </p:nvSpPr>
        <p:spPr>
          <a:xfrm>
            <a:off x="4710787" y="4663440"/>
            <a:ext cx="3373322"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29" name="stage 5"/>
          <p:cNvSpPr/>
          <p:nvPr/>
        </p:nvSpPr>
        <p:spPr>
          <a:xfrm>
            <a:off x="4893667" y="4828032"/>
            <a:ext cx="384048" cy="384048"/>
          </a:xfrm>
          <a:prstGeom prst="ellipse">
            <a:avLst/>
          </a:prstGeom>
          <a:solidFill>
            <a:schemeClr val="accent1"/>
          </a:solidFill>
          <a:ln/>
        </p:spPr>
      </p:sp>
      <p:sp>
        <p:nvSpPr>
          <p:cNvPr id="30" name="Text 27"/>
          <p:cNvSpPr txBox="1"/>
          <p:nvPr/>
        </p:nvSpPr>
        <p:spPr>
          <a:xfrm>
            <a:off x="4893667" y="48280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31" name="Text 28"/>
          <p:cNvSpPr txBox="1"/>
          <p:nvPr/>
        </p:nvSpPr>
        <p:spPr>
          <a:xfrm>
            <a:off x="5396587" y="4828032"/>
            <a:ext cx="2550362" cy="384048"/>
          </a:xfrm>
          <a:prstGeom prst="rect">
            <a:avLst/>
          </a:prstGeom>
          <a:noFill/>
          <a:ln/>
        </p:spPr>
        <p:txBody>
          <a:bodyPr wrap="square" lIns="0" tIns="0" rIns="0" bIns="0" rtlCol="0" anchor="ctr"/>
          <a:lstStyle/>
          <a:p>
            <a:pPr marL="0" indent="0">
              <a:buNone/>
            </a:pPr>
            <a:r>
              <a:rPr lang="en-US" sz="1500" b="1" dirty="0">
                <a:solidFill>
                  <a:srgbClr val="132226"/>
                </a:solidFill>
              </a:rPr>
              <a:t>Deployment</a:t>
            </a:r>
            <a:endParaRPr lang="en-US" sz="1500" dirty="0"/>
          </a:p>
        </p:txBody>
      </p:sp>
      <p:sp>
        <p:nvSpPr>
          <p:cNvPr id="32" name="Text 29"/>
          <p:cNvSpPr txBox="1"/>
          <p:nvPr/>
        </p:nvSpPr>
        <p:spPr>
          <a:xfrm>
            <a:off x="4893667" y="5321808"/>
            <a:ext cx="3007562" cy="713232"/>
          </a:xfrm>
          <a:prstGeom prst="rect">
            <a:avLst/>
          </a:prstGeom>
          <a:noFill/>
          <a:ln/>
        </p:spPr>
        <p:txBody>
          <a:bodyPr wrap="square" lIns="0" tIns="0" rIns="0" bIns="0" rtlCol="0" anchor="t"/>
          <a:lstStyle/>
          <a:p>
            <a:pPr marL="0" indent="0">
              <a:buNone/>
            </a:pPr>
            <a:r>
              <a:rPr lang="en-US" sz="1400" dirty="0">
                <a:solidFill>
                  <a:srgbClr val="4A5B5E"/>
                </a:solidFill>
              </a:rPr>
              <a:t>New task-definition revision; the ECS Fargate service rolls it out</a:t>
            </a:r>
            <a:endParaRPr lang="en-US" sz="1400" dirty="0"/>
          </a:p>
        </p:txBody>
      </p:sp>
      <p:sp>
        <p:nvSpPr>
          <p:cNvPr id="33" name="card"/>
          <p:cNvSpPr/>
          <p:nvPr/>
        </p:nvSpPr>
        <p:spPr>
          <a:xfrm>
            <a:off x="8266990" y="4663440"/>
            <a:ext cx="3373322"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34" name="stage 6"/>
          <p:cNvSpPr/>
          <p:nvPr/>
        </p:nvSpPr>
        <p:spPr>
          <a:xfrm>
            <a:off x="8449870" y="4828032"/>
            <a:ext cx="384048" cy="384048"/>
          </a:xfrm>
          <a:prstGeom prst="ellipse">
            <a:avLst/>
          </a:prstGeom>
          <a:solidFill>
            <a:schemeClr val="accent3"/>
          </a:solidFill>
          <a:ln/>
        </p:spPr>
      </p:sp>
      <p:sp>
        <p:nvSpPr>
          <p:cNvPr id="35" name="Text 32"/>
          <p:cNvSpPr txBox="1"/>
          <p:nvPr/>
        </p:nvSpPr>
        <p:spPr>
          <a:xfrm>
            <a:off x="8449870" y="48280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6" name="Text 33"/>
          <p:cNvSpPr txBox="1"/>
          <p:nvPr/>
        </p:nvSpPr>
        <p:spPr>
          <a:xfrm>
            <a:off x="8952790" y="4828032"/>
            <a:ext cx="2550362" cy="384048"/>
          </a:xfrm>
          <a:prstGeom prst="rect">
            <a:avLst/>
          </a:prstGeom>
          <a:noFill/>
          <a:ln/>
        </p:spPr>
        <p:txBody>
          <a:bodyPr wrap="square" lIns="0" tIns="0" rIns="0" bIns="0" rtlCol="0" anchor="ctr"/>
          <a:lstStyle/>
          <a:p>
            <a:pPr marL="0" indent="0">
              <a:buNone/>
            </a:pPr>
            <a:r>
              <a:rPr lang="en-US" sz="1500" b="1" dirty="0">
                <a:solidFill>
                  <a:srgbClr val="132226"/>
                </a:solidFill>
              </a:rPr>
              <a:t>Runtime</a:t>
            </a:r>
            <a:endParaRPr lang="en-US" sz="1500" dirty="0"/>
          </a:p>
        </p:txBody>
      </p:sp>
      <p:sp>
        <p:nvSpPr>
          <p:cNvPr id="37" name="Text 34"/>
          <p:cNvSpPr txBox="1"/>
          <p:nvPr/>
        </p:nvSpPr>
        <p:spPr>
          <a:xfrm>
            <a:off x="8449870" y="5321808"/>
            <a:ext cx="3007562" cy="713232"/>
          </a:xfrm>
          <a:prstGeom prst="rect">
            <a:avLst/>
          </a:prstGeom>
          <a:noFill/>
          <a:ln/>
        </p:spPr>
        <p:txBody>
          <a:bodyPr wrap="square" lIns="0" tIns="0" rIns="0" bIns="0" rtlCol="0" anchor="t"/>
          <a:lstStyle/>
          <a:p>
            <a:pPr marL="0" indent="0">
              <a:buNone/>
            </a:pPr>
            <a:r>
              <a:rPr lang="en-US" sz="1400" dirty="0">
                <a:solidFill>
                  <a:srgbClr val="4A5B5E"/>
                </a:solidFill>
              </a:rPr>
              <a:t>ALB → target group → healthy Fargate tasks in both AZs (desired 2)</a:t>
            </a:r>
            <a:endParaRPr lang="en-US" sz="1400" dirty="0"/>
          </a:p>
        </p:txBody>
      </p:sp>
      <p:sp>
        <p:nvSpPr>
          <p:cNvPr id="38"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Checkpoint — Milestones 1–4 complete</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Where the platform stood before data and edge security were added.</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M1–M4</a:t>
            </a:r>
            <a:endParaRPr lang="en-US" sz="1200" dirty="0"/>
          </a:p>
        </p:txBody>
      </p:sp>
      <p:sp>
        <p:nvSpPr>
          <p:cNvPr id="6" name="card"/>
          <p:cNvSpPr/>
          <p:nvPr/>
        </p:nvSpPr>
        <p:spPr>
          <a:xfrm>
            <a:off x="548640" y="1463040"/>
            <a:ext cx="6949440" cy="4402675"/>
          </a:xfrm>
          <a:prstGeom prst="roundRect">
            <a:avLst>
              <a:gd name="adj" fmla="val 415"/>
            </a:avLst>
          </a:prstGeom>
          <a:solidFill>
            <a:srgbClr val="FFFFFF"/>
          </a:solidFill>
          <a:ln/>
          <a:effectLst>
            <a:outerShdw blurRad="114300" dist="25400" dir="5400000" algn="bl" rotWithShape="0">
              <a:srgbClr val="0E3B43">
                <a:alpha val="13000"/>
              </a:srgbClr>
            </a:outerShdw>
          </a:effectLst>
        </p:spPr>
      </p:sp>
      <p:pic>
        <p:nvPicPr>
          <p:cNvPr id="7" name="Milestones 1-4 architecture diagram"/>
          <p:cNvPicPr>
            <a:picLocks noChangeAspect="1"/>
          </p:cNvPicPr>
          <p:nvPr/>
        </p:nvPicPr>
        <p:blipFill>
          <a:blip r:embed="rId3"/>
          <a:srcRect/>
          <a:stretch/>
        </p:blipFill>
        <p:spPr>
          <a:xfrm>
            <a:off x="548640" y="1708808"/>
            <a:ext cx="6949440" cy="3911138"/>
          </a:xfrm>
          <a:prstGeom prst="rect">
            <a:avLst/>
          </a:prstGeom>
        </p:spPr>
      </p:pic>
      <p:sp>
        <p:nvSpPr>
          <p:cNvPr id="8" name="Text 5"/>
          <p:cNvSpPr txBox="1"/>
          <p:nvPr/>
        </p:nvSpPr>
        <p:spPr>
          <a:xfrm>
            <a:off x="548640" y="5975443"/>
            <a:ext cx="6949440" cy="457200"/>
          </a:xfrm>
          <a:prstGeom prst="rect">
            <a:avLst/>
          </a:prstGeom>
          <a:noFill/>
          <a:ln/>
        </p:spPr>
        <p:txBody>
          <a:bodyPr wrap="square" lIns="0" tIns="0" rIns="0" bIns="0" rtlCol="0" anchor="t"/>
          <a:lstStyle/>
          <a:p>
            <a:pPr marL="0" indent="0">
              <a:buNone/>
            </a:pPr>
            <a:r>
              <a:rPr lang="en-US" sz="1200" i="1" dirty="0">
                <a:solidFill>
                  <a:srgbClr val="6B7C7F"/>
                </a:solidFill>
              </a:rPr>
              <a:t>Snapshot before M5–M6: the ALB was still internet-facing and the DB subnets were empty.</a:t>
            </a:r>
            <a:endParaRPr lang="en-US" sz="1200" dirty="0"/>
          </a:p>
        </p:txBody>
      </p:sp>
      <p:sp>
        <p:nvSpPr>
          <p:cNvPr id="9" name="card"/>
          <p:cNvSpPr/>
          <p:nvPr/>
        </p:nvSpPr>
        <p:spPr>
          <a:xfrm>
            <a:off x="7772400" y="1463040"/>
            <a:ext cx="3867912" cy="1014984"/>
          </a:xfrm>
          <a:prstGeom prst="roundRect">
            <a:avLst>
              <a:gd name="adj" fmla="val 9009"/>
            </a:avLst>
          </a:prstGeom>
          <a:solidFill>
            <a:srgbClr val="FFFFFF"/>
          </a:solidFill>
          <a:ln/>
          <a:effectLst>
            <a:outerShdw blurRad="114300" dist="25400" dir="5400000" algn="bl" rotWithShape="0">
              <a:srgbClr val="0E3B43">
                <a:alpha val="13000"/>
              </a:srgbClr>
            </a:outerShdw>
          </a:effectLst>
        </p:spPr>
      </p:sp>
      <p:sp>
        <p:nvSpPr>
          <p:cNvPr id="10" name="milestone M1"/>
          <p:cNvSpPr/>
          <p:nvPr/>
        </p:nvSpPr>
        <p:spPr>
          <a:xfrm>
            <a:off x="7955280" y="1709928"/>
            <a:ext cx="512064" cy="512064"/>
          </a:xfrm>
          <a:prstGeom prst="ellipse">
            <a:avLst/>
          </a:prstGeom>
          <a:solidFill>
            <a:schemeClr val="tx2"/>
          </a:solidFill>
          <a:ln/>
        </p:spPr>
      </p:sp>
      <p:sp>
        <p:nvSpPr>
          <p:cNvPr id="11" name="Text 8"/>
          <p:cNvSpPr txBox="1"/>
          <p:nvPr/>
        </p:nvSpPr>
        <p:spPr>
          <a:xfrm>
            <a:off x="7955280" y="1709928"/>
            <a:ext cx="512064" cy="512064"/>
          </a:xfrm>
          <a:prstGeom prst="rect">
            <a:avLst/>
          </a:prstGeom>
          <a:noFill/>
          <a:ln/>
        </p:spPr>
        <p:txBody>
          <a:bodyPr wrap="square" lIns="0" tIns="0" rIns="0" bIns="0" rtlCol="0" anchor="ctr"/>
          <a:lstStyle/>
          <a:p>
            <a:pPr marL="0" indent="0" algn="ctr">
              <a:buNone/>
            </a:pPr>
            <a:r>
              <a:rPr lang="en-US" sz="1300" b="1" dirty="0">
                <a:solidFill>
                  <a:srgbClr val="F2A541"/>
                </a:solidFill>
              </a:rPr>
              <a:t>M1</a:t>
            </a:r>
            <a:endParaRPr lang="en-US" sz="1300" dirty="0"/>
          </a:p>
        </p:txBody>
      </p:sp>
      <p:sp>
        <p:nvSpPr>
          <p:cNvPr id="12" name="Text 9"/>
          <p:cNvSpPr txBox="1"/>
          <p:nvPr/>
        </p:nvSpPr>
        <p:spPr>
          <a:xfrm>
            <a:off x="8641080" y="1591056"/>
            <a:ext cx="2880360" cy="292608"/>
          </a:xfrm>
          <a:prstGeom prst="rect">
            <a:avLst/>
          </a:prstGeom>
          <a:noFill/>
          <a:ln/>
        </p:spPr>
        <p:txBody>
          <a:bodyPr wrap="square" lIns="0" tIns="0" rIns="0" bIns="0" rtlCol="0" anchor="t"/>
          <a:lstStyle/>
          <a:p>
            <a:pPr marL="0" indent="0">
              <a:buNone/>
            </a:pPr>
            <a:r>
              <a:rPr lang="en-US" sz="1500" b="1" dirty="0">
                <a:solidFill>
                  <a:srgbClr val="132226"/>
                </a:solidFill>
              </a:rPr>
              <a:t>Foundation &amp; networking</a:t>
            </a:r>
            <a:endParaRPr lang="en-US" sz="1500" dirty="0"/>
          </a:p>
        </p:txBody>
      </p:sp>
      <p:sp>
        <p:nvSpPr>
          <p:cNvPr id="13" name="Text 10"/>
          <p:cNvSpPr txBox="1"/>
          <p:nvPr/>
        </p:nvSpPr>
        <p:spPr>
          <a:xfrm>
            <a:off x="8641080" y="1892808"/>
            <a:ext cx="2926080" cy="548640"/>
          </a:xfrm>
          <a:prstGeom prst="rect">
            <a:avLst/>
          </a:prstGeom>
          <a:noFill/>
          <a:ln/>
        </p:spPr>
        <p:txBody>
          <a:bodyPr wrap="square" lIns="0" tIns="0" rIns="0" bIns="0" rtlCol="0" anchor="t"/>
          <a:lstStyle/>
          <a:p>
            <a:pPr marL="0" indent="0">
              <a:buNone/>
            </a:pPr>
            <a:r>
              <a:rPr lang="en-US" sz="1400" dirty="0">
                <a:solidFill>
                  <a:srgbClr val="4A5B5E"/>
                </a:solidFill>
              </a:rPr>
              <a:t>VPC, 6 subnets in 2 AZs, IGW, NAT gateways, route tables</a:t>
            </a:r>
            <a:endParaRPr lang="en-US" sz="1400" dirty="0"/>
          </a:p>
        </p:txBody>
      </p:sp>
      <p:sp>
        <p:nvSpPr>
          <p:cNvPr id="14" name="card"/>
          <p:cNvSpPr/>
          <p:nvPr/>
        </p:nvSpPr>
        <p:spPr>
          <a:xfrm>
            <a:off x="7772400" y="2642616"/>
            <a:ext cx="3867912" cy="1014984"/>
          </a:xfrm>
          <a:prstGeom prst="roundRect">
            <a:avLst>
              <a:gd name="adj" fmla="val 9009"/>
            </a:avLst>
          </a:prstGeom>
          <a:solidFill>
            <a:srgbClr val="FFFFFF"/>
          </a:solidFill>
          <a:ln/>
          <a:effectLst>
            <a:outerShdw blurRad="114300" dist="25400" dir="5400000" algn="bl" rotWithShape="0">
              <a:srgbClr val="0E3B43">
                <a:alpha val="13000"/>
              </a:srgbClr>
            </a:outerShdw>
          </a:effectLst>
        </p:spPr>
      </p:sp>
      <p:sp>
        <p:nvSpPr>
          <p:cNvPr id="15" name="milestone M2"/>
          <p:cNvSpPr/>
          <p:nvPr/>
        </p:nvSpPr>
        <p:spPr>
          <a:xfrm>
            <a:off x="7955280" y="2889504"/>
            <a:ext cx="512064" cy="512064"/>
          </a:xfrm>
          <a:prstGeom prst="ellipse">
            <a:avLst/>
          </a:prstGeom>
          <a:solidFill>
            <a:schemeClr val="tx2"/>
          </a:solidFill>
          <a:ln/>
        </p:spPr>
      </p:sp>
      <p:sp>
        <p:nvSpPr>
          <p:cNvPr id="16" name="Text 13"/>
          <p:cNvSpPr txBox="1"/>
          <p:nvPr/>
        </p:nvSpPr>
        <p:spPr>
          <a:xfrm>
            <a:off x="7955280" y="2889504"/>
            <a:ext cx="512064" cy="512064"/>
          </a:xfrm>
          <a:prstGeom prst="rect">
            <a:avLst/>
          </a:prstGeom>
          <a:noFill/>
          <a:ln/>
        </p:spPr>
        <p:txBody>
          <a:bodyPr wrap="square" lIns="0" tIns="0" rIns="0" bIns="0" rtlCol="0" anchor="ctr"/>
          <a:lstStyle/>
          <a:p>
            <a:pPr marL="0" indent="0" algn="ctr">
              <a:buNone/>
            </a:pPr>
            <a:r>
              <a:rPr lang="en-US" sz="1300" b="1" dirty="0">
                <a:solidFill>
                  <a:srgbClr val="F2A541"/>
                </a:solidFill>
              </a:rPr>
              <a:t>M2</a:t>
            </a:r>
            <a:endParaRPr lang="en-US" sz="1300" dirty="0"/>
          </a:p>
        </p:txBody>
      </p:sp>
      <p:sp>
        <p:nvSpPr>
          <p:cNvPr id="17" name="Text 14"/>
          <p:cNvSpPr txBox="1"/>
          <p:nvPr/>
        </p:nvSpPr>
        <p:spPr>
          <a:xfrm>
            <a:off x="8641080" y="2770632"/>
            <a:ext cx="2880360" cy="292608"/>
          </a:xfrm>
          <a:prstGeom prst="rect">
            <a:avLst/>
          </a:prstGeom>
          <a:noFill/>
          <a:ln/>
        </p:spPr>
        <p:txBody>
          <a:bodyPr wrap="square" lIns="0" tIns="0" rIns="0" bIns="0" rtlCol="0" anchor="t"/>
          <a:lstStyle/>
          <a:p>
            <a:pPr marL="0" indent="0">
              <a:buNone/>
            </a:pPr>
            <a:r>
              <a:rPr lang="en-US" sz="1500" b="1" dirty="0">
                <a:solidFill>
                  <a:srgbClr val="132226"/>
                </a:solidFill>
              </a:rPr>
              <a:t>Docker, ECR &amp; Fargate</a:t>
            </a:r>
            <a:endParaRPr lang="en-US" sz="1500" dirty="0"/>
          </a:p>
        </p:txBody>
      </p:sp>
      <p:sp>
        <p:nvSpPr>
          <p:cNvPr id="18" name="Text 15"/>
          <p:cNvSpPr txBox="1"/>
          <p:nvPr/>
        </p:nvSpPr>
        <p:spPr>
          <a:xfrm>
            <a:off x="8641080" y="3072384"/>
            <a:ext cx="2926080" cy="548640"/>
          </a:xfrm>
          <a:prstGeom prst="rect">
            <a:avLst/>
          </a:prstGeom>
          <a:noFill/>
          <a:ln/>
        </p:spPr>
        <p:txBody>
          <a:bodyPr wrap="square" lIns="0" tIns="0" rIns="0" bIns="0" rtlCol="0" anchor="t"/>
          <a:lstStyle/>
          <a:p>
            <a:pPr marL="0" indent="0">
              <a:buNone/>
            </a:pPr>
            <a:r>
              <a:rPr lang="en-US" sz="1400" dirty="0">
                <a:solidFill>
                  <a:srgbClr val="4A5B5E"/>
                </a:solidFill>
              </a:rPr>
              <a:t>Containerised app, private ECR, ECS cluster and service</a:t>
            </a:r>
            <a:endParaRPr lang="en-US" sz="1400" dirty="0"/>
          </a:p>
        </p:txBody>
      </p:sp>
      <p:sp>
        <p:nvSpPr>
          <p:cNvPr id="19" name="card"/>
          <p:cNvSpPr/>
          <p:nvPr/>
        </p:nvSpPr>
        <p:spPr>
          <a:xfrm>
            <a:off x="7772400" y="3822192"/>
            <a:ext cx="3867912" cy="1014984"/>
          </a:xfrm>
          <a:prstGeom prst="roundRect">
            <a:avLst>
              <a:gd name="adj" fmla="val 9009"/>
            </a:avLst>
          </a:prstGeom>
          <a:solidFill>
            <a:srgbClr val="FFFFFF"/>
          </a:solidFill>
          <a:ln/>
          <a:effectLst>
            <a:outerShdw blurRad="114300" dist="25400" dir="5400000" algn="bl" rotWithShape="0">
              <a:srgbClr val="0E3B43">
                <a:alpha val="13000"/>
              </a:srgbClr>
            </a:outerShdw>
          </a:effectLst>
        </p:spPr>
      </p:sp>
      <p:sp>
        <p:nvSpPr>
          <p:cNvPr id="20" name="milestone M3"/>
          <p:cNvSpPr/>
          <p:nvPr/>
        </p:nvSpPr>
        <p:spPr>
          <a:xfrm>
            <a:off x="7955280" y="4069080"/>
            <a:ext cx="512064" cy="512064"/>
          </a:xfrm>
          <a:prstGeom prst="ellipse">
            <a:avLst/>
          </a:prstGeom>
          <a:solidFill>
            <a:schemeClr val="tx2"/>
          </a:solidFill>
          <a:ln/>
        </p:spPr>
      </p:sp>
      <p:sp>
        <p:nvSpPr>
          <p:cNvPr id="21" name="Text 18"/>
          <p:cNvSpPr txBox="1"/>
          <p:nvPr/>
        </p:nvSpPr>
        <p:spPr>
          <a:xfrm>
            <a:off x="7955280" y="4069080"/>
            <a:ext cx="512064" cy="512064"/>
          </a:xfrm>
          <a:prstGeom prst="rect">
            <a:avLst/>
          </a:prstGeom>
          <a:noFill/>
          <a:ln/>
        </p:spPr>
        <p:txBody>
          <a:bodyPr wrap="square" lIns="0" tIns="0" rIns="0" bIns="0" rtlCol="0" anchor="ctr"/>
          <a:lstStyle/>
          <a:p>
            <a:pPr marL="0" indent="0" algn="ctr">
              <a:buNone/>
            </a:pPr>
            <a:r>
              <a:rPr lang="en-US" sz="1300" b="1" dirty="0">
                <a:solidFill>
                  <a:srgbClr val="F2A541"/>
                </a:solidFill>
              </a:rPr>
              <a:t>M3</a:t>
            </a:r>
            <a:endParaRPr lang="en-US" sz="1300" dirty="0"/>
          </a:p>
        </p:txBody>
      </p:sp>
      <p:sp>
        <p:nvSpPr>
          <p:cNvPr id="22" name="Text 19"/>
          <p:cNvSpPr txBox="1"/>
          <p:nvPr/>
        </p:nvSpPr>
        <p:spPr>
          <a:xfrm>
            <a:off x="8641080" y="3950208"/>
            <a:ext cx="2880360" cy="292608"/>
          </a:xfrm>
          <a:prstGeom prst="rect">
            <a:avLst/>
          </a:prstGeom>
          <a:noFill/>
          <a:ln/>
        </p:spPr>
        <p:txBody>
          <a:bodyPr wrap="square" lIns="0" tIns="0" rIns="0" bIns="0" rtlCol="0" anchor="t"/>
          <a:lstStyle/>
          <a:p>
            <a:pPr marL="0" indent="0">
              <a:buNone/>
            </a:pPr>
            <a:r>
              <a:rPr lang="en-US" sz="1500" b="1" dirty="0">
                <a:solidFill>
                  <a:srgbClr val="132226"/>
                </a:solidFill>
              </a:rPr>
              <a:t>ALB, Multi-AZ &amp; scaling</a:t>
            </a:r>
            <a:endParaRPr lang="en-US" sz="1500" dirty="0"/>
          </a:p>
        </p:txBody>
      </p:sp>
      <p:sp>
        <p:nvSpPr>
          <p:cNvPr id="23" name="Text 20"/>
          <p:cNvSpPr txBox="1"/>
          <p:nvPr/>
        </p:nvSpPr>
        <p:spPr>
          <a:xfrm>
            <a:off x="8641080" y="4251960"/>
            <a:ext cx="2926080" cy="548640"/>
          </a:xfrm>
          <a:prstGeom prst="rect">
            <a:avLst/>
          </a:prstGeom>
          <a:noFill/>
          <a:ln/>
        </p:spPr>
        <p:txBody>
          <a:bodyPr wrap="square" lIns="0" tIns="0" rIns="0" bIns="0" rtlCol="0" anchor="t"/>
          <a:lstStyle/>
          <a:p>
            <a:pPr marL="0" indent="0">
              <a:buNone/>
            </a:pPr>
            <a:r>
              <a:rPr lang="en-US" sz="1400" dirty="0">
                <a:solidFill>
                  <a:srgbClr val="4A5B5E"/>
                </a:solidFill>
              </a:rPr>
              <a:t>/health checks, tasks in both AZs, auto scaling 2–4</a:t>
            </a:r>
            <a:endParaRPr lang="en-US" sz="1400" dirty="0"/>
          </a:p>
        </p:txBody>
      </p:sp>
      <p:sp>
        <p:nvSpPr>
          <p:cNvPr id="24" name="card"/>
          <p:cNvSpPr/>
          <p:nvPr/>
        </p:nvSpPr>
        <p:spPr>
          <a:xfrm>
            <a:off x="7772400" y="5001768"/>
            <a:ext cx="3867912" cy="1014984"/>
          </a:xfrm>
          <a:prstGeom prst="roundRect">
            <a:avLst>
              <a:gd name="adj" fmla="val 9009"/>
            </a:avLst>
          </a:prstGeom>
          <a:solidFill>
            <a:srgbClr val="FFFFFF"/>
          </a:solidFill>
          <a:ln/>
          <a:effectLst>
            <a:outerShdw blurRad="114300" dist="25400" dir="5400000" algn="bl" rotWithShape="0">
              <a:srgbClr val="0E3B43">
                <a:alpha val="13000"/>
              </a:srgbClr>
            </a:outerShdw>
          </a:effectLst>
        </p:spPr>
      </p:sp>
      <p:sp>
        <p:nvSpPr>
          <p:cNvPr id="25" name="milestone M4"/>
          <p:cNvSpPr/>
          <p:nvPr/>
        </p:nvSpPr>
        <p:spPr>
          <a:xfrm>
            <a:off x="7955280" y="5248656"/>
            <a:ext cx="512064" cy="512064"/>
          </a:xfrm>
          <a:prstGeom prst="ellipse">
            <a:avLst/>
          </a:prstGeom>
          <a:solidFill>
            <a:schemeClr val="tx2"/>
          </a:solidFill>
          <a:ln/>
        </p:spPr>
      </p:sp>
      <p:sp>
        <p:nvSpPr>
          <p:cNvPr id="26" name="Text 23"/>
          <p:cNvSpPr txBox="1"/>
          <p:nvPr/>
        </p:nvSpPr>
        <p:spPr>
          <a:xfrm>
            <a:off x="7955280" y="5248656"/>
            <a:ext cx="512064" cy="512064"/>
          </a:xfrm>
          <a:prstGeom prst="rect">
            <a:avLst/>
          </a:prstGeom>
          <a:noFill/>
          <a:ln/>
        </p:spPr>
        <p:txBody>
          <a:bodyPr wrap="square" lIns="0" tIns="0" rIns="0" bIns="0" rtlCol="0" anchor="ctr"/>
          <a:lstStyle/>
          <a:p>
            <a:pPr marL="0" indent="0" algn="ctr">
              <a:buNone/>
            </a:pPr>
            <a:r>
              <a:rPr lang="en-US" sz="1300" b="1" dirty="0">
                <a:solidFill>
                  <a:srgbClr val="F2A541"/>
                </a:solidFill>
              </a:rPr>
              <a:t>M4</a:t>
            </a:r>
            <a:endParaRPr lang="en-US" sz="1300" dirty="0"/>
          </a:p>
        </p:txBody>
      </p:sp>
      <p:sp>
        <p:nvSpPr>
          <p:cNvPr id="27" name="Text 24"/>
          <p:cNvSpPr txBox="1"/>
          <p:nvPr/>
        </p:nvSpPr>
        <p:spPr>
          <a:xfrm>
            <a:off x="8641080" y="5129784"/>
            <a:ext cx="2880360" cy="292608"/>
          </a:xfrm>
          <a:prstGeom prst="rect">
            <a:avLst/>
          </a:prstGeom>
          <a:noFill/>
          <a:ln/>
        </p:spPr>
        <p:txBody>
          <a:bodyPr wrap="square" lIns="0" tIns="0" rIns="0" bIns="0" rtlCol="0" anchor="t"/>
          <a:lstStyle/>
          <a:p>
            <a:pPr marL="0" indent="0">
              <a:buNone/>
            </a:pPr>
            <a:r>
              <a:rPr lang="en-US" sz="1500" b="1" dirty="0">
                <a:solidFill>
                  <a:srgbClr val="132226"/>
                </a:solidFill>
              </a:rPr>
              <a:t>GitHub Actions + OIDC</a:t>
            </a:r>
            <a:endParaRPr lang="en-US" sz="1500" dirty="0"/>
          </a:p>
        </p:txBody>
      </p:sp>
      <p:sp>
        <p:nvSpPr>
          <p:cNvPr id="28" name="Text 25"/>
          <p:cNvSpPr txBox="1"/>
          <p:nvPr/>
        </p:nvSpPr>
        <p:spPr>
          <a:xfrm>
            <a:off x="8641080" y="5431536"/>
            <a:ext cx="2926080" cy="548640"/>
          </a:xfrm>
          <a:prstGeom prst="rect">
            <a:avLst/>
          </a:prstGeom>
          <a:noFill/>
          <a:ln/>
        </p:spPr>
        <p:txBody>
          <a:bodyPr wrap="square" lIns="0" tIns="0" rIns="0" bIns="0" rtlCol="0" anchor="t"/>
          <a:lstStyle/>
          <a:p>
            <a:pPr marL="0" indent="0">
              <a:buNone/>
            </a:pPr>
            <a:r>
              <a:rPr lang="en-US" sz="1400" dirty="0">
                <a:solidFill>
                  <a:srgbClr val="4A5B5E"/>
                </a:solidFill>
              </a:rPr>
              <a:t>Build, push and deploy with no long-lived AWS keys</a:t>
            </a:r>
            <a:endParaRPr lang="en-US" sz="1400" dirty="0"/>
          </a:p>
        </p:txBody>
      </p:sp>
      <p:sp>
        <p:nvSpPr>
          <p:cNvPr id="29"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Database &amp; storage</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The data layer is private, encrypted and designed for availability.</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M5</a:t>
            </a:r>
            <a:endParaRPr lang="en-US" sz="1200" dirty="0"/>
          </a:p>
        </p:txBody>
      </p:sp>
      <p:sp>
        <p:nvSpPr>
          <p:cNvPr id="6" name="card"/>
          <p:cNvSpPr/>
          <p:nvPr/>
        </p:nvSpPr>
        <p:spPr>
          <a:xfrm>
            <a:off x="548640" y="1463040"/>
            <a:ext cx="5788152" cy="4005072"/>
          </a:xfrm>
          <a:prstGeom prst="roundRect">
            <a:avLst>
              <a:gd name="adj" fmla="val 457"/>
            </a:avLst>
          </a:prstGeom>
          <a:solidFill>
            <a:srgbClr val="FFFFFF"/>
          </a:solidFill>
          <a:ln/>
          <a:effectLst>
            <a:outerShdw blurRad="114300" dist="25400" dir="5400000" algn="bl" rotWithShape="0">
              <a:srgbClr val="0E3B43">
                <a:alpha val="13000"/>
              </a:srgbClr>
            </a:outerShdw>
          </a:effectLst>
        </p:spPr>
      </p:sp>
      <p:pic>
        <p:nvPicPr>
          <p:cNvPr id="7" name="Milestone 5 data architecture diagram"/>
          <p:cNvPicPr>
            <a:picLocks noChangeAspect="1"/>
          </p:cNvPicPr>
          <p:nvPr/>
        </p:nvPicPr>
        <p:blipFill>
          <a:blip r:embed="rId3"/>
          <a:srcRect/>
          <a:stretch/>
        </p:blipFill>
        <p:spPr>
          <a:xfrm>
            <a:off x="772668" y="1463040"/>
            <a:ext cx="5340096" cy="4005072"/>
          </a:xfrm>
          <a:prstGeom prst="rect">
            <a:avLst/>
          </a:prstGeom>
        </p:spPr>
      </p:pic>
      <p:sp>
        <p:nvSpPr>
          <p:cNvPr id="8" name="Text 5"/>
          <p:cNvSpPr txBox="1"/>
          <p:nvPr/>
        </p:nvSpPr>
        <p:spPr>
          <a:xfrm>
            <a:off x="548640" y="5577840"/>
            <a:ext cx="5788152" cy="274320"/>
          </a:xfrm>
          <a:prstGeom prst="rect">
            <a:avLst/>
          </a:prstGeom>
          <a:noFill/>
          <a:ln/>
        </p:spPr>
        <p:txBody>
          <a:bodyPr wrap="square" lIns="0" tIns="0" rIns="0" bIns="0" rtlCol="0" anchor="t"/>
          <a:lstStyle/>
          <a:p>
            <a:pPr marL="0" indent="0">
              <a:buNone/>
            </a:pPr>
            <a:r>
              <a:rPr lang="en-US" sz="1200" i="1" dirty="0">
                <a:solidFill>
                  <a:srgbClr val="6B7C7F"/>
                </a:solidFill>
              </a:rPr>
              <a:t>Milestone 5 snapshot — ALB ingress was later locked to CloudFront only in M6.</a:t>
            </a:r>
            <a:endParaRPr lang="en-US" sz="1200" dirty="0"/>
          </a:p>
        </p:txBody>
      </p:sp>
      <p:sp>
        <p:nvSpPr>
          <p:cNvPr id="9" name="card"/>
          <p:cNvSpPr/>
          <p:nvPr/>
        </p:nvSpPr>
        <p:spPr>
          <a:xfrm>
            <a:off x="6629400" y="1463040"/>
            <a:ext cx="5010912" cy="1024128"/>
          </a:xfrm>
          <a:prstGeom prst="roundRect">
            <a:avLst>
              <a:gd name="adj" fmla="val 8929"/>
            </a:avLst>
          </a:prstGeom>
          <a:solidFill>
            <a:srgbClr val="FFFFFF"/>
          </a:solidFill>
          <a:ln/>
          <a:effectLst>
            <a:outerShdw blurRad="114300" dist="25400" dir="5400000" algn="bl" rotWithShape="0">
              <a:srgbClr val="0E3B43">
                <a:alpha val="13000"/>
              </a:srgbClr>
            </a:outerShdw>
          </a:effectLst>
        </p:spPr>
      </p:sp>
      <p:sp>
        <p:nvSpPr>
          <p:cNvPr id="10" name="RDS MySQL Multi-AZ circle"/>
          <p:cNvSpPr/>
          <p:nvPr/>
        </p:nvSpPr>
        <p:spPr>
          <a:xfrm>
            <a:off x="6812280" y="1719072"/>
            <a:ext cx="512064" cy="512064"/>
          </a:xfrm>
          <a:prstGeom prst="ellipse">
            <a:avLst/>
          </a:prstGeom>
          <a:solidFill>
            <a:schemeClr val="accent5"/>
          </a:solidFill>
          <a:ln/>
        </p:spPr>
      </p:sp>
      <p:pic>
        <p:nvPicPr>
          <p:cNvPr id="11" name="RDS MySQL Multi-AZ" descr="preencoded.png"/>
          <p:cNvPicPr>
            <a:picLocks noChangeAspect="1"/>
          </p:cNvPicPr>
          <p:nvPr/>
        </p:nvPicPr>
        <p:blipFill>
          <a:blip r:embed="rId4"/>
          <a:stretch>
            <a:fillRect/>
          </a:stretch>
        </p:blipFill>
        <p:spPr>
          <a:xfrm>
            <a:off x="6935175" y="1841967"/>
            <a:ext cx="266273" cy="266273"/>
          </a:xfrm>
          <a:prstGeom prst="rect">
            <a:avLst/>
          </a:prstGeom>
        </p:spPr>
      </p:pic>
      <p:sp>
        <p:nvSpPr>
          <p:cNvPr id="12" name="Text 8"/>
          <p:cNvSpPr txBox="1"/>
          <p:nvPr/>
        </p:nvSpPr>
        <p:spPr>
          <a:xfrm>
            <a:off x="7498080" y="1591056"/>
            <a:ext cx="3977640" cy="292608"/>
          </a:xfrm>
          <a:prstGeom prst="rect">
            <a:avLst/>
          </a:prstGeom>
          <a:noFill/>
          <a:ln/>
        </p:spPr>
        <p:txBody>
          <a:bodyPr wrap="square" lIns="0" tIns="0" rIns="0" bIns="0" rtlCol="0" anchor="t"/>
          <a:lstStyle/>
          <a:p>
            <a:pPr marL="0" indent="0">
              <a:buNone/>
            </a:pPr>
            <a:r>
              <a:rPr lang="en-US" sz="1500" b="1" dirty="0">
                <a:solidFill>
                  <a:srgbClr val="132226"/>
                </a:solidFill>
              </a:rPr>
              <a:t>RDS MySQL Multi-AZ</a:t>
            </a:r>
            <a:endParaRPr lang="en-US" sz="1500" dirty="0"/>
          </a:p>
        </p:txBody>
      </p:sp>
      <p:sp>
        <p:nvSpPr>
          <p:cNvPr id="13" name="Text 9"/>
          <p:cNvSpPr txBox="1"/>
          <p:nvPr/>
        </p:nvSpPr>
        <p:spPr>
          <a:xfrm>
            <a:off x="7498080" y="1892808"/>
            <a:ext cx="3977640" cy="548640"/>
          </a:xfrm>
          <a:prstGeom prst="rect">
            <a:avLst/>
          </a:prstGeom>
          <a:noFill/>
          <a:ln/>
        </p:spPr>
        <p:txBody>
          <a:bodyPr wrap="square" lIns="0" tIns="0" rIns="0" bIns="0" rtlCol="0" anchor="t"/>
          <a:lstStyle/>
          <a:p>
            <a:pPr marL="0" indent="0">
              <a:buNone/>
            </a:pPr>
            <a:r>
              <a:rPr lang="en-US" sz="1400" dirty="0">
                <a:solidFill>
                  <a:srgbClr val="4A5B5E"/>
                </a:solidFill>
              </a:rPr>
              <a:t>db.t3.micro · encrypted · private · 7-day backups · managed master secret</a:t>
            </a:r>
            <a:endParaRPr lang="en-US" sz="1400" dirty="0"/>
          </a:p>
        </p:txBody>
      </p:sp>
      <p:sp>
        <p:nvSpPr>
          <p:cNvPr id="14" name="card"/>
          <p:cNvSpPr/>
          <p:nvPr/>
        </p:nvSpPr>
        <p:spPr>
          <a:xfrm>
            <a:off x="6629400" y="2651760"/>
            <a:ext cx="5010912" cy="1024128"/>
          </a:xfrm>
          <a:prstGeom prst="roundRect">
            <a:avLst>
              <a:gd name="adj" fmla="val 8929"/>
            </a:avLst>
          </a:prstGeom>
          <a:solidFill>
            <a:srgbClr val="FFFFFF"/>
          </a:solidFill>
          <a:ln/>
          <a:effectLst>
            <a:outerShdw blurRad="114300" dist="25400" dir="5400000" algn="bl" rotWithShape="0">
              <a:srgbClr val="0E3B43">
                <a:alpha val="13000"/>
              </a:srgbClr>
            </a:outerShdw>
          </a:effectLst>
        </p:spPr>
      </p:sp>
      <p:sp>
        <p:nvSpPr>
          <p:cNvPr id="15" name="Network isolation circle"/>
          <p:cNvSpPr/>
          <p:nvPr/>
        </p:nvSpPr>
        <p:spPr>
          <a:xfrm>
            <a:off x="6812280" y="2907792"/>
            <a:ext cx="512064" cy="512064"/>
          </a:xfrm>
          <a:prstGeom prst="ellipse">
            <a:avLst/>
          </a:prstGeom>
          <a:solidFill>
            <a:schemeClr val="accent1"/>
          </a:solidFill>
          <a:ln/>
        </p:spPr>
      </p:sp>
      <p:pic>
        <p:nvPicPr>
          <p:cNvPr id="16" name="Network isolation" descr="preencoded.png"/>
          <p:cNvPicPr>
            <a:picLocks noChangeAspect="1"/>
          </p:cNvPicPr>
          <p:nvPr/>
        </p:nvPicPr>
        <p:blipFill>
          <a:blip r:embed="rId5"/>
          <a:stretch>
            <a:fillRect/>
          </a:stretch>
        </p:blipFill>
        <p:spPr>
          <a:xfrm>
            <a:off x="6935175" y="3030687"/>
            <a:ext cx="266273" cy="266273"/>
          </a:xfrm>
          <a:prstGeom prst="rect">
            <a:avLst/>
          </a:prstGeom>
        </p:spPr>
      </p:pic>
      <p:sp>
        <p:nvSpPr>
          <p:cNvPr id="17" name="Text 12"/>
          <p:cNvSpPr txBox="1"/>
          <p:nvPr/>
        </p:nvSpPr>
        <p:spPr>
          <a:xfrm>
            <a:off x="7498080" y="2779776"/>
            <a:ext cx="3977640" cy="292608"/>
          </a:xfrm>
          <a:prstGeom prst="rect">
            <a:avLst/>
          </a:prstGeom>
          <a:noFill/>
          <a:ln/>
        </p:spPr>
        <p:txBody>
          <a:bodyPr wrap="square" lIns="0" tIns="0" rIns="0" bIns="0" rtlCol="0" anchor="t"/>
          <a:lstStyle/>
          <a:p>
            <a:pPr marL="0" indent="0">
              <a:buNone/>
            </a:pPr>
            <a:r>
              <a:rPr lang="en-US" sz="1500" b="1" dirty="0">
                <a:solidFill>
                  <a:srgbClr val="132226"/>
                </a:solidFill>
              </a:rPr>
              <a:t>Network isolation</a:t>
            </a:r>
            <a:endParaRPr lang="en-US" sz="1500" dirty="0"/>
          </a:p>
        </p:txBody>
      </p:sp>
      <p:sp>
        <p:nvSpPr>
          <p:cNvPr id="18" name="Text 13"/>
          <p:cNvSpPr txBox="1"/>
          <p:nvPr/>
        </p:nvSpPr>
        <p:spPr>
          <a:xfrm>
            <a:off x="7498080" y="3081528"/>
            <a:ext cx="3977640" cy="548640"/>
          </a:xfrm>
          <a:prstGeom prst="rect">
            <a:avLst/>
          </a:prstGeom>
          <a:noFill/>
          <a:ln/>
        </p:spPr>
        <p:txBody>
          <a:bodyPr wrap="square" lIns="0" tIns="0" rIns="0" bIns="0" rtlCol="0" anchor="t"/>
          <a:lstStyle/>
          <a:p>
            <a:pPr marL="0" indent="0">
              <a:buNone/>
            </a:pPr>
            <a:r>
              <a:rPr lang="en-US" sz="1400" dirty="0">
                <a:solidFill>
                  <a:srgbClr val="4A5B5E"/>
                </a:solidFill>
              </a:rPr>
              <a:t>DB security group accepts TCP 3306 only from the ECS security group</a:t>
            </a:r>
            <a:endParaRPr lang="en-US" sz="1400" dirty="0"/>
          </a:p>
        </p:txBody>
      </p:sp>
      <p:sp>
        <p:nvSpPr>
          <p:cNvPr id="19" name="card"/>
          <p:cNvSpPr/>
          <p:nvPr/>
        </p:nvSpPr>
        <p:spPr>
          <a:xfrm>
            <a:off x="6629400" y="3840480"/>
            <a:ext cx="5010912" cy="1024128"/>
          </a:xfrm>
          <a:prstGeom prst="roundRect">
            <a:avLst>
              <a:gd name="adj" fmla="val 8929"/>
            </a:avLst>
          </a:prstGeom>
          <a:solidFill>
            <a:srgbClr val="FFFFFF"/>
          </a:solidFill>
          <a:ln/>
          <a:effectLst>
            <a:outerShdw blurRad="114300" dist="25400" dir="5400000" algn="bl" rotWithShape="0">
              <a:srgbClr val="0E3B43">
                <a:alpha val="13000"/>
              </a:srgbClr>
            </a:outerShdw>
          </a:effectLst>
        </p:spPr>
      </p:sp>
      <p:sp>
        <p:nvSpPr>
          <p:cNvPr id="20" name="Amazon S3 circle"/>
          <p:cNvSpPr/>
          <p:nvPr/>
        </p:nvSpPr>
        <p:spPr>
          <a:xfrm>
            <a:off x="6812280" y="4096512"/>
            <a:ext cx="512064" cy="512064"/>
          </a:xfrm>
          <a:prstGeom prst="ellipse">
            <a:avLst/>
          </a:prstGeom>
          <a:solidFill>
            <a:schemeClr val="accent3"/>
          </a:solidFill>
          <a:ln/>
        </p:spPr>
      </p:sp>
      <p:pic>
        <p:nvPicPr>
          <p:cNvPr id="21" name="Amazon S3" descr="preencoded.png"/>
          <p:cNvPicPr>
            <a:picLocks noChangeAspect="1"/>
          </p:cNvPicPr>
          <p:nvPr/>
        </p:nvPicPr>
        <p:blipFill>
          <a:blip r:embed="rId6"/>
          <a:stretch>
            <a:fillRect/>
          </a:stretch>
        </p:blipFill>
        <p:spPr>
          <a:xfrm>
            <a:off x="6935175" y="4219407"/>
            <a:ext cx="266273" cy="266273"/>
          </a:xfrm>
          <a:prstGeom prst="rect">
            <a:avLst/>
          </a:prstGeom>
        </p:spPr>
      </p:pic>
      <p:sp>
        <p:nvSpPr>
          <p:cNvPr id="22" name="Text 16"/>
          <p:cNvSpPr txBox="1"/>
          <p:nvPr/>
        </p:nvSpPr>
        <p:spPr>
          <a:xfrm>
            <a:off x="7498080" y="3968496"/>
            <a:ext cx="3977640" cy="292608"/>
          </a:xfrm>
          <a:prstGeom prst="rect">
            <a:avLst/>
          </a:prstGeom>
          <a:noFill/>
          <a:ln/>
        </p:spPr>
        <p:txBody>
          <a:bodyPr wrap="square" lIns="0" tIns="0" rIns="0" bIns="0" rtlCol="0" anchor="t"/>
          <a:lstStyle/>
          <a:p>
            <a:pPr marL="0" indent="0">
              <a:buNone/>
            </a:pPr>
            <a:r>
              <a:rPr lang="en-US" sz="1500" b="1" dirty="0">
                <a:solidFill>
                  <a:srgbClr val="132226"/>
                </a:solidFill>
              </a:rPr>
              <a:t>Amazon S3</a:t>
            </a:r>
            <a:endParaRPr lang="en-US" sz="1500" dirty="0"/>
          </a:p>
        </p:txBody>
      </p:sp>
      <p:sp>
        <p:nvSpPr>
          <p:cNvPr id="23" name="Text 17"/>
          <p:cNvSpPr txBox="1"/>
          <p:nvPr/>
        </p:nvSpPr>
        <p:spPr>
          <a:xfrm>
            <a:off x="7498080" y="4270248"/>
            <a:ext cx="3977640" cy="548640"/>
          </a:xfrm>
          <a:prstGeom prst="rect">
            <a:avLst/>
          </a:prstGeom>
          <a:noFill/>
          <a:ln/>
        </p:spPr>
        <p:txBody>
          <a:bodyPr wrap="square" lIns="0" tIns="0" rIns="0" bIns="0" rtlCol="0" anchor="t"/>
          <a:lstStyle/>
          <a:p>
            <a:pPr marL="0" indent="0">
              <a:buNone/>
            </a:pPr>
            <a:r>
              <a:rPr lang="en-US" sz="1400" dirty="0">
                <a:solidFill>
                  <a:srgbClr val="4A5B5E"/>
                </a:solidFill>
              </a:rPr>
              <a:t>Private bucket · block public access · versioning · SSE‑S3 · HTTPS-only policy</a:t>
            </a:r>
            <a:endParaRPr lang="en-US" sz="1400" dirty="0"/>
          </a:p>
        </p:txBody>
      </p:sp>
      <p:sp>
        <p:nvSpPr>
          <p:cNvPr id="24" name="card"/>
          <p:cNvSpPr/>
          <p:nvPr/>
        </p:nvSpPr>
        <p:spPr>
          <a:xfrm>
            <a:off x="6629400" y="5029200"/>
            <a:ext cx="5010912" cy="1024128"/>
          </a:xfrm>
          <a:prstGeom prst="roundRect">
            <a:avLst>
              <a:gd name="adj" fmla="val 8929"/>
            </a:avLst>
          </a:prstGeom>
          <a:solidFill>
            <a:srgbClr val="FFFFFF"/>
          </a:solidFill>
          <a:ln/>
          <a:effectLst>
            <a:outerShdw blurRad="114300" dist="25400" dir="5400000" algn="bl" rotWithShape="0">
              <a:srgbClr val="0E3B43">
                <a:alpha val="13000"/>
              </a:srgbClr>
            </a:outerShdw>
          </a:effectLst>
        </p:spPr>
      </p:sp>
      <p:sp>
        <p:nvSpPr>
          <p:cNvPr id="25" name="Lifecycle controls circle"/>
          <p:cNvSpPr/>
          <p:nvPr/>
        </p:nvSpPr>
        <p:spPr>
          <a:xfrm>
            <a:off x="6812280" y="5285232"/>
            <a:ext cx="512064" cy="512064"/>
          </a:xfrm>
          <a:prstGeom prst="ellipse">
            <a:avLst/>
          </a:prstGeom>
          <a:solidFill>
            <a:schemeClr val="accent2"/>
          </a:solidFill>
          <a:ln/>
        </p:spPr>
      </p:sp>
      <p:pic>
        <p:nvPicPr>
          <p:cNvPr id="26" name="Lifecycle controls" descr="preencoded.png"/>
          <p:cNvPicPr>
            <a:picLocks noChangeAspect="1"/>
          </p:cNvPicPr>
          <p:nvPr/>
        </p:nvPicPr>
        <p:blipFill>
          <a:blip r:embed="rId7"/>
          <a:stretch>
            <a:fillRect/>
          </a:stretch>
        </p:blipFill>
        <p:spPr>
          <a:xfrm>
            <a:off x="6935175" y="5408127"/>
            <a:ext cx="266273" cy="266273"/>
          </a:xfrm>
          <a:prstGeom prst="rect">
            <a:avLst/>
          </a:prstGeom>
        </p:spPr>
      </p:pic>
      <p:sp>
        <p:nvSpPr>
          <p:cNvPr id="27" name="Text 20"/>
          <p:cNvSpPr txBox="1"/>
          <p:nvPr/>
        </p:nvSpPr>
        <p:spPr>
          <a:xfrm>
            <a:off x="7498080" y="5157216"/>
            <a:ext cx="3977640" cy="292608"/>
          </a:xfrm>
          <a:prstGeom prst="rect">
            <a:avLst/>
          </a:prstGeom>
          <a:noFill/>
          <a:ln/>
        </p:spPr>
        <p:txBody>
          <a:bodyPr wrap="square" lIns="0" tIns="0" rIns="0" bIns="0" rtlCol="0" anchor="t"/>
          <a:lstStyle/>
          <a:p>
            <a:pPr marL="0" indent="0">
              <a:buNone/>
            </a:pPr>
            <a:r>
              <a:rPr lang="en-US" sz="1500" b="1" dirty="0">
                <a:solidFill>
                  <a:srgbClr val="132226"/>
                </a:solidFill>
              </a:rPr>
              <a:t>Lifecycle controls</a:t>
            </a:r>
            <a:endParaRPr lang="en-US" sz="1500" dirty="0"/>
          </a:p>
        </p:txBody>
      </p:sp>
      <p:sp>
        <p:nvSpPr>
          <p:cNvPr id="28" name="Text 21"/>
          <p:cNvSpPr txBox="1"/>
          <p:nvPr/>
        </p:nvSpPr>
        <p:spPr>
          <a:xfrm>
            <a:off x="7498080" y="5458968"/>
            <a:ext cx="3977640" cy="548640"/>
          </a:xfrm>
          <a:prstGeom prst="rect">
            <a:avLst/>
          </a:prstGeom>
          <a:noFill/>
          <a:ln/>
        </p:spPr>
        <p:txBody>
          <a:bodyPr wrap="square" lIns="0" tIns="0" rIns="0" bIns="0" rtlCol="0" anchor="t"/>
          <a:lstStyle/>
          <a:p>
            <a:pPr marL="0" indent="0">
              <a:buNone/>
            </a:pPr>
            <a:r>
              <a:rPr lang="en-US" sz="1400" dirty="0">
                <a:solidFill>
                  <a:srgbClr val="4A5B5E"/>
                </a:solidFill>
              </a:rPr>
              <a:t>Non-current versions expire after 30 days; incomplete multipart uploads abort after 7 days</a:t>
            </a:r>
            <a:endParaRPr lang="en-US" sz="1400" dirty="0"/>
          </a:p>
        </p:txBody>
      </p:sp>
      <p:sp>
        <p:nvSpPr>
          <p:cNvPr id="29"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Edge security, DNS &amp; authentication</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Milestone 6 turned the platform into a protected public service with authenticated API access.</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M6</a:t>
            </a:r>
            <a:endParaRPr lang="en-US" sz="1200" dirty="0"/>
          </a:p>
        </p:txBody>
      </p:sp>
      <p:sp>
        <p:nvSpPr>
          <p:cNvPr id="6" name="card"/>
          <p:cNvSpPr/>
          <p:nvPr/>
        </p:nvSpPr>
        <p:spPr>
          <a:xfrm>
            <a:off x="548640" y="1463040"/>
            <a:ext cx="11091672" cy="1920240"/>
          </a:xfrm>
          <a:prstGeom prst="roundRect">
            <a:avLst>
              <a:gd name="adj" fmla="val 4762"/>
            </a:avLst>
          </a:prstGeom>
          <a:solidFill>
            <a:srgbClr val="FFFFFF"/>
          </a:solidFill>
          <a:ln/>
          <a:effectLst>
            <a:outerShdw blurRad="114300" dist="25400" dir="5400000" algn="bl" rotWithShape="0">
              <a:srgbClr val="0E3B43">
                <a:alpha val="13000"/>
              </a:srgbClr>
            </a:outerShdw>
          </a:effectLst>
        </p:spPr>
      </p:sp>
      <p:sp>
        <p:nvSpPr>
          <p:cNvPr id="7" name="Users circle"/>
          <p:cNvSpPr/>
          <p:nvPr/>
        </p:nvSpPr>
        <p:spPr>
          <a:xfrm>
            <a:off x="1205049" y="1627632"/>
            <a:ext cx="585216" cy="585216"/>
          </a:xfrm>
          <a:prstGeom prst="ellipse">
            <a:avLst/>
          </a:prstGeom>
          <a:solidFill>
            <a:schemeClr val="accent5"/>
          </a:solidFill>
          <a:ln/>
        </p:spPr>
      </p:sp>
      <p:pic>
        <p:nvPicPr>
          <p:cNvPr id="8" name="Users" descr="preencoded.png"/>
          <p:cNvPicPr>
            <a:picLocks noChangeAspect="1"/>
          </p:cNvPicPr>
          <p:nvPr/>
        </p:nvPicPr>
        <p:blipFill>
          <a:blip r:embed="rId3"/>
          <a:stretch>
            <a:fillRect/>
          </a:stretch>
        </p:blipFill>
        <p:spPr>
          <a:xfrm>
            <a:off x="1345500" y="1768084"/>
            <a:ext cx="304312" cy="304312"/>
          </a:xfrm>
          <a:prstGeom prst="rect">
            <a:avLst/>
          </a:prstGeom>
        </p:spPr>
      </p:pic>
      <p:sp>
        <p:nvSpPr>
          <p:cNvPr id="9" name="Text 6"/>
          <p:cNvSpPr txBox="1"/>
          <p:nvPr/>
        </p:nvSpPr>
        <p:spPr>
          <a:xfrm>
            <a:off x="777240" y="2286000"/>
            <a:ext cx="1440833" cy="502920"/>
          </a:xfrm>
          <a:prstGeom prst="rect">
            <a:avLst/>
          </a:prstGeom>
          <a:noFill/>
          <a:ln/>
        </p:spPr>
        <p:txBody>
          <a:bodyPr wrap="square" lIns="0" tIns="0" rIns="0" bIns="0" rtlCol="0" anchor="t"/>
          <a:lstStyle/>
          <a:p>
            <a:pPr marL="0" indent="0" algn="ctr">
              <a:buNone/>
            </a:pPr>
            <a:r>
              <a:rPr lang="en-US" sz="1300" b="1" dirty="0">
                <a:solidFill>
                  <a:srgbClr val="132226"/>
                </a:solidFill>
              </a:rPr>
              <a:t>Users</a:t>
            </a:r>
            <a:endParaRPr lang="en-US" sz="1300" dirty="0"/>
          </a:p>
          <a:p>
            <a:pPr marL="0" indent="0" algn="ctr">
              <a:buNone/>
            </a:pPr>
            <a:r>
              <a:rPr lang="en-US" sz="1100" dirty="0">
                <a:solidFill>
                  <a:srgbClr val="4A5B5E"/>
                </a:solidFill>
              </a:rPr>
              <a:t>HTTPS</a:t>
            </a:r>
            <a:endParaRPr lang="en-US" sz="1300" dirty="0"/>
          </a:p>
        </p:txBody>
      </p:sp>
      <p:sp>
        <p:nvSpPr>
          <p:cNvPr id="10" name="connector"/>
          <p:cNvSpPr/>
          <p:nvPr/>
        </p:nvSpPr>
        <p:spPr>
          <a:xfrm>
            <a:off x="1845129" y="1920240"/>
            <a:ext cx="837329" cy="0"/>
          </a:xfrm>
          <a:prstGeom prst="line">
            <a:avLst/>
          </a:prstGeom>
          <a:noFill/>
          <a:ln w="19050">
            <a:solidFill>
              <a:srgbClr val="0E7C7B"/>
            </a:solidFill>
            <a:prstDash val="solid"/>
            <a:tailEnd type="triangle"/>
          </a:ln>
        </p:spPr>
      </p:sp>
      <p:sp>
        <p:nvSpPr>
          <p:cNvPr id="11" name="Route 53 circle"/>
          <p:cNvSpPr/>
          <p:nvPr/>
        </p:nvSpPr>
        <p:spPr>
          <a:xfrm>
            <a:off x="2737322" y="1627632"/>
            <a:ext cx="585216" cy="585216"/>
          </a:xfrm>
          <a:prstGeom prst="ellipse">
            <a:avLst/>
          </a:prstGeom>
          <a:solidFill>
            <a:schemeClr val="accent2"/>
          </a:solidFill>
          <a:ln/>
        </p:spPr>
      </p:sp>
      <p:pic>
        <p:nvPicPr>
          <p:cNvPr id="12" name="Route 53" descr="preencoded.png"/>
          <p:cNvPicPr>
            <a:picLocks noChangeAspect="1"/>
          </p:cNvPicPr>
          <p:nvPr/>
        </p:nvPicPr>
        <p:blipFill>
          <a:blip r:embed="rId4"/>
          <a:stretch>
            <a:fillRect/>
          </a:stretch>
        </p:blipFill>
        <p:spPr>
          <a:xfrm>
            <a:off x="2877774" y="1768084"/>
            <a:ext cx="304312" cy="304312"/>
          </a:xfrm>
          <a:prstGeom prst="rect">
            <a:avLst/>
          </a:prstGeom>
        </p:spPr>
      </p:pic>
      <p:sp>
        <p:nvSpPr>
          <p:cNvPr id="13" name="Text 9"/>
          <p:cNvSpPr txBox="1"/>
          <p:nvPr/>
        </p:nvSpPr>
        <p:spPr>
          <a:xfrm>
            <a:off x="2309513" y="2286000"/>
            <a:ext cx="1440833" cy="502920"/>
          </a:xfrm>
          <a:prstGeom prst="rect">
            <a:avLst/>
          </a:prstGeom>
          <a:noFill/>
          <a:ln/>
        </p:spPr>
        <p:txBody>
          <a:bodyPr wrap="square" lIns="0" tIns="0" rIns="0" bIns="0" rtlCol="0" anchor="t"/>
          <a:lstStyle/>
          <a:p>
            <a:pPr marL="0" indent="0" algn="ctr">
              <a:buNone/>
            </a:pPr>
            <a:r>
              <a:rPr lang="en-US" sz="1300" b="1" dirty="0">
                <a:solidFill>
                  <a:srgbClr val="132226"/>
                </a:solidFill>
              </a:rPr>
              <a:t>Route 53</a:t>
            </a:r>
            <a:endParaRPr lang="en-US" sz="1300" dirty="0"/>
          </a:p>
          <a:p>
            <a:pPr marL="0" indent="0" algn="ctr">
              <a:buNone/>
            </a:pPr>
            <a:r>
              <a:rPr lang="en-US" sz="1100" dirty="0">
                <a:solidFill>
                  <a:srgbClr val="4A5B5E"/>
                </a:solidFill>
              </a:rPr>
              <a:t>CNAME</a:t>
            </a:r>
            <a:endParaRPr lang="en-US" sz="1300" dirty="0"/>
          </a:p>
        </p:txBody>
      </p:sp>
      <p:sp>
        <p:nvSpPr>
          <p:cNvPr id="14" name="connector"/>
          <p:cNvSpPr/>
          <p:nvPr/>
        </p:nvSpPr>
        <p:spPr>
          <a:xfrm>
            <a:off x="3377402" y="1920240"/>
            <a:ext cx="837329" cy="0"/>
          </a:xfrm>
          <a:prstGeom prst="line">
            <a:avLst/>
          </a:prstGeom>
          <a:noFill/>
          <a:ln w="19050">
            <a:solidFill>
              <a:srgbClr val="0E7C7B"/>
            </a:solidFill>
            <a:prstDash val="solid"/>
            <a:tailEnd type="triangle"/>
          </a:ln>
        </p:spPr>
      </p:sp>
      <p:sp>
        <p:nvSpPr>
          <p:cNvPr id="15" name="CloudFront circle"/>
          <p:cNvSpPr/>
          <p:nvPr/>
        </p:nvSpPr>
        <p:spPr>
          <a:xfrm>
            <a:off x="4269595" y="1627632"/>
            <a:ext cx="585216" cy="585216"/>
          </a:xfrm>
          <a:prstGeom prst="ellipse">
            <a:avLst/>
          </a:prstGeom>
          <a:solidFill>
            <a:schemeClr val="accent4"/>
          </a:solidFill>
          <a:ln/>
        </p:spPr>
      </p:sp>
      <p:pic>
        <p:nvPicPr>
          <p:cNvPr id="16" name="CloudFront" descr="preencoded.png"/>
          <p:cNvPicPr>
            <a:picLocks noChangeAspect="1"/>
          </p:cNvPicPr>
          <p:nvPr/>
        </p:nvPicPr>
        <p:blipFill>
          <a:blip r:embed="rId5"/>
          <a:stretch>
            <a:fillRect/>
          </a:stretch>
        </p:blipFill>
        <p:spPr>
          <a:xfrm>
            <a:off x="4410047" y="1768084"/>
            <a:ext cx="304312" cy="304312"/>
          </a:xfrm>
          <a:prstGeom prst="rect">
            <a:avLst/>
          </a:prstGeom>
        </p:spPr>
      </p:pic>
      <p:sp>
        <p:nvSpPr>
          <p:cNvPr id="17" name="Text 12"/>
          <p:cNvSpPr txBox="1"/>
          <p:nvPr/>
        </p:nvSpPr>
        <p:spPr>
          <a:xfrm>
            <a:off x="3841786" y="2286000"/>
            <a:ext cx="1440833" cy="502920"/>
          </a:xfrm>
          <a:prstGeom prst="rect">
            <a:avLst/>
          </a:prstGeom>
          <a:noFill/>
          <a:ln/>
        </p:spPr>
        <p:txBody>
          <a:bodyPr wrap="square" lIns="0" tIns="0" rIns="0" bIns="0" rtlCol="0" anchor="t"/>
          <a:lstStyle/>
          <a:p>
            <a:pPr marL="0" indent="0" algn="ctr">
              <a:buNone/>
            </a:pPr>
            <a:r>
              <a:rPr lang="en-US" sz="1300" b="1" dirty="0">
                <a:solidFill>
                  <a:srgbClr val="132226"/>
                </a:solidFill>
              </a:rPr>
              <a:t>CloudFront</a:t>
            </a:r>
            <a:endParaRPr lang="en-US" sz="1300" dirty="0"/>
          </a:p>
          <a:p>
            <a:pPr marL="0" indent="0" algn="ctr">
              <a:buNone/>
            </a:pPr>
            <a:r>
              <a:rPr lang="en-US" sz="1100" dirty="0">
                <a:solidFill>
                  <a:srgbClr val="4A5B5E"/>
                </a:solidFill>
              </a:rPr>
              <a:t>+ ACM · HTTPS</a:t>
            </a:r>
            <a:endParaRPr lang="en-US" sz="1300" dirty="0"/>
          </a:p>
        </p:txBody>
      </p:sp>
      <p:sp>
        <p:nvSpPr>
          <p:cNvPr id="18" name="connector"/>
          <p:cNvSpPr/>
          <p:nvPr/>
        </p:nvSpPr>
        <p:spPr>
          <a:xfrm>
            <a:off x="4909675" y="1920240"/>
            <a:ext cx="837329" cy="0"/>
          </a:xfrm>
          <a:prstGeom prst="line">
            <a:avLst/>
          </a:prstGeom>
          <a:noFill/>
          <a:ln w="19050">
            <a:solidFill>
              <a:srgbClr val="0E7C7B"/>
            </a:solidFill>
            <a:prstDash val="solid"/>
            <a:tailEnd type="triangle"/>
          </a:ln>
        </p:spPr>
      </p:sp>
      <p:sp>
        <p:nvSpPr>
          <p:cNvPr id="19" name="AWS WAF circle"/>
          <p:cNvSpPr/>
          <p:nvPr/>
        </p:nvSpPr>
        <p:spPr>
          <a:xfrm>
            <a:off x="5801868" y="1627632"/>
            <a:ext cx="585216" cy="585216"/>
          </a:xfrm>
          <a:prstGeom prst="ellipse">
            <a:avLst/>
          </a:prstGeom>
          <a:solidFill>
            <a:schemeClr val="accent4"/>
          </a:solidFill>
          <a:ln/>
        </p:spPr>
      </p:sp>
      <p:pic>
        <p:nvPicPr>
          <p:cNvPr id="20" name="AWS WAF" descr="preencoded.png"/>
          <p:cNvPicPr>
            <a:picLocks noChangeAspect="1"/>
          </p:cNvPicPr>
          <p:nvPr/>
        </p:nvPicPr>
        <p:blipFill>
          <a:blip r:embed="rId6"/>
          <a:stretch>
            <a:fillRect/>
          </a:stretch>
        </p:blipFill>
        <p:spPr>
          <a:xfrm>
            <a:off x="5942320" y="1768084"/>
            <a:ext cx="304312" cy="304312"/>
          </a:xfrm>
          <a:prstGeom prst="rect">
            <a:avLst/>
          </a:prstGeom>
        </p:spPr>
      </p:pic>
      <p:sp>
        <p:nvSpPr>
          <p:cNvPr id="21" name="Text 15"/>
          <p:cNvSpPr txBox="1"/>
          <p:nvPr/>
        </p:nvSpPr>
        <p:spPr>
          <a:xfrm>
            <a:off x="5374059" y="2286000"/>
            <a:ext cx="1440833" cy="502920"/>
          </a:xfrm>
          <a:prstGeom prst="rect">
            <a:avLst/>
          </a:prstGeom>
          <a:noFill/>
          <a:ln/>
        </p:spPr>
        <p:txBody>
          <a:bodyPr wrap="square" lIns="0" tIns="0" rIns="0" bIns="0" rtlCol="0" anchor="t"/>
          <a:lstStyle/>
          <a:p>
            <a:pPr marL="0" indent="0" algn="ctr">
              <a:buNone/>
            </a:pPr>
            <a:r>
              <a:rPr lang="en-US" sz="1300" b="1" dirty="0">
                <a:solidFill>
                  <a:srgbClr val="132226"/>
                </a:solidFill>
              </a:rPr>
              <a:t>AWS WAF</a:t>
            </a:r>
            <a:endParaRPr lang="en-US" sz="1300" dirty="0"/>
          </a:p>
          <a:p>
            <a:pPr marL="0" indent="0" algn="ctr">
              <a:buNone/>
            </a:pPr>
            <a:r>
              <a:rPr lang="en-US" sz="1100" dirty="0">
                <a:solidFill>
                  <a:srgbClr val="4A5B5E"/>
                </a:solidFill>
              </a:rPr>
              <a:t>rules + rate limit</a:t>
            </a:r>
            <a:endParaRPr lang="en-US" sz="1300" dirty="0"/>
          </a:p>
        </p:txBody>
      </p:sp>
      <p:sp>
        <p:nvSpPr>
          <p:cNvPr id="22" name="connector"/>
          <p:cNvSpPr/>
          <p:nvPr/>
        </p:nvSpPr>
        <p:spPr>
          <a:xfrm>
            <a:off x="6441948" y="1920240"/>
            <a:ext cx="837329" cy="0"/>
          </a:xfrm>
          <a:prstGeom prst="line">
            <a:avLst/>
          </a:prstGeom>
          <a:noFill/>
          <a:ln w="19050">
            <a:solidFill>
              <a:srgbClr val="0E7C7B"/>
            </a:solidFill>
            <a:prstDash val="solid"/>
            <a:tailEnd type="triangle"/>
          </a:ln>
        </p:spPr>
      </p:sp>
      <p:sp>
        <p:nvSpPr>
          <p:cNvPr id="23" name="ALB circle"/>
          <p:cNvSpPr/>
          <p:nvPr/>
        </p:nvSpPr>
        <p:spPr>
          <a:xfrm>
            <a:off x="7334141" y="1627632"/>
            <a:ext cx="585216" cy="585216"/>
          </a:xfrm>
          <a:prstGeom prst="ellipse">
            <a:avLst/>
          </a:prstGeom>
          <a:solidFill>
            <a:schemeClr val="accent1"/>
          </a:solidFill>
          <a:ln/>
        </p:spPr>
      </p:sp>
      <p:pic>
        <p:nvPicPr>
          <p:cNvPr id="24" name="ALB" descr="preencoded.png"/>
          <p:cNvPicPr>
            <a:picLocks noChangeAspect="1"/>
          </p:cNvPicPr>
          <p:nvPr/>
        </p:nvPicPr>
        <p:blipFill>
          <a:blip r:embed="rId7"/>
          <a:stretch>
            <a:fillRect/>
          </a:stretch>
        </p:blipFill>
        <p:spPr>
          <a:xfrm>
            <a:off x="7474593" y="1768084"/>
            <a:ext cx="304312" cy="304312"/>
          </a:xfrm>
          <a:prstGeom prst="rect">
            <a:avLst/>
          </a:prstGeom>
        </p:spPr>
      </p:pic>
      <p:sp>
        <p:nvSpPr>
          <p:cNvPr id="25" name="Text 18"/>
          <p:cNvSpPr txBox="1"/>
          <p:nvPr/>
        </p:nvSpPr>
        <p:spPr>
          <a:xfrm>
            <a:off x="6906333" y="2286000"/>
            <a:ext cx="1440833" cy="502920"/>
          </a:xfrm>
          <a:prstGeom prst="rect">
            <a:avLst/>
          </a:prstGeom>
          <a:noFill/>
          <a:ln/>
        </p:spPr>
        <p:txBody>
          <a:bodyPr wrap="square" lIns="0" tIns="0" rIns="0" bIns="0" rtlCol="0" anchor="t"/>
          <a:lstStyle/>
          <a:p>
            <a:pPr marL="0" indent="0" algn="ctr">
              <a:buNone/>
            </a:pPr>
            <a:r>
              <a:rPr lang="en-US" sz="1300" b="1" dirty="0">
                <a:solidFill>
                  <a:srgbClr val="132226"/>
                </a:solidFill>
              </a:rPr>
              <a:t>ALB</a:t>
            </a:r>
            <a:endParaRPr lang="en-US" sz="1300" dirty="0"/>
          </a:p>
          <a:p>
            <a:pPr marL="0" indent="0" algn="ctr">
              <a:buNone/>
            </a:pPr>
            <a:r>
              <a:rPr lang="en-US" sz="1100" dirty="0">
                <a:solidFill>
                  <a:srgbClr val="4A5B5E"/>
                </a:solidFill>
              </a:rPr>
              <a:t>CloudFront-only</a:t>
            </a:r>
            <a:endParaRPr lang="en-US" sz="1300" dirty="0"/>
          </a:p>
        </p:txBody>
      </p:sp>
      <p:sp>
        <p:nvSpPr>
          <p:cNvPr id="26" name="connector"/>
          <p:cNvSpPr/>
          <p:nvPr/>
        </p:nvSpPr>
        <p:spPr>
          <a:xfrm>
            <a:off x="7974221" y="1920240"/>
            <a:ext cx="837329" cy="0"/>
          </a:xfrm>
          <a:prstGeom prst="line">
            <a:avLst/>
          </a:prstGeom>
          <a:noFill/>
          <a:ln w="19050">
            <a:solidFill>
              <a:srgbClr val="0E7C7B"/>
            </a:solidFill>
            <a:prstDash val="solid"/>
            <a:tailEnd type="triangle"/>
          </a:ln>
        </p:spPr>
      </p:sp>
      <p:sp>
        <p:nvSpPr>
          <p:cNvPr id="27" name="ECS Fargate circle"/>
          <p:cNvSpPr/>
          <p:nvPr/>
        </p:nvSpPr>
        <p:spPr>
          <a:xfrm>
            <a:off x="8866414" y="1627632"/>
            <a:ext cx="585216" cy="585216"/>
          </a:xfrm>
          <a:prstGeom prst="ellipse">
            <a:avLst/>
          </a:prstGeom>
          <a:solidFill>
            <a:schemeClr val="accent1"/>
          </a:solidFill>
          <a:ln/>
        </p:spPr>
      </p:sp>
      <p:pic>
        <p:nvPicPr>
          <p:cNvPr id="28" name="ECS Fargate" descr="preencoded.png"/>
          <p:cNvPicPr>
            <a:picLocks noChangeAspect="1"/>
          </p:cNvPicPr>
          <p:nvPr/>
        </p:nvPicPr>
        <p:blipFill>
          <a:blip r:embed="rId8"/>
          <a:stretch>
            <a:fillRect/>
          </a:stretch>
        </p:blipFill>
        <p:spPr>
          <a:xfrm>
            <a:off x="9006866" y="1768084"/>
            <a:ext cx="304312" cy="304312"/>
          </a:xfrm>
          <a:prstGeom prst="rect">
            <a:avLst/>
          </a:prstGeom>
        </p:spPr>
      </p:pic>
      <p:sp>
        <p:nvSpPr>
          <p:cNvPr id="29" name="Text 21"/>
          <p:cNvSpPr txBox="1"/>
          <p:nvPr/>
        </p:nvSpPr>
        <p:spPr>
          <a:xfrm>
            <a:off x="8438606" y="2286000"/>
            <a:ext cx="1440833" cy="502920"/>
          </a:xfrm>
          <a:prstGeom prst="rect">
            <a:avLst/>
          </a:prstGeom>
          <a:noFill/>
          <a:ln/>
        </p:spPr>
        <p:txBody>
          <a:bodyPr wrap="square" lIns="0" tIns="0" rIns="0" bIns="0" rtlCol="0" anchor="t"/>
          <a:lstStyle/>
          <a:p>
            <a:pPr marL="0" indent="0" algn="ctr">
              <a:buNone/>
            </a:pPr>
            <a:r>
              <a:rPr lang="en-US" sz="1300" b="1" dirty="0">
                <a:solidFill>
                  <a:srgbClr val="132226"/>
                </a:solidFill>
              </a:rPr>
              <a:t>ECS Fargate</a:t>
            </a:r>
            <a:endParaRPr lang="en-US" sz="1300" dirty="0"/>
          </a:p>
          <a:p>
            <a:pPr marL="0" indent="0" algn="ctr">
              <a:buNone/>
            </a:pPr>
            <a:r>
              <a:rPr lang="en-US" sz="1100" dirty="0">
                <a:solidFill>
                  <a:srgbClr val="4A5B5E"/>
                </a:solidFill>
              </a:rPr>
              <a:t>Express API</a:t>
            </a:r>
            <a:endParaRPr lang="en-US" sz="1300" dirty="0"/>
          </a:p>
        </p:txBody>
      </p:sp>
      <p:sp>
        <p:nvSpPr>
          <p:cNvPr id="30" name="Cognito circle"/>
          <p:cNvSpPr/>
          <p:nvPr/>
        </p:nvSpPr>
        <p:spPr>
          <a:xfrm>
            <a:off x="10398687" y="1627632"/>
            <a:ext cx="585216" cy="585216"/>
          </a:xfrm>
          <a:prstGeom prst="ellipse">
            <a:avLst/>
          </a:prstGeom>
          <a:solidFill>
            <a:schemeClr val="accent5"/>
          </a:solidFill>
          <a:ln/>
        </p:spPr>
      </p:sp>
      <p:pic>
        <p:nvPicPr>
          <p:cNvPr id="31" name="Cognito" descr="preencoded.png"/>
          <p:cNvPicPr>
            <a:picLocks noChangeAspect="1"/>
          </p:cNvPicPr>
          <p:nvPr/>
        </p:nvPicPr>
        <p:blipFill>
          <a:blip r:embed="rId9"/>
          <a:stretch>
            <a:fillRect/>
          </a:stretch>
        </p:blipFill>
        <p:spPr>
          <a:xfrm>
            <a:off x="10539139" y="1768084"/>
            <a:ext cx="304312" cy="304312"/>
          </a:xfrm>
          <a:prstGeom prst="rect">
            <a:avLst/>
          </a:prstGeom>
        </p:spPr>
      </p:pic>
      <p:sp>
        <p:nvSpPr>
          <p:cNvPr id="32" name="Text 23"/>
          <p:cNvSpPr txBox="1"/>
          <p:nvPr/>
        </p:nvSpPr>
        <p:spPr>
          <a:xfrm>
            <a:off x="9970879" y="2286000"/>
            <a:ext cx="1440833" cy="502920"/>
          </a:xfrm>
          <a:prstGeom prst="rect">
            <a:avLst/>
          </a:prstGeom>
          <a:noFill/>
          <a:ln/>
        </p:spPr>
        <p:txBody>
          <a:bodyPr wrap="square" lIns="0" tIns="0" rIns="0" bIns="0" rtlCol="0" anchor="t"/>
          <a:lstStyle/>
          <a:p>
            <a:pPr marL="0" indent="0" algn="ctr">
              <a:buNone/>
            </a:pPr>
            <a:r>
              <a:rPr lang="en-US" sz="1300" b="1" dirty="0">
                <a:solidFill>
                  <a:srgbClr val="132226"/>
                </a:solidFill>
              </a:rPr>
              <a:t>Cognito</a:t>
            </a:r>
            <a:endParaRPr lang="en-US" sz="1300" dirty="0"/>
          </a:p>
          <a:p>
            <a:pPr marL="0" indent="0" algn="ctr">
              <a:buNone/>
            </a:pPr>
            <a:r>
              <a:rPr lang="en-US" sz="1100" dirty="0">
                <a:solidFill>
                  <a:srgbClr val="4A5B5E"/>
                </a:solidFill>
              </a:rPr>
              <a:t>user pool · JWT</a:t>
            </a:r>
            <a:endParaRPr lang="en-US" sz="1300" dirty="0"/>
          </a:p>
        </p:txBody>
      </p:sp>
      <p:sp>
        <p:nvSpPr>
          <p:cNvPr id="33" name="connector"/>
          <p:cNvSpPr/>
          <p:nvPr/>
        </p:nvSpPr>
        <p:spPr>
          <a:xfrm>
            <a:off x="9506494" y="1920240"/>
            <a:ext cx="837329" cy="0"/>
          </a:xfrm>
          <a:prstGeom prst="line">
            <a:avLst/>
          </a:prstGeom>
          <a:noFill/>
          <a:ln w="19050">
            <a:solidFill>
              <a:srgbClr val="5B6C8F"/>
            </a:solidFill>
            <a:prstDash val="dash"/>
          </a:ln>
        </p:spPr>
      </p:sp>
      <p:sp>
        <p:nvSpPr>
          <p:cNvPr id="34" name="personal account"/>
          <p:cNvSpPr/>
          <p:nvPr/>
        </p:nvSpPr>
        <p:spPr>
          <a:xfrm>
            <a:off x="2336945" y="2880360"/>
            <a:ext cx="1385969" cy="310896"/>
          </a:xfrm>
          <a:prstGeom prst="roundRect">
            <a:avLst>
              <a:gd name="adj" fmla="val 50000"/>
            </a:avLst>
          </a:prstGeom>
          <a:solidFill>
            <a:srgbClr val="FDF0DC"/>
          </a:solidFill>
          <a:ln/>
        </p:spPr>
      </p:sp>
      <p:sp>
        <p:nvSpPr>
          <p:cNvPr id="35" name="Text 26"/>
          <p:cNvSpPr txBox="1"/>
          <p:nvPr/>
        </p:nvSpPr>
        <p:spPr>
          <a:xfrm>
            <a:off x="2336945" y="2880360"/>
            <a:ext cx="1385969" cy="310896"/>
          </a:xfrm>
          <a:prstGeom prst="rect">
            <a:avLst/>
          </a:prstGeom>
          <a:noFill/>
          <a:ln/>
        </p:spPr>
        <p:txBody>
          <a:bodyPr wrap="square" lIns="0" tIns="0" rIns="0" bIns="0" rtlCol="0" anchor="ctr"/>
          <a:lstStyle/>
          <a:p>
            <a:pPr marL="0" indent="0" algn="ctr">
              <a:buNone/>
            </a:pPr>
            <a:r>
              <a:rPr lang="en-US" sz="1100" b="1" dirty="0">
                <a:solidFill>
                  <a:srgbClr val="A8620A"/>
                </a:solidFill>
              </a:rPr>
              <a:t>Personal AWS</a:t>
            </a:r>
            <a:endParaRPr lang="en-US" sz="1100" dirty="0"/>
          </a:p>
        </p:txBody>
      </p:sp>
      <p:sp>
        <p:nvSpPr>
          <p:cNvPr id="36" name="sandbox account"/>
          <p:cNvSpPr/>
          <p:nvPr/>
        </p:nvSpPr>
        <p:spPr>
          <a:xfrm>
            <a:off x="3869218" y="2880360"/>
            <a:ext cx="7515062" cy="310896"/>
          </a:xfrm>
          <a:prstGeom prst="roundRect">
            <a:avLst>
              <a:gd name="adj" fmla="val 50000"/>
            </a:avLst>
          </a:prstGeom>
          <a:solidFill>
            <a:srgbClr val="E1F0EF"/>
          </a:solidFill>
          <a:ln/>
        </p:spPr>
      </p:sp>
      <p:sp>
        <p:nvSpPr>
          <p:cNvPr id="37" name="Text 28"/>
          <p:cNvSpPr txBox="1"/>
          <p:nvPr/>
        </p:nvSpPr>
        <p:spPr>
          <a:xfrm>
            <a:off x="3869218" y="2880360"/>
            <a:ext cx="7515062" cy="310896"/>
          </a:xfrm>
          <a:prstGeom prst="rect">
            <a:avLst/>
          </a:prstGeom>
          <a:noFill/>
          <a:ln/>
        </p:spPr>
        <p:txBody>
          <a:bodyPr wrap="square" lIns="0" tIns="0" rIns="0" bIns="0" rtlCol="0" anchor="ctr"/>
          <a:lstStyle/>
          <a:p>
            <a:pPr marL="0" indent="0" algn="ctr">
              <a:buNone/>
            </a:pPr>
            <a:r>
              <a:rPr lang="en-US" sz="1100" b="1" dirty="0">
                <a:solidFill>
                  <a:srgbClr val="0E7C7B"/>
                </a:solidFill>
              </a:rPr>
              <a:t>Sandbox AWS account  ·  us-east-1</a:t>
            </a:r>
            <a:endParaRPr lang="en-US" sz="1100" dirty="0"/>
          </a:p>
        </p:txBody>
      </p:sp>
      <p:sp>
        <p:nvSpPr>
          <p:cNvPr id="38" name="card"/>
          <p:cNvSpPr/>
          <p:nvPr/>
        </p:nvSpPr>
        <p:spPr>
          <a:xfrm>
            <a:off x="548640" y="3611880"/>
            <a:ext cx="5454396" cy="1143000"/>
          </a:xfrm>
          <a:prstGeom prst="roundRect">
            <a:avLst>
              <a:gd name="adj" fmla="val 8000"/>
            </a:avLst>
          </a:prstGeom>
          <a:solidFill>
            <a:srgbClr val="FFFFFF"/>
          </a:solidFill>
          <a:ln/>
          <a:effectLst>
            <a:outerShdw blurRad="114300" dist="25400" dir="5400000" algn="bl" rotWithShape="0">
              <a:srgbClr val="0E3B43">
                <a:alpha val="13000"/>
              </a:srgbClr>
            </a:outerShdw>
          </a:effectLst>
        </p:spPr>
      </p:sp>
      <p:sp>
        <p:nvSpPr>
          <p:cNvPr id="39" name="HTTPS edge circle"/>
          <p:cNvSpPr/>
          <p:nvPr/>
        </p:nvSpPr>
        <p:spPr>
          <a:xfrm>
            <a:off x="749808" y="3913632"/>
            <a:ext cx="530352" cy="530352"/>
          </a:xfrm>
          <a:prstGeom prst="ellipse">
            <a:avLst/>
          </a:prstGeom>
          <a:solidFill>
            <a:schemeClr val="accent1"/>
          </a:solidFill>
          <a:ln/>
        </p:spPr>
      </p:sp>
      <p:pic>
        <p:nvPicPr>
          <p:cNvPr id="40" name="HTTPS edge" descr="preencoded.png"/>
          <p:cNvPicPr>
            <a:picLocks noChangeAspect="1"/>
          </p:cNvPicPr>
          <p:nvPr/>
        </p:nvPicPr>
        <p:blipFill>
          <a:blip r:embed="rId10"/>
          <a:stretch>
            <a:fillRect/>
          </a:stretch>
        </p:blipFill>
        <p:spPr>
          <a:xfrm>
            <a:off x="877092" y="4040916"/>
            <a:ext cx="275783" cy="275783"/>
          </a:xfrm>
          <a:prstGeom prst="rect">
            <a:avLst/>
          </a:prstGeom>
        </p:spPr>
      </p:pic>
      <p:sp>
        <p:nvSpPr>
          <p:cNvPr id="41" name="Text 31"/>
          <p:cNvSpPr txBox="1"/>
          <p:nvPr/>
        </p:nvSpPr>
        <p:spPr>
          <a:xfrm>
            <a:off x="1463040" y="3749040"/>
            <a:ext cx="4343400" cy="292608"/>
          </a:xfrm>
          <a:prstGeom prst="rect">
            <a:avLst/>
          </a:prstGeom>
          <a:noFill/>
          <a:ln/>
        </p:spPr>
        <p:txBody>
          <a:bodyPr wrap="square" lIns="0" tIns="0" rIns="0" bIns="0" rtlCol="0" anchor="t"/>
          <a:lstStyle/>
          <a:p>
            <a:pPr marL="0" indent="0">
              <a:buNone/>
            </a:pPr>
            <a:r>
              <a:rPr lang="en-US" sz="1600" b="1" dirty="0">
                <a:solidFill>
                  <a:srgbClr val="132226"/>
                </a:solidFill>
              </a:rPr>
              <a:t>HTTPS edge</a:t>
            </a:r>
            <a:endParaRPr lang="en-US" sz="1600" dirty="0"/>
          </a:p>
        </p:txBody>
      </p:sp>
      <p:sp>
        <p:nvSpPr>
          <p:cNvPr id="42" name="Text 32"/>
          <p:cNvSpPr txBox="1"/>
          <p:nvPr/>
        </p:nvSpPr>
        <p:spPr>
          <a:xfrm>
            <a:off x="1463040" y="4069080"/>
            <a:ext cx="4389120" cy="603504"/>
          </a:xfrm>
          <a:prstGeom prst="rect">
            <a:avLst/>
          </a:prstGeom>
          <a:noFill/>
          <a:ln/>
        </p:spPr>
        <p:txBody>
          <a:bodyPr wrap="square" lIns="0" tIns="0" rIns="0" bIns="0" rtlCol="0" anchor="t"/>
          <a:lstStyle/>
          <a:p>
            <a:pPr marL="0" indent="0">
              <a:buNone/>
            </a:pPr>
            <a:r>
              <a:rPr lang="en-US" sz="1400" dirty="0">
                <a:solidFill>
                  <a:srgbClr val="4A5B5E"/>
                </a:solidFill>
              </a:rPr>
              <a:t>ACM certificate; CloudFront redirects HTTP → HTTPS and reaches the ALB origin over HTTP 80.</a:t>
            </a:r>
            <a:endParaRPr lang="en-US" sz="1400" dirty="0"/>
          </a:p>
        </p:txBody>
      </p:sp>
      <p:sp>
        <p:nvSpPr>
          <p:cNvPr id="43" name="card"/>
          <p:cNvSpPr/>
          <p:nvPr/>
        </p:nvSpPr>
        <p:spPr>
          <a:xfrm>
            <a:off x="6185916" y="3611880"/>
            <a:ext cx="5454396" cy="1143000"/>
          </a:xfrm>
          <a:prstGeom prst="roundRect">
            <a:avLst>
              <a:gd name="adj" fmla="val 8000"/>
            </a:avLst>
          </a:prstGeom>
          <a:solidFill>
            <a:srgbClr val="FFFFFF"/>
          </a:solidFill>
          <a:ln/>
          <a:effectLst>
            <a:outerShdw blurRad="114300" dist="25400" dir="5400000" algn="bl" rotWithShape="0">
              <a:srgbClr val="0E3B43">
                <a:alpha val="13000"/>
              </a:srgbClr>
            </a:outerShdw>
          </a:effectLst>
        </p:spPr>
      </p:sp>
      <p:sp>
        <p:nvSpPr>
          <p:cNvPr id="44" name="AWS WAF circle"/>
          <p:cNvSpPr/>
          <p:nvPr/>
        </p:nvSpPr>
        <p:spPr>
          <a:xfrm>
            <a:off x="6387084" y="3913632"/>
            <a:ext cx="530352" cy="530352"/>
          </a:xfrm>
          <a:prstGeom prst="ellipse">
            <a:avLst/>
          </a:prstGeom>
          <a:solidFill>
            <a:schemeClr val="accent4"/>
          </a:solidFill>
          <a:ln/>
        </p:spPr>
      </p:sp>
      <p:pic>
        <p:nvPicPr>
          <p:cNvPr id="45" name="AWS WAF" descr="preencoded.png"/>
          <p:cNvPicPr>
            <a:picLocks noChangeAspect="1"/>
          </p:cNvPicPr>
          <p:nvPr/>
        </p:nvPicPr>
        <p:blipFill>
          <a:blip r:embed="rId11"/>
          <a:stretch>
            <a:fillRect/>
          </a:stretch>
        </p:blipFill>
        <p:spPr>
          <a:xfrm>
            <a:off x="6514368" y="4040916"/>
            <a:ext cx="275783" cy="275783"/>
          </a:xfrm>
          <a:prstGeom prst="rect">
            <a:avLst/>
          </a:prstGeom>
        </p:spPr>
      </p:pic>
      <p:sp>
        <p:nvSpPr>
          <p:cNvPr id="46" name="Text 35"/>
          <p:cNvSpPr txBox="1"/>
          <p:nvPr/>
        </p:nvSpPr>
        <p:spPr>
          <a:xfrm>
            <a:off x="7100316" y="3749040"/>
            <a:ext cx="4343400" cy="292608"/>
          </a:xfrm>
          <a:prstGeom prst="rect">
            <a:avLst/>
          </a:prstGeom>
          <a:noFill/>
          <a:ln/>
        </p:spPr>
        <p:txBody>
          <a:bodyPr wrap="square" lIns="0" tIns="0" rIns="0" bIns="0" rtlCol="0" anchor="t"/>
          <a:lstStyle/>
          <a:p>
            <a:pPr marL="0" indent="0">
              <a:buNone/>
            </a:pPr>
            <a:r>
              <a:rPr lang="en-US" sz="1600" b="1" dirty="0">
                <a:solidFill>
                  <a:srgbClr val="132226"/>
                </a:solidFill>
              </a:rPr>
              <a:t>AWS WAF</a:t>
            </a:r>
            <a:endParaRPr lang="en-US" sz="1600" dirty="0"/>
          </a:p>
        </p:txBody>
      </p:sp>
      <p:sp>
        <p:nvSpPr>
          <p:cNvPr id="47" name="Text 36"/>
          <p:cNvSpPr txBox="1"/>
          <p:nvPr/>
        </p:nvSpPr>
        <p:spPr>
          <a:xfrm>
            <a:off x="7100316" y="4069080"/>
            <a:ext cx="4389120" cy="603504"/>
          </a:xfrm>
          <a:prstGeom prst="rect">
            <a:avLst/>
          </a:prstGeom>
          <a:noFill/>
          <a:ln/>
        </p:spPr>
        <p:txBody>
          <a:bodyPr wrap="square" lIns="0" tIns="0" rIns="0" bIns="0" rtlCol="0" anchor="t"/>
          <a:lstStyle/>
          <a:p>
            <a:pPr marL="0" indent="0">
              <a:buNone/>
            </a:pPr>
            <a:r>
              <a:rPr lang="en-US" sz="1400" dirty="0">
                <a:solidFill>
                  <a:srgbClr val="4A5B5E"/>
                </a:solidFill>
              </a:rPr>
              <a:t>AWS managed common rule set plus per-IP rate limiting.</a:t>
            </a:r>
            <a:endParaRPr lang="en-US" sz="1400" dirty="0"/>
          </a:p>
        </p:txBody>
      </p:sp>
      <p:sp>
        <p:nvSpPr>
          <p:cNvPr id="48" name="card"/>
          <p:cNvSpPr/>
          <p:nvPr/>
        </p:nvSpPr>
        <p:spPr>
          <a:xfrm>
            <a:off x="548640" y="4937760"/>
            <a:ext cx="5454396" cy="1143000"/>
          </a:xfrm>
          <a:prstGeom prst="roundRect">
            <a:avLst>
              <a:gd name="adj" fmla="val 8000"/>
            </a:avLst>
          </a:prstGeom>
          <a:solidFill>
            <a:srgbClr val="FFFFFF"/>
          </a:solidFill>
          <a:ln/>
          <a:effectLst>
            <a:outerShdw blurRad="114300" dist="25400" dir="5400000" algn="bl" rotWithShape="0">
              <a:srgbClr val="0E3B43">
                <a:alpha val="13000"/>
              </a:srgbClr>
            </a:outerShdw>
          </a:effectLst>
        </p:spPr>
      </p:sp>
      <p:sp>
        <p:nvSpPr>
          <p:cNvPr id="49" name="ALB hardening circle"/>
          <p:cNvSpPr/>
          <p:nvPr/>
        </p:nvSpPr>
        <p:spPr>
          <a:xfrm>
            <a:off x="749808" y="5239512"/>
            <a:ext cx="530352" cy="530352"/>
          </a:xfrm>
          <a:prstGeom prst="ellipse">
            <a:avLst/>
          </a:prstGeom>
          <a:solidFill>
            <a:schemeClr val="accent2"/>
          </a:solidFill>
          <a:ln/>
        </p:spPr>
      </p:sp>
      <p:pic>
        <p:nvPicPr>
          <p:cNvPr id="50" name="ALB hardening" descr="preencoded.png"/>
          <p:cNvPicPr>
            <a:picLocks noChangeAspect="1"/>
          </p:cNvPicPr>
          <p:nvPr/>
        </p:nvPicPr>
        <p:blipFill>
          <a:blip r:embed="rId12"/>
          <a:stretch>
            <a:fillRect/>
          </a:stretch>
        </p:blipFill>
        <p:spPr>
          <a:xfrm>
            <a:off x="877092" y="5366796"/>
            <a:ext cx="275783" cy="275783"/>
          </a:xfrm>
          <a:prstGeom prst="rect">
            <a:avLst/>
          </a:prstGeom>
        </p:spPr>
      </p:pic>
      <p:sp>
        <p:nvSpPr>
          <p:cNvPr id="51" name="Text 39"/>
          <p:cNvSpPr txBox="1"/>
          <p:nvPr/>
        </p:nvSpPr>
        <p:spPr>
          <a:xfrm>
            <a:off x="1463040" y="5074920"/>
            <a:ext cx="4343400" cy="292608"/>
          </a:xfrm>
          <a:prstGeom prst="rect">
            <a:avLst/>
          </a:prstGeom>
          <a:noFill/>
          <a:ln/>
        </p:spPr>
        <p:txBody>
          <a:bodyPr wrap="square" lIns="0" tIns="0" rIns="0" bIns="0" rtlCol="0" anchor="t"/>
          <a:lstStyle/>
          <a:p>
            <a:pPr marL="0" indent="0">
              <a:buNone/>
            </a:pPr>
            <a:r>
              <a:rPr lang="en-US" sz="1600" b="1" dirty="0">
                <a:solidFill>
                  <a:srgbClr val="132226"/>
                </a:solidFill>
              </a:rPr>
              <a:t>ALB hardening</a:t>
            </a:r>
            <a:endParaRPr lang="en-US" sz="1600" dirty="0"/>
          </a:p>
        </p:txBody>
      </p:sp>
      <p:sp>
        <p:nvSpPr>
          <p:cNvPr id="52" name="Text 40"/>
          <p:cNvSpPr txBox="1"/>
          <p:nvPr/>
        </p:nvSpPr>
        <p:spPr>
          <a:xfrm>
            <a:off x="1463040" y="5394960"/>
            <a:ext cx="4389120" cy="603504"/>
          </a:xfrm>
          <a:prstGeom prst="rect">
            <a:avLst/>
          </a:prstGeom>
          <a:noFill/>
          <a:ln/>
        </p:spPr>
        <p:txBody>
          <a:bodyPr wrap="square" lIns="0" tIns="0" rIns="0" bIns="0" rtlCol="0" anchor="t"/>
          <a:lstStyle/>
          <a:p>
            <a:pPr marL="0" indent="0">
              <a:buNone/>
            </a:pPr>
            <a:r>
              <a:rPr lang="en-US" sz="1400" dirty="0">
                <a:solidFill>
                  <a:srgbClr val="4A5B5E"/>
                </a:solidFill>
              </a:rPr>
              <a:t>Port 80 accepts only the CloudFront origin-facing managed prefix list — no bypass.</a:t>
            </a:r>
            <a:endParaRPr lang="en-US" sz="1400" dirty="0"/>
          </a:p>
        </p:txBody>
      </p:sp>
      <p:sp>
        <p:nvSpPr>
          <p:cNvPr id="53" name="card"/>
          <p:cNvSpPr/>
          <p:nvPr/>
        </p:nvSpPr>
        <p:spPr>
          <a:xfrm>
            <a:off x="6185916" y="4937760"/>
            <a:ext cx="5454396" cy="1143000"/>
          </a:xfrm>
          <a:prstGeom prst="roundRect">
            <a:avLst>
              <a:gd name="adj" fmla="val 8000"/>
            </a:avLst>
          </a:prstGeom>
          <a:solidFill>
            <a:srgbClr val="FFFFFF"/>
          </a:solidFill>
          <a:ln/>
          <a:effectLst>
            <a:outerShdw blurRad="114300" dist="25400" dir="5400000" algn="bl" rotWithShape="0">
              <a:srgbClr val="0E3B43">
                <a:alpha val="13000"/>
              </a:srgbClr>
            </a:outerShdw>
          </a:effectLst>
        </p:spPr>
      </p:sp>
      <p:sp>
        <p:nvSpPr>
          <p:cNvPr id="54" name="Cognito + JWT circle"/>
          <p:cNvSpPr/>
          <p:nvPr/>
        </p:nvSpPr>
        <p:spPr>
          <a:xfrm>
            <a:off x="6387084" y="5239512"/>
            <a:ext cx="530352" cy="530352"/>
          </a:xfrm>
          <a:prstGeom prst="ellipse">
            <a:avLst/>
          </a:prstGeom>
          <a:solidFill>
            <a:schemeClr val="accent5"/>
          </a:solidFill>
          <a:ln/>
        </p:spPr>
      </p:sp>
      <p:pic>
        <p:nvPicPr>
          <p:cNvPr id="55" name="Cognito + JWT" descr="preencoded.png"/>
          <p:cNvPicPr>
            <a:picLocks noChangeAspect="1"/>
          </p:cNvPicPr>
          <p:nvPr/>
        </p:nvPicPr>
        <p:blipFill>
          <a:blip r:embed="rId9"/>
          <a:stretch>
            <a:fillRect/>
          </a:stretch>
        </p:blipFill>
        <p:spPr>
          <a:xfrm>
            <a:off x="6514368" y="5366796"/>
            <a:ext cx="275783" cy="275783"/>
          </a:xfrm>
          <a:prstGeom prst="rect">
            <a:avLst/>
          </a:prstGeom>
        </p:spPr>
      </p:pic>
      <p:sp>
        <p:nvSpPr>
          <p:cNvPr id="56" name="Text 43"/>
          <p:cNvSpPr txBox="1"/>
          <p:nvPr/>
        </p:nvSpPr>
        <p:spPr>
          <a:xfrm>
            <a:off x="7100316" y="5074920"/>
            <a:ext cx="4343400" cy="292608"/>
          </a:xfrm>
          <a:prstGeom prst="rect">
            <a:avLst/>
          </a:prstGeom>
          <a:noFill/>
          <a:ln/>
        </p:spPr>
        <p:txBody>
          <a:bodyPr wrap="square" lIns="0" tIns="0" rIns="0" bIns="0" rtlCol="0" anchor="t"/>
          <a:lstStyle/>
          <a:p>
            <a:pPr marL="0" indent="0">
              <a:buNone/>
            </a:pPr>
            <a:r>
              <a:rPr lang="en-US" sz="1600" b="1" dirty="0">
                <a:solidFill>
                  <a:srgbClr val="132226"/>
                </a:solidFill>
              </a:rPr>
              <a:t>Cognito + JWT</a:t>
            </a:r>
            <a:endParaRPr lang="en-US" sz="1600" dirty="0"/>
          </a:p>
        </p:txBody>
      </p:sp>
      <p:sp>
        <p:nvSpPr>
          <p:cNvPr id="57" name="Text 44"/>
          <p:cNvSpPr txBox="1"/>
          <p:nvPr/>
        </p:nvSpPr>
        <p:spPr>
          <a:xfrm>
            <a:off x="7100316" y="5394960"/>
            <a:ext cx="4389120" cy="603504"/>
          </a:xfrm>
          <a:prstGeom prst="rect">
            <a:avLst/>
          </a:prstGeom>
          <a:noFill/>
          <a:ln/>
        </p:spPr>
        <p:txBody>
          <a:bodyPr wrap="square" lIns="0" tIns="0" rIns="0" bIns="0" rtlCol="0" anchor="t"/>
          <a:lstStyle/>
          <a:p>
            <a:pPr marL="0" indent="0">
              <a:buNone/>
            </a:pPr>
            <a:r>
              <a:rPr lang="en-US" sz="1400" dirty="0">
                <a:solidFill>
                  <a:srgbClr val="4A5B5E"/>
                </a:solidFill>
              </a:rPr>
              <a:t>/health stays public; /protected returns 401 without a token and 200 with a valid access token.</a:t>
            </a:r>
            <a:endParaRPr lang="en-US" sz="1400" dirty="0"/>
          </a:p>
        </p:txBody>
      </p:sp>
      <p:sp>
        <p:nvSpPr>
          <p:cNvPr id="58"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Automated morning recovery</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The sandbox is cleaned overnight, so recovery is an operational workflow — validated end-to-end.</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Operations</a:t>
            </a:r>
            <a:endParaRPr lang="en-US" sz="1200" dirty="0"/>
          </a:p>
        </p:txBody>
      </p:sp>
      <p:sp>
        <p:nvSpPr>
          <p:cNvPr id="6" name="card"/>
          <p:cNvSpPr/>
          <p:nvPr/>
        </p:nvSpPr>
        <p:spPr>
          <a:xfrm>
            <a:off x="548640" y="1463040"/>
            <a:ext cx="6858000" cy="1920240"/>
          </a:xfrm>
          <a:prstGeom prst="roundRect">
            <a:avLst>
              <a:gd name="adj" fmla="val 952"/>
            </a:avLst>
          </a:prstGeom>
          <a:solidFill>
            <a:srgbClr val="FFFFFF"/>
          </a:solidFill>
          <a:ln/>
          <a:effectLst>
            <a:outerShdw blurRad="114300" dist="25400" dir="5400000" algn="bl" rotWithShape="0">
              <a:srgbClr val="0E3B43">
                <a:alpha val="13000"/>
              </a:srgbClr>
            </a:outerShdw>
          </a:effectLst>
        </p:spPr>
      </p:sp>
      <p:pic>
        <p:nvPicPr>
          <p:cNvPr id="7" name="GitHub Actions morning rebuild run" descr="GitHub Actions Morning Sandbox Rebuild run 6, all four jobs successful, 6 minutes 8 seconds"/>
          <p:cNvPicPr>
            <a:picLocks noChangeAspect="1"/>
          </p:cNvPicPr>
          <p:nvPr/>
        </p:nvPicPr>
        <p:blipFill>
          <a:blip r:embed="rId3"/>
          <a:stretch>
            <a:fillRect/>
          </a:stretch>
        </p:blipFill>
        <p:spPr>
          <a:xfrm>
            <a:off x="548640" y="1463040"/>
            <a:ext cx="6858000" cy="1920240"/>
          </a:xfrm>
          <a:prstGeom prst="rect">
            <a:avLst/>
          </a:prstGeom>
        </p:spPr>
      </p:pic>
      <p:sp>
        <p:nvSpPr>
          <p:cNvPr id="8" name="Text 5"/>
          <p:cNvSpPr txBox="1"/>
          <p:nvPr/>
        </p:nvSpPr>
        <p:spPr>
          <a:xfrm>
            <a:off x="548640" y="3493008"/>
            <a:ext cx="6858000" cy="274320"/>
          </a:xfrm>
          <a:prstGeom prst="rect">
            <a:avLst/>
          </a:prstGeom>
          <a:noFill/>
          <a:ln/>
        </p:spPr>
        <p:txBody>
          <a:bodyPr wrap="square" lIns="0" tIns="0" rIns="0" bIns="0" rtlCol="0" anchor="t"/>
          <a:lstStyle/>
          <a:p>
            <a:pPr marL="0" indent="0">
              <a:buNone/>
            </a:pPr>
            <a:r>
              <a:rPr lang="en-US" sz="1200" i="1" dirty="0">
                <a:solidFill>
                  <a:srgbClr val="6B7C7F"/>
                </a:solidFill>
              </a:rPr>
              <a:t>Run #6 — manual end-to-end validation: all four jobs green, total duration 6 m 8 s.</a:t>
            </a:r>
            <a:endParaRPr lang="en-US" sz="1200" dirty="0"/>
          </a:p>
        </p:txBody>
      </p:sp>
      <p:sp>
        <p:nvSpPr>
          <p:cNvPr id="9" name="card"/>
          <p:cNvSpPr/>
          <p:nvPr/>
        </p:nvSpPr>
        <p:spPr>
          <a:xfrm>
            <a:off x="548640" y="3931920"/>
            <a:ext cx="2167128" cy="2194560"/>
          </a:xfrm>
          <a:prstGeom prst="roundRect">
            <a:avLst>
              <a:gd name="adj" fmla="val 4219"/>
            </a:avLst>
          </a:prstGeom>
          <a:solidFill>
            <a:srgbClr val="FFFFFF"/>
          </a:solidFill>
          <a:ln/>
          <a:effectLst>
            <a:outerShdw blurRad="114300" dist="25400" dir="5400000" algn="bl" rotWithShape="0">
              <a:srgbClr val="0E3B43">
                <a:alpha val="13000"/>
              </a:srgbClr>
            </a:outerShdw>
          </a:effectLst>
        </p:spPr>
      </p:sp>
      <p:sp>
        <p:nvSpPr>
          <p:cNvPr id="10" name="Primary schedule circle"/>
          <p:cNvSpPr/>
          <p:nvPr/>
        </p:nvSpPr>
        <p:spPr>
          <a:xfrm>
            <a:off x="731520" y="4096512"/>
            <a:ext cx="457200" cy="457200"/>
          </a:xfrm>
          <a:prstGeom prst="ellipse">
            <a:avLst/>
          </a:prstGeom>
          <a:solidFill>
            <a:schemeClr val="accent1"/>
          </a:solidFill>
          <a:ln/>
        </p:spPr>
      </p:sp>
      <p:pic>
        <p:nvPicPr>
          <p:cNvPr id="11" name="Primary schedule" descr="preencoded.png"/>
          <p:cNvPicPr>
            <a:picLocks noChangeAspect="1"/>
          </p:cNvPicPr>
          <p:nvPr/>
        </p:nvPicPr>
        <p:blipFill>
          <a:blip r:embed="rId4"/>
          <a:stretch>
            <a:fillRect/>
          </a:stretch>
        </p:blipFill>
        <p:spPr>
          <a:xfrm>
            <a:off x="841248" y="4206240"/>
            <a:ext cx="237744" cy="237744"/>
          </a:xfrm>
          <a:prstGeom prst="rect">
            <a:avLst/>
          </a:prstGeom>
        </p:spPr>
      </p:pic>
      <p:sp>
        <p:nvSpPr>
          <p:cNvPr id="12" name="Text 8"/>
          <p:cNvSpPr txBox="1"/>
          <p:nvPr/>
        </p:nvSpPr>
        <p:spPr>
          <a:xfrm>
            <a:off x="731520" y="4645152"/>
            <a:ext cx="1828800" cy="292608"/>
          </a:xfrm>
          <a:prstGeom prst="rect">
            <a:avLst/>
          </a:prstGeom>
          <a:noFill/>
          <a:ln/>
        </p:spPr>
        <p:txBody>
          <a:bodyPr wrap="square" lIns="0" tIns="0" rIns="0" bIns="0" rtlCol="0" anchor="t"/>
          <a:lstStyle/>
          <a:p>
            <a:pPr marL="0" indent="0">
              <a:buNone/>
            </a:pPr>
            <a:r>
              <a:rPr lang="en-US" sz="1400" b="1" dirty="0">
                <a:solidFill>
                  <a:srgbClr val="132226"/>
                </a:solidFill>
              </a:rPr>
              <a:t>Primary schedule</a:t>
            </a:r>
            <a:endParaRPr lang="en-US" sz="1400" dirty="0"/>
          </a:p>
        </p:txBody>
      </p:sp>
      <p:sp>
        <p:nvSpPr>
          <p:cNvPr id="13" name="Text 9"/>
          <p:cNvSpPr txBox="1"/>
          <p:nvPr/>
        </p:nvSpPr>
        <p:spPr>
          <a:xfrm>
            <a:off x="731520" y="4956048"/>
            <a:ext cx="1828800" cy="457200"/>
          </a:xfrm>
          <a:prstGeom prst="rect">
            <a:avLst/>
          </a:prstGeom>
          <a:noFill/>
          <a:ln/>
        </p:spPr>
        <p:txBody>
          <a:bodyPr wrap="square" lIns="0" tIns="0" rIns="0" bIns="0" rtlCol="0" anchor="t"/>
          <a:lstStyle/>
          <a:p>
            <a:pPr marL="0" indent="0">
              <a:buNone/>
            </a:pPr>
            <a:r>
              <a:rPr lang="en-US" sz="2600" b="1" dirty="0">
                <a:solidFill>
                  <a:srgbClr val="0E3B43"/>
                </a:solidFill>
                <a:latin typeface="+mj-lt" pitchFamily="34" charset="0"/>
                <a:ea typeface="+mj-lt" pitchFamily="34" charset="-122"/>
                <a:cs typeface="+mj-lt" pitchFamily="34" charset="-120"/>
              </a:rPr>
              <a:t>07:37</a:t>
            </a:r>
            <a:endParaRPr lang="en-US" sz="2600" dirty="0"/>
          </a:p>
        </p:txBody>
      </p:sp>
      <p:sp>
        <p:nvSpPr>
          <p:cNvPr id="14" name="Text 10"/>
          <p:cNvSpPr txBox="1"/>
          <p:nvPr/>
        </p:nvSpPr>
        <p:spPr>
          <a:xfrm>
            <a:off x="731520" y="5440680"/>
            <a:ext cx="1828800" cy="594360"/>
          </a:xfrm>
          <a:prstGeom prst="rect">
            <a:avLst/>
          </a:prstGeom>
          <a:noFill/>
          <a:ln/>
        </p:spPr>
        <p:txBody>
          <a:bodyPr wrap="square" lIns="0" tIns="0" rIns="0" bIns="0" rtlCol="0" anchor="t"/>
          <a:lstStyle/>
          <a:p>
            <a:pPr marL="0" indent="0">
              <a:buNone/>
            </a:pPr>
            <a:r>
              <a:rPr lang="en-US" sz="1300" dirty="0">
                <a:solidFill>
                  <a:srgbClr val="4A5B5E"/>
                </a:solidFill>
              </a:rPr>
              <a:t>Europe/Berlin time</a:t>
            </a:r>
            <a:endParaRPr lang="en-US" sz="1300" dirty="0"/>
          </a:p>
        </p:txBody>
      </p:sp>
      <p:sp>
        <p:nvSpPr>
          <p:cNvPr id="15" name="card"/>
          <p:cNvSpPr/>
          <p:nvPr/>
        </p:nvSpPr>
        <p:spPr>
          <a:xfrm>
            <a:off x="2898648" y="3931920"/>
            <a:ext cx="2167128" cy="2194560"/>
          </a:xfrm>
          <a:prstGeom prst="roundRect">
            <a:avLst>
              <a:gd name="adj" fmla="val 4219"/>
            </a:avLst>
          </a:prstGeom>
          <a:solidFill>
            <a:srgbClr val="FFFFFF"/>
          </a:solidFill>
          <a:ln/>
          <a:effectLst>
            <a:outerShdw blurRad="114300" dist="25400" dir="5400000" algn="bl" rotWithShape="0">
              <a:srgbClr val="0E3B43">
                <a:alpha val="13000"/>
              </a:srgbClr>
            </a:outerShdw>
          </a:effectLst>
        </p:spPr>
      </p:sp>
      <p:sp>
        <p:nvSpPr>
          <p:cNvPr id="16" name="Fallback schedule circle"/>
          <p:cNvSpPr/>
          <p:nvPr/>
        </p:nvSpPr>
        <p:spPr>
          <a:xfrm>
            <a:off x="3081528" y="4096512"/>
            <a:ext cx="457200" cy="457200"/>
          </a:xfrm>
          <a:prstGeom prst="ellipse">
            <a:avLst/>
          </a:prstGeom>
          <a:solidFill>
            <a:schemeClr val="accent2"/>
          </a:solidFill>
          <a:ln/>
        </p:spPr>
      </p:sp>
      <p:pic>
        <p:nvPicPr>
          <p:cNvPr id="17" name="Fallback schedule" descr="preencoded.png"/>
          <p:cNvPicPr>
            <a:picLocks noChangeAspect="1"/>
          </p:cNvPicPr>
          <p:nvPr/>
        </p:nvPicPr>
        <p:blipFill>
          <a:blip r:embed="rId5"/>
          <a:stretch>
            <a:fillRect/>
          </a:stretch>
        </p:blipFill>
        <p:spPr>
          <a:xfrm>
            <a:off x="3191256" y="4206240"/>
            <a:ext cx="237744" cy="237744"/>
          </a:xfrm>
          <a:prstGeom prst="rect">
            <a:avLst/>
          </a:prstGeom>
        </p:spPr>
      </p:pic>
      <p:sp>
        <p:nvSpPr>
          <p:cNvPr id="18" name="Text 13"/>
          <p:cNvSpPr txBox="1"/>
          <p:nvPr/>
        </p:nvSpPr>
        <p:spPr>
          <a:xfrm>
            <a:off x="3081528" y="4645152"/>
            <a:ext cx="1828800" cy="292608"/>
          </a:xfrm>
          <a:prstGeom prst="rect">
            <a:avLst/>
          </a:prstGeom>
          <a:noFill/>
          <a:ln/>
        </p:spPr>
        <p:txBody>
          <a:bodyPr wrap="square" lIns="0" tIns="0" rIns="0" bIns="0" rtlCol="0" anchor="t"/>
          <a:lstStyle/>
          <a:p>
            <a:pPr marL="0" indent="0">
              <a:buNone/>
            </a:pPr>
            <a:r>
              <a:rPr lang="en-US" sz="1400" b="1" dirty="0">
                <a:solidFill>
                  <a:srgbClr val="132226"/>
                </a:solidFill>
              </a:rPr>
              <a:t>Fallback schedule</a:t>
            </a:r>
            <a:endParaRPr lang="en-US" sz="1400" dirty="0"/>
          </a:p>
        </p:txBody>
      </p:sp>
      <p:sp>
        <p:nvSpPr>
          <p:cNvPr id="19" name="Text 14"/>
          <p:cNvSpPr txBox="1"/>
          <p:nvPr/>
        </p:nvSpPr>
        <p:spPr>
          <a:xfrm>
            <a:off x="3081528" y="4956048"/>
            <a:ext cx="1828800" cy="457200"/>
          </a:xfrm>
          <a:prstGeom prst="rect">
            <a:avLst/>
          </a:prstGeom>
          <a:noFill/>
          <a:ln/>
        </p:spPr>
        <p:txBody>
          <a:bodyPr wrap="square" lIns="0" tIns="0" rIns="0" bIns="0" rtlCol="0" anchor="t"/>
          <a:lstStyle/>
          <a:p>
            <a:pPr marL="0" indent="0">
              <a:buNone/>
            </a:pPr>
            <a:r>
              <a:rPr lang="en-US" sz="2600" b="1" dirty="0">
                <a:solidFill>
                  <a:srgbClr val="0E3B43"/>
                </a:solidFill>
                <a:latin typeface="+mj-lt" pitchFamily="34" charset="0"/>
                <a:ea typeface="+mj-lt" pitchFamily="34" charset="-122"/>
                <a:cs typeface="+mj-lt" pitchFamily="34" charset="-120"/>
              </a:rPr>
              <a:t>08:17</a:t>
            </a:r>
            <a:endParaRPr lang="en-US" sz="2600" dirty="0"/>
          </a:p>
        </p:txBody>
      </p:sp>
      <p:sp>
        <p:nvSpPr>
          <p:cNvPr id="20" name="Text 15"/>
          <p:cNvSpPr txBox="1"/>
          <p:nvPr/>
        </p:nvSpPr>
        <p:spPr>
          <a:xfrm>
            <a:off x="3081528" y="5440680"/>
            <a:ext cx="1828800" cy="594360"/>
          </a:xfrm>
          <a:prstGeom prst="rect">
            <a:avLst/>
          </a:prstGeom>
          <a:noFill/>
          <a:ln/>
        </p:spPr>
        <p:txBody>
          <a:bodyPr wrap="square" lIns="0" tIns="0" rIns="0" bIns="0" rtlCol="0" anchor="t"/>
          <a:lstStyle/>
          <a:p>
            <a:pPr marL="0" indent="0">
              <a:buNone/>
            </a:pPr>
            <a:r>
              <a:rPr lang="en-US" sz="1300" dirty="0">
                <a:solidFill>
                  <a:srgbClr val="4A5B5E"/>
                </a:solidFill>
              </a:rPr>
              <a:t>Skips if the endpoint is already healthy</a:t>
            </a:r>
            <a:endParaRPr lang="en-US" sz="1300" dirty="0"/>
          </a:p>
        </p:txBody>
      </p:sp>
      <p:sp>
        <p:nvSpPr>
          <p:cNvPr id="21" name="card"/>
          <p:cNvSpPr/>
          <p:nvPr/>
        </p:nvSpPr>
        <p:spPr>
          <a:xfrm>
            <a:off x="5248656" y="3931920"/>
            <a:ext cx="2167128" cy="2194560"/>
          </a:xfrm>
          <a:prstGeom prst="roundRect">
            <a:avLst>
              <a:gd name="adj" fmla="val 4219"/>
            </a:avLst>
          </a:prstGeom>
          <a:solidFill>
            <a:srgbClr val="FFFFFF"/>
          </a:solidFill>
          <a:ln/>
          <a:effectLst>
            <a:outerShdw blurRad="114300" dist="25400" dir="5400000" algn="bl" rotWithShape="0">
              <a:srgbClr val="0E3B43">
                <a:alpha val="13000"/>
              </a:srgbClr>
            </a:outerShdw>
          </a:effectLst>
        </p:spPr>
      </p:sp>
      <p:sp>
        <p:nvSpPr>
          <p:cNvPr id="22" name="Why personal Route 53? circle"/>
          <p:cNvSpPr/>
          <p:nvPr/>
        </p:nvSpPr>
        <p:spPr>
          <a:xfrm>
            <a:off x="5431536" y="4096512"/>
            <a:ext cx="457200" cy="457200"/>
          </a:xfrm>
          <a:prstGeom prst="ellipse">
            <a:avLst/>
          </a:prstGeom>
          <a:solidFill>
            <a:schemeClr val="accent5"/>
          </a:solidFill>
          <a:ln/>
        </p:spPr>
      </p:sp>
      <p:pic>
        <p:nvPicPr>
          <p:cNvPr id="23" name="Why personal Route 53?" descr="preencoded.png"/>
          <p:cNvPicPr>
            <a:picLocks noChangeAspect="1"/>
          </p:cNvPicPr>
          <p:nvPr/>
        </p:nvPicPr>
        <p:blipFill>
          <a:blip r:embed="rId6"/>
          <a:stretch>
            <a:fillRect/>
          </a:stretch>
        </p:blipFill>
        <p:spPr>
          <a:xfrm>
            <a:off x="5541264" y="4206240"/>
            <a:ext cx="237744" cy="237744"/>
          </a:xfrm>
          <a:prstGeom prst="rect">
            <a:avLst/>
          </a:prstGeom>
        </p:spPr>
      </p:pic>
      <p:sp>
        <p:nvSpPr>
          <p:cNvPr id="24" name="Text 18"/>
          <p:cNvSpPr txBox="1"/>
          <p:nvPr/>
        </p:nvSpPr>
        <p:spPr>
          <a:xfrm>
            <a:off x="5431536" y="4645152"/>
            <a:ext cx="1828800" cy="292608"/>
          </a:xfrm>
          <a:prstGeom prst="rect">
            <a:avLst/>
          </a:prstGeom>
          <a:noFill/>
          <a:ln/>
        </p:spPr>
        <p:txBody>
          <a:bodyPr wrap="square" lIns="0" tIns="0" rIns="0" bIns="0" rtlCol="0" anchor="t"/>
          <a:lstStyle/>
          <a:p>
            <a:pPr marL="0" indent="0">
              <a:buNone/>
            </a:pPr>
            <a:r>
              <a:rPr lang="en-US" sz="1400" b="1" dirty="0">
                <a:solidFill>
                  <a:srgbClr val="132226"/>
                </a:solidFill>
              </a:rPr>
              <a:t>Why personal Route 53?</a:t>
            </a:r>
            <a:endParaRPr lang="en-US" sz="1400" dirty="0"/>
          </a:p>
        </p:txBody>
      </p:sp>
      <p:sp>
        <p:nvSpPr>
          <p:cNvPr id="25" name="Text 19"/>
          <p:cNvSpPr txBox="1"/>
          <p:nvPr/>
        </p:nvSpPr>
        <p:spPr>
          <a:xfrm>
            <a:off x="5431536" y="4983480"/>
            <a:ext cx="1828800" cy="1051560"/>
          </a:xfrm>
          <a:prstGeom prst="rect">
            <a:avLst/>
          </a:prstGeom>
          <a:noFill/>
          <a:ln/>
        </p:spPr>
        <p:txBody>
          <a:bodyPr wrap="square" lIns="0" tIns="0" rIns="0" bIns="0" rtlCol="0" anchor="t"/>
          <a:lstStyle/>
          <a:p>
            <a:pPr marL="0" indent="0">
              <a:buNone/>
            </a:pPr>
            <a:r>
              <a:rPr lang="en-US" sz="1300" dirty="0">
                <a:solidFill>
                  <a:srgbClr val="4A5B5E"/>
                </a:solidFill>
              </a:rPr>
              <a:t>DNS must persist even when sandbox CloudFront / ACM resources are recreated.</a:t>
            </a:r>
            <a:endParaRPr lang="en-US" sz="1300" dirty="0"/>
          </a:p>
        </p:txBody>
      </p:sp>
      <p:sp>
        <p:nvSpPr>
          <p:cNvPr id="26" name="card"/>
          <p:cNvSpPr/>
          <p:nvPr/>
        </p:nvSpPr>
        <p:spPr>
          <a:xfrm>
            <a:off x="7680960" y="1463040"/>
            <a:ext cx="3959352" cy="4663440"/>
          </a:xfrm>
          <a:prstGeom prst="roundRect">
            <a:avLst>
              <a:gd name="adj" fmla="val 2309"/>
            </a:avLst>
          </a:prstGeom>
          <a:solidFill>
            <a:srgbClr val="FFFFFF"/>
          </a:solidFill>
          <a:ln/>
          <a:effectLst>
            <a:outerShdw blurRad="114300" dist="25400" dir="5400000" algn="bl" rotWithShape="0">
              <a:srgbClr val="0E3B43">
                <a:alpha val="13000"/>
              </a:srgbClr>
            </a:outerShdw>
          </a:effectLst>
        </p:spPr>
      </p:sp>
      <p:sp>
        <p:nvSpPr>
          <p:cNvPr id="27" name="Text 21"/>
          <p:cNvSpPr txBox="1"/>
          <p:nvPr/>
        </p:nvSpPr>
        <p:spPr>
          <a:xfrm>
            <a:off x="7909560" y="1600200"/>
            <a:ext cx="347472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Recovery sequence</a:t>
            </a:r>
            <a:endParaRPr lang="en-US" sz="1700" dirty="0"/>
          </a:p>
        </p:txBody>
      </p:sp>
      <p:sp>
        <p:nvSpPr>
          <p:cNvPr id="28" name="sequence line"/>
          <p:cNvSpPr/>
          <p:nvPr/>
        </p:nvSpPr>
        <p:spPr>
          <a:xfrm>
            <a:off x="8092440" y="2286000"/>
            <a:ext cx="0" cy="3291840"/>
          </a:xfrm>
          <a:prstGeom prst="line">
            <a:avLst/>
          </a:prstGeom>
          <a:noFill/>
          <a:ln w="25400">
            <a:solidFill>
              <a:srgbClr val="D3E2E0"/>
            </a:solidFill>
            <a:prstDash val="solid"/>
          </a:ln>
        </p:spPr>
      </p:sp>
      <p:sp>
        <p:nvSpPr>
          <p:cNvPr id="29" name="seq 1"/>
          <p:cNvSpPr/>
          <p:nvPr/>
        </p:nvSpPr>
        <p:spPr>
          <a:xfrm>
            <a:off x="7909560" y="2103120"/>
            <a:ext cx="365760" cy="365760"/>
          </a:xfrm>
          <a:prstGeom prst="ellipse">
            <a:avLst/>
          </a:prstGeom>
          <a:solidFill>
            <a:schemeClr val="accent1"/>
          </a:solidFill>
          <a:ln w="25400">
            <a:solidFill>
              <a:srgbClr val="FFFFFF"/>
            </a:solidFill>
            <a:prstDash val="solid"/>
          </a:ln>
        </p:spPr>
      </p:sp>
      <p:sp>
        <p:nvSpPr>
          <p:cNvPr id="30" name="Text 24"/>
          <p:cNvSpPr txBox="1"/>
          <p:nvPr/>
        </p:nvSpPr>
        <p:spPr>
          <a:xfrm>
            <a:off x="7909560" y="21031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31" name="Text 25"/>
          <p:cNvSpPr txBox="1"/>
          <p:nvPr/>
        </p:nvSpPr>
        <p:spPr>
          <a:xfrm>
            <a:off x="8412480" y="2057400"/>
            <a:ext cx="3108960" cy="457200"/>
          </a:xfrm>
          <a:prstGeom prst="rect">
            <a:avLst/>
          </a:prstGeom>
          <a:noFill/>
          <a:ln/>
        </p:spPr>
        <p:txBody>
          <a:bodyPr wrap="square" lIns="0" tIns="0" rIns="0" bIns="0" rtlCol="0" anchor="ctr"/>
          <a:lstStyle/>
          <a:p>
            <a:pPr marL="0" indent="0">
              <a:buNone/>
            </a:pPr>
            <a:r>
              <a:rPr lang="en-US" sz="1400" dirty="0">
                <a:solidFill>
                  <a:srgbClr val="132226"/>
                </a:solidFill>
              </a:rPr>
              <a:t>Check whether recovery is needed</a:t>
            </a:r>
            <a:endParaRPr lang="en-US" sz="1400" dirty="0"/>
          </a:p>
        </p:txBody>
      </p:sp>
      <p:sp>
        <p:nvSpPr>
          <p:cNvPr id="32" name="seq 2"/>
          <p:cNvSpPr/>
          <p:nvPr/>
        </p:nvSpPr>
        <p:spPr>
          <a:xfrm>
            <a:off x="7909560" y="2651760"/>
            <a:ext cx="365760" cy="365760"/>
          </a:xfrm>
          <a:prstGeom prst="ellipse">
            <a:avLst/>
          </a:prstGeom>
          <a:solidFill>
            <a:schemeClr val="accent1"/>
          </a:solidFill>
          <a:ln w="25400">
            <a:solidFill>
              <a:srgbClr val="FFFFFF"/>
            </a:solidFill>
            <a:prstDash val="solid"/>
          </a:ln>
        </p:spPr>
      </p:sp>
      <p:sp>
        <p:nvSpPr>
          <p:cNvPr id="33" name="Text 27"/>
          <p:cNvSpPr txBox="1"/>
          <p:nvPr/>
        </p:nvSpPr>
        <p:spPr>
          <a:xfrm>
            <a:off x="7909560" y="26517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34" name="Text 28"/>
          <p:cNvSpPr txBox="1"/>
          <p:nvPr/>
        </p:nvSpPr>
        <p:spPr>
          <a:xfrm>
            <a:off x="8412480" y="2606040"/>
            <a:ext cx="3108960" cy="457200"/>
          </a:xfrm>
          <a:prstGeom prst="rect">
            <a:avLst/>
          </a:prstGeom>
          <a:noFill/>
          <a:ln/>
        </p:spPr>
        <p:txBody>
          <a:bodyPr wrap="square" lIns="0" tIns="0" rIns="0" bIns="0" rtlCol="0" anchor="ctr"/>
          <a:lstStyle/>
          <a:p>
            <a:pPr marL="0" indent="0">
              <a:buNone/>
            </a:pPr>
            <a:r>
              <a:rPr lang="en-US" sz="1400" dirty="0">
                <a:solidFill>
                  <a:srgbClr val="132226"/>
                </a:solidFill>
              </a:rPr>
              <a:t>HCP Terraform rebuilds infrastructure</a:t>
            </a:r>
            <a:endParaRPr lang="en-US" sz="1400" dirty="0"/>
          </a:p>
        </p:txBody>
      </p:sp>
      <p:sp>
        <p:nvSpPr>
          <p:cNvPr id="35" name="seq 3"/>
          <p:cNvSpPr/>
          <p:nvPr/>
        </p:nvSpPr>
        <p:spPr>
          <a:xfrm>
            <a:off x="7909560" y="3200400"/>
            <a:ext cx="365760" cy="365760"/>
          </a:xfrm>
          <a:prstGeom prst="ellipse">
            <a:avLst/>
          </a:prstGeom>
          <a:solidFill>
            <a:schemeClr val="accent1"/>
          </a:solidFill>
          <a:ln w="25400">
            <a:solidFill>
              <a:srgbClr val="FFFFFF"/>
            </a:solidFill>
            <a:prstDash val="solid"/>
          </a:ln>
        </p:spPr>
      </p:sp>
      <p:sp>
        <p:nvSpPr>
          <p:cNvPr id="36" name="Text 30"/>
          <p:cNvSpPr txBox="1"/>
          <p:nvPr/>
        </p:nvSpPr>
        <p:spPr>
          <a:xfrm>
            <a:off x="7909560" y="32004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37" name="Text 31"/>
          <p:cNvSpPr txBox="1"/>
          <p:nvPr/>
        </p:nvSpPr>
        <p:spPr>
          <a:xfrm>
            <a:off x="8412480" y="3154680"/>
            <a:ext cx="3108960" cy="457200"/>
          </a:xfrm>
          <a:prstGeom prst="rect">
            <a:avLst/>
          </a:prstGeom>
          <a:noFill/>
          <a:ln/>
        </p:spPr>
        <p:txBody>
          <a:bodyPr wrap="square" lIns="0" tIns="0" rIns="0" bIns="0" rtlCol="0" anchor="ctr"/>
          <a:lstStyle/>
          <a:p>
            <a:pPr marL="0" indent="0">
              <a:buNone/>
            </a:pPr>
            <a:r>
              <a:rPr lang="en-US" sz="1400" dirty="0">
                <a:solidFill>
                  <a:srgbClr val="132226"/>
                </a:solidFill>
              </a:rPr>
              <a:t>Deploy current application image</a:t>
            </a:r>
            <a:endParaRPr lang="en-US" sz="1400" dirty="0"/>
          </a:p>
        </p:txBody>
      </p:sp>
      <p:sp>
        <p:nvSpPr>
          <p:cNvPr id="38" name="seq 4"/>
          <p:cNvSpPr/>
          <p:nvPr/>
        </p:nvSpPr>
        <p:spPr>
          <a:xfrm>
            <a:off x="7909560" y="3749040"/>
            <a:ext cx="365760" cy="365760"/>
          </a:xfrm>
          <a:prstGeom prst="ellipse">
            <a:avLst/>
          </a:prstGeom>
          <a:solidFill>
            <a:schemeClr val="accent1"/>
          </a:solidFill>
          <a:ln w="25400">
            <a:solidFill>
              <a:srgbClr val="FFFFFF"/>
            </a:solidFill>
            <a:prstDash val="solid"/>
          </a:ln>
        </p:spPr>
      </p:sp>
      <p:sp>
        <p:nvSpPr>
          <p:cNvPr id="39" name="Text 33"/>
          <p:cNvSpPr txBox="1"/>
          <p:nvPr/>
        </p:nvSpPr>
        <p:spPr>
          <a:xfrm>
            <a:off x="7909560" y="374904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40" name="Text 34"/>
          <p:cNvSpPr txBox="1"/>
          <p:nvPr/>
        </p:nvSpPr>
        <p:spPr>
          <a:xfrm>
            <a:off x="8412480" y="3703320"/>
            <a:ext cx="3108960" cy="457200"/>
          </a:xfrm>
          <a:prstGeom prst="rect">
            <a:avLst/>
          </a:prstGeom>
          <a:noFill/>
          <a:ln/>
        </p:spPr>
        <p:txBody>
          <a:bodyPr wrap="square" lIns="0" tIns="0" rIns="0" bIns="0" rtlCol="0" anchor="ctr"/>
          <a:lstStyle/>
          <a:p>
            <a:pPr marL="0" indent="0">
              <a:buNone/>
            </a:pPr>
            <a:r>
              <a:rPr lang="en-US" sz="1400" dirty="0">
                <a:solidFill>
                  <a:srgbClr val="132226"/>
                </a:solidFill>
              </a:rPr>
              <a:t>Read new CloudFront domain</a:t>
            </a:r>
            <a:endParaRPr lang="en-US" sz="1400" dirty="0"/>
          </a:p>
        </p:txBody>
      </p:sp>
      <p:sp>
        <p:nvSpPr>
          <p:cNvPr id="41" name="seq 5"/>
          <p:cNvSpPr/>
          <p:nvPr/>
        </p:nvSpPr>
        <p:spPr>
          <a:xfrm>
            <a:off x="7909560" y="4297680"/>
            <a:ext cx="365760" cy="365760"/>
          </a:xfrm>
          <a:prstGeom prst="ellipse">
            <a:avLst/>
          </a:prstGeom>
          <a:solidFill>
            <a:schemeClr val="accent1"/>
          </a:solidFill>
          <a:ln w="25400">
            <a:solidFill>
              <a:srgbClr val="FFFFFF"/>
            </a:solidFill>
            <a:prstDash val="solid"/>
          </a:ln>
        </p:spPr>
      </p:sp>
      <p:sp>
        <p:nvSpPr>
          <p:cNvPr id="42" name="Text 36"/>
          <p:cNvSpPr txBox="1"/>
          <p:nvPr/>
        </p:nvSpPr>
        <p:spPr>
          <a:xfrm>
            <a:off x="7909560" y="42976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43" name="Text 37"/>
          <p:cNvSpPr txBox="1"/>
          <p:nvPr/>
        </p:nvSpPr>
        <p:spPr>
          <a:xfrm>
            <a:off x="8412480" y="4251960"/>
            <a:ext cx="3108960" cy="457200"/>
          </a:xfrm>
          <a:prstGeom prst="rect">
            <a:avLst/>
          </a:prstGeom>
          <a:noFill/>
          <a:ln/>
        </p:spPr>
        <p:txBody>
          <a:bodyPr wrap="square" lIns="0" tIns="0" rIns="0" bIns="0" rtlCol="0" anchor="ctr"/>
          <a:lstStyle/>
          <a:p>
            <a:pPr marL="0" indent="0">
              <a:buNone/>
            </a:pPr>
            <a:r>
              <a:rPr lang="en-US" sz="1400" dirty="0">
                <a:solidFill>
                  <a:srgbClr val="132226"/>
                </a:solidFill>
              </a:rPr>
              <a:t>OIDC into personal AWS account</a:t>
            </a:r>
            <a:endParaRPr lang="en-US" sz="1400" dirty="0"/>
          </a:p>
        </p:txBody>
      </p:sp>
      <p:sp>
        <p:nvSpPr>
          <p:cNvPr id="44" name="seq 6"/>
          <p:cNvSpPr/>
          <p:nvPr/>
        </p:nvSpPr>
        <p:spPr>
          <a:xfrm>
            <a:off x="7909560" y="4846320"/>
            <a:ext cx="365760" cy="365760"/>
          </a:xfrm>
          <a:prstGeom prst="ellipse">
            <a:avLst/>
          </a:prstGeom>
          <a:solidFill>
            <a:schemeClr val="accent1"/>
          </a:solidFill>
          <a:ln w="25400">
            <a:solidFill>
              <a:srgbClr val="FFFFFF"/>
            </a:solidFill>
            <a:prstDash val="solid"/>
          </a:ln>
        </p:spPr>
      </p:sp>
      <p:sp>
        <p:nvSpPr>
          <p:cNvPr id="45" name="Text 39"/>
          <p:cNvSpPr txBox="1"/>
          <p:nvPr/>
        </p:nvSpPr>
        <p:spPr>
          <a:xfrm>
            <a:off x="7909560" y="48463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rPr>
              <a:t>6</a:t>
            </a:r>
            <a:endParaRPr lang="en-US" sz="1200" dirty="0"/>
          </a:p>
        </p:txBody>
      </p:sp>
      <p:sp>
        <p:nvSpPr>
          <p:cNvPr id="46" name="Text 40"/>
          <p:cNvSpPr txBox="1"/>
          <p:nvPr/>
        </p:nvSpPr>
        <p:spPr>
          <a:xfrm>
            <a:off x="8412480" y="4800600"/>
            <a:ext cx="3108960" cy="457200"/>
          </a:xfrm>
          <a:prstGeom prst="rect">
            <a:avLst/>
          </a:prstGeom>
          <a:noFill/>
          <a:ln/>
        </p:spPr>
        <p:txBody>
          <a:bodyPr wrap="square" lIns="0" tIns="0" rIns="0" bIns="0" rtlCol="0" anchor="ctr"/>
          <a:lstStyle/>
          <a:p>
            <a:pPr marL="0" indent="0">
              <a:buNone/>
            </a:pPr>
            <a:r>
              <a:rPr lang="en-US" sz="1400" dirty="0">
                <a:solidFill>
                  <a:srgbClr val="132226"/>
                </a:solidFill>
              </a:rPr>
              <a:t>UPSERT Route 53 CNAME</a:t>
            </a:r>
            <a:endParaRPr lang="en-US" sz="1400" dirty="0"/>
          </a:p>
        </p:txBody>
      </p:sp>
      <p:sp>
        <p:nvSpPr>
          <p:cNvPr id="47" name="seq 7"/>
          <p:cNvSpPr/>
          <p:nvPr/>
        </p:nvSpPr>
        <p:spPr>
          <a:xfrm>
            <a:off x="7909560" y="5394960"/>
            <a:ext cx="365760" cy="365760"/>
          </a:xfrm>
          <a:prstGeom prst="ellipse">
            <a:avLst/>
          </a:prstGeom>
          <a:solidFill>
            <a:schemeClr val="accent3"/>
          </a:solidFill>
          <a:ln w="25400">
            <a:solidFill>
              <a:srgbClr val="FFFFFF"/>
            </a:solidFill>
            <a:prstDash val="solid"/>
          </a:ln>
        </p:spPr>
      </p:sp>
      <p:sp>
        <p:nvSpPr>
          <p:cNvPr id="48" name="Text 42"/>
          <p:cNvSpPr txBox="1"/>
          <p:nvPr/>
        </p:nvSpPr>
        <p:spPr>
          <a:xfrm>
            <a:off x="7909560" y="53949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rPr>
              <a:t>7</a:t>
            </a:r>
            <a:endParaRPr lang="en-US" sz="1200" dirty="0"/>
          </a:p>
        </p:txBody>
      </p:sp>
      <p:sp>
        <p:nvSpPr>
          <p:cNvPr id="49" name="Text 43"/>
          <p:cNvSpPr txBox="1"/>
          <p:nvPr/>
        </p:nvSpPr>
        <p:spPr>
          <a:xfrm>
            <a:off x="8412480" y="5349240"/>
            <a:ext cx="3108960" cy="457200"/>
          </a:xfrm>
          <a:prstGeom prst="rect">
            <a:avLst/>
          </a:prstGeom>
          <a:noFill/>
          <a:ln/>
        </p:spPr>
        <p:txBody>
          <a:bodyPr wrap="square" lIns="0" tIns="0" rIns="0" bIns="0" rtlCol="0" anchor="ctr"/>
          <a:lstStyle/>
          <a:p>
            <a:pPr marL="0" indent="0">
              <a:buNone/>
            </a:pPr>
            <a:r>
              <a:rPr lang="en-US" sz="1400" dirty="0">
                <a:solidFill>
                  <a:srgbClr val="132226"/>
                </a:solidFill>
              </a:rPr>
              <a:t>Verify public HTTPS /health</a:t>
            </a:r>
            <a:endParaRPr lang="en-US" sz="1400" dirty="0"/>
          </a:p>
        </p:txBody>
      </p:sp>
      <p:sp>
        <p:nvSpPr>
          <p:cNvPr id="50"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Evidence: tested, not just configured</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These are the outcomes I would demonstrate if there is time for a live demo.</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Validation</a:t>
            </a:r>
            <a:endParaRPr lang="en-US" sz="1200" dirty="0"/>
          </a:p>
        </p:txBody>
      </p:sp>
      <p:sp>
        <p:nvSpPr>
          <p:cNvPr id="6" name="card"/>
          <p:cNvSpPr/>
          <p:nvPr/>
        </p:nvSpPr>
        <p:spPr>
          <a:xfrm>
            <a:off x="548640" y="1463040"/>
            <a:ext cx="2633472" cy="2194560"/>
          </a:xfrm>
          <a:prstGeom prst="roundRect">
            <a:avLst>
              <a:gd name="adj" fmla="val 4167"/>
            </a:avLst>
          </a:prstGeom>
          <a:solidFill>
            <a:srgbClr val="FFFFFF"/>
          </a:solidFill>
          <a:ln/>
          <a:effectLst>
            <a:outerShdw blurRad="114300" dist="25400" dir="5400000" algn="bl" rotWithShape="0">
              <a:srgbClr val="0E3B43">
                <a:alpha val="13000"/>
              </a:srgbClr>
            </a:outerShdw>
          </a:effectLst>
        </p:spPr>
      </p:sp>
      <p:sp>
        <p:nvSpPr>
          <p:cNvPr id="7" name="Text 5"/>
          <p:cNvSpPr txBox="1"/>
          <p:nvPr/>
        </p:nvSpPr>
        <p:spPr>
          <a:xfrm>
            <a:off x="731520" y="1600200"/>
            <a:ext cx="2286000" cy="594360"/>
          </a:xfrm>
          <a:prstGeom prst="rect">
            <a:avLst/>
          </a:prstGeom>
          <a:noFill/>
          <a:ln/>
        </p:spPr>
        <p:txBody>
          <a:bodyPr wrap="square" lIns="0" tIns="0" rIns="0" bIns="0" rtlCol="0" anchor="ctr"/>
          <a:lstStyle/>
          <a:p>
            <a:pPr marL="0" indent="0">
              <a:buNone/>
            </a:pPr>
            <a:r>
              <a:rPr lang="en-US" sz="3400" b="1" dirty="0">
                <a:solidFill>
                  <a:schemeClr val="accent3"/>
                </a:solidFill>
                <a:latin typeface="+mj-lt" pitchFamily="34" charset="0"/>
                <a:ea typeface="+mj-lt" pitchFamily="34" charset="-122"/>
                <a:cs typeface="+mj-lt" pitchFamily="34" charset="-120"/>
              </a:rPr>
              <a:t>200</a:t>
            </a:r>
            <a:endParaRPr lang="en-US" sz="3400" dirty="0"/>
          </a:p>
        </p:txBody>
      </p:sp>
      <p:sp>
        <p:nvSpPr>
          <p:cNvPr id="8" name="Text 6"/>
          <p:cNvSpPr txBox="1"/>
          <p:nvPr/>
        </p:nvSpPr>
        <p:spPr>
          <a:xfrm>
            <a:off x="731520" y="2240280"/>
            <a:ext cx="2286000" cy="292608"/>
          </a:xfrm>
          <a:prstGeom prst="rect">
            <a:avLst/>
          </a:prstGeom>
          <a:noFill/>
          <a:ln/>
        </p:spPr>
        <p:txBody>
          <a:bodyPr wrap="square" lIns="0" tIns="0" rIns="0" bIns="0" rtlCol="0" anchor="t"/>
          <a:lstStyle/>
          <a:p>
            <a:pPr marL="0" indent="0">
              <a:buNone/>
            </a:pPr>
            <a:r>
              <a:rPr lang="en-US" sz="1500" b="1" dirty="0">
                <a:solidFill>
                  <a:srgbClr val="132226"/>
                </a:solidFill>
              </a:rPr>
              <a:t>Normal HTTPS request</a:t>
            </a:r>
            <a:endParaRPr lang="en-US" sz="1500" dirty="0"/>
          </a:p>
        </p:txBody>
      </p:sp>
      <p:sp>
        <p:nvSpPr>
          <p:cNvPr id="9" name="test box"/>
          <p:cNvSpPr/>
          <p:nvPr/>
        </p:nvSpPr>
        <p:spPr>
          <a:xfrm>
            <a:off x="731520" y="2651760"/>
            <a:ext cx="2267712" cy="822960"/>
          </a:xfrm>
          <a:prstGeom prst="roundRect">
            <a:avLst>
              <a:gd name="adj" fmla="val 6667"/>
            </a:avLst>
          </a:prstGeom>
          <a:solidFill>
            <a:srgbClr val="EEF4F3"/>
          </a:solidFill>
          <a:ln/>
        </p:spPr>
      </p:sp>
      <p:sp>
        <p:nvSpPr>
          <p:cNvPr id="10" name="Text 8"/>
          <p:cNvSpPr txBox="1"/>
          <p:nvPr/>
        </p:nvSpPr>
        <p:spPr>
          <a:xfrm>
            <a:off x="804672" y="2651760"/>
            <a:ext cx="2176272" cy="822960"/>
          </a:xfrm>
          <a:prstGeom prst="rect">
            <a:avLst/>
          </a:prstGeom>
          <a:noFill/>
          <a:ln/>
        </p:spPr>
        <p:txBody>
          <a:bodyPr wrap="square" lIns="0" tIns="0" rIns="0" bIns="0" rtlCol="0" anchor="ctr"/>
          <a:lstStyle/>
          <a:p>
            <a:pPr marL="0" indent="0">
              <a:buNone/>
            </a:pPr>
            <a:r>
              <a:rPr lang="en-US" sz="1200" dirty="0">
                <a:solidFill>
                  <a:srgbClr val="0E3B43"/>
                </a:solidFill>
                <a:latin typeface="Courier New" pitchFamily="34" charset="0"/>
                <a:ea typeface="Courier New" pitchFamily="34" charset="-122"/>
                <a:cs typeface="Courier New" pitchFamily="34" charset="-120"/>
              </a:rPr>
              <a:t>GET /health</a:t>
            </a:r>
            <a:endParaRPr lang="en-US" sz="1200" dirty="0"/>
          </a:p>
          <a:p>
            <a:pPr marL="0" indent="0">
              <a:buNone/>
            </a:pPr>
            <a:r>
              <a:rPr lang="en-US" sz="1200" dirty="0">
                <a:solidFill>
                  <a:srgbClr val="0E3B43"/>
                </a:solidFill>
                <a:latin typeface="Courier New" pitchFamily="34" charset="0"/>
                <a:ea typeface="Courier New" pitchFamily="34" charset="-122"/>
                <a:cs typeface="Courier New" pitchFamily="34" charset="-120"/>
              </a:rPr>
              <a:t>→ {"status":"healthy"}</a:t>
            </a:r>
            <a:endParaRPr lang="en-US" sz="1200" dirty="0"/>
          </a:p>
        </p:txBody>
      </p:sp>
      <p:sp>
        <p:nvSpPr>
          <p:cNvPr id="11" name="card"/>
          <p:cNvSpPr/>
          <p:nvPr/>
        </p:nvSpPr>
        <p:spPr>
          <a:xfrm>
            <a:off x="3364992" y="1463040"/>
            <a:ext cx="2633472" cy="2194560"/>
          </a:xfrm>
          <a:prstGeom prst="roundRect">
            <a:avLst>
              <a:gd name="adj" fmla="val 4167"/>
            </a:avLst>
          </a:prstGeom>
          <a:solidFill>
            <a:srgbClr val="FFFFFF"/>
          </a:solidFill>
          <a:ln/>
          <a:effectLst>
            <a:outerShdw blurRad="114300" dist="25400" dir="5400000" algn="bl" rotWithShape="0">
              <a:srgbClr val="0E3B43">
                <a:alpha val="13000"/>
              </a:srgbClr>
            </a:outerShdw>
          </a:effectLst>
        </p:spPr>
      </p:sp>
      <p:sp>
        <p:nvSpPr>
          <p:cNvPr id="12" name="Text 10"/>
          <p:cNvSpPr txBox="1"/>
          <p:nvPr/>
        </p:nvSpPr>
        <p:spPr>
          <a:xfrm>
            <a:off x="3547872" y="1600200"/>
            <a:ext cx="2286000" cy="594360"/>
          </a:xfrm>
          <a:prstGeom prst="rect">
            <a:avLst/>
          </a:prstGeom>
          <a:noFill/>
          <a:ln/>
        </p:spPr>
        <p:txBody>
          <a:bodyPr wrap="square" lIns="0" tIns="0" rIns="0" bIns="0" rtlCol="0" anchor="ctr"/>
          <a:lstStyle/>
          <a:p>
            <a:pPr marL="0" indent="0">
              <a:buNone/>
            </a:pPr>
            <a:r>
              <a:rPr lang="en-US" sz="3400" b="1" dirty="0">
                <a:solidFill>
                  <a:schemeClr val="accent4"/>
                </a:solidFill>
                <a:latin typeface="+mj-lt" pitchFamily="34" charset="0"/>
                <a:ea typeface="+mj-lt" pitchFamily="34" charset="-122"/>
                <a:cs typeface="+mj-lt" pitchFamily="34" charset="-120"/>
              </a:rPr>
              <a:t>403</a:t>
            </a:r>
            <a:endParaRPr lang="en-US" sz="3400" dirty="0"/>
          </a:p>
        </p:txBody>
      </p:sp>
      <p:sp>
        <p:nvSpPr>
          <p:cNvPr id="13" name="Text 11"/>
          <p:cNvSpPr txBox="1"/>
          <p:nvPr/>
        </p:nvSpPr>
        <p:spPr>
          <a:xfrm>
            <a:off x="3547872" y="2240280"/>
            <a:ext cx="2286000" cy="292608"/>
          </a:xfrm>
          <a:prstGeom prst="rect">
            <a:avLst/>
          </a:prstGeom>
          <a:noFill/>
          <a:ln/>
        </p:spPr>
        <p:txBody>
          <a:bodyPr wrap="square" lIns="0" tIns="0" rIns="0" bIns="0" rtlCol="0" anchor="t"/>
          <a:lstStyle/>
          <a:p>
            <a:pPr marL="0" indent="0">
              <a:buNone/>
            </a:pPr>
            <a:r>
              <a:rPr lang="en-US" sz="1500" b="1" dirty="0">
                <a:solidFill>
                  <a:srgbClr val="132226"/>
                </a:solidFill>
              </a:rPr>
              <a:t>WAF blocks bad input</a:t>
            </a:r>
            <a:endParaRPr lang="en-US" sz="1500" dirty="0"/>
          </a:p>
        </p:txBody>
      </p:sp>
      <p:sp>
        <p:nvSpPr>
          <p:cNvPr id="14" name="test box"/>
          <p:cNvSpPr/>
          <p:nvPr/>
        </p:nvSpPr>
        <p:spPr>
          <a:xfrm>
            <a:off x="3547872" y="2651760"/>
            <a:ext cx="2267712" cy="822960"/>
          </a:xfrm>
          <a:prstGeom prst="roundRect">
            <a:avLst>
              <a:gd name="adj" fmla="val 6667"/>
            </a:avLst>
          </a:prstGeom>
          <a:solidFill>
            <a:srgbClr val="EEF4F3"/>
          </a:solidFill>
          <a:ln/>
        </p:spPr>
      </p:sp>
      <p:sp>
        <p:nvSpPr>
          <p:cNvPr id="15" name="Text 13"/>
          <p:cNvSpPr txBox="1"/>
          <p:nvPr/>
        </p:nvSpPr>
        <p:spPr>
          <a:xfrm>
            <a:off x="3621024" y="2651760"/>
            <a:ext cx="2176272" cy="822960"/>
          </a:xfrm>
          <a:prstGeom prst="rect">
            <a:avLst/>
          </a:prstGeom>
          <a:noFill/>
          <a:ln/>
        </p:spPr>
        <p:txBody>
          <a:bodyPr wrap="square" lIns="0" tIns="0" rIns="0" bIns="0" rtlCol="0" anchor="ctr"/>
          <a:lstStyle/>
          <a:p>
            <a:pPr marL="0" indent="0">
              <a:buNone/>
            </a:pPr>
            <a:r>
              <a:rPr lang="en-US" sz="1200" dirty="0">
                <a:solidFill>
                  <a:srgbClr val="0E3B43"/>
                </a:solidFill>
                <a:latin typeface="Courier New" pitchFamily="34" charset="0"/>
                <a:ea typeface="Courier New" pitchFamily="34" charset="-122"/>
                <a:cs typeface="Courier New" pitchFamily="34" charset="-120"/>
              </a:rPr>
              <a:t>XSS-style query</a:t>
            </a:r>
            <a:endParaRPr lang="en-US" sz="1200" dirty="0"/>
          </a:p>
          <a:p>
            <a:pPr marL="0" indent="0">
              <a:buNone/>
            </a:pPr>
            <a:r>
              <a:rPr lang="en-US" sz="1200" dirty="0">
                <a:solidFill>
                  <a:srgbClr val="0E3B43"/>
                </a:solidFill>
                <a:latin typeface="Courier New" pitchFamily="34" charset="0"/>
                <a:ea typeface="Courier New" pitchFamily="34" charset="-122"/>
                <a:cs typeface="Courier New" pitchFamily="34" charset="-120"/>
              </a:rPr>
              <a:t>→ request blocked</a:t>
            </a:r>
            <a:endParaRPr lang="en-US" sz="1200" dirty="0"/>
          </a:p>
        </p:txBody>
      </p:sp>
      <p:sp>
        <p:nvSpPr>
          <p:cNvPr id="16" name="card"/>
          <p:cNvSpPr/>
          <p:nvPr/>
        </p:nvSpPr>
        <p:spPr>
          <a:xfrm>
            <a:off x="6181344" y="1463040"/>
            <a:ext cx="2633472" cy="2194560"/>
          </a:xfrm>
          <a:prstGeom prst="roundRect">
            <a:avLst>
              <a:gd name="adj" fmla="val 4167"/>
            </a:avLst>
          </a:prstGeom>
          <a:solidFill>
            <a:srgbClr val="FFFFFF"/>
          </a:solidFill>
          <a:ln/>
          <a:effectLst>
            <a:outerShdw blurRad="114300" dist="25400" dir="5400000" algn="bl" rotWithShape="0">
              <a:srgbClr val="0E3B43">
                <a:alpha val="13000"/>
              </a:srgbClr>
            </a:outerShdw>
          </a:effectLst>
        </p:spPr>
      </p:sp>
      <p:sp>
        <p:nvSpPr>
          <p:cNvPr id="17" name="Text 15"/>
          <p:cNvSpPr txBox="1"/>
          <p:nvPr/>
        </p:nvSpPr>
        <p:spPr>
          <a:xfrm>
            <a:off x="6364224" y="1600200"/>
            <a:ext cx="2286000" cy="594360"/>
          </a:xfrm>
          <a:prstGeom prst="rect">
            <a:avLst/>
          </a:prstGeom>
          <a:noFill/>
          <a:ln/>
        </p:spPr>
        <p:txBody>
          <a:bodyPr wrap="square" lIns="0" tIns="0" rIns="0" bIns="0" rtlCol="0" anchor="ctr"/>
          <a:lstStyle/>
          <a:p>
            <a:pPr marL="0" indent="0">
              <a:buNone/>
            </a:pPr>
            <a:r>
              <a:rPr lang="en-US" sz="3400" b="1" dirty="0">
                <a:solidFill>
                  <a:srgbClr val="A8620A"/>
                </a:solidFill>
                <a:latin typeface="+mj-lt" pitchFamily="34" charset="0"/>
                <a:ea typeface="+mj-lt" pitchFamily="34" charset="-122"/>
                <a:cs typeface="+mj-lt" pitchFamily="34" charset="-120"/>
              </a:rPr>
              <a:t>TIMEOUT</a:t>
            </a:r>
            <a:endParaRPr lang="en-US" sz="3400" dirty="0"/>
          </a:p>
        </p:txBody>
      </p:sp>
      <p:sp>
        <p:nvSpPr>
          <p:cNvPr id="18" name="Text 16"/>
          <p:cNvSpPr txBox="1"/>
          <p:nvPr/>
        </p:nvSpPr>
        <p:spPr>
          <a:xfrm>
            <a:off x="6364224" y="2240280"/>
            <a:ext cx="2286000" cy="292608"/>
          </a:xfrm>
          <a:prstGeom prst="rect">
            <a:avLst/>
          </a:prstGeom>
          <a:noFill/>
          <a:ln/>
        </p:spPr>
        <p:txBody>
          <a:bodyPr wrap="square" lIns="0" tIns="0" rIns="0" bIns="0" rtlCol="0" anchor="t"/>
          <a:lstStyle/>
          <a:p>
            <a:pPr marL="0" indent="0">
              <a:buNone/>
            </a:pPr>
            <a:r>
              <a:rPr lang="en-US" sz="1500" b="1" dirty="0">
                <a:solidFill>
                  <a:srgbClr val="132226"/>
                </a:solidFill>
              </a:rPr>
              <a:t>Direct ALB bypass</a:t>
            </a:r>
            <a:endParaRPr lang="en-US" sz="1500" dirty="0"/>
          </a:p>
        </p:txBody>
      </p:sp>
      <p:sp>
        <p:nvSpPr>
          <p:cNvPr id="19" name="test box"/>
          <p:cNvSpPr/>
          <p:nvPr/>
        </p:nvSpPr>
        <p:spPr>
          <a:xfrm>
            <a:off x="6364224" y="2651760"/>
            <a:ext cx="2267712" cy="822960"/>
          </a:xfrm>
          <a:prstGeom prst="roundRect">
            <a:avLst>
              <a:gd name="adj" fmla="val 6667"/>
            </a:avLst>
          </a:prstGeom>
          <a:solidFill>
            <a:srgbClr val="EEF4F3"/>
          </a:solidFill>
          <a:ln/>
        </p:spPr>
      </p:sp>
      <p:sp>
        <p:nvSpPr>
          <p:cNvPr id="20" name="Text 18"/>
          <p:cNvSpPr txBox="1"/>
          <p:nvPr/>
        </p:nvSpPr>
        <p:spPr>
          <a:xfrm>
            <a:off x="6437376" y="2651760"/>
            <a:ext cx="2176272" cy="822960"/>
          </a:xfrm>
          <a:prstGeom prst="rect">
            <a:avLst/>
          </a:prstGeom>
          <a:noFill/>
          <a:ln/>
        </p:spPr>
        <p:txBody>
          <a:bodyPr wrap="square" lIns="0" tIns="0" rIns="0" bIns="0" rtlCol="0" anchor="ctr"/>
          <a:lstStyle/>
          <a:p>
            <a:pPr marL="0" indent="0">
              <a:buNone/>
            </a:pPr>
            <a:r>
              <a:rPr lang="en-US" sz="1200" dirty="0">
                <a:solidFill>
                  <a:srgbClr val="0E3B43"/>
                </a:solidFill>
                <a:latin typeface="Courier New" pitchFamily="34" charset="0"/>
                <a:ea typeface="Courier New" pitchFamily="34" charset="-122"/>
                <a:cs typeface="Courier New" pitchFamily="34" charset="-120"/>
              </a:rPr>
              <a:t>Public ALB DNS</a:t>
            </a:r>
            <a:endParaRPr lang="en-US" sz="1200" dirty="0"/>
          </a:p>
          <a:p>
            <a:pPr marL="0" indent="0">
              <a:buNone/>
            </a:pPr>
            <a:r>
              <a:rPr lang="en-US" sz="1200" dirty="0">
                <a:solidFill>
                  <a:srgbClr val="0E3B43"/>
                </a:solidFill>
                <a:latin typeface="Courier New" pitchFamily="34" charset="0"/>
                <a:ea typeface="Courier New" pitchFamily="34" charset="-122"/>
                <a:cs typeface="Courier New" pitchFamily="34" charset="-120"/>
              </a:rPr>
              <a:t>→ connection blocked</a:t>
            </a:r>
            <a:endParaRPr lang="en-US" sz="1200" dirty="0"/>
          </a:p>
        </p:txBody>
      </p:sp>
      <p:sp>
        <p:nvSpPr>
          <p:cNvPr id="21" name="card"/>
          <p:cNvSpPr/>
          <p:nvPr/>
        </p:nvSpPr>
        <p:spPr>
          <a:xfrm>
            <a:off x="8997696" y="1463040"/>
            <a:ext cx="2633472" cy="2194560"/>
          </a:xfrm>
          <a:prstGeom prst="roundRect">
            <a:avLst>
              <a:gd name="adj" fmla="val 4167"/>
            </a:avLst>
          </a:prstGeom>
          <a:solidFill>
            <a:srgbClr val="FFFFFF"/>
          </a:solidFill>
          <a:ln/>
          <a:effectLst>
            <a:outerShdw blurRad="114300" dist="25400" dir="5400000" algn="bl" rotWithShape="0">
              <a:srgbClr val="0E3B43">
                <a:alpha val="13000"/>
              </a:srgbClr>
            </a:outerShdw>
          </a:effectLst>
        </p:spPr>
      </p:sp>
      <p:sp>
        <p:nvSpPr>
          <p:cNvPr id="22" name="Text 20"/>
          <p:cNvSpPr txBox="1"/>
          <p:nvPr/>
        </p:nvSpPr>
        <p:spPr>
          <a:xfrm>
            <a:off x="9180576" y="1600200"/>
            <a:ext cx="2286000" cy="594360"/>
          </a:xfrm>
          <a:prstGeom prst="rect">
            <a:avLst/>
          </a:prstGeom>
          <a:noFill/>
          <a:ln/>
        </p:spPr>
        <p:txBody>
          <a:bodyPr wrap="square" lIns="0" tIns="0" rIns="0" bIns="0" rtlCol="0" anchor="ctr"/>
          <a:lstStyle/>
          <a:p>
            <a:pPr marL="0" indent="0">
              <a:buNone/>
            </a:pPr>
            <a:r>
              <a:rPr lang="en-US" sz="3400" b="1" dirty="0">
                <a:solidFill>
                  <a:schemeClr val="accent1"/>
                </a:solidFill>
                <a:latin typeface="+mj-lt" pitchFamily="34" charset="0"/>
                <a:ea typeface="+mj-lt" pitchFamily="34" charset="-122"/>
                <a:cs typeface="+mj-lt" pitchFamily="34" charset="-120"/>
              </a:rPr>
              <a:t>401 → 200</a:t>
            </a:r>
            <a:endParaRPr lang="en-US" sz="3400" dirty="0"/>
          </a:p>
        </p:txBody>
      </p:sp>
      <p:sp>
        <p:nvSpPr>
          <p:cNvPr id="23" name="Text 21"/>
          <p:cNvSpPr txBox="1"/>
          <p:nvPr/>
        </p:nvSpPr>
        <p:spPr>
          <a:xfrm>
            <a:off x="9180576" y="2240280"/>
            <a:ext cx="2286000" cy="292608"/>
          </a:xfrm>
          <a:prstGeom prst="rect">
            <a:avLst/>
          </a:prstGeom>
          <a:noFill/>
          <a:ln/>
        </p:spPr>
        <p:txBody>
          <a:bodyPr wrap="square" lIns="0" tIns="0" rIns="0" bIns="0" rtlCol="0" anchor="t"/>
          <a:lstStyle/>
          <a:p>
            <a:pPr marL="0" indent="0">
              <a:buNone/>
            </a:pPr>
            <a:r>
              <a:rPr lang="en-US" sz="1500" b="1" dirty="0">
                <a:solidFill>
                  <a:srgbClr val="132226"/>
                </a:solidFill>
              </a:rPr>
              <a:t>Protected API</a:t>
            </a:r>
            <a:endParaRPr lang="en-US" sz="1500" dirty="0"/>
          </a:p>
        </p:txBody>
      </p:sp>
      <p:sp>
        <p:nvSpPr>
          <p:cNvPr id="24" name="test box"/>
          <p:cNvSpPr/>
          <p:nvPr/>
        </p:nvSpPr>
        <p:spPr>
          <a:xfrm>
            <a:off x="9180576" y="2651760"/>
            <a:ext cx="2267712" cy="822960"/>
          </a:xfrm>
          <a:prstGeom prst="roundRect">
            <a:avLst>
              <a:gd name="adj" fmla="val 6667"/>
            </a:avLst>
          </a:prstGeom>
          <a:solidFill>
            <a:srgbClr val="EEF4F3"/>
          </a:solidFill>
          <a:ln/>
        </p:spPr>
      </p:sp>
      <p:sp>
        <p:nvSpPr>
          <p:cNvPr id="25" name="Text 23"/>
          <p:cNvSpPr txBox="1"/>
          <p:nvPr/>
        </p:nvSpPr>
        <p:spPr>
          <a:xfrm>
            <a:off x="9253728" y="2651760"/>
            <a:ext cx="2176272" cy="822960"/>
          </a:xfrm>
          <a:prstGeom prst="rect">
            <a:avLst/>
          </a:prstGeom>
          <a:noFill/>
          <a:ln/>
        </p:spPr>
        <p:txBody>
          <a:bodyPr wrap="square" lIns="0" tIns="0" rIns="0" bIns="0" rtlCol="0" anchor="ctr"/>
          <a:lstStyle/>
          <a:p>
            <a:pPr marL="0" indent="0">
              <a:buNone/>
            </a:pPr>
            <a:r>
              <a:rPr lang="en-US" sz="1200" dirty="0">
                <a:solidFill>
                  <a:srgbClr val="0E3B43"/>
                </a:solidFill>
                <a:latin typeface="Courier New" pitchFamily="34" charset="0"/>
                <a:ea typeface="Courier New" pitchFamily="34" charset="-122"/>
                <a:cs typeface="Courier New" pitchFamily="34" charset="-120"/>
              </a:rPr>
              <a:t>No JWT → 401</a:t>
            </a:r>
            <a:endParaRPr lang="en-US" sz="1200" dirty="0"/>
          </a:p>
          <a:p>
            <a:pPr marL="0" indent="0">
              <a:buNone/>
            </a:pPr>
            <a:r>
              <a:rPr lang="en-US" sz="1200" dirty="0">
                <a:solidFill>
                  <a:srgbClr val="0E3B43"/>
                </a:solidFill>
                <a:latin typeface="Courier New" pitchFamily="34" charset="0"/>
                <a:ea typeface="Courier New" pitchFamily="34" charset="-122"/>
                <a:cs typeface="Courier New" pitchFamily="34" charset="-120"/>
              </a:rPr>
              <a:t>Valid Cognito JWT → 200</a:t>
            </a:r>
            <a:endParaRPr lang="en-US" sz="1200" dirty="0"/>
          </a:p>
        </p:txBody>
      </p:sp>
      <p:sp>
        <p:nvSpPr>
          <p:cNvPr id="26" name="card"/>
          <p:cNvSpPr/>
          <p:nvPr/>
        </p:nvSpPr>
        <p:spPr>
          <a:xfrm>
            <a:off x="548640" y="3886200"/>
            <a:ext cx="11091672" cy="2240280"/>
          </a:xfrm>
          <a:prstGeom prst="roundRect">
            <a:avLst>
              <a:gd name="adj" fmla="val 4082"/>
            </a:avLst>
          </a:prstGeom>
          <a:solidFill>
            <a:srgbClr val="FFFFFF"/>
          </a:solidFill>
          <a:ln/>
          <a:effectLst>
            <a:outerShdw blurRad="114300" dist="25400" dir="5400000" algn="bl" rotWithShape="0">
              <a:srgbClr val="0E3B43">
                <a:alpha val="13000"/>
              </a:srgbClr>
            </a:outerShdw>
          </a:effectLst>
        </p:spPr>
      </p:sp>
      <p:sp>
        <p:nvSpPr>
          <p:cNvPr id="27" name="validated circle"/>
          <p:cNvSpPr/>
          <p:nvPr/>
        </p:nvSpPr>
        <p:spPr>
          <a:xfrm>
            <a:off x="777240" y="4041648"/>
            <a:ext cx="438912" cy="438912"/>
          </a:xfrm>
          <a:prstGeom prst="ellipse">
            <a:avLst/>
          </a:prstGeom>
          <a:solidFill>
            <a:schemeClr val="accent3"/>
          </a:solidFill>
          <a:ln/>
        </p:spPr>
      </p:sp>
      <p:pic>
        <p:nvPicPr>
          <p:cNvPr id="28" name="validated" descr="preencoded.png"/>
          <p:cNvPicPr>
            <a:picLocks noChangeAspect="1"/>
          </p:cNvPicPr>
          <p:nvPr/>
        </p:nvPicPr>
        <p:blipFill>
          <a:blip r:embed="rId3"/>
          <a:stretch>
            <a:fillRect/>
          </a:stretch>
        </p:blipFill>
        <p:spPr>
          <a:xfrm>
            <a:off x="882579" y="4146987"/>
            <a:ext cx="228234" cy="228234"/>
          </a:xfrm>
          <a:prstGeom prst="rect">
            <a:avLst/>
          </a:prstGeom>
        </p:spPr>
      </p:pic>
      <p:sp>
        <p:nvSpPr>
          <p:cNvPr id="29" name="Text 26"/>
          <p:cNvSpPr txBox="1"/>
          <p:nvPr/>
        </p:nvSpPr>
        <p:spPr>
          <a:xfrm>
            <a:off x="1371600" y="4041648"/>
            <a:ext cx="7315200" cy="438912"/>
          </a:xfrm>
          <a:prstGeom prst="rect">
            <a:avLst/>
          </a:prstGeom>
          <a:noFill/>
          <a:ln/>
        </p:spPr>
        <p:txBody>
          <a:bodyPr wrap="square" lIns="0" tIns="0" rIns="0" bIns="0" rtlCol="0" anchor="ctr"/>
          <a:lstStyle/>
          <a:p>
            <a:pPr marL="0" indent="0">
              <a:buNone/>
            </a:pPr>
            <a:r>
              <a:rPr lang="en-US" sz="1700" b="1" dirty="0">
                <a:solidFill>
                  <a:srgbClr val="0E3B43"/>
                </a:solidFill>
                <a:latin typeface="+mj-lt" pitchFamily="34" charset="0"/>
                <a:ea typeface="+mj-lt" pitchFamily="34" charset="-122"/>
                <a:cs typeface="+mj-lt" pitchFamily="34" charset="-120"/>
              </a:rPr>
              <a:t>Additional validation completed</a:t>
            </a:r>
            <a:endParaRPr lang="en-US" sz="1700" dirty="0"/>
          </a:p>
        </p:txBody>
      </p:sp>
      <p:sp>
        <p:nvSpPr>
          <p:cNvPr id="30" name="check circle"/>
          <p:cNvSpPr/>
          <p:nvPr/>
        </p:nvSpPr>
        <p:spPr>
          <a:xfrm>
            <a:off x="822960" y="4681728"/>
            <a:ext cx="274320" cy="274320"/>
          </a:xfrm>
          <a:prstGeom prst="ellipse">
            <a:avLst/>
          </a:prstGeom>
          <a:solidFill>
            <a:schemeClr val="accent3"/>
          </a:solidFill>
          <a:ln/>
        </p:spPr>
      </p:sp>
      <p:pic>
        <p:nvPicPr>
          <p:cNvPr id="31" name="check" descr="preencoded.png"/>
          <p:cNvPicPr>
            <a:picLocks noChangeAspect="1"/>
          </p:cNvPicPr>
          <p:nvPr/>
        </p:nvPicPr>
        <p:blipFill>
          <a:blip r:embed="rId4"/>
          <a:stretch>
            <a:fillRect/>
          </a:stretch>
        </p:blipFill>
        <p:spPr>
          <a:xfrm>
            <a:off x="888797" y="4747565"/>
            <a:ext cx="142646" cy="142646"/>
          </a:xfrm>
          <a:prstGeom prst="rect">
            <a:avLst/>
          </a:prstGeom>
        </p:spPr>
      </p:pic>
      <p:sp>
        <p:nvSpPr>
          <p:cNvPr id="32" name="Text 28"/>
          <p:cNvSpPr txBox="1"/>
          <p:nvPr/>
        </p:nvSpPr>
        <p:spPr>
          <a:xfrm>
            <a:off x="1234440" y="4645152"/>
            <a:ext cx="4937760" cy="347472"/>
          </a:xfrm>
          <a:prstGeom prst="rect">
            <a:avLst/>
          </a:prstGeom>
          <a:noFill/>
          <a:ln/>
        </p:spPr>
        <p:txBody>
          <a:bodyPr wrap="square" lIns="0" tIns="0" rIns="0" bIns="0" rtlCol="0" anchor="ctr"/>
          <a:lstStyle/>
          <a:p>
            <a:pPr marL="0" indent="0">
              <a:buNone/>
            </a:pPr>
            <a:r>
              <a:rPr lang="en-US" sz="1400" dirty="0">
                <a:solidFill>
                  <a:srgbClr val="132226"/>
                </a:solidFill>
              </a:rPr>
              <a:t>ECS service: desired 2 / running 2 / pending 0</a:t>
            </a:r>
            <a:endParaRPr lang="en-US" sz="1400" dirty="0"/>
          </a:p>
        </p:txBody>
      </p:sp>
      <p:sp>
        <p:nvSpPr>
          <p:cNvPr id="33" name="check circle"/>
          <p:cNvSpPr/>
          <p:nvPr/>
        </p:nvSpPr>
        <p:spPr>
          <a:xfrm>
            <a:off x="822960" y="5157216"/>
            <a:ext cx="274320" cy="274320"/>
          </a:xfrm>
          <a:prstGeom prst="ellipse">
            <a:avLst/>
          </a:prstGeom>
          <a:solidFill>
            <a:schemeClr val="accent3"/>
          </a:solidFill>
          <a:ln/>
        </p:spPr>
      </p:sp>
      <p:pic>
        <p:nvPicPr>
          <p:cNvPr id="34" name="check" descr="preencoded.png"/>
          <p:cNvPicPr>
            <a:picLocks noChangeAspect="1"/>
          </p:cNvPicPr>
          <p:nvPr/>
        </p:nvPicPr>
        <p:blipFill>
          <a:blip r:embed="rId4"/>
          <a:stretch>
            <a:fillRect/>
          </a:stretch>
        </p:blipFill>
        <p:spPr>
          <a:xfrm>
            <a:off x="888797" y="5223053"/>
            <a:ext cx="142646" cy="142646"/>
          </a:xfrm>
          <a:prstGeom prst="rect">
            <a:avLst/>
          </a:prstGeom>
        </p:spPr>
      </p:pic>
      <p:sp>
        <p:nvSpPr>
          <p:cNvPr id="35" name="Text 30"/>
          <p:cNvSpPr txBox="1"/>
          <p:nvPr/>
        </p:nvSpPr>
        <p:spPr>
          <a:xfrm>
            <a:off x="1234440" y="5120640"/>
            <a:ext cx="4937760" cy="347472"/>
          </a:xfrm>
          <a:prstGeom prst="rect">
            <a:avLst/>
          </a:prstGeom>
          <a:noFill/>
          <a:ln/>
        </p:spPr>
        <p:txBody>
          <a:bodyPr wrap="square" lIns="0" tIns="0" rIns="0" bIns="0" rtlCol="0" anchor="ctr"/>
          <a:lstStyle/>
          <a:p>
            <a:pPr marL="0" indent="0">
              <a:buNone/>
            </a:pPr>
            <a:r>
              <a:rPr lang="en-US" sz="1400" dirty="0">
                <a:solidFill>
                  <a:srgbClr val="132226"/>
                </a:solidFill>
              </a:rPr>
              <a:t>Targets healthy in both private app subnets</a:t>
            </a:r>
            <a:endParaRPr lang="en-US" sz="1400" dirty="0"/>
          </a:p>
        </p:txBody>
      </p:sp>
      <p:sp>
        <p:nvSpPr>
          <p:cNvPr id="36" name="check circle"/>
          <p:cNvSpPr/>
          <p:nvPr/>
        </p:nvSpPr>
        <p:spPr>
          <a:xfrm>
            <a:off x="822960" y="5632704"/>
            <a:ext cx="274320" cy="274320"/>
          </a:xfrm>
          <a:prstGeom prst="ellipse">
            <a:avLst/>
          </a:prstGeom>
          <a:solidFill>
            <a:schemeClr val="accent3"/>
          </a:solidFill>
          <a:ln/>
        </p:spPr>
      </p:sp>
      <p:pic>
        <p:nvPicPr>
          <p:cNvPr id="37" name="check" descr="preencoded.png"/>
          <p:cNvPicPr>
            <a:picLocks noChangeAspect="1"/>
          </p:cNvPicPr>
          <p:nvPr/>
        </p:nvPicPr>
        <p:blipFill>
          <a:blip r:embed="rId4"/>
          <a:stretch>
            <a:fillRect/>
          </a:stretch>
        </p:blipFill>
        <p:spPr>
          <a:xfrm>
            <a:off x="888797" y="5698541"/>
            <a:ext cx="142646" cy="142646"/>
          </a:xfrm>
          <a:prstGeom prst="rect">
            <a:avLst/>
          </a:prstGeom>
        </p:spPr>
      </p:pic>
      <p:sp>
        <p:nvSpPr>
          <p:cNvPr id="38" name="Text 32"/>
          <p:cNvSpPr txBox="1"/>
          <p:nvPr/>
        </p:nvSpPr>
        <p:spPr>
          <a:xfrm>
            <a:off x="1234440" y="5596128"/>
            <a:ext cx="4937760" cy="347472"/>
          </a:xfrm>
          <a:prstGeom prst="rect">
            <a:avLst/>
          </a:prstGeom>
          <a:noFill/>
          <a:ln/>
        </p:spPr>
        <p:txBody>
          <a:bodyPr wrap="square" lIns="0" tIns="0" rIns="0" bIns="0" rtlCol="0" anchor="ctr"/>
          <a:lstStyle/>
          <a:p>
            <a:pPr marL="0" indent="0">
              <a:buNone/>
            </a:pPr>
            <a:r>
              <a:rPr lang="en-US" sz="1400" dirty="0">
                <a:solidFill>
                  <a:srgbClr val="132226"/>
                </a:solidFill>
              </a:rPr>
              <a:t>Auto scaling test: 2 → 4 tasks</a:t>
            </a:r>
            <a:endParaRPr lang="en-US" sz="1400" dirty="0"/>
          </a:p>
        </p:txBody>
      </p:sp>
      <p:sp>
        <p:nvSpPr>
          <p:cNvPr id="39" name="check circle"/>
          <p:cNvSpPr/>
          <p:nvPr/>
        </p:nvSpPr>
        <p:spPr>
          <a:xfrm>
            <a:off x="6309360" y="4681728"/>
            <a:ext cx="274320" cy="274320"/>
          </a:xfrm>
          <a:prstGeom prst="ellipse">
            <a:avLst/>
          </a:prstGeom>
          <a:solidFill>
            <a:schemeClr val="accent3"/>
          </a:solidFill>
          <a:ln/>
        </p:spPr>
      </p:sp>
      <p:pic>
        <p:nvPicPr>
          <p:cNvPr id="40" name="check" descr="preencoded.png"/>
          <p:cNvPicPr>
            <a:picLocks noChangeAspect="1"/>
          </p:cNvPicPr>
          <p:nvPr/>
        </p:nvPicPr>
        <p:blipFill>
          <a:blip r:embed="rId4"/>
          <a:stretch>
            <a:fillRect/>
          </a:stretch>
        </p:blipFill>
        <p:spPr>
          <a:xfrm>
            <a:off x="6375197" y="4747565"/>
            <a:ext cx="142646" cy="142646"/>
          </a:xfrm>
          <a:prstGeom prst="rect">
            <a:avLst/>
          </a:prstGeom>
        </p:spPr>
      </p:pic>
      <p:sp>
        <p:nvSpPr>
          <p:cNvPr id="41" name="Text 34"/>
          <p:cNvSpPr txBox="1"/>
          <p:nvPr/>
        </p:nvSpPr>
        <p:spPr>
          <a:xfrm>
            <a:off x="6720840" y="4645152"/>
            <a:ext cx="4937760" cy="347472"/>
          </a:xfrm>
          <a:prstGeom prst="rect">
            <a:avLst/>
          </a:prstGeom>
          <a:noFill/>
          <a:ln/>
        </p:spPr>
        <p:txBody>
          <a:bodyPr wrap="square" lIns="0" tIns="0" rIns="0" bIns="0" rtlCol="0" anchor="ctr"/>
          <a:lstStyle/>
          <a:p>
            <a:pPr marL="0" indent="0">
              <a:buNone/>
            </a:pPr>
            <a:r>
              <a:rPr lang="en-US" sz="1400" dirty="0">
                <a:solidFill>
                  <a:srgbClr val="132226"/>
                </a:solidFill>
              </a:rPr>
              <a:t>CloudFront status: Deployed</a:t>
            </a:r>
            <a:endParaRPr lang="en-US" sz="1400" dirty="0"/>
          </a:p>
        </p:txBody>
      </p:sp>
      <p:sp>
        <p:nvSpPr>
          <p:cNvPr id="42" name="check circle"/>
          <p:cNvSpPr/>
          <p:nvPr/>
        </p:nvSpPr>
        <p:spPr>
          <a:xfrm>
            <a:off x="6309360" y="5157216"/>
            <a:ext cx="274320" cy="274320"/>
          </a:xfrm>
          <a:prstGeom prst="ellipse">
            <a:avLst/>
          </a:prstGeom>
          <a:solidFill>
            <a:schemeClr val="accent3"/>
          </a:solidFill>
          <a:ln/>
        </p:spPr>
      </p:sp>
      <p:pic>
        <p:nvPicPr>
          <p:cNvPr id="43" name="check" descr="preencoded.png"/>
          <p:cNvPicPr>
            <a:picLocks noChangeAspect="1"/>
          </p:cNvPicPr>
          <p:nvPr/>
        </p:nvPicPr>
        <p:blipFill>
          <a:blip r:embed="rId4"/>
          <a:stretch>
            <a:fillRect/>
          </a:stretch>
        </p:blipFill>
        <p:spPr>
          <a:xfrm>
            <a:off x="6375197" y="5223053"/>
            <a:ext cx="142646" cy="142646"/>
          </a:xfrm>
          <a:prstGeom prst="rect">
            <a:avLst/>
          </a:prstGeom>
        </p:spPr>
      </p:pic>
      <p:sp>
        <p:nvSpPr>
          <p:cNvPr id="44" name="Text 36"/>
          <p:cNvSpPr txBox="1"/>
          <p:nvPr/>
        </p:nvSpPr>
        <p:spPr>
          <a:xfrm>
            <a:off x="6720840" y="5120640"/>
            <a:ext cx="4937760" cy="347472"/>
          </a:xfrm>
          <a:prstGeom prst="rect">
            <a:avLst/>
          </a:prstGeom>
          <a:noFill/>
          <a:ln/>
        </p:spPr>
        <p:txBody>
          <a:bodyPr wrap="square" lIns="0" tIns="0" rIns="0" bIns="0" rtlCol="0" anchor="ctr"/>
          <a:lstStyle/>
          <a:p>
            <a:pPr marL="0" indent="0">
              <a:buNone/>
            </a:pPr>
            <a:r>
              <a:rPr lang="en-US" sz="1400" dirty="0">
                <a:solidFill>
                  <a:srgbClr val="132226"/>
                </a:solidFill>
              </a:rPr>
              <a:t>ACM certificate: ISSUED / validation SUCCESS</a:t>
            </a:r>
            <a:endParaRPr lang="en-US" sz="1400" dirty="0"/>
          </a:p>
        </p:txBody>
      </p:sp>
      <p:sp>
        <p:nvSpPr>
          <p:cNvPr id="45" name="check circle"/>
          <p:cNvSpPr/>
          <p:nvPr/>
        </p:nvSpPr>
        <p:spPr>
          <a:xfrm>
            <a:off x="6309360" y="5632704"/>
            <a:ext cx="274320" cy="274320"/>
          </a:xfrm>
          <a:prstGeom prst="ellipse">
            <a:avLst/>
          </a:prstGeom>
          <a:solidFill>
            <a:schemeClr val="accent3"/>
          </a:solidFill>
          <a:ln/>
        </p:spPr>
      </p:sp>
      <p:pic>
        <p:nvPicPr>
          <p:cNvPr id="46" name="check" descr="preencoded.png"/>
          <p:cNvPicPr>
            <a:picLocks noChangeAspect="1"/>
          </p:cNvPicPr>
          <p:nvPr/>
        </p:nvPicPr>
        <p:blipFill>
          <a:blip r:embed="rId4"/>
          <a:stretch>
            <a:fillRect/>
          </a:stretch>
        </p:blipFill>
        <p:spPr>
          <a:xfrm>
            <a:off x="6375197" y="5698541"/>
            <a:ext cx="142646" cy="142646"/>
          </a:xfrm>
          <a:prstGeom prst="rect">
            <a:avLst/>
          </a:prstGeom>
        </p:spPr>
      </p:pic>
      <p:sp>
        <p:nvSpPr>
          <p:cNvPr id="47" name="Text 38"/>
          <p:cNvSpPr txBox="1"/>
          <p:nvPr/>
        </p:nvSpPr>
        <p:spPr>
          <a:xfrm>
            <a:off x="6720840" y="5596128"/>
            <a:ext cx="4937760" cy="347472"/>
          </a:xfrm>
          <a:prstGeom prst="rect">
            <a:avLst/>
          </a:prstGeom>
          <a:noFill/>
          <a:ln/>
        </p:spPr>
        <p:txBody>
          <a:bodyPr wrap="square" lIns="0" tIns="0" rIns="0" bIns="0" rtlCol="0" anchor="ctr"/>
          <a:lstStyle/>
          <a:p>
            <a:pPr marL="0" indent="0">
              <a:buNone/>
            </a:pPr>
            <a:r>
              <a:rPr lang="en-US" sz="1400" dirty="0">
                <a:solidFill>
                  <a:srgbClr val="132226"/>
                </a:solidFill>
              </a:rPr>
              <a:t>Morning recovery: manual end-to-end run, all jobs green</a:t>
            </a:r>
            <a:endParaRPr lang="en-US" sz="1400" dirty="0"/>
          </a:p>
        </p:txBody>
      </p:sp>
      <p:sp>
        <p:nvSpPr>
          <p:cNvPr id="48"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Engineering challenges I solved</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The capstone included real troubleshooting — not only successful “happy path” deployments.</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Lessons</a:t>
            </a:r>
            <a:endParaRPr lang="en-US" sz="1200" dirty="0"/>
          </a:p>
        </p:txBody>
      </p:sp>
      <p:sp>
        <p:nvSpPr>
          <p:cNvPr id="6" name="card"/>
          <p:cNvSpPr/>
          <p:nvPr/>
        </p:nvSpPr>
        <p:spPr>
          <a:xfrm>
            <a:off x="548640" y="1463040"/>
            <a:ext cx="5454396"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7" name="problem number"/>
          <p:cNvSpPr/>
          <p:nvPr/>
        </p:nvSpPr>
        <p:spPr>
          <a:xfrm>
            <a:off x="749808" y="1645920"/>
            <a:ext cx="438912" cy="438912"/>
          </a:xfrm>
          <a:prstGeom prst="ellipse">
            <a:avLst/>
          </a:prstGeom>
          <a:solidFill>
            <a:schemeClr val="tx2"/>
          </a:solidFill>
          <a:ln/>
        </p:spPr>
      </p:sp>
      <p:sp>
        <p:nvSpPr>
          <p:cNvPr id="8" name="Text 6"/>
          <p:cNvSpPr txBox="1"/>
          <p:nvPr/>
        </p:nvSpPr>
        <p:spPr>
          <a:xfrm>
            <a:off x="749808" y="1645920"/>
            <a:ext cx="438912" cy="438912"/>
          </a:xfrm>
          <a:prstGeom prst="rect">
            <a:avLst/>
          </a:prstGeom>
          <a:noFill/>
          <a:ln/>
        </p:spPr>
        <p:txBody>
          <a:bodyPr wrap="square" lIns="0" tIns="0" rIns="0" bIns="0" rtlCol="0" anchor="ctr"/>
          <a:lstStyle/>
          <a:p>
            <a:pPr marL="0" indent="0" algn="ctr">
              <a:buNone/>
            </a:pPr>
            <a:r>
              <a:rPr lang="en-US" sz="1300" b="1" dirty="0">
                <a:solidFill>
                  <a:srgbClr val="F2A541"/>
                </a:solidFill>
              </a:rPr>
              <a:t>01</a:t>
            </a:r>
            <a:endParaRPr lang="en-US" sz="1300" dirty="0"/>
          </a:p>
        </p:txBody>
      </p:sp>
      <p:sp>
        <p:nvSpPr>
          <p:cNvPr id="9" name="Text 7"/>
          <p:cNvSpPr txBox="1"/>
          <p:nvPr/>
        </p:nvSpPr>
        <p:spPr>
          <a:xfrm>
            <a:off x="1371600" y="1645920"/>
            <a:ext cx="4434840" cy="438912"/>
          </a:xfrm>
          <a:prstGeom prst="rect">
            <a:avLst/>
          </a:prstGeom>
          <a:noFill/>
          <a:ln/>
        </p:spPr>
        <p:txBody>
          <a:bodyPr wrap="square" lIns="0" tIns="0" rIns="0" bIns="0" rtlCol="0" anchor="ctr"/>
          <a:lstStyle/>
          <a:p>
            <a:pPr marL="0" indent="0">
              <a:buNone/>
            </a:pPr>
            <a:r>
              <a:rPr lang="en-US" sz="1600" b="1" dirty="0">
                <a:solidFill>
                  <a:srgbClr val="132226"/>
                </a:solidFill>
              </a:rPr>
              <a:t>Nightly sandbox cleanup</a:t>
            </a:r>
            <a:endParaRPr lang="en-US" sz="1600" dirty="0"/>
          </a:p>
        </p:txBody>
      </p:sp>
      <p:sp>
        <p:nvSpPr>
          <p:cNvPr id="10" name="Text 8"/>
          <p:cNvSpPr txBox="1"/>
          <p:nvPr/>
        </p:nvSpPr>
        <p:spPr>
          <a:xfrm>
            <a:off x="1371600" y="2194560"/>
            <a:ext cx="411480" cy="274320"/>
          </a:xfrm>
          <a:prstGeom prst="rect">
            <a:avLst/>
          </a:prstGeom>
          <a:noFill/>
          <a:ln/>
        </p:spPr>
        <p:txBody>
          <a:bodyPr wrap="square" lIns="0" tIns="0" rIns="0" bIns="0" rtlCol="0" anchor="t"/>
          <a:lstStyle/>
          <a:p>
            <a:pPr marL="0" indent="0">
              <a:buNone/>
            </a:pPr>
            <a:r>
              <a:rPr lang="en-US" sz="1100" b="1" kern="0" spc="100" dirty="0">
                <a:solidFill>
                  <a:srgbClr val="1F9A82"/>
                </a:solidFill>
              </a:rPr>
              <a:t>FIX</a:t>
            </a:r>
            <a:endParaRPr lang="en-US" sz="1100" dirty="0"/>
          </a:p>
        </p:txBody>
      </p:sp>
      <p:sp>
        <p:nvSpPr>
          <p:cNvPr id="11" name="Text 9"/>
          <p:cNvSpPr txBox="1"/>
          <p:nvPr/>
        </p:nvSpPr>
        <p:spPr>
          <a:xfrm>
            <a:off x="1828800" y="2157984"/>
            <a:ext cx="4023360" cy="658368"/>
          </a:xfrm>
          <a:prstGeom prst="rect">
            <a:avLst/>
          </a:prstGeom>
          <a:noFill/>
          <a:ln/>
        </p:spPr>
        <p:txBody>
          <a:bodyPr wrap="square" lIns="0" tIns="0" rIns="0" bIns="0" rtlCol="0" anchor="t"/>
          <a:lstStyle/>
          <a:p>
            <a:pPr marL="0" indent="0">
              <a:buNone/>
            </a:pPr>
            <a:r>
              <a:rPr lang="en-US" sz="1400" dirty="0">
                <a:solidFill>
                  <a:srgbClr val="4A5B5E"/>
                </a:solidFill>
              </a:rPr>
              <a:t>Built Terraform / HCP reproducibility plus a morning recovery pipeline.</a:t>
            </a:r>
            <a:endParaRPr lang="en-US" sz="1400" dirty="0"/>
          </a:p>
        </p:txBody>
      </p:sp>
      <p:sp>
        <p:nvSpPr>
          <p:cNvPr id="12" name="card"/>
          <p:cNvSpPr/>
          <p:nvPr/>
        </p:nvSpPr>
        <p:spPr>
          <a:xfrm>
            <a:off x="6185916" y="1463040"/>
            <a:ext cx="5454396"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13" name="problem number"/>
          <p:cNvSpPr/>
          <p:nvPr/>
        </p:nvSpPr>
        <p:spPr>
          <a:xfrm>
            <a:off x="6387084" y="1645920"/>
            <a:ext cx="438912" cy="438912"/>
          </a:xfrm>
          <a:prstGeom prst="ellipse">
            <a:avLst/>
          </a:prstGeom>
          <a:solidFill>
            <a:schemeClr val="tx2"/>
          </a:solidFill>
          <a:ln/>
        </p:spPr>
      </p:sp>
      <p:sp>
        <p:nvSpPr>
          <p:cNvPr id="14" name="Text 12"/>
          <p:cNvSpPr txBox="1"/>
          <p:nvPr/>
        </p:nvSpPr>
        <p:spPr>
          <a:xfrm>
            <a:off x="6387084" y="1645920"/>
            <a:ext cx="438912" cy="438912"/>
          </a:xfrm>
          <a:prstGeom prst="rect">
            <a:avLst/>
          </a:prstGeom>
          <a:noFill/>
          <a:ln/>
        </p:spPr>
        <p:txBody>
          <a:bodyPr wrap="square" lIns="0" tIns="0" rIns="0" bIns="0" rtlCol="0" anchor="ctr"/>
          <a:lstStyle/>
          <a:p>
            <a:pPr marL="0" indent="0" algn="ctr">
              <a:buNone/>
            </a:pPr>
            <a:r>
              <a:rPr lang="en-US" sz="1300" b="1" dirty="0">
                <a:solidFill>
                  <a:srgbClr val="F2A541"/>
                </a:solidFill>
              </a:rPr>
              <a:t>02</a:t>
            </a:r>
            <a:endParaRPr lang="en-US" sz="1300" dirty="0"/>
          </a:p>
        </p:txBody>
      </p:sp>
      <p:sp>
        <p:nvSpPr>
          <p:cNvPr id="15" name="Text 13"/>
          <p:cNvSpPr txBox="1"/>
          <p:nvPr/>
        </p:nvSpPr>
        <p:spPr>
          <a:xfrm>
            <a:off x="7008876" y="1645920"/>
            <a:ext cx="4434840" cy="438912"/>
          </a:xfrm>
          <a:prstGeom prst="rect">
            <a:avLst/>
          </a:prstGeom>
          <a:noFill/>
          <a:ln/>
        </p:spPr>
        <p:txBody>
          <a:bodyPr wrap="square" lIns="0" tIns="0" rIns="0" bIns="0" rtlCol="0" anchor="ctr"/>
          <a:lstStyle/>
          <a:p>
            <a:pPr marL="0" indent="0">
              <a:buNone/>
            </a:pPr>
            <a:r>
              <a:rPr lang="en-US" sz="1600" b="1" dirty="0">
                <a:solidFill>
                  <a:srgbClr val="132226"/>
                </a:solidFill>
              </a:rPr>
              <a:t>Route 53 must survive cleanup</a:t>
            </a:r>
            <a:endParaRPr lang="en-US" sz="1600" dirty="0"/>
          </a:p>
        </p:txBody>
      </p:sp>
      <p:sp>
        <p:nvSpPr>
          <p:cNvPr id="16" name="Text 14"/>
          <p:cNvSpPr txBox="1"/>
          <p:nvPr/>
        </p:nvSpPr>
        <p:spPr>
          <a:xfrm>
            <a:off x="7008876" y="2194560"/>
            <a:ext cx="411480" cy="274320"/>
          </a:xfrm>
          <a:prstGeom prst="rect">
            <a:avLst/>
          </a:prstGeom>
          <a:noFill/>
          <a:ln/>
        </p:spPr>
        <p:txBody>
          <a:bodyPr wrap="square" lIns="0" tIns="0" rIns="0" bIns="0" rtlCol="0" anchor="t"/>
          <a:lstStyle/>
          <a:p>
            <a:pPr marL="0" indent="0">
              <a:buNone/>
            </a:pPr>
            <a:r>
              <a:rPr lang="en-US" sz="1100" b="1" kern="0" spc="100" dirty="0">
                <a:solidFill>
                  <a:srgbClr val="1F9A82"/>
                </a:solidFill>
              </a:rPr>
              <a:t>FIX</a:t>
            </a:r>
            <a:endParaRPr lang="en-US" sz="1100" dirty="0"/>
          </a:p>
        </p:txBody>
      </p:sp>
      <p:sp>
        <p:nvSpPr>
          <p:cNvPr id="17" name="Text 15"/>
          <p:cNvSpPr txBox="1"/>
          <p:nvPr/>
        </p:nvSpPr>
        <p:spPr>
          <a:xfrm>
            <a:off x="7466076" y="2157984"/>
            <a:ext cx="4023360" cy="658368"/>
          </a:xfrm>
          <a:prstGeom prst="rect">
            <a:avLst/>
          </a:prstGeom>
          <a:noFill/>
          <a:ln/>
        </p:spPr>
        <p:txBody>
          <a:bodyPr wrap="square" lIns="0" tIns="0" rIns="0" bIns="0" rtlCol="0" anchor="t"/>
          <a:lstStyle/>
          <a:p>
            <a:pPr marL="0" indent="0">
              <a:buNone/>
            </a:pPr>
            <a:r>
              <a:rPr lang="en-US" sz="1400" dirty="0">
                <a:solidFill>
                  <a:srgbClr val="4A5B5E"/>
                </a:solidFill>
              </a:rPr>
              <a:t>Moved authoritative DNS to personal AWS and automated cross-account CNAME sync.</a:t>
            </a:r>
            <a:endParaRPr lang="en-US" sz="1400" dirty="0"/>
          </a:p>
        </p:txBody>
      </p:sp>
      <p:sp>
        <p:nvSpPr>
          <p:cNvPr id="18" name="card"/>
          <p:cNvSpPr/>
          <p:nvPr/>
        </p:nvSpPr>
        <p:spPr>
          <a:xfrm>
            <a:off x="548640" y="3063240"/>
            <a:ext cx="5454396"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19" name="problem number"/>
          <p:cNvSpPr/>
          <p:nvPr/>
        </p:nvSpPr>
        <p:spPr>
          <a:xfrm>
            <a:off x="749808" y="3246120"/>
            <a:ext cx="438912" cy="438912"/>
          </a:xfrm>
          <a:prstGeom prst="ellipse">
            <a:avLst/>
          </a:prstGeom>
          <a:solidFill>
            <a:schemeClr val="tx2"/>
          </a:solidFill>
          <a:ln/>
        </p:spPr>
      </p:sp>
      <p:sp>
        <p:nvSpPr>
          <p:cNvPr id="20" name="Text 18"/>
          <p:cNvSpPr txBox="1"/>
          <p:nvPr/>
        </p:nvSpPr>
        <p:spPr>
          <a:xfrm>
            <a:off x="749808" y="3246120"/>
            <a:ext cx="438912" cy="438912"/>
          </a:xfrm>
          <a:prstGeom prst="rect">
            <a:avLst/>
          </a:prstGeom>
          <a:noFill/>
          <a:ln/>
        </p:spPr>
        <p:txBody>
          <a:bodyPr wrap="square" lIns="0" tIns="0" rIns="0" bIns="0" rtlCol="0" anchor="ctr"/>
          <a:lstStyle/>
          <a:p>
            <a:pPr marL="0" indent="0" algn="ctr">
              <a:buNone/>
            </a:pPr>
            <a:r>
              <a:rPr lang="en-US" sz="1300" b="1" dirty="0">
                <a:solidFill>
                  <a:srgbClr val="F2A541"/>
                </a:solidFill>
              </a:rPr>
              <a:t>03</a:t>
            </a:r>
            <a:endParaRPr lang="en-US" sz="1300" dirty="0"/>
          </a:p>
        </p:txBody>
      </p:sp>
      <p:sp>
        <p:nvSpPr>
          <p:cNvPr id="21" name="Text 19"/>
          <p:cNvSpPr txBox="1"/>
          <p:nvPr/>
        </p:nvSpPr>
        <p:spPr>
          <a:xfrm>
            <a:off x="1371600" y="3246120"/>
            <a:ext cx="4434840" cy="438912"/>
          </a:xfrm>
          <a:prstGeom prst="rect">
            <a:avLst/>
          </a:prstGeom>
          <a:noFill/>
          <a:ln/>
        </p:spPr>
        <p:txBody>
          <a:bodyPr wrap="square" lIns="0" tIns="0" rIns="0" bIns="0" rtlCol="0" anchor="ctr"/>
          <a:lstStyle/>
          <a:p>
            <a:pPr marL="0" indent="0">
              <a:buNone/>
            </a:pPr>
            <a:r>
              <a:rPr lang="en-US" sz="1600" b="1" dirty="0">
                <a:solidFill>
                  <a:srgbClr val="132226"/>
                </a:solidFill>
              </a:rPr>
              <a:t>GitHub OIDC trust initially failed</a:t>
            </a:r>
            <a:endParaRPr lang="en-US" sz="1600" dirty="0"/>
          </a:p>
        </p:txBody>
      </p:sp>
      <p:sp>
        <p:nvSpPr>
          <p:cNvPr id="22" name="Text 20"/>
          <p:cNvSpPr txBox="1"/>
          <p:nvPr/>
        </p:nvSpPr>
        <p:spPr>
          <a:xfrm>
            <a:off x="1371600" y="3794760"/>
            <a:ext cx="411480" cy="274320"/>
          </a:xfrm>
          <a:prstGeom prst="rect">
            <a:avLst/>
          </a:prstGeom>
          <a:noFill/>
          <a:ln/>
        </p:spPr>
        <p:txBody>
          <a:bodyPr wrap="square" lIns="0" tIns="0" rIns="0" bIns="0" rtlCol="0" anchor="t"/>
          <a:lstStyle/>
          <a:p>
            <a:pPr marL="0" indent="0">
              <a:buNone/>
            </a:pPr>
            <a:r>
              <a:rPr lang="en-US" sz="1100" b="1" kern="0" spc="100" dirty="0">
                <a:solidFill>
                  <a:srgbClr val="1F9A82"/>
                </a:solidFill>
              </a:rPr>
              <a:t>FIX</a:t>
            </a:r>
            <a:endParaRPr lang="en-US" sz="1100" dirty="0"/>
          </a:p>
        </p:txBody>
      </p:sp>
      <p:sp>
        <p:nvSpPr>
          <p:cNvPr id="23" name="Text 21"/>
          <p:cNvSpPr txBox="1"/>
          <p:nvPr/>
        </p:nvSpPr>
        <p:spPr>
          <a:xfrm>
            <a:off x="1828800" y="3758184"/>
            <a:ext cx="4023360" cy="658368"/>
          </a:xfrm>
          <a:prstGeom prst="rect">
            <a:avLst/>
          </a:prstGeom>
          <a:noFill/>
          <a:ln/>
        </p:spPr>
        <p:txBody>
          <a:bodyPr wrap="square" lIns="0" tIns="0" rIns="0" bIns="0" rtlCol="0" anchor="t"/>
          <a:lstStyle/>
          <a:p>
            <a:pPr marL="0" indent="0">
              <a:buNone/>
            </a:pPr>
            <a:r>
              <a:rPr lang="en-US" sz="1400" dirty="0">
                <a:solidFill>
                  <a:srgbClr val="4A5B5E"/>
                </a:solidFill>
              </a:rPr>
              <a:t>Restricted trust to immutable repository / owner IDs and the main branch.</a:t>
            </a:r>
            <a:endParaRPr lang="en-US" sz="1400" dirty="0"/>
          </a:p>
        </p:txBody>
      </p:sp>
      <p:sp>
        <p:nvSpPr>
          <p:cNvPr id="24" name="card"/>
          <p:cNvSpPr/>
          <p:nvPr/>
        </p:nvSpPr>
        <p:spPr>
          <a:xfrm>
            <a:off x="6185916" y="3063240"/>
            <a:ext cx="5454396"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25" name="problem number"/>
          <p:cNvSpPr/>
          <p:nvPr/>
        </p:nvSpPr>
        <p:spPr>
          <a:xfrm>
            <a:off x="6387084" y="3246120"/>
            <a:ext cx="438912" cy="438912"/>
          </a:xfrm>
          <a:prstGeom prst="ellipse">
            <a:avLst/>
          </a:prstGeom>
          <a:solidFill>
            <a:schemeClr val="tx2"/>
          </a:solidFill>
          <a:ln/>
        </p:spPr>
      </p:sp>
      <p:sp>
        <p:nvSpPr>
          <p:cNvPr id="26" name="Text 24"/>
          <p:cNvSpPr txBox="1"/>
          <p:nvPr/>
        </p:nvSpPr>
        <p:spPr>
          <a:xfrm>
            <a:off x="6387084" y="3246120"/>
            <a:ext cx="438912" cy="438912"/>
          </a:xfrm>
          <a:prstGeom prst="rect">
            <a:avLst/>
          </a:prstGeom>
          <a:noFill/>
          <a:ln/>
        </p:spPr>
        <p:txBody>
          <a:bodyPr wrap="square" lIns="0" tIns="0" rIns="0" bIns="0" rtlCol="0" anchor="ctr"/>
          <a:lstStyle/>
          <a:p>
            <a:pPr marL="0" indent="0" algn="ctr">
              <a:buNone/>
            </a:pPr>
            <a:r>
              <a:rPr lang="en-US" sz="1300" b="1" dirty="0">
                <a:solidFill>
                  <a:srgbClr val="F2A541"/>
                </a:solidFill>
              </a:rPr>
              <a:t>04</a:t>
            </a:r>
            <a:endParaRPr lang="en-US" sz="1300" dirty="0"/>
          </a:p>
        </p:txBody>
      </p:sp>
      <p:sp>
        <p:nvSpPr>
          <p:cNvPr id="27" name="Text 25"/>
          <p:cNvSpPr txBox="1"/>
          <p:nvPr/>
        </p:nvSpPr>
        <p:spPr>
          <a:xfrm>
            <a:off x="7008876" y="3246120"/>
            <a:ext cx="4434840" cy="438912"/>
          </a:xfrm>
          <a:prstGeom prst="rect">
            <a:avLst/>
          </a:prstGeom>
          <a:noFill/>
          <a:ln/>
        </p:spPr>
        <p:txBody>
          <a:bodyPr wrap="square" lIns="0" tIns="0" rIns="0" bIns="0" rtlCol="0" anchor="ctr"/>
          <a:lstStyle/>
          <a:p>
            <a:pPr marL="0" indent="0">
              <a:buNone/>
            </a:pPr>
            <a:r>
              <a:rPr lang="en-US" sz="1600" b="1" dirty="0">
                <a:solidFill>
                  <a:srgbClr val="132226"/>
                </a:solidFill>
              </a:rPr>
              <a:t>ECS action reported a failed deployment</a:t>
            </a:r>
            <a:endParaRPr lang="en-US" sz="1600" dirty="0"/>
          </a:p>
        </p:txBody>
      </p:sp>
      <p:sp>
        <p:nvSpPr>
          <p:cNvPr id="28" name="Text 26"/>
          <p:cNvSpPr txBox="1"/>
          <p:nvPr/>
        </p:nvSpPr>
        <p:spPr>
          <a:xfrm>
            <a:off x="7008876" y="3794760"/>
            <a:ext cx="411480" cy="274320"/>
          </a:xfrm>
          <a:prstGeom prst="rect">
            <a:avLst/>
          </a:prstGeom>
          <a:noFill/>
          <a:ln/>
        </p:spPr>
        <p:txBody>
          <a:bodyPr wrap="square" lIns="0" tIns="0" rIns="0" bIns="0" rtlCol="0" anchor="t"/>
          <a:lstStyle/>
          <a:p>
            <a:pPr marL="0" indent="0">
              <a:buNone/>
            </a:pPr>
            <a:r>
              <a:rPr lang="en-US" sz="1100" b="1" kern="0" spc="100" dirty="0">
                <a:solidFill>
                  <a:srgbClr val="1F9A82"/>
                </a:solidFill>
              </a:rPr>
              <a:t>FIX</a:t>
            </a:r>
            <a:endParaRPr lang="en-US" sz="1100" dirty="0"/>
          </a:p>
        </p:txBody>
      </p:sp>
      <p:sp>
        <p:nvSpPr>
          <p:cNvPr id="29" name="Text 27"/>
          <p:cNvSpPr txBox="1"/>
          <p:nvPr/>
        </p:nvSpPr>
        <p:spPr>
          <a:xfrm>
            <a:off x="7466076" y="3758184"/>
            <a:ext cx="4023360" cy="658368"/>
          </a:xfrm>
          <a:prstGeom prst="rect">
            <a:avLst/>
          </a:prstGeom>
          <a:noFill/>
          <a:ln/>
        </p:spPr>
        <p:txBody>
          <a:bodyPr wrap="square" lIns="0" tIns="0" rIns="0" bIns="0" rtlCol="0" anchor="t"/>
          <a:lstStyle/>
          <a:p>
            <a:pPr marL="0" indent="0">
              <a:buNone/>
            </a:pPr>
            <a:r>
              <a:rPr lang="en-US" sz="1400" dirty="0">
                <a:solidFill>
                  <a:srgbClr val="4A5B5E"/>
                </a:solidFill>
              </a:rPr>
              <a:t>Validated by service stability + exact Git SHA + task counts + CloudFront health.</a:t>
            </a:r>
            <a:endParaRPr lang="en-US" sz="1400" dirty="0"/>
          </a:p>
        </p:txBody>
      </p:sp>
      <p:sp>
        <p:nvSpPr>
          <p:cNvPr id="30" name="card"/>
          <p:cNvSpPr/>
          <p:nvPr/>
        </p:nvSpPr>
        <p:spPr>
          <a:xfrm>
            <a:off x="548640" y="4663440"/>
            <a:ext cx="5454396"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31" name="problem number"/>
          <p:cNvSpPr/>
          <p:nvPr/>
        </p:nvSpPr>
        <p:spPr>
          <a:xfrm>
            <a:off x="749808" y="4846320"/>
            <a:ext cx="438912" cy="438912"/>
          </a:xfrm>
          <a:prstGeom prst="ellipse">
            <a:avLst/>
          </a:prstGeom>
          <a:solidFill>
            <a:schemeClr val="tx2"/>
          </a:solidFill>
          <a:ln/>
        </p:spPr>
      </p:sp>
      <p:sp>
        <p:nvSpPr>
          <p:cNvPr id="32" name="Text 30"/>
          <p:cNvSpPr txBox="1"/>
          <p:nvPr/>
        </p:nvSpPr>
        <p:spPr>
          <a:xfrm>
            <a:off x="749808" y="4846320"/>
            <a:ext cx="438912" cy="438912"/>
          </a:xfrm>
          <a:prstGeom prst="rect">
            <a:avLst/>
          </a:prstGeom>
          <a:noFill/>
          <a:ln/>
        </p:spPr>
        <p:txBody>
          <a:bodyPr wrap="square" lIns="0" tIns="0" rIns="0" bIns="0" rtlCol="0" anchor="ctr"/>
          <a:lstStyle/>
          <a:p>
            <a:pPr marL="0" indent="0" algn="ctr">
              <a:buNone/>
            </a:pPr>
            <a:r>
              <a:rPr lang="en-US" sz="1300" b="1" dirty="0">
                <a:solidFill>
                  <a:srgbClr val="F2A541"/>
                </a:solidFill>
              </a:rPr>
              <a:t>05</a:t>
            </a:r>
            <a:endParaRPr lang="en-US" sz="1300" dirty="0"/>
          </a:p>
        </p:txBody>
      </p:sp>
      <p:sp>
        <p:nvSpPr>
          <p:cNvPr id="33" name="Text 31"/>
          <p:cNvSpPr txBox="1"/>
          <p:nvPr/>
        </p:nvSpPr>
        <p:spPr>
          <a:xfrm>
            <a:off x="1371600" y="4846320"/>
            <a:ext cx="4434840" cy="438912"/>
          </a:xfrm>
          <a:prstGeom prst="rect">
            <a:avLst/>
          </a:prstGeom>
          <a:noFill/>
          <a:ln/>
        </p:spPr>
        <p:txBody>
          <a:bodyPr wrap="square" lIns="0" tIns="0" rIns="0" bIns="0" rtlCol="0" anchor="ctr"/>
          <a:lstStyle/>
          <a:p>
            <a:pPr marL="0" indent="0">
              <a:buNone/>
            </a:pPr>
            <a:r>
              <a:rPr lang="en-US" sz="1600" b="1" dirty="0">
                <a:solidFill>
                  <a:srgbClr val="132226"/>
                </a:solidFill>
              </a:rPr>
              <a:t>ALB could bypass WAF</a:t>
            </a:r>
            <a:endParaRPr lang="en-US" sz="1600" dirty="0"/>
          </a:p>
        </p:txBody>
      </p:sp>
      <p:sp>
        <p:nvSpPr>
          <p:cNvPr id="34" name="Text 32"/>
          <p:cNvSpPr txBox="1"/>
          <p:nvPr/>
        </p:nvSpPr>
        <p:spPr>
          <a:xfrm>
            <a:off x="1371600" y="5394960"/>
            <a:ext cx="411480" cy="274320"/>
          </a:xfrm>
          <a:prstGeom prst="rect">
            <a:avLst/>
          </a:prstGeom>
          <a:noFill/>
          <a:ln/>
        </p:spPr>
        <p:txBody>
          <a:bodyPr wrap="square" lIns="0" tIns="0" rIns="0" bIns="0" rtlCol="0" anchor="t"/>
          <a:lstStyle/>
          <a:p>
            <a:pPr marL="0" indent="0">
              <a:buNone/>
            </a:pPr>
            <a:r>
              <a:rPr lang="en-US" sz="1100" b="1" kern="0" spc="100" dirty="0">
                <a:solidFill>
                  <a:srgbClr val="1F9A82"/>
                </a:solidFill>
              </a:rPr>
              <a:t>FIX</a:t>
            </a:r>
            <a:endParaRPr lang="en-US" sz="1100" dirty="0"/>
          </a:p>
        </p:txBody>
      </p:sp>
      <p:sp>
        <p:nvSpPr>
          <p:cNvPr id="35" name="Text 33"/>
          <p:cNvSpPr txBox="1"/>
          <p:nvPr/>
        </p:nvSpPr>
        <p:spPr>
          <a:xfrm>
            <a:off x="1828800" y="5358384"/>
            <a:ext cx="4023360" cy="658368"/>
          </a:xfrm>
          <a:prstGeom prst="rect">
            <a:avLst/>
          </a:prstGeom>
          <a:noFill/>
          <a:ln/>
        </p:spPr>
        <p:txBody>
          <a:bodyPr wrap="square" lIns="0" tIns="0" rIns="0" bIns="0" rtlCol="0" anchor="t"/>
          <a:lstStyle/>
          <a:p>
            <a:pPr marL="0" indent="0">
              <a:buNone/>
            </a:pPr>
            <a:r>
              <a:rPr lang="en-US" sz="1400" dirty="0">
                <a:solidFill>
                  <a:srgbClr val="4A5B5E"/>
                </a:solidFill>
              </a:rPr>
              <a:t>Reworked the CI/CD health check, then restricted ALB ingress to CloudFront’s prefix list.</a:t>
            </a:r>
            <a:endParaRPr lang="en-US" sz="1400" dirty="0"/>
          </a:p>
        </p:txBody>
      </p:sp>
      <p:sp>
        <p:nvSpPr>
          <p:cNvPr id="36" name="card"/>
          <p:cNvSpPr/>
          <p:nvPr/>
        </p:nvSpPr>
        <p:spPr>
          <a:xfrm>
            <a:off x="6185916" y="4663440"/>
            <a:ext cx="5454396"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37" name="problem number"/>
          <p:cNvSpPr/>
          <p:nvPr/>
        </p:nvSpPr>
        <p:spPr>
          <a:xfrm>
            <a:off x="6387084" y="4846320"/>
            <a:ext cx="438912" cy="438912"/>
          </a:xfrm>
          <a:prstGeom prst="ellipse">
            <a:avLst/>
          </a:prstGeom>
          <a:solidFill>
            <a:schemeClr val="tx2"/>
          </a:solidFill>
          <a:ln/>
        </p:spPr>
      </p:sp>
      <p:sp>
        <p:nvSpPr>
          <p:cNvPr id="38" name="Text 36"/>
          <p:cNvSpPr txBox="1"/>
          <p:nvPr/>
        </p:nvSpPr>
        <p:spPr>
          <a:xfrm>
            <a:off x="6387084" y="4846320"/>
            <a:ext cx="438912" cy="438912"/>
          </a:xfrm>
          <a:prstGeom prst="rect">
            <a:avLst/>
          </a:prstGeom>
          <a:noFill/>
          <a:ln/>
        </p:spPr>
        <p:txBody>
          <a:bodyPr wrap="square" lIns="0" tIns="0" rIns="0" bIns="0" rtlCol="0" anchor="ctr"/>
          <a:lstStyle/>
          <a:p>
            <a:pPr marL="0" indent="0" algn="ctr">
              <a:buNone/>
            </a:pPr>
            <a:r>
              <a:rPr lang="en-US" sz="1300" b="1" dirty="0">
                <a:solidFill>
                  <a:srgbClr val="F2A541"/>
                </a:solidFill>
              </a:rPr>
              <a:t>06</a:t>
            </a:r>
            <a:endParaRPr lang="en-US" sz="1300" dirty="0"/>
          </a:p>
        </p:txBody>
      </p:sp>
      <p:sp>
        <p:nvSpPr>
          <p:cNvPr id="39" name="Text 37"/>
          <p:cNvSpPr txBox="1"/>
          <p:nvPr/>
        </p:nvSpPr>
        <p:spPr>
          <a:xfrm>
            <a:off x="7008876" y="4846320"/>
            <a:ext cx="4434840" cy="438912"/>
          </a:xfrm>
          <a:prstGeom prst="rect">
            <a:avLst/>
          </a:prstGeom>
          <a:noFill/>
          <a:ln/>
        </p:spPr>
        <p:txBody>
          <a:bodyPr wrap="square" lIns="0" tIns="0" rIns="0" bIns="0" rtlCol="0" anchor="ctr"/>
          <a:lstStyle/>
          <a:p>
            <a:pPr marL="0" indent="0">
              <a:buNone/>
            </a:pPr>
            <a:r>
              <a:rPr lang="en-US" sz="1600" b="1" dirty="0">
                <a:solidFill>
                  <a:srgbClr val="132226"/>
                </a:solidFill>
              </a:rPr>
              <a:t>PowerShell / AWS CLI parsing issues</a:t>
            </a:r>
            <a:endParaRPr lang="en-US" sz="1600" dirty="0"/>
          </a:p>
        </p:txBody>
      </p:sp>
      <p:sp>
        <p:nvSpPr>
          <p:cNvPr id="40" name="Text 38"/>
          <p:cNvSpPr txBox="1"/>
          <p:nvPr/>
        </p:nvSpPr>
        <p:spPr>
          <a:xfrm>
            <a:off x="7008876" y="5394960"/>
            <a:ext cx="411480" cy="274320"/>
          </a:xfrm>
          <a:prstGeom prst="rect">
            <a:avLst/>
          </a:prstGeom>
          <a:noFill/>
          <a:ln/>
        </p:spPr>
        <p:txBody>
          <a:bodyPr wrap="square" lIns="0" tIns="0" rIns="0" bIns="0" rtlCol="0" anchor="t"/>
          <a:lstStyle/>
          <a:p>
            <a:pPr marL="0" indent="0">
              <a:buNone/>
            </a:pPr>
            <a:r>
              <a:rPr lang="en-US" sz="1100" b="1" kern="0" spc="100" dirty="0">
                <a:solidFill>
                  <a:srgbClr val="1F9A82"/>
                </a:solidFill>
              </a:rPr>
              <a:t>FIX</a:t>
            </a:r>
            <a:endParaRPr lang="en-US" sz="1100" dirty="0"/>
          </a:p>
        </p:txBody>
      </p:sp>
      <p:sp>
        <p:nvSpPr>
          <p:cNvPr id="41" name="Text 39"/>
          <p:cNvSpPr txBox="1"/>
          <p:nvPr/>
        </p:nvSpPr>
        <p:spPr>
          <a:xfrm>
            <a:off x="7466076" y="5358384"/>
            <a:ext cx="4023360" cy="658368"/>
          </a:xfrm>
          <a:prstGeom prst="rect">
            <a:avLst/>
          </a:prstGeom>
          <a:noFill/>
          <a:ln/>
        </p:spPr>
        <p:txBody>
          <a:bodyPr wrap="square" lIns="0" tIns="0" rIns="0" bIns="0" rtlCol="0" anchor="t"/>
          <a:lstStyle/>
          <a:p>
            <a:pPr marL="0" indent="0">
              <a:buNone/>
            </a:pPr>
            <a:r>
              <a:rPr lang="en-US" sz="1400" dirty="0">
                <a:solidFill>
                  <a:srgbClr val="4A5B5E"/>
                </a:solidFill>
              </a:rPr>
              <a:t>Used safer quoted CLI arguments and validated every step independently.</a:t>
            </a:r>
            <a:endParaRPr lang="en-US" sz="1400" dirty="0"/>
          </a:p>
        </p:txBody>
      </p:sp>
      <p:sp>
        <p:nvSpPr>
          <p:cNvPr id="42"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Where the project stands now</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Milestones 1–6 are implemented and validated. Next: Serverless &amp; Event-Driven, followed by the AI/RAG milestones.</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Roadmap</a:t>
            </a:r>
            <a:endParaRPr lang="en-US" sz="1200" dirty="0"/>
          </a:p>
        </p:txBody>
      </p:sp>
      <p:sp>
        <p:nvSpPr>
          <p:cNvPr id="6" name="card"/>
          <p:cNvSpPr/>
          <p:nvPr/>
        </p:nvSpPr>
        <p:spPr>
          <a:xfrm>
            <a:off x="548640" y="1463040"/>
            <a:ext cx="11091672" cy="2971800"/>
          </a:xfrm>
          <a:prstGeom prst="roundRect">
            <a:avLst>
              <a:gd name="adj" fmla="val 3077"/>
            </a:avLst>
          </a:prstGeom>
          <a:solidFill>
            <a:srgbClr val="FFFFFF"/>
          </a:solidFill>
          <a:ln/>
          <a:effectLst>
            <a:outerShdw blurRad="114300" dist="25400" dir="5400000" algn="bl" rotWithShape="0">
              <a:srgbClr val="0E3B43">
                <a:alpha val="13000"/>
              </a:srgbClr>
            </a:outerShdw>
          </a:effectLst>
        </p:spPr>
      </p:sp>
      <p:sp>
        <p:nvSpPr>
          <p:cNvPr id="7" name="done line"/>
          <p:cNvSpPr/>
          <p:nvPr/>
        </p:nvSpPr>
        <p:spPr>
          <a:xfrm>
            <a:off x="1267816" y="2331720"/>
            <a:ext cx="6435547" cy="0"/>
          </a:xfrm>
          <a:prstGeom prst="line">
            <a:avLst/>
          </a:prstGeom>
          <a:noFill/>
          <a:ln w="50800">
            <a:solidFill>
              <a:srgbClr val="1F9A82"/>
            </a:solidFill>
            <a:prstDash val="solid"/>
          </a:ln>
        </p:spPr>
      </p:sp>
      <p:sp>
        <p:nvSpPr>
          <p:cNvPr id="8" name="planned line"/>
          <p:cNvSpPr/>
          <p:nvPr/>
        </p:nvSpPr>
        <p:spPr>
          <a:xfrm>
            <a:off x="7703363" y="2331720"/>
            <a:ext cx="3217774" cy="0"/>
          </a:xfrm>
          <a:prstGeom prst="line">
            <a:avLst/>
          </a:prstGeom>
          <a:noFill/>
          <a:ln w="50800">
            <a:solidFill>
              <a:srgbClr val="D3E2E0"/>
            </a:solidFill>
            <a:prstDash val="dash"/>
          </a:ln>
        </p:spPr>
      </p:sp>
      <p:sp>
        <p:nvSpPr>
          <p:cNvPr id="9" name="Text 7"/>
          <p:cNvSpPr txBox="1"/>
          <p:nvPr/>
        </p:nvSpPr>
        <p:spPr>
          <a:xfrm>
            <a:off x="810616" y="1664208"/>
            <a:ext cx="914400" cy="274320"/>
          </a:xfrm>
          <a:prstGeom prst="rect">
            <a:avLst/>
          </a:prstGeom>
          <a:noFill/>
          <a:ln/>
        </p:spPr>
        <p:txBody>
          <a:bodyPr wrap="square" lIns="0" tIns="0" rIns="0" bIns="0" rtlCol="0" anchor="t"/>
          <a:lstStyle/>
          <a:p>
            <a:pPr marL="0" indent="0" algn="ctr">
              <a:buNone/>
            </a:pPr>
            <a:r>
              <a:rPr lang="en-US" sz="1200" b="1" dirty="0">
                <a:solidFill>
                  <a:srgbClr val="1F9A82"/>
                </a:solidFill>
              </a:rPr>
              <a:t>M1</a:t>
            </a:r>
            <a:endParaRPr lang="en-US" sz="1200" dirty="0"/>
          </a:p>
        </p:txBody>
      </p:sp>
      <p:sp>
        <p:nvSpPr>
          <p:cNvPr id="10" name="done M1 circle"/>
          <p:cNvSpPr/>
          <p:nvPr/>
        </p:nvSpPr>
        <p:spPr>
          <a:xfrm>
            <a:off x="993496" y="2057400"/>
            <a:ext cx="548640" cy="548640"/>
          </a:xfrm>
          <a:prstGeom prst="ellipse">
            <a:avLst/>
          </a:prstGeom>
          <a:solidFill>
            <a:schemeClr val="accent3"/>
          </a:solidFill>
          <a:ln/>
        </p:spPr>
      </p:sp>
      <p:pic>
        <p:nvPicPr>
          <p:cNvPr id="11" name="done M1" descr="preencoded.png"/>
          <p:cNvPicPr>
            <a:picLocks noChangeAspect="1"/>
          </p:cNvPicPr>
          <p:nvPr/>
        </p:nvPicPr>
        <p:blipFill>
          <a:blip r:embed="rId3"/>
          <a:stretch>
            <a:fillRect/>
          </a:stretch>
        </p:blipFill>
        <p:spPr>
          <a:xfrm>
            <a:off x="1125169" y="2189074"/>
            <a:ext cx="285293" cy="285293"/>
          </a:xfrm>
          <a:prstGeom prst="rect">
            <a:avLst/>
          </a:prstGeom>
        </p:spPr>
      </p:pic>
      <p:sp>
        <p:nvSpPr>
          <p:cNvPr id="12" name="Text 9"/>
          <p:cNvSpPr txBox="1"/>
          <p:nvPr/>
        </p:nvSpPr>
        <p:spPr>
          <a:xfrm>
            <a:off x="768096" y="2788920"/>
            <a:ext cx="999439" cy="868680"/>
          </a:xfrm>
          <a:prstGeom prst="rect">
            <a:avLst/>
          </a:prstGeom>
          <a:noFill/>
          <a:ln/>
        </p:spPr>
        <p:txBody>
          <a:bodyPr wrap="square" lIns="0" tIns="0" rIns="0" bIns="0" rtlCol="0" anchor="t"/>
          <a:lstStyle/>
          <a:p>
            <a:pPr marL="0" indent="0" algn="ctr">
              <a:buNone/>
            </a:pPr>
            <a:r>
              <a:rPr lang="en-US" sz="1200" dirty="0">
                <a:solidFill>
                  <a:srgbClr val="132226"/>
                </a:solidFill>
              </a:rPr>
              <a:t>Foundation &amp; Networking</a:t>
            </a:r>
            <a:endParaRPr lang="en-US" sz="1200" dirty="0"/>
          </a:p>
        </p:txBody>
      </p:sp>
      <p:sp>
        <p:nvSpPr>
          <p:cNvPr id="13" name="Text 10"/>
          <p:cNvSpPr txBox="1"/>
          <p:nvPr/>
        </p:nvSpPr>
        <p:spPr>
          <a:xfrm>
            <a:off x="1883207" y="1664208"/>
            <a:ext cx="914400" cy="274320"/>
          </a:xfrm>
          <a:prstGeom prst="rect">
            <a:avLst/>
          </a:prstGeom>
          <a:noFill/>
          <a:ln/>
        </p:spPr>
        <p:txBody>
          <a:bodyPr wrap="square" lIns="0" tIns="0" rIns="0" bIns="0" rtlCol="0" anchor="t"/>
          <a:lstStyle/>
          <a:p>
            <a:pPr marL="0" indent="0" algn="ctr">
              <a:buNone/>
            </a:pPr>
            <a:r>
              <a:rPr lang="en-US" sz="1200" b="1" dirty="0">
                <a:solidFill>
                  <a:srgbClr val="1F9A82"/>
                </a:solidFill>
              </a:rPr>
              <a:t>M2</a:t>
            </a:r>
            <a:endParaRPr lang="en-US" sz="1200" dirty="0"/>
          </a:p>
        </p:txBody>
      </p:sp>
      <p:sp>
        <p:nvSpPr>
          <p:cNvPr id="14" name="done M2 circle"/>
          <p:cNvSpPr/>
          <p:nvPr/>
        </p:nvSpPr>
        <p:spPr>
          <a:xfrm>
            <a:off x="2066087" y="2057400"/>
            <a:ext cx="548640" cy="548640"/>
          </a:xfrm>
          <a:prstGeom prst="ellipse">
            <a:avLst/>
          </a:prstGeom>
          <a:solidFill>
            <a:schemeClr val="accent3"/>
          </a:solidFill>
          <a:ln/>
        </p:spPr>
      </p:sp>
      <p:pic>
        <p:nvPicPr>
          <p:cNvPr id="15" name="done M2" descr="preencoded.png"/>
          <p:cNvPicPr>
            <a:picLocks noChangeAspect="1"/>
          </p:cNvPicPr>
          <p:nvPr/>
        </p:nvPicPr>
        <p:blipFill>
          <a:blip r:embed="rId3"/>
          <a:stretch>
            <a:fillRect/>
          </a:stretch>
        </p:blipFill>
        <p:spPr>
          <a:xfrm>
            <a:off x="2197760" y="2189074"/>
            <a:ext cx="285293" cy="285293"/>
          </a:xfrm>
          <a:prstGeom prst="rect">
            <a:avLst/>
          </a:prstGeom>
        </p:spPr>
      </p:pic>
      <p:sp>
        <p:nvSpPr>
          <p:cNvPr id="16" name="Text 12"/>
          <p:cNvSpPr txBox="1"/>
          <p:nvPr/>
        </p:nvSpPr>
        <p:spPr>
          <a:xfrm>
            <a:off x="1840687" y="2788920"/>
            <a:ext cx="999439" cy="868680"/>
          </a:xfrm>
          <a:prstGeom prst="rect">
            <a:avLst/>
          </a:prstGeom>
          <a:noFill/>
          <a:ln/>
        </p:spPr>
        <p:txBody>
          <a:bodyPr wrap="square" lIns="0" tIns="0" rIns="0" bIns="0" rtlCol="0" anchor="t"/>
          <a:lstStyle/>
          <a:p>
            <a:pPr marL="0" indent="0" algn="ctr">
              <a:buNone/>
            </a:pPr>
            <a:r>
              <a:rPr lang="en-US" sz="1200" dirty="0">
                <a:solidFill>
                  <a:srgbClr val="132226"/>
                </a:solidFill>
              </a:rPr>
              <a:t>Docker / ECR / ECS</a:t>
            </a:r>
            <a:endParaRPr lang="en-US" sz="1200" dirty="0"/>
          </a:p>
        </p:txBody>
      </p:sp>
      <p:sp>
        <p:nvSpPr>
          <p:cNvPr id="17" name="Text 13"/>
          <p:cNvSpPr txBox="1"/>
          <p:nvPr/>
        </p:nvSpPr>
        <p:spPr>
          <a:xfrm>
            <a:off x="2955798" y="1664208"/>
            <a:ext cx="914400" cy="274320"/>
          </a:xfrm>
          <a:prstGeom prst="rect">
            <a:avLst/>
          </a:prstGeom>
          <a:noFill/>
          <a:ln/>
        </p:spPr>
        <p:txBody>
          <a:bodyPr wrap="square" lIns="0" tIns="0" rIns="0" bIns="0" rtlCol="0" anchor="t"/>
          <a:lstStyle/>
          <a:p>
            <a:pPr marL="0" indent="0" algn="ctr">
              <a:buNone/>
            </a:pPr>
            <a:r>
              <a:rPr lang="en-US" sz="1200" b="1" dirty="0">
                <a:solidFill>
                  <a:srgbClr val="1F9A82"/>
                </a:solidFill>
              </a:rPr>
              <a:t>M3</a:t>
            </a:r>
            <a:endParaRPr lang="en-US" sz="1200" dirty="0"/>
          </a:p>
        </p:txBody>
      </p:sp>
      <p:sp>
        <p:nvSpPr>
          <p:cNvPr id="18" name="done M3 circle"/>
          <p:cNvSpPr/>
          <p:nvPr/>
        </p:nvSpPr>
        <p:spPr>
          <a:xfrm>
            <a:off x="3138678" y="2057400"/>
            <a:ext cx="548640" cy="548640"/>
          </a:xfrm>
          <a:prstGeom prst="ellipse">
            <a:avLst/>
          </a:prstGeom>
          <a:solidFill>
            <a:schemeClr val="accent3"/>
          </a:solidFill>
          <a:ln/>
        </p:spPr>
      </p:sp>
      <p:pic>
        <p:nvPicPr>
          <p:cNvPr id="19" name="done M3" descr="preencoded.png"/>
          <p:cNvPicPr>
            <a:picLocks noChangeAspect="1"/>
          </p:cNvPicPr>
          <p:nvPr/>
        </p:nvPicPr>
        <p:blipFill>
          <a:blip r:embed="rId3"/>
          <a:stretch>
            <a:fillRect/>
          </a:stretch>
        </p:blipFill>
        <p:spPr>
          <a:xfrm>
            <a:off x="3270352" y="2189074"/>
            <a:ext cx="285293" cy="285293"/>
          </a:xfrm>
          <a:prstGeom prst="rect">
            <a:avLst/>
          </a:prstGeom>
        </p:spPr>
      </p:pic>
      <p:sp>
        <p:nvSpPr>
          <p:cNvPr id="20" name="Text 15"/>
          <p:cNvSpPr txBox="1"/>
          <p:nvPr/>
        </p:nvSpPr>
        <p:spPr>
          <a:xfrm>
            <a:off x="2913278" y="2788920"/>
            <a:ext cx="999439" cy="868680"/>
          </a:xfrm>
          <a:prstGeom prst="rect">
            <a:avLst/>
          </a:prstGeom>
          <a:noFill/>
          <a:ln/>
        </p:spPr>
        <p:txBody>
          <a:bodyPr wrap="square" lIns="0" tIns="0" rIns="0" bIns="0" rtlCol="0" anchor="t"/>
          <a:lstStyle/>
          <a:p>
            <a:pPr marL="0" indent="0" algn="ctr">
              <a:buNone/>
            </a:pPr>
            <a:r>
              <a:rPr lang="en-US" sz="1200" dirty="0">
                <a:solidFill>
                  <a:srgbClr val="132226"/>
                </a:solidFill>
              </a:rPr>
              <a:t>ALB / Multi-AZ / Auto Scaling</a:t>
            </a:r>
            <a:endParaRPr lang="en-US" sz="1200" dirty="0"/>
          </a:p>
        </p:txBody>
      </p:sp>
      <p:sp>
        <p:nvSpPr>
          <p:cNvPr id="21" name="Text 16"/>
          <p:cNvSpPr txBox="1"/>
          <p:nvPr/>
        </p:nvSpPr>
        <p:spPr>
          <a:xfrm>
            <a:off x="4028389" y="1664208"/>
            <a:ext cx="914400" cy="274320"/>
          </a:xfrm>
          <a:prstGeom prst="rect">
            <a:avLst/>
          </a:prstGeom>
          <a:noFill/>
          <a:ln/>
        </p:spPr>
        <p:txBody>
          <a:bodyPr wrap="square" lIns="0" tIns="0" rIns="0" bIns="0" rtlCol="0" anchor="t"/>
          <a:lstStyle/>
          <a:p>
            <a:pPr marL="0" indent="0" algn="ctr">
              <a:buNone/>
            </a:pPr>
            <a:r>
              <a:rPr lang="en-US" sz="1200" b="1" dirty="0">
                <a:solidFill>
                  <a:srgbClr val="1F9A82"/>
                </a:solidFill>
              </a:rPr>
              <a:t>M4</a:t>
            </a:r>
            <a:endParaRPr lang="en-US" sz="1200" dirty="0"/>
          </a:p>
        </p:txBody>
      </p:sp>
      <p:sp>
        <p:nvSpPr>
          <p:cNvPr id="22" name="done M4 circle"/>
          <p:cNvSpPr/>
          <p:nvPr/>
        </p:nvSpPr>
        <p:spPr>
          <a:xfrm>
            <a:off x="4211269" y="2057400"/>
            <a:ext cx="548640" cy="548640"/>
          </a:xfrm>
          <a:prstGeom prst="ellipse">
            <a:avLst/>
          </a:prstGeom>
          <a:solidFill>
            <a:schemeClr val="accent3"/>
          </a:solidFill>
          <a:ln/>
        </p:spPr>
      </p:sp>
      <p:pic>
        <p:nvPicPr>
          <p:cNvPr id="23" name="done M4" descr="preencoded.png"/>
          <p:cNvPicPr>
            <a:picLocks noChangeAspect="1"/>
          </p:cNvPicPr>
          <p:nvPr/>
        </p:nvPicPr>
        <p:blipFill>
          <a:blip r:embed="rId3"/>
          <a:stretch>
            <a:fillRect/>
          </a:stretch>
        </p:blipFill>
        <p:spPr>
          <a:xfrm>
            <a:off x="4342943" y="2189074"/>
            <a:ext cx="285293" cy="285293"/>
          </a:xfrm>
          <a:prstGeom prst="rect">
            <a:avLst/>
          </a:prstGeom>
        </p:spPr>
      </p:pic>
      <p:sp>
        <p:nvSpPr>
          <p:cNvPr id="24" name="Text 18"/>
          <p:cNvSpPr txBox="1"/>
          <p:nvPr/>
        </p:nvSpPr>
        <p:spPr>
          <a:xfrm>
            <a:off x="3985870" y="2788920"/>
            <a:ext cx="999439" cy="868680"/>
          </a:xfrm>
          <a:prstGeom prst="rect">
            <a:avLst/>
          </a:prstGeom>
          <a:noFill/>
          <a:ln/>
        </p:spPr>
        <p:txBody>
          <a:bodyPr wrap="square" lIns="0" tIns="0" rIns="0" bIns="0" rtlCol="0" anchor="t"/>
          <a:lstStyle/>
          <a:p>
            <a:pPr marL="0" indent="0" algn="ctr">
              <a:buNone/>
            </a:pPr>
            <a:r>
              <a:rPr lang="en-US" sz="1200" dirty="0">
                <a:solidFill>
                  <a:srgbClr val="132226"/>
                </a:solidFill>
              </a:rPr>
              <a:t>Automated Deployment</a:t>
            </a:r>
            <a:endParaRPr lang="en-US" sz="1200" dirty="0"/>
          </a:p>
        </p:txBody>
      </p:sp>
      <p:sp>
        <p:nvSpPr>
          <p:cNvPr id="25" name="Text 19"/>
          <p:cNvSpPr txBox="1"/>
          <p:nvPr/>
        </p:nvSpPr>
        <p:spPr>
          <a:xfrm>
            <a:off x="5100980" y="1664208"/>
            <a:ext cx="914400" cy="274320"/>
          </a:xfrm>
          <a:prstGeom prst="rect">
            <a:avLst/>
          </a:prstGeom>
          <a:noFill/>
          <a:ln/>
        </p:spPr>
        <p:txBody>
          <a:bodyPr wrap="square" lIns="0" tIns="0" rIns="0" bIns="0" rtlCol="0" anchor="t"/>
          <a:lstStyle/>
          <a:p>
            <a:pPr marL="0" indent="0" algn="ctr">
              <a:buNone/>
            </a:pPr>
            <a:r>
              <a:rPr lang="en-US" sz="1200" b="1" dirty="0">
                <a:solidFill>
                  <a:srgbClr val="1F9A82"/>
                </a:solidFill>
              </a:rPr>
              <a:t>M5</a:t>
            </a:r>
            <a:endParaRPr lang="en-US" sz="1200" dirty="0"/>
          </a:p>
        </p:txBody>
      </p:sp>
      <p:sp>
        <p:nvSpPr>
          <p:cNvPr id="26" name="done M5 circle"/>
          <p:cNvSpPr/>
          <p:nvPr/>
        </p:nvSpPr>
        <p:spPr>
          <a:xfrm>
            <a:off x="5283860" y="2057400"/>
            <a:ext cx="548640" cy="548640"/>
          </a:xfrm>
          <a:prstGeom prst="ellipse">
            <a:avLst/>
          </a:prstGeom>
          <a:solidFill>
            <a:schemeClr val="accent3"/>
          </a:solidFill>
          <a:ln/>
        </p:spPr>
      </p:sp>
      <p:pic>
        <p:nvPicPr>
          <p:cNvPr id="27" name="done M5" descr="preencoded.png"/>
          <p:cNvPicPr>
            <a:picLocks noChangeAspect="1"/>
          </p:cNvPicPr>
          <p:nvPr/>
        </p:nvPicPr>
        <p:blipFill>
          <a:blip r:embed="rId3"/>
          <a:stretch>
            <a:fillRect/>
          </a:stretch>
        </p:blipFill>
        <p:spPr>
          <a:xfrm>
            <a:off x="5415534" y="2189074"/>
            <a:ext cx="285293" cy="285293"/>
          </a:xfrm>
          <a:prstGeom prst="rect">
            <a:avLst/>
          </a:prstGeom>
        </p:spPr>
      </p:pic>
      <p:sp>
        <p:nvSpPr>
          <p:cNvPr id="28" name="Text 21"/>
          <p:cNvSpPr txBox="1"/>
          <p:nvPr/>
        </p:nvSpPr>
        <p:spPr>
          <a:xfrm>
            <a:off x="5058461" y="2788920"/>
            <a:ext cx="999439" cy="868680"/>
          </a:xfrm>
          <a:prstGeom prst="rect">
            <a:avLst/>
          </a:prstGeom>
          <a:noFill/>
          <a:ln/>
        </p:spPr>
        <p:txBody>
          <a:bodyPr wrap="square" lIns="0" tIns="0" rIns="0" bIns="0" rtlCol="0" anchor="t"/>
          <a:lstStyle/>
          <a:p>
            <a:pPr marL="0" indent="0" algn="ctr">
              <a:buNone/>
            </a:pPr>
            <a:r>
              <a:rPr lang="en-US" sz="1200" dirty="0">
                <a:solidFill>
                  <a:srgbClr val="132226"/>
                </a:solidFill>
              </a:rPr>
              <a:t>Database &amp; Storage</a:t>
            </a:r>
            <a:endParaRPr lang="en-US" sz="1200" dirty="0"/>
          </a:p>
        </p:txBody>
      </p:sp>
      <p:sp>
        <p:nvSpPr>
          <p:cNvPr id="29" name="Text 22"/>
          <p:cNvSpPr txBox="1"/>
          <p:nvPr/>
        </p:nvSpPr>
        <p:spPr>
          <a:xfrm>
            <a:off x="6173572" y="1664208"/>
            <a:ext cx="914400" cy="274320"/>
          </a:xfrm>
          <a:prstGeom prst="rect">
            <a:avLst/>
          </a:prstGeom>
          <a:noFill/>
          <a:ln/>
        </p:spPr>
        <p:txBody>
          <a:bodyPr wrap="square" lIns="0" tIns="0" rIns="0" bIns="0" rtlCol="0" anchor="t"/>
          <a:lstStyle/>
          <a:p>
            <a:pPr marL="0" indent="0" algn="ctr">
              <a:buNone/>
            </a:pPr>
            <a:r>
              <a:rPr lang="en-US" sz="1200" b="1" dirty="0">
                <a:solidFill>
                  <a:srgbClr val="1F9A82"/>
                </a:solidFill>
              </a:rPr>
              <a:t>M6</a:t>
            </a:r>
            <a:endParaRPr lang="en-US" sz="1200" dirty="0"/>
          </a:p>
        </p:txBody>
      </p:sp>
      <p:sp>
        <p:nvSpPr>
          <p:cNvPr id="30" name="done M6 circle"/>
          <p:cNvSpPr/>
          <p:nvPr/>
        </p:nvSpPr>
        <p:spPr>
          <a:xfrm>
            <a:off x="6356452" y="2057400"/>
            <a:ext cx="548640" cy="548640"/>
          </a:xfrm>
          <a:prstGeom prst="ellipse">
            <a:avLst/>
          </a:prstGeom>
          <a:solidFill>
            <a:schemeClr val="accent3"/>
          </a:solidFill>
          <a:ln/>
        </p:spPr>
      </p:sp>
      <p:pic>
        <p:nvPicPr>
          <p:cNvPr id="31" name="done M6" descr="preencoded.png"/>
          <p:cNvPicPr>
            <a:picLocks noChangeAspect="1"/>
          </p:cNvPicPr>
          <p:nvPr/>
        </p:nvPicPr>
        <p:blipFill>
          <a:blip r:embed="rId3"/>
          <a:stretch>
            <a:fillRect/>
          </a:stretch>
        </p:blipFill>
        <p:spPr>
          <a:xfrm>
            <a:off x="6488125" y="2189074"/>
            <a:ext cx="285293" cy="285293"/>
          </a:xfrm>
          <a:prstGeom prst="rect">
            <a:avLst/>
          </a:prstGeom>
        </p:spPr>
      </p:pic>
      <p:sp>
        <p:nvSpPr>
          <p:cNvPr id="32" name="Text 24"/>
          <p:cNvSpPr txBox="1"/>
          <p:nvPr/>
        </p:nvSpPr>
        <p:spPr>
          <a:xfrm>
            <a:off x="6131052" y="2788920"/>
            <a:ext cx="999439" cy="868680"/>
          </a:xfrm>
          <a:prstGeom prst="rect">
            <a:avLst/>
          </a:prstGeom>
          <a:noFill/>
          <a:ln/>
        </p:spPr>
        <p:txBody>
          <a:bodyPr wrap="square" lIns="0" tIns="0" rIns="0" bIns="0" rtlCol="0" anchor="t"/>
          <a:lstStyle/>
          <a:p>
            <a:pPr marL="0" indent="0" algn="ctr">
              <a:buNone/>
            </a:pPr>
            <a:r>
              <a:rPr lang="en-US" sz="1200" dirty="0">
                <a:solidFill>
                  <a:srgbClr val="132226"/>
                </a:solidFill>
              </a:rPr>
              <a:t>Edge / Security / Auth</a:t>
            </a:r>
            <a:endParaRPr lang="en-US" sz="1200" dirty="0"/>
          </a:p>
        </p:txBody>
      </p:sp>
      <p:sp>
        <p:nvSpPr>
          <p:cNvPr id="33" name="Text 25"/>
          <p:cNvSpPr txBox="1"/>
          <p:nvPr/>
        </p:nvSpPr>
        <p:spPr>
          <a:xfrm>
            <a:off x="7246163" y="1664208"/>
            <a:ext cx="914400" cy="274320"/>
          </a:xfrm>
          <a:prstGeom prst="rect">
            <a:avLst/>
          </a:prstGeom>
          <a:noFill/>
          <a:ln/>
        </p:spPr>
        <p:txBody>
          <a:bodyPr wrap="square" lIns="0" tIns="0" rIns="0" bIns="0" rtlCol="0" anchor="t"/>
          <a:lstStyle/>
          <a:p>
            <a:pPr marL="0" indent="0" algn="ctr">
              <a:buNone/>
            </a:pPr>
            <a:r>
              <a:rPr lang="en-US" sz="1200" b="1" dirty="0">
                <a:solidFill>
                  <a:srgbClr val="A8620A"/>
                </a:solidFill>
              </a:rPr>
              <a:t>M7</a:t>
            </a:r>
            <a:endParaRPr lang="en-US" sz="1200" dirty="0"/>
          </a:p>
        </p:txBody>
      </p:sp>
      <p:sp>
        <p:nvSpPr>
          <p:cNvPr id="34" name="milestone M7"/>
          <p:cNvSpPr/>
          <p:nvPr/>
        </p:nvSpPr>
        <p:spPr>
          <a:xfrm>
            <a:off x="7429043" y="2057400"/>
            <a:ext cx="548640" cy="548640"/>
          </a:xfrm>
          <a:prstGeom prst="ellipse">
            <a:avLst/>
          </a:prstGeom>
          <a:solidFill>
            <a:srgbClr val="F2A541"/>
          </a:solidFill>
          <a:ln w="25400">
            <a:solidFill>
              <a:srgbClr val="F2A541"/>
            </a:solidFill>
            <a:prstDash val="solid"/>
          </a:ln>
        </p:spPr>
      </p:sp>
      <p:sp>
        <p:nvSpPr>
          <p:cNvPr id="35" name="Text 27"/>
          <p:cNvSpPr txBox="1"/>
          <p:nvPr/>
        </p:nvSpPr>
        <p:spPr>
          <a:xfrm>
            <a:off x="7429043" y="2057400"/>
            <a:ext cx="548640" cy="548640"/>
          </a:xfrm>
          <a:prstGeom prst="rect">
            <a:avLst/>
          </a:prstGeom>
          <a:noFill/>
          <a:ln/>
        </p:spPr>
        <p:txBody>
          <a:bodyPr wrap="square" lIns="0" tIns="0" rIns="0" bIns="0" rtlCol="0" anchor="ctr"/>
          <a:lstStyle/>
          <a:p>
            <a:pPr marL="0" indent="0" algn="ctr">
              <a:buNone/>
            </a:pPr>
            <a:r>
              <a:rPr lang="en-US" sz="1000" b="1" dirty="0">
                <a:solidFill>
                  <a:srgbClr val="132226"/>
                </a:solidFill>
              </a:rPr>
              <a:t>NEXT</a:t>
            </a:r>
            <a:endParaRPr lang="en-US" sz="1000" dirty="0"/>
          </a:p>
        </p:txBody>
      </p:sp>
      <p:sp>
        <p:nvSpPr>
          <p:cNvPr id="36" name="Text 28"/>
          <p:cNvSpPr txBox="1"/>
          <p:nvPr/>
        </p:nvSpPr>
        <p:spPr>
          <a:xfrm>
            <a:off x="7203643" y="2788920"/>
            <a:ext cx="999439" cy="868680"/>
          </a:xfrm>
          <a:prstGeom prst="rect">
            <a:avLst/>
          </a:prstGeom>
          <a:noFill/>
          <a:ln/>
        </p:spPr>
        <p:txBody>
          <a:bodyPr wrap="square" lIns="0" tIns="0" rIns="0" bIns="0" rtlCol="0" anchor="t"/>
          <a:lstStyle/>
          <a:p>
            <a:pPr marL="0" indent="0" algn="ctr">
              <a:buNone/>
            </a:pPr>
            <a:r>
              <a:rPr lang="en-US" sz="1200" b="1" dirty="0">
                <a:solidFill>
                  <a:srgbClr val="132226"/>
                </a:solidFill>
              </a:rPr>
              <a:t>Serverless &amp; Event-Driven</a:t>
            </a:r>
            <a:endParaRPr lang="en-US" sz="1200" dirty="0"/>
          </a:p>
        </p:txBody>
      </p:sp>
      <p:sp>
        <p:nvSpPr>
          <p:cNvPr id="37" name="Text 29"/>
          <p:cNvSpPr txBox="1"/>
          <p:nvPr/>
        </p:nvSpPr>
        <p:spPr>
          <a:xfrm>
            <a:off x="8318754" y="1664208"/>
            <a:ext cx="914400" cy="274320"/>
          </a:xfrm>
          <a:prstGeom prst="rect">
            <a:avLst/>
          </a:prstGeom>
          <a:noFill/>
          <a:ln/>
        </p:spPr>
        <p:txBody>
          <a:bodyPr wrap="square" lIns="0" tIns="0" rIns="0" bIns="0" rtlCol="0" anchor="t"/>
          <a:lstStyle/>
          <a:p>
            <a:pPr marL="0" indent="0" algn="ctr">
              <a:buNone/>
            </a:pPr>
            <a:r>
              <a:rPr lang="en-US" sz="1200" b="1" dirty="0">
                <a:solidFill>
                  <a:srgbClr val="6B7C7F"/>
                </a:solidFill>
              </a:rPr>
              <a:t>M8</a:t>
            </a:r>
            <a:endParaRPr lang="en-US" sz="1200" dirty="0"/>
          </a:p>
        </p:txBody>
      </p:sp>
      <p:sp>
        <p:nvSpPr>
          <p:cNvPr id="38" name="milestone M8"/>
          <p:cNvSpPr/>
          <p:nvPr/>
        </p:nvSpPr>
        <p:spPr>
          <a:xfrm>
            <a:off x="8501634" y="2057400"/>
            <a:ext cx="548640" cy="548640"/>
          </a:xfrm>
          <a:prstGeom prst="ellipse">
            <a:avLst/>
          </a:prstGeom>
          <a:solidFill>
            <a:srgbClr val="FFFFFF"/>
          </a:solidFill>
          <a:ln w="25400">
            <a:solidFill>
              <a:srgbClr val="D3E2E0"/>
            </a:solidFill>
            <a:prstDash val="solid"/>
          </a:ln>
        </p:spPr>
      </p:sp>
      <p:sp>
        <p:nvSpPr>
          <p:cNvPr id="39" name="Text 31"/>
          <p:cNvSpPr txBox="1"/>
          <p:nvPr/>
        </p:nvSpPr>
        <p:spPr>
          <a:xfrm>
            <a:off x="8501634" y="2057400"/>
            <a:ext cx="548640" cy="548640"/>
          </a:xfrm>
          <a:prstGeom prst="rect">
            <a:avLst/>
          </a:prstGeom>
          <a:noFill/>
          <a:ln/>
        </p:spPr>
        <p:txBody>
          <a:bodyPr wrap="square" lIns="0" tIns="0" rIns="0" bIns="0" rtlCol="0" anchor="ctr"/>
          <a:lstStyle/>
          <a:p>
            <a:pPr marL="0" indent="0" algn="ctr">
              <a:buNone/>
            </a:pPr>
            <a:endParaRPr lang="en-US" sz="1000" dirty="0"/>
          </a:p>
        </p:txBody>
      </p:sp>
      <p:sp>
        <p:nvSpPr>
          <p:cNvPr id="40" name="Text 32"/>
          <p:cNvSpPr txBox="1"/>
          <p:nvPr/>
        </p:nvSpPr>
        <p:spPr>
          <a:xfrm>
            <a:off x="8276234" y="2788920"/>
            <a:ext cx="999439" cy="868680"/>
          </a:xfrm>
          <a:prstGeom prst="rect">
            <a:avLst/>
          </a:prstGeom>
          <a:noFill/>
          <a:ln/>
        </p:spPr>
        <p:txBody>
          <a:bodyPr wrap="square" lIns="0" tIns="0" rIns="0" bIns="0" rtlCol="0" anchor="t"/>
          <a:lstStyle/>
          <a:p>
            <a:pPr marL="0" indent="0" algn="ctr">
              <a:buNone/>
            </a:pPr>
            <a:r>
              <a:rPr lang="en-US" sz="1200" dirty="0">
                <a:solidFill>
                  <a:srgbClr val="6B7C7F"/>
                </a:solidFill>
              </a:rPr>
              <a:t>RAG Knowledge Pipeline</a:t>
            </a:r>
            <a:endParaRPr lang="en-US" sz="1200" dirty="0"/>
          </a:p>
        </p:txBody>
      </p:sp>
      <p:sp>
        <p:nvSpPr>
          <p:cNvPr id="41" name="Text 33"/>
          <p:cNvSpPr txBox="1"/>
          <p:nvPr/>
        </p:nvSpPr>
        <p:spPr>
          <a:xfrm>
            <a:off x="9391345" y="1664208"/>
            <a:ext cx="914400" cy="274320"/>
          </a:xfrm>
          <a:prstGeom prst="rect">
            <a:avLst/>
          </a:prstGeom>
          <a:noFill/>
          <a:ln/>
        </p:spPr>
        <p:txBody>
          <a:bodyPr wrap="square" lIns="0" tIns="0" rIns="0" bIns="0" rtlCol="0" anchor="t"/>
          <a:lstStyle/>
          <a:p>
            <a:pPr marL="0" indent="0" algn="ctr">
              <a:buNone/>
            </a:pPr>
            <a:r>
              <a:rPr lang="en-US" sz="1200" b="1" dirty="0">
                <a:solidFill>
                  <a:srgbClr val="6B7C7F"/>
                </a:solidFill>
              </a:rPr>
              <a:t>M9</a:t>
            </a:r>
            <a:endParaRPr lang="en-US" sz="1200" dirty="0"/>
          </a:p>
        </p:txBody>
      </p:sp>
      <p:sp>
        <p:nvSpPr>
          <p:cNvPr id="42" name="milestone M9"/>
          <p:cNvSpPr/>
          <p:nvPr/>
        </p:nvSpPr>
        <p:spPr>
          <a:xfrm>
            <a:off x="9574225" y="2057400"/>
            <a:ext cx="548640" cy="548640"/>
          </a:xfrm>
          <a:prstGeom prst="ellipse">
            <a:avLst/>
          </a:prstGeom>
          <a:solidFill>
            <a:srgbClr val="FFFFFF"/>
          </a:solidFill>
          <a:ln w="25400">
            <a:solidFill>
              <a:srgbClr val="D3E2E0"/>
            </a:solidFill>
            <a:prstDash val="solid"/>
          </a:ln>
        </p:spPr>
      </p:sp>
      <p:sp>
        <p:nvSpPr>
          <p:cNvPr id="43" name="Text 35"/>
          <p:cNvSpPr txBox="1"/>
          <p:nvPr/>
        </p:nvSpPr>
        <p:spPr>
          <a:xfrm>
            <a:off x="9574225" y="2057400"/>
            <a:ext cx="548640" cy="548640"/>
          </a:xfrm>
          <a:prstGeom prst="rect">
            <a:avLst/>
          </a:prstGeom>
          <a:noFill/>
          <a:ln/>
        </p:spPr>
        <p:txBody>
          <a:bodyPr wrap="square" lIns="0" tIns="0" rIns="0" bIns="0" rtlCol="0" anchor="ctr"/>
          <a:lstStyle/>
          <a:p>
            <a:pPr marL="0" indent="0" algn="ctr">
              <a:buNone/>
            </a:pPr>
            <a:endParaRPr lang="en-US" sz="1000" dirty="0"/>
          </a:p>
        </p:txBody>
      </p:sp>
      <p:sp>
        <p:nvSpPr>
          <p:cNvPr id="44" name="Text 36"/>
          <p:cNvSpPr txBox="1"/>
          <p:nvPr/>
        </p:nvSpPr>
        <p:spPr>
          <a:xfrm>
            <a:off x="9348826" y="2788920"/>
            <a:ext cx="999439" cy="868680"/>
          </a:xfrm>
          <a:prstGeom prst="rect">
            <a:avLst/>
          </a:prstGeom>
          <a:noFill/>
          <a:ln/>
        </p:spPr>
        <p:txBody>
          <a:bodyPr wrap="square" lIns="0" tIns="0" rIns="0" bIns="0" rtlCol="0" anchor="t"/>
          <a:lstStyle/>
          <a:p>
            <a:pPr marL="0" indent="0" algn="ctr">
              <a:buNone/>
            </a:pPr>
            <a:r>
              <a:rPr lang="en-US" sz="1200" dirty="0">
                <a:solidFill>
                  <a:srgbClr val="6B7C7F"/>
                </a:solidFill>
              </a:rPr>
              <a:t>Lina AI Tutor Runtime</a:t>
            </a:r>
            <a:endParaRPr lang="en-US" sz="1200" dirty="0"/>
          </a:p>
        </p:txBody>
      </p:sp>
      <p:sp>
        <p:nvSpPr>
          <p:cNvPr id="45" name="Text 37"/>
          <p:cNvSpPr txBox="1"/>
          <p:nvPr/>
        </p:nvSpPr>
        <p:spPr>
          <a:xfrm>
            <a:off x="10463936" y="1664208"/>
            <a:ext cx="914400" cy="274320"/>
          </a:xfrm>
          <a:prstGeom prst="rect">
            <a:avLst/>
          </a:prstGeom>
          <a:noFill/>
          <a:ln/>
        </p:spPr>
        <p:txBody>
          <a:bodyPr wrap="square" lIns="0" tIns="0" rIns="0" bIns="0" rtlCol="0" anchor="t"/>
          <a:lstStyle/>
          <a:p>
            <a:pPr marL="0" indent="0" algn="ctr">
              <a:buNone/>
            </a:pPr>
            <a:r>
              <a:rPr lang="en-US" sz="1200" b="1" dirty="0">
                <a:solidFill>
                  <a:srgbClr val="6B7C7F"/>
                </a:solidFill>
              </a:rPr>
              <a:t>M10</a:t>
            </a:r>
            <a:endParaRPr lang="en-US" sz="1200" dirty="0"/>
          </a:p>
        </p:txBody>
      </p:sp>
      <p:sp>
        <p:nvSpPr>
          <p:cNvPr id="46" name="milestone M10"/>
          <p:cNvSpPr/>
          <p:nvPr/>
        </p:nvSpPr>
        <p:spPr>
          <a:xfrm>
            <a:off x="10646816" y="2057400"/>
            <a:ext cx="548640" cy="548640"/>
          </a:xfrm>
          <a:prstGeom prst="ellipse">
            <a:avLst/>
          </a:prstGeom>
          <a:solidFill>
            <a:srgbClr val="FFFFFF"/>
          </a:solidFill>
          <a:ln w="25400">
            <a:solidFill>
              <a:srgbClr val="D3E2E0"/>
            </a:solidFill>
            <a:prstDash val="solid"/>
          </a:ln>
        </p:spPr>
      </p:sp>
      <p:sp>
        <p:nvSpPr>
          <p:cNvPr id="47" name="Text 39"/>
          <p:cNvSpPr txBox="1"/>
          <p:nvPr/>
        </p:nvSpPr>
        <p:spPr>
          <a:xfrm>
            <a:off x="10646816" y="2057400"/>
            <a:ext cx="548640" cy="548640"/>
          </a:xfrm>
          <a:prstGeom prst="rect">
            <a:avLst/>
          </a:prstGeom>
          <a:noFill/>
          <a:ln/>
        </p:spPr>
        <p:txBody>
          <a:bodyPr wrap="square" lIns="0" tIns="0" rIns="0" bIns="0" rtlCol="0" anchor="ctr"/>
          <a:lstStyle/>
          <a:p>
            <a:pPr marL="0" indent="0" algn="ctr">
              <a:buNone/>
            </a:pPr>
            <a:endParaRPr lang="en-US" sz="1000" dirty="0"/>
          </a:p>
        </p:txBody>
      </p:sp>
      <p:sp>
        <p:nvSpPr>
          <p:cNvPr id="48" name="Text 40"/>
          <p:cNvSpPr txBox="1"/>
          <p:nvPr/>
        </p:nvSpPr>
        <p:spPr>
          <a:xfrm>
            <a:off x="10421417" y="2788920"/>
            <a:ext cx="999439" cy="868680"/>
          </a:xfrm>
          <a:prstGeom prst="rect">
            <a:avLst/>
          </a:prstGeom>
          <a:noFill/>
          <a:ln/>
        </p:spPr>
        <p:txBody>
          <a:bodyPr wrap="square" lIns="0" tIns="0" rIns="0" bIns="0" rtlCol="0" anchor="t"/>
          <a:lstStyle/>
          <a:p>
            <a:pPr marL="0" indent="0" algn="ctr">
              <a:buNone/>
            </a:pPr>
            <a:r>
              <a:rPr lang="en-US" sz="1200" dirty="0">
                <a:solidFill>
                  <a:srgbClr val="6B7C7F"/>
                </a:solidFill>
              </a:rPr>
              <a:t>Monitoring / Resilience / Final</a:t>
            </a:r>
            <a:endParaRPr lang="en-US" sz="1200" dirty="0"/>
          </a:p>
        </p:txBody>
      </p:sp>
      <p:sp>
        <p:nvSpPr>
          <p:cNvPr id="49" name="Text 41"/>
          <p:cNvSpPr txBox="1"/>
          <p:nvPr/>
        </p:nvSpPr>
        <p:spPr>
          <a:xfrm>
            <a:off x="822960" y="3931920"/>
            <a:ext cx="7315200" cy="320040"/>
          </a:xfrm>
          <a:prstGeom prst="rect">
            <a:avLst/>
          </a:prstGeom>
          <a:noFill/>
          <a:ln/>
        </p:spPr>
        <p:txBody>
          <a:bodyPr wrap="square" lIns="0" tIns="0" rIns="0" bIns="0" rtlCol="0" anchor="t"/>
          <a:lstStyle/>
          <a:p>
            <a:pPr marL="0" indent="0">
              <a:buNone/>
            </a:pPr>
            <a:r>
              <a:rPr lang="en-US" sz="1200" dirty="0">
                <a:solidFill>
                  <a:srgbClr val="1F9A82"/>
                </a:solidFill>
              </a:rPr>
              <a:t>●  </a:t>
            </a:r>
            <a:r>
              <a:rPr lang="en-US" sz="1200" dirty="0">
                <a:solidFill>
                  <a:srgbClr val="4A5B5E"/>
                </a:solidFill>
              </a:rPr>
              <a:t>Implemented &amp; validated      </a:t>
            </a:r>
            <a:r>
              <a:rPr lang="en-US" sz="1200" dirty="0">
                <a:solidFill>
                  <a:srgbClr val="F2A541"/>
                </a:solidFill>
              </a:rPr>
              <a:t>●  </a:t>
            </a:r>
            <a:r>
              <a:rPr lang="en-US" sz="1200" dirty="0">
                <a:solidFill>
                  <a:srgbClr val="4A5B5E"/>
                </a:solidFill>
              </a:rPr>
              <a:t>Next      </a:t>
            </a:r>
            <a:r>
              <a:rPr lang="en-US" sz="1200" dirty="0">
                <a:solidFill>
                  <a:srgbClr val="6B7C7F"/>
                </a:solidFill>
              </a:rPr>
              <a:t>○  </a:t>
            </a:r>
            <a:r>
              <a:rPr lang="en-US" sz="1200" dirty="0">
                <a:solidFill>
                  <a:srgbClr val="4A5B5E"/>
                </a:solidFill>
              </a:rPr>
              <a:t>Planned</a:t>
            </a:r>
            <a:endParaRPr lang="en-US" sz="1200" dirty="0"/>
          </a:p>
        </p:txBody>
      </p:sp>
      <p:sp>
        <p:nvSpPr>
          <p:cNvPr id="50" name="next callout"/>
          <p:cNvSpPr/>
          <p:nvPr/>
        </p:nvSpPr>
        <p:spPr>
          <a:xfrm>
            <a:off x="548640" y="4663440"/>
            <a:ext cx="11091672" cy="1463040"/>
          </a:xfrm>
          <a:prstGeom prst="roundRect">
            <a:avLst>
              <a:gd name="adj" fmla="val 6250"/>
            </a:avLst>
          </a:prstGeom>
          <a:solidFill>
            <a:schemeClr val="tx2"/>
          </a:solidFill>
          <a:ln/>
          <a:effectLst>
            <a:outerShdw blurRad="114300" dist="25400" dir="5400000" algn="bl" rotWithShape="0">
              <a:srgbClr val="0E3B43">
                <a:alpha val="13000"/>
              </a:srgbClr>
            </a:outerShdw>
          </a:effectLst>
        </p:spPr>
      </p:sp>
      <p:sp>
        <p:nvSpPr>
          <p:cNvPr id="51" name="next circle"/>
          <p:cNvSpPr/>
          <p:nvPr/>
        </p:nvSpPr>
        <p:spPr>
          <a:xfrm>
            <a:off x="822960" y="5047488"/>
            <a:ext cx="694944" cy="694944"/>
          </a:xfrm>
          <a:prstGeom prst="ellipse">
            <a:avLst/>
          </a:prstGeom>
          <a:solidFill>
            <a:schemeClr val="accent2"/>
          </a:solidFill>
          <a:ln/>
        </p:spPr>
      </p:sp>
      <p:pic>
        <p:nvPicPr>
          <p:cNvPr id="52" name="next" descr="preencoded.png"/>
          <p:cNvPicPr>
            <a:picLocks noChangeAspect="1"/>
          </p:cNvPicPr>
          <p:nvPr/>
        </p:nvPicPr>
        <p:blipFill>
          <a:blip r:embed="rId4"/>
          <a:stretch>
            <a:fillRect/>
          </a:stretch>
        </p:blipFill>
        <p:spPr>
          <a:xfrm>
            <a:off x="989747" y="5214275"/>
            <a:ext cx="361371" cy="361371"/>
          </a:xfrm>
          <a:prstGeom prst="rect">
            <a:avLst/>
          </a:prstGeom>
        </p:spPr>
      </p:pic>
      <p:sp>
        <p:nvSpPr>
          <p:cNvPr id="53" name="Text 44"/>
          <p:cNvSpPr txBox="1"/>
          <p:nvPr/>
        </p:nvSpPr>
        <p:spPr>
          <a:xfrm>
            <a:off x="1783080" y="4919472"/>
            <a:ext cx="7040880" cy="457200"/>
          </a:xfrm>
          <a:prstGeom prst="rect">
            <a:avLst/>
          </a:prstGeom>
          <a:noFill/>
          <a:ln/>
        </p:spPr>
        <p:txBody>
          <a:bodyPr wrap="square" lIns="0" tIns="0" rIns="0" bIns="0" rtlCol="0" anchor="ctr"/>
          <a:lstStyle/>
          <a:p>
            <a:pPr marL="0" indent="0">
              <a:buNone/>
            </a:pPr>
            <a:r>
              <a:rPr lang="en-US" sz="1900" b="1" dirty="0">
                <a:solidFill>
                  <a:srgbClr val="FFFFFF"/>
                </a:solidFill>
                <a:latin typeface="+mj-lt" pitchFamily="34" charset="0"/>
                <a:ea typeface="+mj-lt" pitchFamily="34" charset="-122"/>
                <a:cs typeface="+mj-lt" pitchFamily="34" charset="-120"/>
              </a:rPr>
              <a:t>Next: Milestone 7 — Serverless &amp; Event-Driven Architecture</a:t>
            </a:r>
            <a:endParaRPr lang="en-US" sz="1900" dirty="0"/>
          </a:p>
        </p:txBody>
      </p:sp>
      <p:sp>
        <p:nvSpPr>
          <p:cNvPr id="54" name="Text 45"/>
          <p:cNvSpPr txBox="1"/>
          <p:nvPr/>
        </p:nvSpPr>
        <p:spPr>
          <a:xfrm>
            <a:off x="1783080" y="5394960"/>
            <a:ext cx="7040880" cy="457200"/>
          </a:xfrm>
          <a:prstGeom prst="rect">
            <a:avLst/>
          </a:prstGeom>
          <a:noFill/>
          <a:ln/>
        </p:spPr>
        <p:txBody>
          <a:bodyPr wrap="square" lIns="0" tIns="0" rIns="0" bIns="0" rtlCol="0" anchor="t"/>
          <a:lstStyle/>
          <a:p>
            <a:pPr marL="0" indent="0">
              <a:buNone/>
            </a:pPr>
            <a:r>
              <a:rPr lang="en-US" sz="1400" dirty="0">
                <a:solidFill>
                  <a:srgbClr val="9AD1D4"/>
                </a:solidFill>
              </a:rPr>
              <a:t>Then RAG → AI Tutor → monitoring, resilience, cost and final documentation</a:t>
            </a:r>
            <a:endParaRPr lang="en-US" sz="1400" dirty="0"/>
          </a:p>
        </p:txBody>
      </p:sp>
      <p:sp>
        <p:nvSpPr>
          <p:cNvPr id="55" name="Text 46"/>
          <p:cNvSpPr txBox="1"/>
          <p:nvPr/>
        </p:nvSpPr>
        <p:spPr>
          <a:xfrm>
            <a:off x="9052560" y="4892040"/>
            <a:ext cx="2377440" cy="548640"/>
          </a:xfrm>
          <a:prstGeom prst="rect">
            <a:avLst/>
          </a:prstGeom>
          <a:noFill/>
          <a:ln/>
        </p:spPr>
        <p:txBody>
          <a:bodyPr wrap="square" lIns="0" tIns="0" rIns="0" bIns="0" rtlCol="0" anchor="ctr"/>
          <a:lstStyle/>
          <a:p>
            <a:pPr marL="0" indent="0" algn="r">
              <a:buNone/>
            </a:pPr>
            <a:r>
              <a:rPr lang="en-US" sz="2600" b="1" dirty="0">
                <a:solidFill>
                  <a:srgbClr val="F2A541"/>
                </a:solidFill>
                <a:latin typeface="+mj-lt" pitchFamily="34" charset="0"/>
                <a:ea typeface="+mj-lt" pitchFamily="34" charset="-122"/>
                <a:cs typeface="+mj-lt" pitchFamily="34" charset="-120"/>
              </a:rPr>
              <a:t>20 Oct 2026</a:t>
            </a:r>
            <a:endParaRPr lang="en-US" sz="2600" dirty="0"/>
          </a:p>
        </p:txBody>
      </p:sp>
      <p:sp>
        <p:nvSpPr>
          <p:cNvPr id="56" name="Text 47"/>
          <p:cNvSpPr txBox="1"/>
          <p:nvPr/>
        </p:nvSpPr>
        <p:spPr>
          <a:xfrm>
            <a:off x="9052560" y="5440680"/>
            <a:ext cx="2377440" cy="320040"/>
          </a:xfrm>
          <a:prstGeom prst="rect">
            <a:avLst/>
          </a:prstGeom>
          <a:noFill/>
          <a:ln/>
        </p:spPr>
        <p:txBody>
          <a:bodyPr wrap="square" lIns="0" tIns="0" rIns="0" bIns="0" rtlCol="0" anchor="t"/>
          <a:lstStyle/>
          <a:p>
            <a:pPr marL="0" indent="0" algn="r">
              <a:buNone/>
            </a:pPr>
            <a:r>
              <a:rPr lang="en-US" sz="1200" dirty="0">
                <a:solidFill>
                  <a:srgbClr val="D5E7E8"/>
                </a:solidFill>
              </a:rPr>
              <a:t>target</a:t>
            </a:r>
            <a:endParaRPr lang="en-US" sz="1200" dirty="0"/>
          </a:p>
        </p:txBody>
      </p:sp>
      <p:sp>
        <p:nvSpPr>
          <p:cNvPr id="57"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19</a:t>
            </a:fld>
            <a:endParaRPr lang="en-US"/>
          </a:p>
        </p:txBody>
      </p:sp>
      <p:pic>
        <p:nvPicPr>
          <p:cNvPr id="59" name="Picture 58">
            <a:extLst>
              <a:ext uri="{FF2B5EF4-FFF2-40B4-BE49-F238E27FC236}">
                <a16:creationId xmlns:a16="http://schemas.microsoft.com/office/drawing/2014/main" id="{A969273F-E0D4-4E16-99A1-33FB5F66B11E}"/>
              </a:ext>
            </a:extLst>
          </p:cNvPr>
          <p:cNvPicPr>
            <a:picLocks noChangeAspect="1"/>
          </p:cNvPicPr>
          <p:nvPr/>
        </p:nvPicPr>
        <p:blipFill>
          <a:blip r:embed="rId5"/>
          <a:stretch>
            <a:fillRect/>
          </a:stretch>
        </p:blipFill>
        <p:spPr>
          <a:xfrm>
            <a:off x="10497540" y="3422633"/>
            <a:ext cx="847191" cy="89992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C7F"/>
                </a:solidFill>
              </a:defRPr>
            </a:lvl1pPr>
          </a:lstStyle>
          <a:p>
            <a:pPr algn="r"/>
            <a:fld id="{F7021451-1387-4CA6-816F-3879F97B5CBC}" type="slidenum">
              <a:rPr lang="en-US" b="0"/>
              <a:t>20</a:t>
            </a:fld>
            <a:endParaRPr lang="en-US"/>
          </a:p>
        </p:txBody>
      </p:sp>
      <p:sp>
        <p:nvSpPr>
          <p:cNvPr id="62" name="Text 0">
            <a:extLst>
              <a:ext uri="{FF2B5EF4-FFF2-40B4-BE49-F238E27FC236}">
                <a16:creationId xmlns:a16="http://schemas.microsoft.com/office/drawing/2014/main" id="{4E5736B7-6455-4E6D-817E-AED3530D5392}"/>
              </a:ext>
            </a:extLst>
          </p:cNvPr>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Cost estimate — running the platform</a:t>
            </a:r>
            <a:endParaRPr lang="en-US" sz="3000" dirty="0"/>
          </a:p>
        </p:txBody>
      </p:sp>
      <p:sp>
        <p:nvSpPr>
          <p:cNvPr id="63" name="Text 0">
            <a:extLst>
              <a:ext uri="{FF2B5EF4-FFF2-40B4-BE49-F238E27FC236}">
                <a16:creationId xmlns:a16="http://schemas.microsoft.com/office/drawing/2014/main" id="{042EA3FF-3DBB-4DEA-B821-568A0C599776}"/>
              </a:ext>
            </a:extLst>
          </p:cNvPr>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On-demand list prices, us-east-1, if every service ran 24/7 for a month (730 hours). An estimate, not a bill.</a:t>
            </a:r>
            <a:endParaRPr lang="en-US" sz="1400" dirty="0"/>
          </a:p>
        </p:txBody>
      </p:sp>
      <p:sp>
        <p:nvSpPr>
          <p:cNvPr id="64" name="milestone tag">
            <a:extLst>
              <a:ext uri="{FF2B5EF4-FFF2-40B4-BE49-F238E27FC236}">
                <a16:creationId xmlns:a16="http://schemas.microsoft.com/office/drawing/2014/main" id="{C17AF39F-3E00-4B42-A563-34670F754F24}"/>
              </a:ext>
            </a:extLst>
          </p:cNvPr>
          <p:cNvSpPr/>
          <p:nvPr/>
        </p:nvSpPr>
        <p:spPr>
          <a:xfrm>
            <a:off x="10177272" y="502920"/>
            <a:ext cx="1463040" cy="365760"/>
          </a:xfrm>
          <a:prstGeom prst="roundRect">
            <a:avLst>
              <a:gd name="adj" fmla="val 50000"/>
            </a:avLst>
          </a:prstGeom>
          <a:solidFill>
            <a:srgbClr val="0E3B43"/>
          </a:solidFill>
          <a:ln/>
        </p:spPr>
      </p:sp>
      <p:sp>
        <p:nvSpPr>
          <p:cNvPr id="65" name="Text 3">
            <a:extLst>
              <a:ext uri="{FF2B5EF4-FFF2-40B4-BE49-F238E27FC236}">
                <a16:creationId xmlns:a16="http://schemas.microsoft.com/office/drawing/2014/main" id="{98E846DC-721A-4E54-84A0-EB24EB90A79B}"/>
              </a:ext>
            </a:extLst>
          </p:cNvPr>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Cost</a:t>
            </a:r>
            <a:endParaRPr lang="en-US" sz="1200" dirty="0"/>
          </a:p>
        </p:txBody>
      </p:sp>
      <p:sp>
        <p:nvSpPr>
          <p:cNvPr id="66" name="card">
            <a:extLst>
              <a:ext uri="{FF2B5EF4-FFF2-40B4-BE49-F238E27FC236}">
                <a16:creationId xmlns:a16="http://schemas.microsoft.com/office/drawing/2014/main" id="{2BE8B9BE-EDFB-41F2-9429-1C227F3D73C1}"/>
              </a:ext>
            </a:extLst>
          </p:cNvPr>
          <p:cNvSpPr/>
          <p:nvPr/>
        </p:nvSpPr>
        <p:spPr>
          <a:xfrm>
            <a:off x="548640" y="1463040"/>
            <a:ext cx="6949440" cy="4709160"/>
          </a:xfrm>
          <a:prstGeom prst="roundRect">
            <a:avLst>
              <a:gd name="adj" fmla="val 1942"/>
            </a:avLst>
          </a:prstGeom>
          <a:solidFill>
            <a:srgbClr val="FFFFFF"/>
          </a:solidFill>
          <a:ln/>
          <a:effectLst>
            <a:outerShdw blurRad="114300" dist="25400" dir="5400000" algn="bl" rotWithShape="0">
              <a:srgbClr val="0E3B43">
                <a:alpha val="13000"/>
              </a:srgbClr>
            </a:outerShdw>
          </a:effectLst>
        </p:spPr>
      </p:sp>
      <p:sp>
        <p:nvSpPr>
          <p:cNvPr id="67" name="Text 5">
            <a:extLst>
              <a:ext uri="{FF2B5EF4-FFF2-40B4-BE49-F238E27FC236}">
                <a16:creationId xmlns:a16="http://schemas.microsoft.com/office/drawing/2014/main" id="{2EA3D86D-D088-4EF4-AFE4-677DCCD5459B}"/>
              </a:ext>
            </a:extLst>
          </p:cNvPr>
          <p:cNvSpPr txBox="1"/>
          <p:nvPr/>
        </p:nvSpPr>
        <p:spPr>
          <a:xfrm>
            <a:off x="777240" y="1600200"/>
            <a:ext cx="457200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Monthly cost by service</a:t>
            </a:r>
            <a:endParaRPr lang="en-US" sz="1700" dirty="0"/>
          </a:p>
        </p:txBody>
      </p:sp>
      <p:sp>
        <p:nvSpPr>
          <p:cNvPr id="68" name="Text 6">
            <a:extLst>
              <a:ext uri="{FF2B5EF4-FFF2-40B4-BE49-F238E27FC236}">
                <a16:creationId xmlns:a16="http://schemas.microsoft.com/office/drawing/2014/main" id="{A3AC4FA0-9043-4384-86F7-97576EC52C06}"/>
              </a:ext>
            </a:extLst>
          </p:cNvPr>
          <p:cNvSpPr txBox="1"/>
          <p:nvPr/>
        </p:nvSpPr>
        <p:spPr>
          <a:xfrm>
            <a:off x="5669280" y="1600200"/>
            <a:ext cx="1645920" cy="365760"/>
          </a:xfrm>
          <a:prstGeom prst="rect">
            <a:avLst/>
          </a:prstGeom>
          <a:noFill/>
          <a:ln/>
        </p:spPr>
        <p:txBody>
          <a:bodyPr wrap="square" lIns="0" tIns="0" rIns="0" bIns="0" rtlCol="0" anchor="ctr"/>
          <a:lstStyle/>
          <a:p>
            <a:pPr marL="0" indent="0" algn="r">
              <a:buNone/>
            </a:pPr>
            <a:r>
              <a:rPr lang="en-US" sz="1200" dirty="0">
                <a:solidFill>
                  <a:srgbClr val="6B7C7F"/>
                </a:solidFill>
              </a:rPr>
              <a:t>USD / month</a:t>
            </a:r>
            <a:endParaRPr lang="en-US" sz="1200" dirty="0"/>
          </a:p>
        </p:txBody>
      </p:sp>
      <p:sp>
        <p:nvSpPr>
          <p:cNvPr id="69" name="Text 7">
            <a:extLst>
              <a:ext uri="{FF2B5EF4-FFF2-40B4-BE49-F238E27FC236}">
                <a16:creationId xmlns:a16="http://schemas.microsoft.com/office/drawing/2014/main" id="{F3333812-6C1A-4F6E-89F8-396003279F59}"/>
              </a:ext>
            </a:extLst>
          </p:cNvPr>
          <p:cNvSpPr txBox="1"/>
          <p:nvPr/>
        </p:nvSpPr>
        <p:spPr>
          <a:xfrm>
            <a:off x="777240" y="2066544"/>
            <a:ext cx="2423160" cy="438912"/>
          </a:xfrm>
          <a:prstGeom prst="rect">
            <a:avLst/>
          </a:prstGeom>
          <a:noFill/>
          <a:ln/>
        </p:spPr>
        <p:txBody>
          <a:bodyPr wrap="square" lIns="0" tIns="0" rIns="0" bIns="0" rtlCol="0" anchor="ctr"/>
          <a:lstStyle/>
          <a:p>
            <a:pPr marL="0" indent="0">
              <a:buNone/>
            </a:pPr>
            <a:r>
              <a:rPr lang="en-US" sz="1300" b="1" dirty="0">
                <a:solidFill>
                  <a:srgbClr val="132226"/>
                </a:solidFill>
              </a:rPr>
              <a:t>NAT Gateways ×2</a:t>
            </a:r>
            <a:endParaRPr lang="en-US" sz="1300" dirty="0"/>
          </a:p>
          <a:p>
            <a:pPr marL="0" indent="0">
              <a:buNone/>
            </a:pPr>
            <a:r>
              <a:rPr lang="en-US" sz="1000" dirty="0">
                <a:solidFill>
                  <a:srgbClr val="6B7C7F"/>
                </a:solidFill>
              </a:rPr>
              <a:t>hourly charge + data processing</a:t>
            </a:r>
            <a:endParaRPr lang="en-US" sz="1300" dirty="0"/>
          </a:p>
        </p:txBody>
      </p:sp>
      <p:sp>
        <p:nvSpPr>
          <p:cNvPr id="70" name="bar track">
            <a:extLst>
              <a:ext uri="{FF2B5EF4-FFF2-40B4-BE49-F238E27FC236}">
                <a16:creationId xmlns:a16="http://schemas.microsoft.com/office/drawing/2014/main" id="{9B332072-1401-4817-9B74-4F7EFC2DE0F2}"/>
              </a:ext>
            </a:extLst>
          </p:cNvPr>
          <p:cNvSpPr/>
          <p:nvPr/>
        </p:nvSpPr>
        <p:spPr>
          <a:xfrm>
            <a:off x="3246120" y="2194560"/>
            <a:ext cx="3017520" cy="237744"/>
          </a:xfrm>
          <a:prstGeom prst="rect">
            <a:avLst/>
          </a:prstGeom>
          <a:solidFill>
            <a:srgbClr val="EEF4F3"/>
          </a:solidFill>
          <a:ln/>
        </p:spPr>
      </p:sp>
      <p:sp>
        <p:nvSpPr>
          <p:cNvPr id="71" name="bar NAT Gateways ×2">
            <a:extLst>
              <a:ext uri="{FF2B5EF4-FFF2-40B4-BE49-F238E27FC236}">
                <a16:creationId xmlns:a16="http://schemas.microsoft.com/office/drawing/2014/main" id="{C16FDE5C-2847-4FDF-BB35-8B387DBCAE45}"/>
              </a:ext>
            </a:extLst>
          </p:cNvPr>
          <p:cNvSpPr/>
          <p:nvPr/>
        </p:nvSpPr>
        <p:spPr>
          <a:xfrm>
            <a:off x="3246120" y="2194560"/>
            <a:ext cx="3017520" cy="237744"/>
          </a:xfrm>
          <a:prstGeom prst="rect">
            <a:avLst/>
          </a:prstGeom>
          <a:solidFill>
            <a:schemeClr val="accent4"/>
          </a:solidFill>
          <a:ln/>
        </p:spPr>
      </p:sp>
      <p:sp>
        <p:nvSpPr>
          <p:cNvPr id="72" name="Text 10">
            <a:extLst>
              <a:ext uri="{FF2B5EF4-FFF2-40B4-BE49-F238E27FC236}">
                <a16:creationId xmlns:a16="http://schemas.microsoft.com/office/drawing/2014/main" id="{F93412F5-9FBA-4215-BDEE-4A7F9F0E3D96}"/>
              </a:ext>
            </a:extLst>
          </p:cNvPr>
          <p:cNvSpPr txBox="1"/>
          <p:nvPr/>
        </p:nvSpPr>
        <p:spPr>
          <a:xfrm>
            <a:off x="6355080" y="2103120"/>
            <a:ext cx="548640" cy="420624"/>
          </a:xfrm>
          <a:prstGeom prst="rect">
            <a:avLst/>
          </a:prstGeom>
          <a:noFill/>
          <a:ln/>
        </p:spPr>
        <p:txBody>
          <a:bodyPr wrap="square" lIns="0" tIns="0" rIns="0" bIns="0" rtlCol="0" anchor="ctr"/>
          <a:lstStyle/>
          <a:p>
            <a:pPr marL="0" indent="0">
              <a:buNone/>
            </a:pPr>
            <a:r>
              <a:rPr lang="en-US" sz="1400" b="1" dirty="0">
                <a:solidFill>
                  <a:srgbClr val="132226"/>
                </a:solidFill>
              </a:rPr>
              <a:t>$67</a:t>
            </a:r>
            <a:endParaRPr lang="en-US" sz="1400" dirty="0"/>
          </a:p>
        </p:txBody>
      </p:sp>
      <p:sp>
        <p:nvSpPr>
          <p:cNvPr id="73" name="Text 11">
            <a:extLst>
              <a:ext uri="{FF2B5EF4-FFF2-40B4-BE49-F238E27FC236}">
                <a16:creationId xmlns:a16="http://schemas.microsoft.com/office/drawing/2014/main" id="{B13A33FE-22C2-4E90-9023-54F26CA08D4F}"/>
              </a:ext>
            </a:extLst>
          </p:cNvPr>
          <p:cNvSpPr txBox="1"/>
          <p:nvPr/>
        </p:nvSpPr>
        <p:spPr>
          <a:xfrm>
            <a:off x="777240" y="2523744"/>
            <a:ext cx="2423160" cy="438912"/>
          </a:xfrm>
          <a:prstGeom prst="rect">
            <a:avLst/>
          </a:prstGeom>
          <a:noFill/>
          <a:ln/>
        </p:spPr>
        <p:txBody>
          <a:bodyPr wrap="square" lIns="0" tIns="0" rIns="0" bIns="0" rtlCol="0" anchor="ctr"/>
          <a:lstStyle/>
          <a:p>
            <a:pPr marL="0" indent="0">
              <a:buNone/>
            </a:pPr>
            <a:r>
              <a:rPr lang="en-US" sz="1300" b="1" dirty="0">
                <a:solidFill>
                  <a:srgbClr val="132226"/>
                </a:solidFill>
              </a:rPr>
              <a:t>RDS MySQL Multi-AZ</a:t>
            </a:r>
            <a:endParaRPr lang="en-US" sz="1300" dirty="0"/>
          </a:p>
          <a:p>
            <a:pPr marL="0" indent="0">
              <a:buNone/>
            </a:pPr>
            <a:r>
              <a:rPr lang="en-US" sz="1000" dirty="0">
                <a:solidFill>
                  <a:srgbClr val="6B7C7F"/>
                </a:solidFill>
              </a:rPr>
              <a:t>db.t3.micro + 20 GB gp3</a:t>
            </a:r>
            <a:endParaRPr lang="en-US" sz="1300" dirty="0"/>
          </a:p>
        </p:txBody>
      </p:sp>
      <p:sp>
        <p:nvSpPr>
          <p:cNvPr id="74" name="bar track">
            <a:extLst>
              <a:ext uri="{FF2B5EF4-FFF2-40B4-BE49-F238E27FC236}">
                <a16:creationId xmlns:a16="http://schemas.microsoft.com/office/drawing/2014/main" id="{BEF9C4EF-ED4A-4BE6-A5AA-C51AA7350008}"/>
              </a:ext>
            </a:extLst>
          </p:cNvPr>
          <p:cNvSpPr/>
          <p:nvPr/>
        </p:nvSpPr>
        <p:spPr>
          <a:xfrm>
            <a:off x="3246120" y="2651760"/>
            <a:ext cx="3017520" cy="237744"/>
          </a:xfrm>
          <a:prstGeom prst="rect">
            <a:avLst/>
          </a:prstGeom>
          <a:solidFill>
            <a:srgbClr val="EEF4F3"/>
          </a:solidFill>
          <a:ln/>
        </p:spPr>
      </p:sp>
      <p:sp>
        <p:nvSpPr>
          <p:cNvPr id="75" name="bar RDS MySQL Multi-AZ">
            <a:extLst>
              <a:ext uri="{FF2B5EF4-FFF2-40B4-BE49-F238E27FC236}">
                <a16:creationId xmlns:a16="http://schemas.microsoft.com/office/drawing/2014/main" id="{E79F0AA6-8A9F-43C3-BB8A-2F1D5CA53D50}"/>
              </a:ext>
            </a:extLst>
          </p:cNvPr>
          <p:cNvSpPr/>
          <p:nvPr/>
        </p:nvSpPr>
        <p:spPr>
          <a:xfrm>
            <a:off x="3246120" y="2651760"/>
            <a:ext cx="1306091" cy="237744"/>
          </a:xfrm>
          <a:prstGeom prst="rect">
            <a:avLst/>
          </a:prstGeom>
          <a:solidFill>
            <a:schemeClr val="accent5"/>
          </a:solidFill>
          <a:ln/>
        </p:spPr>
      </p:sp>
      <p:sp>
        <p:nvSpPr>
          <p:cNvPr id="76" name="Text 14">
            <a:extLst>
              <a:ext uri="{FF2B5EF4-FFF2-40B4-BE49-F238E27FC236}">
                <a16:creationId xmlns:a16="http://schemas.microsoft.com/office/drawing/2014/main" id="{2E39B9CA-EC6C-40ED-91DF-6EF5A0E14274}"/>
              </a:ext>
            </a:extLst>
          </p:cNvPr>
          <p:cNvSpPr txBox="1"/>
          <p:nvPr/>
        </p:nvSpPr>
        <p:spPr>
          <a:xfrm>
            <a:off x="6355080" y="2560320"/>
            <a:ext cx="548640" cy="420624"/>
          </a:xfrm>
          <a:prstGeom prst="rect">
            <a:avLst/>
          </a:prstGeom>
          <a:noFill/>
          <a:ln/>
        </p:spPr>
        <p:txBody>
          <a:bodyPr wrap="square" lIns="0" tIns="0" rIns="0" bIns="0" rtlCol="0" anchor="ctr"/>
          <a:lstStyle/>
          <a:p>
            <a:pPr marL="0" indent="0">
              <a:buNone/>
            </a:pPr>
            <a:r>
              <a:rPr lang="en-US" sz="1400" b="1" dirty="0">
                <a:solidFill>
                  <a:srgbClr val="132226"/>
                </a:solidFill>
              </a:rPr>
              <a:t>$29</a:t>
            </a:r>
            <a:endParaRPr lang="en-US" sz="1400" dirty="0"/>
          </a:p>
        </p:txBody>
      </p:sp>
      <p:sp>
        <p:nvSpPr>
          <p:cNvPr id="77" name="Text 15">
            <a:extLst>
              <a:ext uri="{FF2B5EF4-FFF2-40B4-BE49-F238E27FC236}">
                <a16:creationId xmlns:a16="http://schemas.microsoft.com/office/drawing/2014/main" id="{1B34C085-3906-4C3B-8C40-F84A27AFA2C1}"/>
              </a:ext>
            </a:extLst>
          </p:cNvPr>
          <p:cNvSpPr txBox="1"/>
          <p:nvPr/>
        </p:nvSpPr>
        <p:spPr>
          <a:xfrm>
            <a:off x="777240" y="2980944"/>
            <a:ext cx="2423160" cy="438912"/>
          </a:xfrm>
          <a:prstGeom prst="rect">
            <a:avLst/>
          </a:prstGeom>
          <a:noFill/>
          <a:ln/>
        </p:spPr>
        <p:txBody>
          <a:bodyPr wrap="square" lIns="0" tIns="0" rIns="0" bIns="0" rtlCol="0" anchor="ctr"/>
          <a:lstStyle/>
          <a:p>
            <a:pPr marL="0" indent="0">
              <a:buNone/>
            </a:pPr>
            <a:r>
              <a:rPr lang="en-US" sz="1300" b="1" dirty="0">
                <a:solidFill>
                  <a:srgbClr val="132226"/>
                </a:solidFill>
              </a:rPr>
              <a:t>Application Load Balancer</a:t>
            </a:r>
            <a:endParaRPr lang="en-US" sz="1300" dirty="0"/>
          </a:p>
          <a:p>
            <a:pPr marL="0" indent="0">
              <a:buNone/>
            </a:pPr>
            <a:r>
              <a:rPr lang="en-US" sz="1000" dirty="0">
                <a:solidFill>
                  <a:srgbClr val="6B7C7F"/>
                </a:solidFill>
              </a:rPr>
              <a:t>hourly charge + ~1 LCU</a:t>
            </a:r>
            <a:endParaRPr lang="en-US" sz="1300" dirty="0"/>
          </a:p>
        </p:txBody>
      </p:sp>
      <p:sp>
        <p:nvSpPr>
          <p:cNvPr id="78" name="bar track">
            <a:extLst>
              <a:ext uri="{FF2B5EF4-FFF2-40B4-BE49-F238E27FC236}">
                <a16:creationId xmlns:a16="http://schemas.microsoft.com/office/drawing/2014/main" id="{F7519A20-C587-4834-A3A4-80CBB543FE8B}"/>
              </a:ext>
            </a:extLst>
          </p:cNvPr>
          <p:cNvSpPr/>
          <p:nvPr/>
        </p:nvSpPr>
        <p:spPr>
          <a:xfrm>
            <a:off x="3246120" y="3108960"/>
            <a:ext cx="3017520" cy="237744"/>
          </a:xfrm>
          <a:prstGeom prst="rect">
            <a:avLst/>
          </a:prstGeom>
          <a:solidFill>
            <a:srgbClr val="EEF4F3"/>
          </a:solidFill>
          <a:ln/>
        </p:spPr>
      </p:sp>
      <p:sp>
        <p:nvSpPr>
          <p:cNvPr id="79" name="bar Application Load Balancer">
            <a:extLst>
              <a:ext uri="{FF2B5EF4-FFF2-40B4-BE49-F238E27FC236}">
                <a16:creationId xmlns:a16="http://schemas.microsoft.com/office/drawing/2014/main" id="{E4AEB3E6-4999-408B-BD4C-5FB81AD393FB}"/>
              </a:ext>
            </a:extLst>
          </p:cNvPr>
          <p:cNvSpPr/>
          <p:nvPr/>
        </p:nvSpPr>
        <p:spPr>
          <a:xfrm>
            <a:off x="3246120" y="3108960"/>
            <a:ext cx="990827" cy="237744"/>
          </a:xfrm>
          <a:prstGeom prst="rect">
            <a:avLst/>
          </a:prstGeom>
          <a:solidFill>
            <a:schemeClr val="accent1"/>
          </a:solidFill>
          <a:ln/>
        </p:spPr>
      </p:sp>
      <p:sp>
        <p:nvSpPr>
          <p:cNvPr id="80" name="Text 18">
            <a:extLst>
              <a:ext uri="{FF2B5EF4-FFF2-40B4-BE49-F238E27FC236}">
                <a16:creationId xmlns:a16="http://schemas.microsoft.com/office/drawing/2014/main" id="{616A1129-2D18-4F4B-9F63-EEB1D0AF11DC}"/>
              </a:ext>
            </a:extLst>
          </p:cNvPr>
          <p:cNvSpPr txBox="1"/>
          <p:nvPr/>
        </p:nvSpPr>
        <p:spPr>
          <a:xfrm>
            <a:off x="6355080" y="3017520"/>
            <a:ext cx="548640" cy="420624"/>
          </a:xfrm>
          <a:prstGeom prst="rect">
            <a:avLst/>
          </a:prstGeom>
          <a:noFill/>
          <a:ln/>
        </p:spPr>
        <p:txBody>
          <a:bodyPr wrap="square" lIns="0" tIns="0" rIns="0" bIns="0" rtlCol="0" anchor="ctr"/>
          <a:lstStyle/>
          <a:p>
            <a:pPr marL="0" indent="0">
              <a:buNone/>
            </a:pPr>
            <a:r>
              <a:rPr lang="en-US" sz="1400" b="1" dirty="0">
                <a:solidFill>
                  <a:srgbClr val="132226"/>
                </a:solidFill>
              </a:rPr>
              <a:t>$22</a:t>
            </a:r>
            <a:endParaRPr lang="en-US" sz="1400" dirty="0"/>
          </a:p>
        </p:txBody>
      </p:sp>
      <p:sp>
        <p:nvSpPr>
          <p:cNvPr id="81" name="Text 19">
            <a:extLst>
              <a:ext uri="{FF2B5EF4-FFF2-40B4-BE49-F238E27FC236}">
                <a16:creationId xmlns:a16="http://schemas.microsoft.com/office/drawing/2014/main" id="{434A789A-4387-491B-A155-D03009220BA9}"/>
              </a:ext>
            </a:extLst>
          </p:cNvPr>
          <p:cNvSpPr txBox="1"/>
          <p:nvPr/>
        </p:nvSpPr>
        <p:spPr>
          <a:xfrm>
            <a:off x="777240" y="3438144"/>
            <a:ext cx="2423160" cy="438912"/>
          </a:xfrm>
          <a:prstGeom prst="rect">
            <a:avLst/>
          </a:prstGeom>
          <a:noFill/>
          <a:ln/>
        </p:spPr>
        <p:txBody>
          <a:bodyPr wrap="square" lIns="0" tIns="0" rIns="0" bIns="0" rtlCol="0" anchor="ctr"/>
          <a:lstStyle/>
          <a:p>
            <a:pPr marL="0" indent="0">
              <a:buNone/>
            </a:pPr>
            <a:r>
              <a:rPr lang="en-US" sz="1300" b="1" dirty="0">
                <a:solidFill>
                  <a:srgbClr val="132226"/>
                </a:solidFill>
              </a:rPr>
              <a:t>ECS Fargate</a:t>
            </a:r>
            <a:endParaRPr lang="en-US" sz="1300" dirty="0"/>
          </a:p>
          <a:p>
            <a:pPr marL="0" indent="0">
              <a:buNone/>
            </a:pPr>
            <a:r>
              <a:rPr lang="en-US" sz="1000" dirty="0">
                <a:solidFill>
                  <a:srgbClr val="6B7C7F"/>
                </a:solidFill>
              </a:rPr>
              <a:t>2 tasks · 0.25 vCPU · 0.5 GB</a:t>
            </a:r>
            <a:endParaRPr lang="en-US" sz="1300" dirty="0"/>
          </a:p>
        </p:txBody>
      </p:sp>
      <p:sp>
        <p:nvSpPr>
          <p:cNvPr id="82" name="bar track">
            <a:extLst>
              <a:ext uri="{FF2B5EF4-FFF2-40B4-BE49-F238E27FC236}">
                <a16:creationId xmlns:a16="http://schemas.microsoft.com/office/drawing/2014/main" id="{3DBDAFBF-7DCB-4A2A-ABD8-E553C22B8C41}"/>
              </a:ext>
            </a:extLst>
          </p:cNvPr>
          <p:cNvSpPr/>
          <p:nvPr/>
        </p:nvSpPr>
        <p:spPr>
          <a:xfrm>
            <a:off x="3246120" y="3566160"/>
            <a:ext cx="3017520" cy="237744"/>
          </a:xfrm>
          <a:prstGeom prst="rect">
            <a:avLst/>
          </a:prstGeom>
          <a:solidFill>
            <a:srgbClr val="EEF4F3"/>
          </a:solidFill>
          <a:ln/>
        </p:spPr>
      </p:sp>
      <p:sp>
        <p:nvSpPr>
          <p:cNvPr id="83" name="bar ECS Fargate">
            <a:extLst>
              <a:ext uri="{FF2B5EF4-FFF2-40B4-BE49-F238E27FC236}">
                <a16:creationId xmlns:a16="http://schemas.microsoft.com/office/drawing/2014/main" id="{EFD09569-369E-4F56-B84F-1D9C2ED57D3E}"/>
              </a:ext>
            </a:extLst>
          </p:cNvPr>
          <p:cNvSpPr/>
          <p:nvPr/>
        </p:nvSpPr>
        <p:spPr>
          <a:xfrm>
            <a:off x="3246120" y="3566160"/>
            <a:ext cx="810677" cy="237744"/>
          </a:xfrm>
          <a:prstGeom prst="rect">
            <a:avLst/>
          </a:prstGeom>
          <a:solidFill>
            <a:schemeClr val="accent1"/>
          </a:solidFill>
          <a:ln/>
        </p:spPr>
      </p:sp>
      <p:sp>
        <p:nvSpPr>
          <p:cNvPr id="84" name="Text 22">
            <a:extLst>
              <a:ext uri="{FF2B5EF4-FFF2-40B4-BE49-F238E27FC236}">
                <a16:creationId xmlns:a16="http://schemas.microsoft.com/office/drawing/2014/main" id="{66C6EBC6-082D-43FD-82F3-D22E00019596}"/>
              </a:ext>
            </a:extLst>
          </p:cNvPr>
          <p:cNvSpPr txBox="1"/>
          <p:nvPr/>
        </p:nvSpPr>
        <p:spPr>
          <a:xfrm>
            <a:off x="6355080" y="3474720"/>
            <a:ext cx="548640" cy="420624"/>
          </a:xfrm>
          <a:prstGeom prst="rect">
            <a:avLst/>
          </a:prstGeom>
          <a:noFill/>
          <a:ln/>
        </p:spPr>
        <p:txBody>
          <a:bodyPr wrap="square" lIns="0" tIns="0" rIns="0" bIns="0" rtlCol="0" anchor="ctr"/>
          <a:lstStyle/>
          <a:p>
            <a:pPr marL="0" indent="0">
              <a:buNone/>
            </a:pPr>
            <a:r>
              <a:rPr lang="en-US" sz="1400" b="1" dirty="0">
                <a:solidFill>
                  <a:srgbClr val="132226"/>
                </a:solidFill>
              </a:rPr>
              <a:t>$18</a:t>
            </a:r>
            <a:endParaRPr lang="en-US" sz="1400" dirty="0"/>
          </a:p>
        </p:txBody>
      </p:sp>
      <p:sp>
        <p:nvSpPr>
          <p:cNvPr id="85" name="Text 23">
            <a:extLst>
              <a:ext uri="{FF2B5EF4-FFF2-40B4-BE49-F238E27FC236}">
                <a16:creationId xmlns:a16="http://schemas.microsoft.com/office/drawing/2014/main" id="{5373FFFD-B0CC-4314-860B-26541138C3FB}"/>
              </a:ext>
            </a:extLst>
          </p:cNvPr>
          <p:cNvSpPr txBox="1"/>
          <p:nvPr/>
        </p:nvSpPr>
        <p:spPr>
          <a:xfrm>
            <a:off x="777240" y="3895344"/>
            <a:ext cx="2423160" cy="438912"/>
          </a:xfrm>
          <a:prstGeom prst="rect">
            <a:avLst/>
          </a:prstGeom>
          <a:noFill/>
          <a:ln/>
        </p:spPr>
        <p:txBody>
          <a:bodyPr wrap="square" lIns="0" tIns="0" rIns="0" bIns="0" rtlCol="0" anchor="ctr"/>
          <a:lstStyle/>
          <a:p>
            <a:pPr marL="0" indent="0">
              <a:buNone/>
            </a:pPr>
            <a:r>
              <a:rPr lang="en-US" sz="1300" b="1" dirty="0">
                <a:solidFill>
                  <a:srgbClr val="132226"/>
                </a:solidFill>
              </a:rPr>
              <a:t>Public IPv4 addresses ×4</a:t>
            </a:r>
            <a:endParaRPr lang="en-US" sz="1300" dirty="0"/>
          </a:p>
          <a:p>
            <a:pPr marL="0" indent="0">
              <a:buNone/>
            </a:pPr>
            <a:r>
              <a:rPr lang="en-US" sz="1000" dirty="0">
                <a:solidFill>
                  <a:srgbClr val="6B7C7F"/>
                </a:solidFill>
              </a:rPr>
              <a:t>2 NAT Elastic IPs + 2 ALB IPs</a:t>
            </a:r>
            <a:endParaRPr lang="en-US" sz="1300" dirty="0"/>
          </a:p>
        </p:txBody>
      </p:sp>
      <p:sp>
        <p:nvSpPr>
          <p:cNvPr id="86" name="bar track">
            <a:extLst>
              <a:ext uri="{FF2B5EF4-FFF2-40B4-BE49-F238E27FC236}">
                <a16:creationId xmlns:a16="http://schemas.microsoft.com/office/drawing/2014/main" id="{ACF16F1D-17EC-49CC-AB81-61DC8DDA6FA4}"/>
              </a:ext>
            </a:extLst>
          </p:cNvPr>
          <p:cNvSpPr/>
          <p:nvPr/>
        </p:nvSpPr>
        <p:spPr>
          <a:xfrm>
            <a:off x="3246120" y="4023360"/>
            <a:ext cx="3017520" cy="237744"/>
          </a:xfrm>
          <a:prstGeom prst="rect">
            <a:avLst/>
          </a:prstGeom>
          <a:solidFill>
            <a:srgbClr val="EEF4F3"/>
          </a:solidFill>
          <a:ln/>
        </p:spPr>
      </p:sp>
      <p:sp>
        <p:nvSpPr>
          <p:cNvPr id="87" name="bar Public IPv4 addresses ×4">
            <a:extLst>
              <a:ext uri="{FF2B5EF4-FFF2-40B4-BE49-F238E27FC236}">
                <a16:creationId xmlns:a16="http://schemas.microsoft.com/office/drawing/2014/main" id="{FBCF74AF-290C-4E86-9108-C0509F13DED0}"/>
              </a:ext>
            </a:extLst>
          </p:cNvPr>
          <p:cNvSpPr/>
          <p:nvPr/>
        </p:nvSpPr>
        <p:spPr>
          <a:xfrm>
            <a:off x="3246120" y="4023360"/>
            <a:ext cx="675564" cy="237744"/>
          </a:xfrm>
          <a:prstGeom prst="rect">
            <a:avLst/>
          </a:prstGeom>
          <a:solidFill>
            <a:schemeClr val="accent4"/>
          </a:solidFill>
          <a:ln/>
        </p:spPr>
      </p:sp>
      <p:sp>
        <p:nvSpPr>
          <p:cNvPr id="88" name="Text 26">
            <a:extLst>
              <a:ext uri="{FF2B5EF4-FFF2-40B4-BE49-F238E27FC236}">
                <a16:creationId xmlns:a16="http://schemas.microsoft.com/office/drawing/2014/main" id="{F91A7908-8416-4D85-B559-C3EBC1A765ED}"/>
              </a:ext>
            </a:extLst>
          </p:cNvPr>
          <p:cNvSpPr txBox="1"/>
          <p:nvPr/>
        </p:nvSpPr>
        <p:spPr>
          <a:xfrm>
            <a:off x="6355080" y="3931920"/>
            <a:ext cx="548640" cy="420624"/>
          </a:xfrm>
          <a:prstGeom prst="rect">
            <a:avLst/>
          </a:prstGeom>
          <a:noFill/>
          <a:ln/>
        </p:spPr>
        <p:txBody>
          <a:bodyPr wrap="square" lIns="0" tIns="0" rIns="0" bIns="0" rtlCol="0" anchor="ctr"/>
          <a:lstStyle/>
          <a:p>
            <a:pPr marL="0" indent="0">
              <a:buNone/>
            </a:pPr>
            <a:r>
              <a:rPr lang="en-US" sz="1400" b="1" dirty="0">
                <a:solidFill>
                  <a:srgbClr val="132226"/>
                </a:solidFill>
              </a:rPr>
              <a:t>$15</a:t>
            </a:r>
            <a:endParaRPr lang="en-US" sz="1400" dirty="0"/>
          </a:p>
        </p:txBody>
      </p:sp>
      <p:sp>
        <p:nvSpPr>
          <p:cNvPr id="89" name="Text 27">
            <a:extLst>
              <a:ext uri="{FF2B5EF4-FFF2-40B4-BE49-F238E27FC236}">
                <a16:creationId xmlns:a16="http://schemas.microsoft.com/office/drawing/2014/main" id="{CF8B3861-A71A-4B8F-94C3-21C21DE48BC8}"/>
              </a:ext>
            </a:extLst>
          </p:cNvPr>
          <p:cNvSpPr txBox="1"/>
          <p:nvPr/>
        </p:nvSpPr>
        <p:spPr>
          <a:xfrm>
            <a:off x="777240" y="4352544"/>
            <a:ext cx="2423160" cy="438912"/>
          </a:xfrm>
          <a:prstGeom prst="rect">
            <a:avLst/>
          </a:prstGeom>
          <a:noFill/>
          <a:ln/>
        </p:spPr>
        <p:txBody>
          <a:bodyPr wrap="square" lIns="0" tIns="0" rIns="0" bIns="0" rtlCol="0" anchor="ctr"/>
          <a:lstStyle/>
          <a:p>
            <a:pPr marL="0" indent="0">
              <a:buNone/>
            </a:pPr>
            <a:r>
              <a:rPr lang="en-US" sz="1300" b="1" dirty="0">
                <a:solidFill>
                  <a:srgbClr val="132226"/>
                </a:solidFill>
              </a:rPr>
              <a:t>AWS WAF</a:t>
            </a:r>
            <a:endParaRPr lang="en-US" sz="1300" dirty="0"/>
          </a:p>
          <a:p>
            <a:pPr marL="0" indent="0">
              <a:buNone/>
            </a:pPr>
            <a:r>
              <a:rPr lang="en-US" sz="1000" dirty="0">
                <a:solidFill>
                  <a:srgbClr val="6B7C7F"/>
                </a:solidFill>
              </a:rPr>
              <a:t>web ACL + 2 rules</a:t>
            </a:r>
            <a:endParaRPr lang="en-US" sz="1300" dirty="0"/>
          </a:p>
        </p:txBody>
      </p:sp>
      <p:sp>
        <p:nvSpPr>
          <p:cNvPr id="90" name="bar track">
            <a:extLst>
              <a:ext uri="{FF2B5EF4-FFF2-40B4-BE49-F238E27FC236}">
                <a16:creationId xmlns:a16="http://schemas.microsoft.com/office/drawing/2014/main" id="{AAA62F1C-FC75-45A8-B82D-514E84E826EB}"/>
              </a:ext>
            </a:extLst>
          </p:cNvPr>
          <p:cNvSpPr/>
          <p:nvPr/>
        </p:nvSpPr>
        <p:spPr>
          <a:xfrm>
            <a:off x="3246120" y="4480560"/>
            <a:ext cx="3017520" cy="237744"/>
          </a:xfrm>
          <a:prstGeom prst="rect">
            <a:avLst/>
          </a:prstGeom>
          <a:solidFill>
            <a:srgbClr val="EEF4F3"/>
          </a:solidFill>
          <a:ln/>
        </p:spPr>
      </p:sp>
      <p:sp>
        <p:nvSpPr>
          <p:cNvPr id="91" name="bar AWS WAF">
            <a:extLst>
              <a:ext uri="{FF2B5EF4-FFF2-40B4-BE49-F238E27FC236}">
                <a16:creationId xmlns:a16="http://schemas.microsoft.com/office/drawing/2014/main" id="{ABACDA3A-7129-42A7-B901-95B479A8CEA0}"/>
              </a:ext>
            </a:extLst>
          </p:cNvPr>
          <p:cNvSpPr/>
          <p:nvPr/>
        </p:nvSpPr>
        <p:spPr>
          <a:xfrm>
            <a:off x="3246120" y="4480560"/>
            <a:ext cx="315263" cy="237744"/>
          </a:xfrm>
          <a:prstGeom prst="rect">
            <a:avLst/>
          </a:prstGeom>
          <a:solidFill>
            <a:schemeClr val="accent2"/>
          </a:solidFill>
          <a:ln/>
        </p:spPr>
      </p:sp>
      <p:sp>
        <p:nvSpPr>
          <p:cNvPr id="92" name="Text 30">
            <a:extLst>
              <a:ext uri="{FF2B5EF4-FFF2-40B4-BE49-F238E27FC236}">
                <a16:creationId xmlns:a16="http://schemas.microsoft.com/office/drawing/2014/main" id="{01073159-5D6F-4691-8ECC-07A4F7D09B7A}"/>
              </a:ext>
            </a:extLst>
          </p:cNvPr>
          <p:cNvSpPr txBox="1"/>
          <p:nvPr/>
        </p:nvSpPr>
        <p:spPr>
          <a:xfrm>
            <a:off x="6355080" y="4389120"/>
            <a:ext cx="548640" cy="420624"/>
          </a:xfrm>
          <a:prstGeom prst="rect">
            <a:avLst/>
          </a:prstGeom>
          <a:noFill/>
          <a:ln/>
        </p:spPr>
        <p:txBody>
          <a:bodyPr wrap="square" lIns="0" tIns="0" rIns="0" bIns="0" rtlCol="0" anchor="ctr"/>
          <a:lstStyle/>
          <a:p>
            <a:pPr marL="0" indent="0">
              <a:buNone/>
            </a:pPr>
            <a:r>
              <a:rPr lang="en-US" sz="1400" b="1" dirty="0">
                <a:solidFill>
                  <a:srgbClr val="132226"/>
                </a:solidFill>
              </a:rPr>
              <a:t>$7</a:t>
            </a:r>
            <a:endParaRPr lang="en-US" sz="1400" dirty="0"/>
          </a:p>
        </p:txBody>
      </p:sp>
      <p:sp>
        <p:nvSpPr>
          <p:cNvPr id="93" name="Text 31">
            <a:extLst>
              <a:ext uri="{FF2B5EF4-FFF2-40B4-BE49-F238E27FC236}">
                <a16:creationId xmlns:a16="http://schemas.microsoft.com/office/drawing/2014/main" id="{265D3651-3551-487F-9C22-53ADDC45EACF}"/>
              </a:ext>
            </a:extLst>
          </p:cNvPr>
          <p:cNvSpPr txBox="1"/>
          <p:nvPr/>
        </p:nvSpPr>
        <p:spPr>
          <a:xfrm>
            <a:off x="777240" y="4809744"/>
            <a:ext cx="2423160" cy="438912"/>
          </a:xfrm>
          <a:prstGeom prst="rect">
            <a:avLst/>
          </a:prstGeom>
          <a:noFill/>
          <a:ln/>
        </p:spPr>
        <p:txBody>
          <a:bodyPr wrap="square" lIns="0" tIns="0" rIns="0" bIns="0" rtlCol="0" anchor="ctr"/>
          <a:lstStyle/>
          <a:p>
            <a:pPr marL="0" indent="0">
              <a:buNone/>
            </a:pPr>
            <a:r>
              <a:rPr lang="en-US" sz="1300" b="1" dirty="0">
                <a:solidFill>
                  <a:srgbClr val="132226"/>
                </a:solidFill>
              </a:rPr>
              <a:t>CloudWatch</a:t>
            </a:r>
            <a:endParaRPr lang="en-US" sz="1300" dirty="0"/>
          </a:p>
          <a:p>
            <a:pPr marL="0" indent="0">
              <a:buNone/>
            </a:pPr>
            <a:r>
              <a:rPr lang="en-US" sz="1000" dirty="0">
                <a:solidFill>
                  <a:srgbClr val="6B7C7F"/>
                </a:solidFill>
              </a:rPr>
              <a:t>logs + Container Insights</a:t>
            </a:r>
            <a:endParaRPr lang="en-US" sz="1300" dirty="0"/>
          </a:p>
        </p:txBody>
      </p:sp>
      <p:sp>
        <p:nvSpPr>
          <p:cNvPr id="94" name="bar track">
            <a:extLst>
              <a:ext uri="{FF2B5EF4-FFF2-40B4-BE49-F238E27FC236}">
                <a16:creationId xmlns:a16="http://schemas.microsoft.com/office/drawing/2014/main" id="{1354392A-C75E-4FCD-B170-61F9F33EB73D}"/>
              </a:ext>
            </a:extLst>
          </p:cNvPr>
          <p:cNvSpPr/>
          <p:nvPr/>
        </p:nvSpPr>
        <p:spPr>
          <a:xfrm>
            <a:off x="3246120" y="4937760"/>
            <a:ext cx="3017520" cy="237744"/>
          </a:xfrm>
          <a:prstGeom prst="rect">
            <a:avLst/>
          </a:prstGeom>
          <a:solidFill>
            <a:srgbClr val="EEF4F3"/>
          </a:solidFill>
          <a:ln/>
        </p:spPr>
      </p:sp>
      <p:sp>
        <p:nvSpPr>
          <p:cNvPr id="95" name="bar CloudWatch">
            <a:extLst>
              <a:ext uri="{FF2B5EF4-FFF2-40B4-BE49-F238E27FC236}">
                <a16:creationId xmlns:a16="http://schemas.microsoft.com/office/drawing/2014/main" id="{D7952FB3-743D-46AE-80CE-4AFEDB302445}"/>
              </a:ext>
            </a:extLst>
          </p:cNvPr>
          <p:cNvSpPr/>
          <p:nvPr/>
        </p:nvSpPr>
        <p:spPr>
          <a:xfrm>
            <a:off x="3246120" y="4937760"/>
            <a:ext cx="225188" cy="237744"/>
          </a:xfrm>
          <a:prstGeom prst="rect">
            <a:avLst/>
          </a:prstGeom>
          <a:solidFill>
            <a:schemeClr val="accent5"/>
          </a:solidFill>
          <a:ln/>
        </p:spPr>
      </p:sp>
      <p:sp>
        <p:nvSpPr>
          <p:cNvPr id="96" name="Text 34">
            <a:extLst>
              <a:ext uri="{FF2B5EF4-FFF2-40B4-BE49-F238E27FC236}">
                <a16:creationId xmlns:a16="http://schemas.microsoft.com/office/drawing/2014/main" id="{86279310-DA8A-41E9-8200-3851131E9B09}"/>
              </a:ext>
            </a:extLst>
          </p:cNvPr>
          <p:cNvSpPr txBox="1"/>
          <p:nvPr/>
        </p:nvSpPr>
        <p:spPr>
          <a:xfrm>
            <a:off x="6355080" y="4846320"/>
            <a:ext cx="548640" cy="420624"/>
          </a:xfrm>
          <a:prstGeom prst="rect">
            <a:avLst/>
          </a:prstGeom>
          <a:noFill/>
          <a:ln/>
        </p:spPr>
        <p:txBody>
          <a:bodyPr wrap="square" lIns="0" tIns="0" rIns="0" bIns="0" rtlCol="0" anchor="ctr"/>
          <a:lstStyle/>
          <a:p>
            <a:pPr marL="0" indent="0">
              <a:buNone/>
            </a:pPr>
            <a:r>
              <a:rPr lang="en-US" sz="1400" b="1" dirty="0">
                <a:solidFill>
                  <a:srgbClr val="132226"/>
                </a:solidFill>
              </a:rPr>
              <a:t>$5</a:t>
            </a:r>
            <a:endParaRPr lang="en-US" sz="1400" dirty="0"/>
          </a:p>
        </p:txBody>
      </p:sp>
      <p:sp>
        <p:nvSpPr>
          <p:cNvPr id="97" name="Text 35">
            <a:extLst>
              <a:ext uri="{FF2B5EF4-FFF2-40B4-BE49-F238E27FC236}">
                <a16:creationId xmlns:a16="http://schemas.microsoft.com/office/drawing/2014/main" id="{8568CDD8-E2A7-417D-84CF-DBAE8AF6A9E4}"/>
              </a:ext>
            </a:extLst>
          </p:cNvPr>
          <p:cNvSpPr txBox="1"/>
          <p:nvPr/>
        </p:nvSpPr>
        <p:spPr>
          <a:xfrm>
            <a:off x="777240" y="5266944"/>
            <a:ext cx="2423160" cy="438912"/>
          </a:xfrm>
          <a:prstGeom prst="rect">
            <a:avLst/>
          </a:prstGeom>
          <a:noFill/>
          <a:ln/>
        </p:spPr>
        <p:txBody>
          <a:bodyPr wrap="square" lIns="0" tIns="0" rIns="0" bIns="0" rtlCol="0" anchor="ctr"/>
          <a:lstStyle/>
          <a:p>
            <a:pPr marL="0" indent="0">
              <a:buNone/>
            </a:pPr>
            <a:r>
              <a:rPr lang="en-US" sz="1300" b="1" dirty="0">
                <a:solidFill>
                  <a:srgbClr val="132226"/>
                </a:solidFill>
              </a:rPr>
              <a:t>Other</a:t>
            </a:r>
            <a:endParaRPr lang="en-US" sz="1300" dirty="0"/>
          </a:p>
          <a:p>
            <a:pPr marL="0" indent="0">
              <a:buNone/>
            </a:pPr>
            <a:r>
              <a:rPr lang="en-US" sz="1000" dirty="0">
                <a:solidFill>
                  <a:srgbClr val="6B7C7F"/>
                </a:solidFill>
              </a:rPr>
              <a:t>Route 53, Secrets Manager, ECR, S3</a:t>
            </a:r>
            <a:endParaRPr lang="en-US" sz="1300" dirty="0"/>
          </a:p>
        </p:txBody>
      </p:sp>
      <p:sp>
        <p:nvSpPr>
          <p:cNvPr id="98" name="bar track">
            <a:extLst>
              <a:ext uri="{FF2B5EF4-FFF2-40B4-BE49-F238E27FC236}">
                <a16:creationId xmlns:a16="http://schemas.microsoft.com/office/drawing/2014/main" id="{3704936E-D70E-491F-B53D-22814A7B8247}"/>
              </a:ext>
            </a:extLst>
          </p:cNvPr>
          <p:cNvSpPr/>
          <p:nvPr/>
        </p:nvSpPr>
        <p:spPr>
          <a:xfrm>
            <a:off x="3246120" y="5394960"/>
            <a:ext cx="3017520" cy="237744"/>
          </a:xfrm>
          <a:prstGeom prst="rect">
            <a:avLst/>
          </a:prstGeom>
          <a:solidFill>
            <a:srgbClr val="EEF4F3"/>
          </a:solidFill>
          <a:ln/>
        </p:spPr>
      </p:sp>
      <p:sp>
        <p:nvSpPr>
          <p:cNvPr id="99" name="bar Other">
            <a:extLst>
              <a:ext uri="{FF2B5EF4-FFF2-40B4-BE49-F238E27FC236}">
                <a16:creationId xmlns:a16="http://schemas.microsoft.com/office/drawing/2014/main" id="{8EFB14AF-C465-4763-9959-BACC5B443C5F}"/>
              </a:ext>
            </a:extLst>
          </p:cNvPr>
          <p:cNvSpPr/>
          <p:nvPr/>
        </p:nvSpPr>
        <p:spPr>
          <a:xfrm>
            <a:off x="3246120" y="5394960"/>
            <a:ext cx="45720" cy="237744"/>
          </a:xfrm>
          <a:prstGeom prst="rect">
            <a:avLst/>
          </a:prstGeom>
          <a:solidFill>
            <a:schemeClr val="accent5"/>
          </a:solidFill>
          <a:ln/>
        </p:spPr>
      </p:sp>
      <p:sp>
        <p:nvSpPr>
          <p:cNvPr id="100" name="Text 38">
            <a:extLst>
              <a:ext uri="{FF2B5EF4-FFF2-40B4-BE49-F238E27FC236}">
                <a16:creationId xmlns:a16="http://schemas.microsoft.com/office/drawing/2014/main" id="{4C475777-E9F3-4D56-83C5-DA58ADDD77E3}"/>
              </a:ext>
            </a:extLst>
          </p:cNvPr>
          <p:cNvSpPr txBox="1"/>
          <p:nvPr/>
        </p:nvSpPr>
        <p:spPr>
          <a:xfrm>
            <a:off x="6355080" y="5303520"/>
            <a:ext cx="548640" cy="420624"/>
          </a:xfrm>
          <a:prstGeom prst="rect">
            <a:avLst/>
          </a:prstGeom>
          <a:noFill/>
          <a:ln/>
        </p:spPr>
        <p:txBody>
          <a:bodyPr wrap="square" lIns="0" tIns="0" rIns="0" bIns="0" rtlCol="0" anchor="ctr"/>
          <a:lstStyle/>
          <a:p>
            <a:pPr marL="0" indent="0">
              <a:buNone/>
            </a:pPr>
            <a:r>
              <a:rPr lang="en-US" sz="1400" b="1" dirty="0">
                <a:solidFill>
                  <a:srgbClr val="132226"/>
                </a:solidFill>
              </a:rPr>
              <a:t>$1</a:t>
            </a:r>
            <a:endParaRPr lang="en-US" sz="1400" dirty="0"/>
          </a:p>
        </p:txBody>
      </p:sp>
      <p:sp>
        <p:nvSpPr>
          <p:cNvPr id="101" name="free tier strip">
            <a:extLst>
              <a:ext uri="{FF2B5EF4-FFF2-40B4-BE49-F238E27FC236}">
                <a16:creationId xmlns:a16="http://schemas.microsoft.com/office/drawing/2014/main" id="{67618AF0-908D-465E-BF27-2756C5B0B3F4}"/>
              </a:ext>
            </a:extLst>
          </p:cNvPr>
          <p:cNvSpPr/>
          <p:nvPr/>
        </p:nvSpPr>
        <p:spPr>
          <a:xfrm>
            <a:off x="777240" y="5760720"/>
            <a:ext cx="6492240" cy="329184"/>
          </a:xfrm>
          <a:prstGeom prst="roundRect">
            <a:avLst>
              <a:gd name="adj" fmla="val 16667"/>
            </a:avLst>
          </a:prstGeom>
          <a:solidFill>
            <a:srgbClr val="E0F3EE"/>
          </a:solidFill>
          <a:ln/>
        </p:spPr>
      </p:sp>
      <p:sp>
        <p:nvSpPr>
          <p:cNvPr id="102" name="Text 40">
            <a:extLst>
              <a:ext uri="{FF2B5EF4-FFF2-40B4-BE49-F238E27FC236}">
                <a16:creationId xmlns:a16="http://schemas.microsoft.com/office/drawing/2014/main" id="{8189C1D0-1DF7-4965-8E64-39445AB17862}"/>
              </a:ext>
            </a:extLst>
          </p:cNvPr>
          <p:cNvSpPr txBox="1"/>
          <p:nvPr/>
        </p:nvSpPr>
        <p:spPr>
          <a:xfrm>
            <a:off x="914400" y="5760720"/>
            <a:ext cx="6309360" cy="329184"/>
          </a:xfrm>
          <a:prstGeom prst="rect">
            <a:avLst/>
          </a:prstGeom>
          <a:noFill/>
          <a:ln/>
        </p:spPr>
        <p:txBody>
          <a:bodyPr wrap="square" lIns="0" tIns="0" rIns="0" bIns="0" rtlCol="0" anchor="ctr"/>
          <a:lstStyle/>
          <a:p>
            <a:pPr marL="0" indent="0">
              <a:buNone/>
            </a:pPr>
            <a:r>
              <a:rPr lang="en-US" sz="1200" b="1" dirty="0">
                <a:solidFill>
                  <a:srgbClr val="1F9A82"/>
                </a:solidFill>
              </a:rPr>
              <a:t>$0 — free tier:  </a:t>
            </a:r>
            <a:r>
              <a:rPr lang="en-US" sz="1200" dirty="0">
                <a:solidFill>
                  <a:srgbClr val="132226"/>
                </a:solidFill>
              </a:rPr>
              <a:t>CloudFront · Cognito · ACM certificates · HCP Terraform · GitHub Actions</a:t>
            </a:r>
            <a:endParaRPr lang="en-US" sz="1200" dirty="0"/>
          </a:p>
        </p:txBody>
      </p:sp>
      <p:sp>
        <p:nvSpPr>
          <p:cNvPr id="103" name="total card">
            <a:extLst>
              <a:ext uri="{FF2B5EF4-FFF2-40B4-BE49-F238E27FC236}">
                <a16:creationId xmlns:a16="http://schemas.microsoft.com/office/drawing/2014/main" id="{8898B9AB-70B6-4A88-88CE-B3B40F2B16C2}"/>
              </a:ext>
            </a:extLst>
          </p:cNvPr>
          <p:cNvSpPr/>
          <p:nvPr/>
        </p:nvSpPr>
        <p:spPr>
          <a:xfrm>
            <a:off x="7726680" y="1463040"/>
            <a:ext cx="3913632" cy="1783080"/>
          </a:xfrm>
          <a:prstGeom prst="roundRect">
            <a:avLst>
              <a:gd name="adj" fmla="val 5128"/>
            </a:avLst>
          </a:prstGeom>
          <a:solidFill>
            <a:schemeClr val="tx2"/>
          </a:solidFill>
          <a:ln/>
          <a:effectLst>
            <a:outerShdw blurRad="114300" dist="25400" dir="5400000" algn="bl" rotWithShape="0">
              <a:srgbClr val="0E3B43">
                <a:alpha val="13000"/>
              </a:srgbClr>
            </a:outerShdw>
          </a:effectLst>
        </p:spPr>
      </p:sp>
      <p:sp>
        <p:nvSpPr>
          <p:cNvPr id="104" name="Text 42">
            <a:extLst>
              <a:ext uri="{FF2B5EF4-FFF2-40B4-BE49-F238E27FC236}">
                <a16:creationId xmlns:a16="http://schemas.microsoft.com/office/drawing/2014/main" id="{DAA282AB-AD3E-4D6A-B414-74E30327108B}"/>
              </a:ext>
            </a:extLst>
          </p:cNvPr>
          <p:cNvSpPr txBox="1"/>
          <p:nvPr/>
        </p:nvSpPr>
        <p:spPr>
          <a:xfrm>
            <a:off x="8001000" y="1572768"/>
            <a:ext cx="3383280" cy="777240"/>
          </a:xfrm>
          <a:prstGeom prst="rect">
            <a:avLst/>
          </a:prstGeom>
          <a:noFill/>
          <a:ln/>
        </p:spPr>
        <p:txBody>
          <a:bodyPr wrap="square" lIns="0" tIns="0" rIns="0" bIns="0" rtlCol="0" anchor="ctr"/>
          <a:lstStyle/>
          <a:p>
            <a:pPr marL="0" indent="0">
              <a:buNone/>
            </a:pPr>
            <a:r>
              <a:rPr lang="en-US" sz="4400" b="1" dirty="0">
                <a:solidFill>
                  <a:srgbClr val="F2A541"/>
                </a:solidFill>
                <a:latin typeface="+mj-lt" pitchFamily="34" charset="0"/>
                <a:ea typeface="+mj-lt" pitchFamily="34" charset="-122"/>
                <a:cs typeface="+mj-lt" pitchFamily="34" charset="-120"/>
              </a:rPr>
              <a:t>≈ $164</a:t>
            </a:r>
            <a:endParaRPr lang="en-US" sz="4400" dirty="0"/>
          </a:p>
        </p:txBody>
      </p:sp>
      <p:sp>
        <p:nvSpPr>
          <p:cNvPr id="105" name="Text 43">
            <a:extLst>
              <a:ext uri="{FF2B5EF4-FFF2-40B4-BE49-F238E27FC236}">
                <a16:creationId xmlns:a16="http://schemas.microsoft.com/office/drawing/2014/main" id="{4DE77154-1262-443C-9DC8-BF98E44CEC32}"/>
              </a:ext>
            </a:extLst>
          </p:cNvPr>
          <p:cNvSpPr txBox="1"/>
          <p:nvPr/>
        </p:nvSpPr>
        <p:spPr>
          <a:xfrm>
            <a:off x="8001000" y="2331720"/>
            <a:ext cx="3383280" cy="320040"/>
          </a:xfrm>
          <a:prstGeom prst="rect">
            <a:avLst/>
          </a:prstGeom>
          <a:noFill/>
          <a:ln/>
        </p:spPr>
        <p:txBody>
          <a:bodyPr wrap="square" lIns="0" tIns="0" rIns="0" bIns="0" rtlCol="0" anchor="t"/>
          <a:lstStyle/>
          <a:p>
            <a:pPr marL="0" indent="0">
              <a:buNone/>
            </a:pPr>
            <a:r>
              <a:rPr lang="en-US" sz="1500" dirty="0">
                <a:solidFill>
                  <a:srgbClr val="FFFFFF"/>
                </a:solidFill>
              </a:rPr>
              <a:t>per month if running 24/7</a:t>
            </a:r>
            <a:endParaRPr lang="en-US" sz="1500" dirty="0"/>
          </a:p>
        </p:txBody>
      </p:sp>
      <p:sp>
        <p:nvSpPr>
          <p:cNvPr id="106" name="Text 44">
            <a:extLst>
              <a:ext uri="{FF2B5EF4-FFF2-40B4-BE49-F238E27FC236}">
                <a16:creationId xmlns:a16="http://schemas.microsoft.com/office/drawing/2014/main" id="{0A836162-213B-4962-9C49-550059878FF6}"/>
              </a:ext>
            </a:extLst>
          </p:cNvPr>
          <p:cNvSpPr txBox="1"/>
          <p:nvPr/>
        </p:nvSpPr>
        <p:spPr>
          <a:xfrm>
            <a:off x="8001000" y="2697480"/>
            <a:ext cx="3383280" cy="365760"/>
          </a:xfrm>
          <a:prstGeom prst="rect">
            <a:avLst/>
          </a:prstGeom>
          <a:noFill/>
          <a:ln/>
        </p:spPr>
        <p:txBody>
          <a:bodyPr wrap="square" lIns="0" tIns="0" rIns="0" bIns="0" rtlCol="0" anchor="t"/>
          <a:lstStyle/>
          <a:p>
            <a:pPr marL="0" indent="0">
              <a:buNone/>
            </a:pPr>
            <a:r>
              <a:rPr lang="en-US" sz="1500" b="1" dirty="0">
                <a:solidFill>
                  <a:srgbClr val="9AD1D4"/>
                </a:solidFill>
              </a:rPr>
              <a:t>≈ $5.40 per day</a:t>
            </a:r>
            <a:endParaRPr lang="en-US" sz="1500" dirty="0"/>
          </a:p>
        </p:txBody>
      </p:sp>
      <p:sp>
        <p:nvSpPr>
          <p:cNvPr id="107" name="card">
            <a:extLst>
              <a:ext uri="{FF2B5EF4-FFF2-40B4-BE49-F238E27FC236}">
                <a16:creationId xmlns:a16="http://schemas.microsoft.com/office/drawing/2014/main" id="{E5E01262-97C6-48B0-A852-58F8202D36B0}"/>
              </a:ext>
            </a:extLst>
          </p:cNvPr>
          <p:cNvSpPr/>
          <p:nvPr/>
        </p:nvSpPr>
        <p:spPr>
          <a:xfrm>
            <a:off x="7726680" y="3429000"/>
            <a:ext cx="3913632" cy="1188720"/>
          </a:xfrm>
          <a:prstGeom prst="roundRect">
            <a:avLst>
              <a:gd name="adj" fmla="val 7692"/>
            </a:avLst>
          </a:prstGeom>
          <a:solidFill>
            <a:srgbClr val="FFFFFF"/>
          </a:solidFill>
          <a:ln/>
          <a:effectLst>
            <a:outerShdw blurRad="114300" dist="25400" dir="5400000" algn="bl" rotWithShape="0">
              <a:srgbClr val="0E3B43">
                <a:alpha val="13000"/>
              </a:srgbClr>
            </a:outerShdw>
          </a:effectLst>
        </p:spPr>
      </p:sp>
      <p:sp>
        <p:nvSpPr>
          <p:cNvPr id="108" name="Text 46">
            <a:extLst>
              <a:ext uri="{FF2B5EF4-FFF2-40B4-BE49-F238E27FC236}">
                <a16:creationId xmlns:a16="http://schemas.microsoft.com/office/drawing/2014/main" id="{88355EEF-CF61-4DC1-AF33-837F206CCE18}"/>
              </a:ext>
            </a:extLst>
          </p:cNvPr>
          <p:cNvSpPr txBox="1"/>
          <p:nvPr/>
        </p:nvSpPr>
        <p:spPr>
          <a:xfrm>
            <a:off x="7955280" y="3547872"/>
            <a:ext cx="3474720" cy="292608"/>
          </a:xfrm>
          <a:prstGeom prst="rect">
            <a:avLst/>
          </a:prstGeom>
          <a:noFill/>
          <a:ln/>
        </p:spPr>
        <p:txBody>
          <a:bodyPr wrap="square" lIns="0" tIns="0" rIns="0" bIns="0" rtlCol="0" anchor="t"/>
          <a:lstStyle/>
          <a:p>
            <a:pPr marL="0" indent="0">
              <a:buNone/>
            </a:pPr>
            <a:r>
              <a:rPr lang="en-US" sz="1500" b="1" dirty="0">
                <a:solidFill>
                  <a:srgbClr val="D9482B"/>
                </a:solidFill>
              </a:rPr>
              <a:t>Biggest driver</a:t>
            </a:r>
            <a:endParaRPr lang="en-US" sz="1500" dirty="0"/>
          </a:p>
        </p:txBody>
      </p:sp>
      <p:sp>
        <p:nvSpPr>
          <p:cNvPr id="109" name="Text 47">
            <a:extLst>
              <a:ext uri="{FF2B5EF4-FFF2-40B4-BE49-F238E27FC236}">
                <a16:creationId xmlns:a16="http://schemas.microsoft.com/office/drawing/2014/main" id="{5FAA5A63-8110-496A-8A8F-8968019C87F6}"/>
              </a:ext>
            </a:extLst>
          </p:cNvPr>
          <p:cNvSpPr txBox="1"/>
          <p:nvPr/>
        </p:nvSpPr>
        <p:spPr>
          <a:xfrm>
            <a:off x="7955280" y="3858768"/>
            <a:ext cx="3520440" cy="685800"/>
          </a:xfrm>
          <a:prstGeom prst="rect">
            <a:avLst/>
          </a:prstGeom>
          <a:noFill/>
          <a:ln/>
        </p:spPr>
        <p:txBody>
          <a:bodyPr wrap="square" lIns="0" tIns="0" rIns="0" bIns="0" rtlCol="0" anchor="t"/>
          <a:lstStyle/>
          <a:p>
            <a:pPr marL="0" indent="0">
              <a:buNone/>
            </a:pPr>
            <a:r>
              <a:rPr lang="en-US" sz="1400" dirty="0">
                <a:solidFill>
                  <a:srgbClr val="4A5B5E"/>
                </a:solidFill>
              </a:rPr>
              <a:t>NAT gateways ≈ 40% of the total — charged every hour, even with no traffic.</a:t>
            </a:r>
            <a:endParaRPr lang="en-US" sz="1400" dirty="0"/>
          </a:p>
        </p:txBody>
      </p:sp>
      <p:sp>
        <p:nvSpPr>
          <p:cNvPr id="110" name="card">
            <a:extLst>
              <a:ext uri="{FF2B5EF4-FFF2-40B4-BE49-F238E27FC236}">
                <a16:creationId xmlns:a16="http://schemas.microsoft.com/office/drawing/2014/main" id="{DFF3731D-1B53-4A19-ADDF-FCA2E7AB8412}"/>
              </a:ext>
            </a:extLst>
          </p:cNvPr>
          <p:cNvSpPr/>
          <p:nvPr/>
        </p:nvSpPr>
        <p:spPr>
          <a:xfrm>
            <a:off x="7726680" y="4800600"/>
            <a:ext cx="3913632" cy="1371600"/>
          </a:xfrm>
          <a:prstGeom prst="roundRect">
            <a:avLst>
              <a:gd name="adj" fmla="val 6667"/>
            </a:avLst>
          </a:prstGeom>
          <a:solidFill>
            <a:srgbClr val="FFFFFF"/>
          </a:solidFill>
          <a:ln/>
          <a:effectLst>
            <a:outerShdw blurRad="114300" dist="25400" dir="5400000" algn="bl" rotWithShape="0">
              <a:srgbClr val="0E3B43">
                <a:alpha val="13000"/>
              </a:srgbClr>
            </a:outerShdw>
          </a:effectLst>
        </p:spPr>
      </p:sp>
      <p:sp>
        <p:nvSpPr>
          <p:cNvPr id="111" name="Text 49">
            <a:extLst>
              <a:ext uri="{FF2B5EF4-FFF2-40B4-BE49-F238E27FC236}">
                <a16:creationId xmlns:a16="http://schemas.microsoft.com/office/drawing/2014/main" id="{BB7DF749-16D1-4EA0-8D7F-742C9FB8B3C3}"/>
              </a:ext>
            </a:extLst>
          </p:cNvPr>
          <p:cNvSpPr txBox="1"/>
          <p:nvPr/>
        </p:nvSpPr>
        <p:spPr>
          <a:xfrm>
            <a:off x="7955280" y="4919472"/>
            <a:ext cx="3474720" cy="292608"/>
          </a:xfrm>
          <a:prstGeom prst="rect">
            <a:avLst/>
          </a:prstGeom>
          <a:noFill/>
          <a:ln/>
        </p:spPr>
        <p:txBody>
          <a:bodyPr wrap="square" lIns="0" tIns="0" rIns="0" bIns="0" rtlCol="0" anchor="t"/>
          <a:lstStyle/>
          <a:p>
            <a:pPr marL="0" indent="0">
              <a:buNone/>
            </a:pPr>
            <a:r>
              <a:rPr lang="en-US" sz="1500" b="1" dirty="0">
                <a:solidFill>
                  <a:srgbClr val="0E7C7B"/>
                </a:solidFill>
              </a:rPr>
              <a:t>Keeping it low</a:t>
            </a:r>
            <a:endParaRPr lang="en-US" sz="1500" dirty="0"/>
          </a:p>
        </p:txBody>
      </p:sp>
      <p:sp>
        <p:nvSpPr>
          <p:cNvPr id="112" name="Text 50">
            <a:extLst>
              <a:ext uri="{FF2B5EF4-FFF2-40B4-BE49-F238E27FC236}">
                <a16:creationId xmlns:a16="http://schemas.microsoft.com/office/drawing/2014/main" id="{9B14DF32-7C0E-4CF6-908A-A117249EFD0F}"/>
              </a:ext>
            </a:extLst>
          </p:cNvPr>
          <p:cNvSpPr txBox="1"/>
          <p:nvPr/>
        </p:nvSpPr>
        <p:spPr>
          <a:xfrm>
            <a:off x="7955280" y="5230368"/>
            <a:ext cx="3520440" cy="896112"/>
          </a:xfrm>
          <a:prstGeom prst="rect">
            <a:avLst/>
          </a:prstGeom>
          <a:noFill/>
          <a:ln/>
        </p:spPr>
        <p:txBody>
          <a:bodyPr wrap="square" lIns="0" tIns="0" rIns="0" bIns="0" rtlCol="0" anchor="t"/>
          <a:lstStyle/>
          <a:p>
            <a:pPr marL="0" indent="0">
              <a:buNone/>
            </a:pPr>
            <a:r>
              <a:rPr lang="en-US" sz="1300" dirty="0">
                <a:solidFill>
                  <a:srgbClr val="4A5B5E"/>
                </a:solidFill>
              </a:rPr>
              <a:t>The sandbox is torn down every night, so hourly services run only part of the day. To evaluate in M10: VPC endpoints, Fargate Spot.</a:t>
            </a:r>
            <a:endParaRPr lang="en-US" sz="1300" dirty="0"/>
          </a:p>
        </p:txBody>
      </p:sp>
    </p:spTree>
    <p:extLst>
      <p:ext uri="{BB962C8B-B14F-4D97-AF65-F5344CB8AC3E}">
        <p14:creationId xmlns:p14="http://schemas.microsoft.com/office/powerpoint/2010/main" val="3729487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7772400" cy="685800"/>
          </a:xfrm>
          <a:prstGeom prst="rect">
            <a:avLst/>
          </a:prstGeom>
          <a:noFill/>
          <a:ln/>
        </p:spPr>
        <p:txBody>
          <a:bodyPr wrap="square" lIns="0" tIns="0" rIns="0" bIns="0" rtlCol="0" anchor="ctr"/>
          <a:lstStyle/>
          <a:p>
            <a:pPr marL="0" indent="0" algn="l">
              <a:buNone/>
            </a:pPr>
            <a:r>
              <a:rPr lang="en-US" sz="3600" b="1" dirty="0">
                <a:solidFill>
                  <a:schemeClr val="bg1"/>
                </a:solidFill>
              </a:rPr>
              <a:t>Key takeaway</a:t>
            </a:r>
            <a:endParaRPr lang="en-US" sz="3600" dirty="0"/>
          </a:p>
        </p:txBody>
      </p:sp>
      <p:sp>
        <p:nvSpPr>
          <p:cNvPr id="3" name="Text 1"/>
          <p:cNvSpPr txBox="1"/>
          <p:nvPr/>
        </p:nvSpPr>
        <p:spPr>
          <a:xfrm>
            <a:off x="548640" y="1188720"/>
            <a:ext cx="7863840" cy="411480"/>
          </a:xfrm>
          <a:prstGeom prst="rect">
            <a:avLst/>
          </a:prstGeom>
          <a:noFill/>
          <a:ln/>
        </p:spPr>
        <p:txBody>
          <a:bodyPr wrap="square" lIns="0" tIns="0" rIns="0" bIns="0" rtlCol="0" anchor="t"/>
          <a:lstStyle/>
          <a:p>
            <a:pPr marL="0" indent="0">
              <a:buNone/>
            </a:pPr>
            <a:r>
              <a:rPr lang="en-US" sz="1800" dirty="0">
                <a:solidFill>
                  <a:srgbClr val="9AD1D4"/>
                </a:solidFill>
              </a:rPr>
              <a:t>The platform is now secure, multi-AZ, reproducible and operationally recoverable.</a:t>
            </a:r>
            <a:endParaRPr lang="en-US" sz="1800" dirty="0"/>
          </a:p>
        </p:txBody>
      </p:sp>
      <p:sp>
        <p:nvSpPr>
          <p:cNvPr id="4" name="takeaway card"/>
          <p:cNvSpPr/>
          <p:nvPr/>
        </p:nvSpPr>
        <p:spPr>
          <a:xfrm>
            <a:off x="548640" y="1874520"/>
            <a:ext cx="3840480" cy="1298448"/>
          </a:xfrm>
          <a:prstGeom prst="roundRect">
            <a:avLst>
              <a:gd name="adj" fmla="val 7042"/>
            </a:avLst>
          </a:prstGeom>
          <a:solidFill>
            <a:srgbClr val="0E3B43">
              <a:alpha val="90000"/>
            </a:srgbClr>
          </a:solidFill>
          <a:ln w="12700">
            <a:solidFill>
              <a:srgbClr val="2E6A72"/>
            </a:solidFill>
            <a:prstDash val="solid"/>
          </a:ln>
        </p:spPr>
      </p:sp>
      <p:sp>
        <p:nvSpPr>
          <p:cNvPr id="5" name="Secure by design circle"/>
          <p:cNvSpPr/>
          <p:nvPr/>
        </p:nvSpPr>
        <p:spPr>
          <a:xfrm>
            <a:off x="749808" y="2075688"/>
            <a:ext cx="457200" cy="457200"/>
          </a:xfrm>
          <a:prstGeom prst="ellipse">
            <a:avLst/>
          </a:prstGeom>
          <a:solidFill>
            <a:schemeClr val="accent2"/>
          </a:solidFill>
          <a:ln/>
        </p:spPr>
      </p:sp>
      <p:pic>
        <p:nvPicPr>
          <p:cNvPr id="6" name="Secure by design" descr="preencoded.png"/>
          <p:cNvPicPr>
            <a:picLocks noChangeAspect="1"/>
          </p:cNvPicPr>
          <p:nvPr/>
        </p:nvPicPr>
        <p:blipFill>
          <a:blip r:embed="rId3"/>
          <a:stretch>
            <a:fillRect/>
          </a:stretch>
        </p:blipFill>
        <p:spPr>
          <a:xfrm>
            <a:off x="859536" y="2185416"/>
            <a:ext cx="237744" cy="237744"/>
          </a:xfrm>
          <a:prstGeom prst="rect">
            <a:avLst/>
          </a:prstGeom>
        </p:spPr>
      </p:pic>
      <p:sp>
        <p:nvSpPr>
          <p:cNvPr id="7" name="Text 4"/>
          <p:cNvSpPr txBox="1"/>
          <p:nvPr/>
        </p:nvSpPr>
        <p:spPr>
          <a:xfrm>
            <a:off x="1353312" y="2075688"/>
            <a:ext cx="2743200" cy="457200"/>
          </a:xfrm>
          <a:prstGeom prst="rect">
            <a:avLst/>
          </a:prstGeom>
          <a:noFill/>
          <a:ln/>
        </p:spPr>
        <p:txBody>
          <a:bodyPr wrap="square" lIns="0" tIns="0" rIns="0" bIns="0" rtlCol="0" anchor="ctr"/>
          <a:lstStyle/>
          <a:p>
            <a:pPr marL="0" indent="0">
              <a:buNone/>
            </a:pPr>
            <a:r>
              <a:rPr lang="en-US" sz="1700" b="1" dirty="0">
                <a:solidFill>
                  <a:srgbClr val="FFFFFF"/>
                </a:solidFill>
              </a:rPr>
              <a:t>Secure by design</a:t>
            </a:r>
            <a:endParaRPr lang="en-US" sz="1700" dirty="0"/>
          </a:p>
        </p:txBody>
      </p:sp>
      <p:sp>
        <p:nvSpPr>
          <p:cNvPr id="8" name="Text 5"/>
          <p:cNvSpPr txBox="1"/>
          <p:nvPr/>
        </p:nvSpPr>
        <p:spPr>
          <a:xfrm>
            <a:off x="749808" y="2624328"/>
            <a:ext cx="3474720" cy="502920"/>
          </a:xfrm>
          <a:prstGeom prst="rect">
            <a:avLst/>
          </a:prstGeom>
          <a:noFill/>
          <a:ln/>
        </p:spPr>
        <p:txBody>
          <a:bodyPr wrap="square" lIns="0" tIns="0" rIns="0" bIns="0" rtlCol="0" anchor="t"/>
          <a:lstStyle/>
          <a:p>
            <a:pPr marL="0" indent="0">
              <a:buNone/>
            </a:pPr>
            <a:r>
              <a:rPr lang="en-US" sz="1300" dirty="0">
                <a:solidFill>
                  <a:srgbClr val="D5E7E8"/>
                </a:solidFill>
              </a:rPr>
              <a:t>Private compute and data, WAF, CloudFront-only ALB, Cognito JWT</a:t>
            </a:r>
            <a:endParaRPr lang="en-US" sz="1300" dirty="0"/>
          </a:p>
        </p:txBody>
      </p:sp>
      <p:sp>
        <p:nvSpPr>
          <p:cNvPr id="9" name="takeaway card"/>
          <p:cNvSpPr/>
          <p:nvPr/>
        </p:nvSpPr>
        <p:spPr>
          <a:xfrm>
            <a:off x="4572000" y="1874520"/>
            <a:ext cx="3840480" cy="1298448"/>
          </a:xfrm>
          <a:prstGeom prst="roundRect">
            <a:avLst>
              <a:gd name="adj" fmla="val 7042"/>
            </a:avLst>
          </a:prstGeom>
          <a:solidFill>
            <a:srgbClr val="0E3B43">
              <a:alpha val="90000"/>
            </a:srgbClr>
          </a:solidFill>
          <a:ln w="12700">
            <a:solidFill>
              <a:srgbClr val="2E6A72"/>
            </a:solidFill>
            <a:prstDash val="solid"/>
          </a:ln>
        </p:spPr>
      </p:sp>
      <p:sp>
        <p:nvSpPr>
          <p:cNvPr id="10" name="Highly available circle"/>
          <p:cNvSpPr/>
          <p:nvPr/>
        </p:nvSpPr>
        <p:spPr>
          <a:xfrm>
            <a:off x="4773168" y="2075688"/>
            <a:ext cx="457200" cy="457200"/>
          </a:xfrm>
          <a:prstGeom prst="ellipse">
            <a:avLst/>
          </a:prstGeom>
          <a:solidFill>
            <a:schemeClr val="accent2"/>
          </a:solidFill>
          <a:ln/>
        </p:spPr>
      </p:sp>
      <p:pic>
        <p:nvPicPr>
          <p:cNvPr id="11" name="Highly available" descr="preencoded.png"/>
          <p:cNvPicPr>
            <a:picLocks noChangeAspect="1"/>
          </p:cNvPicPr>
          <p:nvPr/>
        </p:nvPicPr>
        <p:blipFill>
          <a:blip r:embed="rId4"/>
          <a:stretch>
            <a:fillRect/>
          </a:stretch>
        </p:blipFill>
        <p:spPr>
          <a:xfrm>
            <a:off x="4882896" y="2185416"/>
            <a:ext cx="237744" cy="237744"/>
          </a:xfrm>
          <a:prstGeom prst="rect">
            <a:avLst/>
          </a:prstGeom>
        </p:spPr>
      </p:pic>
      <p:sp>
        <p:nvSpPr>
          <p:cNvPr id="12" name="Text 8"/>
          <p:cNvSpPr txBox="1"/>
          <p:nvPr/>
        </p:nvSpPr>
        <p:spPr>
          <a:xfrm>
            <a:off x="5376672" y="2075688"/>
            <a:ext cx="2743200" cy="457200"/>
          </a:xfrm>
          <a:prstGeom prst="rect">
            <a:avLst/>
          </a:prstGeom>
          <a:noFill/>
          <a:ln/>
        </p:spPr>
        <p:txBody>
          <a:bodyPr wrap="square" lIns="0" tIns="0" rIns="0" bIns="0" rtlCol="0" anchor="ctr"/>
          <a:lstStyle/>
          <a:p>
            <a:pPr marL="0" indent="0">
              <a:buNone/>
            </a:pPr>
            <a:r>
              <a:rPr lang="en-US" sz="1700" b="1" dirty="0">
                <a:solidFill>
                  <a:srgbClr val="FFFFFF"/>
                </a:solidFill>
              </a:rPr>
              <a:t>Highly available</a:t>
            </a:r>
            <a:endParaRPr lang="en-US" sz="1700" dirty="0"/>
          </a:p>
        </p:txBody>
      </p:sp>
      <p:sp>
        <p:nvSpPr>
          <p:cNvPr id="13" name="Text 9"/>
          <p:cNvSpPr txBox="1"/>
          <p:nvPr/>
        </p:nvSpPr>
        <p:spPr>
          <a:xfrm>
            <a:off x="4773168" y="2624328"/>
            <a:ext cx="3474720" cy="502920"/>
          </a:xfrm>
          <a:prstGeom prst="rect">
            <a:avLst/>
          </a:prstGeom>
          <a:noFill/>
          <a:ln/>
        </p:spPr>
        <p:txBody>
          <a:bodyPr wrap="square" lIns="0" tIns="0" rIns="0" bIns="0" rtlCol="0" anchor="t"/>
          <a:lstStyle/>
          <a:p>
            <a:pPr marL="0" indent="0">
              <a:buNone/>
            </a:pPr>
            <a:r>
              <a:rPr lang="en-US" sz="1300" dirty="0">
                <a:solidFill>
                  <a:srgbClr val="D5E7E8"/>
                </a:solidFill>
              </a:rPr>
              <a:t>Two AZs, multiple ECS tasks, auto scaling, Multi-AZ RDS</a:t>
            </a:r>
            <a:endParaRPr lang="en-US" sz="1300" dirty="0"/>
          </a:p>
        </p:txBody>
      </p:sp>
      <p:sp>
        <p:nvSpPr>
          <p:cNvPr id="14" name="takeaway card"/>
          <p:cNvSpPr/>
          <p:nvPr/>
        </p:nvSpPr>
        <p:spPr>
          <a:xfrm>
            <a:off x="548640" y="3337560"/>
            <a:ext cx="3840480" cy="1298448"/>
          </a:xfrm>
          <a:prstGeom prst="roundRect">
            <a:avLst>
              <a:gd name="adj" fmla="val 7042"/>
            </a:avLst>
          </a:prstGeom>
          <a:solidFill>
            <a:srgbClr val="0E3B43">
              <a:alpha val="90000"/>
            </a:srgbClr>
          </a:solidFill>
          <a:ln w="12700">
            <a:solidFill>
              <a:srgbClr val="2E6A72"/>
            </a:solidFill>
            <a:prstDash val="solid"/>
          </a:ln>
        </p:spPr>
      </p:sp>
      <p:sp>
        <p:nvSpPr>
          <p:cNvPr id="15" name="Automated circle"/>
          <p:cNvSpPr/>
          <p:nvPr/>
        </p:nvSpPr>
        <p:spPr>
          <a:xfrm>
            <a:off x="749808" y="3538728"/>
            <a:ext cx="457200" cy="457200"/>
          </a:xfrm>
          <a:prstGeom prst="ellipse">
            <a:avLst/>
          </a:prstGeom>
          <a:solidFill>
            <a:schemeClr val="accent2"/>
          </a:solidFill>
          <a:ln/>
        </p:spPr>
      </p:sp>
      <p:pic>
        <p:nvPicPr>
          <p:cNvPr id="16" name="Automated" descr="preencoded.png"/>
          <p:cNvPicPr>
            <a:picLocks noChangeAspect="1"/>
          </p:cNvPicPr>
          <p:nvPr/>
        </p:nvPicPr>
        <p:blipFill>
          <a:blip r:embed="rId5"/>
          <a:stretch>
            <a:fillRect/>
          </a:stretch>
        </p:blipFill>
        <p:spPr>
          <a:xfrm>
            <a:off x="859536" y="3648456"/>
            <a:ext cx="237744" cy="237744"/>
          </a:xfrm>
          <a:prstGeom prst="rect">
            <a:avLst/>
          </a:prstGeom>
        </p:spPr>
      </p:pic>
      <p:sp>
        <p:nvSpPr>
          <p:cNvPr id="17" name="Text 12"/>
          <p:cNvSpPr txBox="1"/>
          <p:nvPr/>
        </p:nvSpPr>
        <p:spPr>
          <a:xfrm>
            <a:off x="1353312" y="3538728"/>
            <a:ext cx="2743200" cy="457200"/>
          </a:xfrm>
          <a:prstGeom prst="rect">
            <a:avLst/>
          </a:prstGeom>
          <a:noFill/>
          <a:ln/>
        </p:spPr>
        <p:txBody>
          <a:bodyPr wrap="square" lIns="0" tIns="0" rIns="0" bIns="0" rtlCol="0" anchor="ctr"/>
          <a:lstStyle/>
          <a:p>
            <a:pPr marL="0" indent="0">
              <a:buNone/>
            </a:pPr>
            <a:r>
              <a:rPr lang="en-US" sz="1700" b="1" dirty="0">
                <a:solidFill>
                  <a:srgbClr val="FFFFFF"/>
                </a:solidFill>
              </a:rPr>
              <a:t>Automated</a:t>
            </a:r>
            <a:endParaRPr lang="en-US" sz="1700" dirty="0"/>
          </a:p>
        </p:txBody>
      </p:sp>
      <p:sp>
        <p:nvSpPr>
          <p:cNvPr id="18" name="Text 13"/>
          <p:cNvSpPr txBox="1"/>
          <p:nvPr/>
        </p:nvSpPr>
        <p:spPr>
          <a:xfrm>
            <a:off x="749808" y="4087368"/>
            <a:ext cx="3474720" cy="502920"/>
          </a:xfrm>
          <a:prstGeom prst="rect">
            <a:avLst/>
          </a:prstGeom>
          <a:noFill/>
          <a:ln/>
        </p:spPr>
        <p:txBody>
          <a:bodyPr wrap="square" lIns="0" tIns="0" rIns="0" bIns="0" rtlCol="0" anchor="t"/>
          <a:lstStyle/>
          <a:p>
            <a:pPr marL="0" indent="0">
              <a:buNone/>
            </a:pPr>
            <a:r>
              <a:rPr lang="en-US" sz="1300" dirty="0">
                <a:solidFill>
                  <a:srgbClr val="D5E7E8"/>
                </a:solidFill>
              </a:rPr>
              <a:t>Terraform + HCP Terraform + GitHub Actions + scheduled recovery</a:t>
            </a:r>
            <a:endParaRPr lang="en-US" sz="1300" dirty="0"/>
          </a:p>
        </p:txBody>
      </p:sp>
      <p:sp>
        <p:nvSpPr>
          <p:cNvPr id="19" name="takeaway card"/>
          <p:cNvSpPr/>
          <p:nvPr/>
        </p:nvSpPr>
        <p:spPr>
          <a:xfrm>
            <a:off x="4572000" y="3337560"/>
            <a:ext cx="3840480" cy="1298448"/>
          </a:xfrm>
          <a:prstGeom prst="roundRect">
            <a:avLst>
              <a:gd name="adj" fmla="val 7042"/>
            </a:avLst>
          </a:prstGeom>
          <a:solidFill>
            <a:srgbClr val="0E3B43">
              <a:alpha val="90000"/>
            </a:srgbClr>
          </a:solidFill>
          <a:ln w="12700">
            <a:solidFill>
              <a:srgbClr val="2E6A72"/>
            </a:solidFill>
            <a:prstDash val="solid"/>
          </a:ln>
        </p:spPr>
      </p:sp>
      <p:sp>
        <p:nvSpPr>
          <p:cNvPr id="20" name="Demonstrably working circle"/>
          <p:cNvSpPr/>
          <p:nvPr/>
        </p:nvSpPr>
        <p:spPr>
          <a:xfrm>
            <a:off x="4773168" y="3538728"/>
            <a:ext cx="457200" cy="457200"/>
          </a:xfrm>
          <a:prstGeom prst="ellipse">
            <a:avLst/>
          </a:prstGeom>
          <a:solidFill>
            <a:schemeClr val="accent2"/>
          </a:solidFill>
          <a:ln/>
        </p:spPr>
      </p:sp>
      <p:pic>
        <p:nvPicPr>
          <p:cNvPr id="21" name="Demonstrably working" descr="preencoded.png"/>
          <p:cNvPicPr>
            <a:picLocks noChangeAspect="1"/>
          </p:cNvPicPr>
          <p:nvPr/>
        </p:nvPicPr>
        <p:blipFill>
          <a:blip r:embed="rId6"/>
          <a:stretch>
            <a:fillRect/>
          </a:stretch>
        </p:blipFill>
        <p:spPr>
          <a:xfrm>
            <a:off x="4882896" y="3648456"/>
            <a:ext cx="237744" cy="237744"/>
          </a:xfrm>
          <a:prstGeom prst="rect">
            <a:avLst/>
          </a:prstGeom>
        </p:spPr>
      </p:pic>
      <p:sp>
        <p:nvSpPr>
          <p:cNvPr id="22" name="Text 16"/>
          <p:cNvSpPr txBox="1"/>
          <p:nvPr/>
        </p:nvSpPr>
        <p:spPr>
          <a:xfrm>
            <a:off x="5376672" y="3538728"/>
            <a:ext cx="2743200" cy="457200"/>
          </a:xfrm>
          <a:prstGeom prst="rect">
            <a:avLst/>
          </a:prstGeom>
          <a:noFill/>
          <a:ln/>
        </p:spPr>
        <p:txBody>
          <a:bodyPr wrap="square" lIns="0" tIns="0" rIns="0" bIns="0" rtlCol="0" anchor="ctr"/>
          <a:lstStyle/>
          <a:p>
            <a:pPr marL="0" indent="0">
              <a:buNone/>
            </a:pPr>
            <a:r>
              <a:rPr lang="en-US" sz="1700" b="1" dirty="0">
                <a:solidFill>
                  <a:srgbClr val="FFFFFF"/>
                </a:solidFill>
              </a:rPr>
              <a:t>Demonstrably working</a:t>
            </a:r>
            <a:endParaRPr lang="en-US" sz="1700" dirty="0"/>
          </a:p>
        </p:txBody>
      </p:sp>
      <p:sp>
        <p:nvSpPr>
          <p:cNvPr id="23" name="Text 17"/>
          <p:cNvSpPr txBox="1"/>
          <p:nvPr/>
        </p:nvSpPr>
        <p:spPr>
          <a:xfrm>
            <a:off x="4773168" y="4087368"/>
            <a:ext cx="3474720" cy="502920"/>
          </a:xfrm>
          <a:prstGeom prst="rect">
            <a:avLst/>
          </a:prstGeom>
          <a:noFill/>
          <a:ln/>
        </p:spPr>
        <p:txBody>
          <a:bodyPr wrap="square" lIns="0" tIns="0" rIns="0" bIns="0" rtlCol="0" anchor="t"/>
          <a:lstStyle/>
          <a:p>
            <a:pPr marL="0" indent="0">
              <a:buNone/>
            </a:pPr>
            <a:r>
              <a:rPr lang="en-US" sz="1300" dirty="0">
                <a:solidFill>
                  <a:srgbClr val="D5E7E8"/>
                </a:solidFill>
              </a:rPr>
              <a:t>200 / 403 / timeout / 401 / authenticated 200 tests</a:t>
            </a:r>
            <a:endParaRPr lang="en-US" sz="1300" dirty="0"/>
          </a:p>
        </p:txBody>
      </p:sp>
      <p:sp>
        <p:nvSpPr>
          <p:cNvPr id="24" name="Text 18"/>
          <p:cNvSpPr txBox="1"/>
          <p:nvPr/>
        </p:nvSpPr>
        <p:spPr>
          <a:xfrm>
            <a:off x="548640" y="4956048"/>
            <a:ext cx="7863840" cy="502920"/>
          </a:xfrm>
          <a:prstGeom prst="rect">
            <a:avLst/>
          </a:prstGeom>
          <a:noFill/>
          <a:ln/>
        </p:spPr>
        <p:txBody>
          <a:bodyPr wrap="square" lIns="0" tIns="0" rIns="0" bIns="0" rtlCol="0" anchor="t"/>
          <a:lstStyle/>
          <a:p>
            <a:pPr marL="0" indent="0">
              <a:buNone/>
            </a:pPr>
            <a:r>
              <a:rPr lang="en-US" sz="2200" i="1" dirty="0">
                <a:solidFill>
                  <a:srgbClr val="F2A541"/>
                </a:solidFill>
                <a:latin typeface="+mj-lt" pitchFamily="34" charset="0"/>
                <a:ea typeface="+mj-lt" pitchFamily="34" charset="-122"/>
                <a:cs typeface="+mj-lt" pitchFamily="34" charset="-120"/>
              </a:rPr>
              <a:t>“Built from code. Protected at the edge. Recovered automatically.”</a:t>
            </a:r>
            <a:endParaRPr lang="en-US" sz="2200" dirty="0"/>
          </a:p>
        </p:txBody>
      </p:sp>
      <p:sp>
        <p:nvSpPr>
          <p:cNvPr id="25" name="Text 19"/>
          <p:cNvSpPr txBox="1"/>
          <p:nvPr/>
        </p:nvSpPr>
        <p:spPr>
          <a:xfrm>
            <a:off x="548640" y="5669280"/>
            <a:ext cx="3657600" cy="365760"/>
          </a:xfrm>
          <a:prstGeom prst="rect">
            <a:avLst/>
          </a:prstGeom>
          <a:noFill/>
          <a:ln/>
        </p:spPr>
        <p:txBody>
          <a:bodyPr wrap="square" lIns="0" tIns="0" rIns="0" bIns="0" rtlCol="0" anchor="ctr"/>
          <a:lstStyle/>
          <a:p>
            <a:pPr marL="0" indent="0">
              <a:buNone/>
            </a:pPr>
            <a:r>
              <a:rPr lang="en-US" sz="1600" b="1" dirty="0" err="1">
                <a:solidFill>
                  <a:srgbClr val="FFFFFF"/>
                </a:solidFill>
              </a:rPr>
              <a:t>cloud.</a:t>
            </a:r>
            <a:r>
              <a:rPr lang="en-US" sz="1600" b="1" err="1">
                <a:solidFill>
                  <a:srgbClr val="FFFFFF"/>
                </a:solidFill>
              </a:rPr>
              <a:t>langnation</a:t>
            </a:r>
            <a:r>
              <a:rPr lang="en-US" sz="1600" b="1">
                <a:solidFill>
                  <a:srgbClr val="FFFFFF"/>
                </a:solidFill>
              </a:rPr>
              <a:t>.com/de</a:t>
            </a:r>
            <a:endParaRPr lang="en-US" sz="1600" dirty="0"/>
          </a:p>
        </p:txBody>
      </p:sp>
      <p:sp>
        <p:nvSpPr>
          <p:cNvPr id="26" name="Text 20"/>
          <p:cNvSpPr txBox="1"/>
          <p:nvPr/>
        </p:nvSpPr>
        <p:spPr>
          <a:xfrm>
            <a:off x="4114800" y="5669280"/>
            <a:ext cx="4572000" cy="365760"/>
          </a:xfrm>
          <a:prstGeom prst="rect">
            <a:avLst/>
          </a:prstGeom>
          <a:noFill/>
          <a:ln/>
        </p:spPr>
        <p:txBody>
          <a:bodyPr wrap="square" lIns="0" tIns="0" rIns="0" bIns="0" rtlCol="0" anchor="ctr"/>
          <a:lstStyle/>
          <a:p>
            <a:pPr marL="0" indent="0">
              <a:buNone/>
            </a:pPr>
            <a:r>
              <a:rPr lang="en-US" sz="1300" dirty="0">
                <a:solidFill>
                  <a:srgbClr val="9AD1D4"/>
                </a:solidFill>
              </a:rPr>
              <a:t>Thank you  ·  AWS Cloud Computing with AI Bootcamp</a:t>
            </a:r>
            <a:endParaRPr lang="en-US" sz="1300" dirty="0"/>
          </a:p>
        </p:txBody>
      </p:sp>
      <p:sp>
        <p:nvSpPr>
          <p:cNvPr id="27"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D1D4"/>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 0">
            <a:extLst>
              <a:ext uri="{FF2B5EF4-FFF2-40B4-BE49-F238E27FC236}">
                <a16:creationId xmlns:a16="http://schemas.microsoft.com/office/drawing/2014/main" id="{2911945A-744F-4618-84B5-BBD9DCF0DAE0}"/>
              </a:ext>
            </a:extLst>
          </p:cNvPr>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Source code on GitHub</a:t>
            </a:r>
            <a:endParaRPr lang="en-US" sz="3000" dirty="0"/>
          </a:p>
        </p:txBody>
      </p:sp>
      <p:sp>
        <p:nvSpPr>
          <p:cNvPr id="63" name="Text 0">
            <a:extLst>
              <a:ext uri="{FF2B5EF4-FFF2-40B4-BE49-F238E27FC236}">
                <a16:creationId xmlns:a16="http://schemas.microsoft.com/office/drawing/2014/main" id="{E39E5A98-DFA4-47C1-BAA0-0BBEAFEEDE54}"/>
              </a:ext>
            </a:extLst>
          </p:cNvPr>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Everything shown today is in a public repository — infrastructure, application, pipelines and recovery.</a:t>
            </a:r>
            <a:endParaRPr lang="en-US" sz="1400" dirty="0"/>
          </a:p>
        </p:txBody>
      </p:sp>
      <p:sp>
        <p:nvSpPr>
          <p:cNvPr id="64" name="milestone tag">
            <a:extLst>
              <a:ext uri="{FF2B5EF4-FFF2-40B4-BE49-F238E27FC236}">
                <a16:creationId xmlns:a16="http://schemas.microsoft.com/office/drawing/2014/main" id="{6CD248FE-685B-4D91-A3B7-3F6DE9BFC034}"/>
              </a:ext>
            </a:extLst>
          </p:cNvPr>
          <p:cNvSpPr/>
          <p:nvPr/>
        </p:nvSpPr>
        <p:spPr>
          <a:xfrm>
            <a:off x="10177272" y="502920"/>
            <a:ext cx="1463040" cy="365760"/>
          </a:xfrm>
          <a:prstGeom prst="roundRect">
            <a:avLst>
              <a:gd name="adj" fmla="val 50000"/>
            </a:avLst>
          </a:prstGeom>
          <a:solidFill>
            <a:srgbClr val="0E3B43"/>
          </a:solidFill>
          <a:ln/>
        </p:spPr>
      </p:sp>
      <p:sp>
        <p:nvSpPr>
          <p:cNvPr id="65" name="Text 3">
            <a:extLst>
              <a:ext uri="{FF2B5EF4-FFF2-40B4-BE49-F238E27FC236}">
                <a16:creationId xmlns:a16="http://schemas.microsoft.com/office/drawing/2014/main" id="{0ADE620E-938B-4570-BD9D-6C389ADB5EC8}"/>
              </a:ext>
            </a:extLst>
          </p:cNvPr>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Repository</a:t>
            </a:r>
            <a:endParaRPr lang="en-US" sz="1200" dirty="0"/>
          </a:p>
        </p:txBody>
      </p:sp>
      <p:sp>
        <p:nvSpPr>
          <p:cNvPr id="66" name="card">
            <a:extLst>
              <a:ext uri="{FF2B5EF4-FFF2-40B4-BE49-F238E27FC236}">
                <a16:creationId xmlns:a16="http://schemas.microsoft.com/office/drawing/2014/main" id="{D642A93E-3C8A-4C29-BF7D-09B82A02CA77}"/>
              </a:ext>
            </a:extLst>
          </p:cNvPr>
          <p:cNvSpPr/>
          <p:nvPr/>
        </p:nvSpPr>
        <p:spPr>
          <a:xfrm>
            <a:off x="548640" y="1463040"/>
            <a:ext cx="4023360" cy="4709160"/>
          </a:xfrm>
          <a:prstGeom prst="roundRect">
            <a:avLst>
              <a:gd name="adj" fmla="val 2273"/>
            </a:avLst>
          </a:prstGeom>
          <a:solidFill>
            <a:srgbClr val="FFFFFF"/>
          </a:solidFill>
          <a:ln/>
          <a:effectLst>
            <a:outerShdw blurRad="114300" dist="25400" dir="5400000" algn="bl" rotWithShape="0">
              <a:srgbClr val="0E3B43">
                <a:alpha val="13000"/>
              </a:srgbClr>
            </a:outerShdw>
          </a:effectLst>
        </p:spPr>
      </p:sp>
      <p:pic>
        <p:nvPicPr>
          <p:cNvPr id="67" name="Repository QR code">
            <a:hlinkClick r:id="rId3" tooltip="Open the GitHub repository"/>
            <a:extLst>
              <a:ext uri="{FF2B5EF4-FFF2-40B4-BE49-F238E27FC236}">
                <a16:creationId xmlns:a16="http://schemas.microsoft.com/office/drawing/2014/main" id="{AACD041C-F0BA-4CF4-ADE1-C6548C063D07}"/>
              </a:ext>
            </a:extLst>
          </p:cNvPr>
          <p:cNvPicPr>
            <a:picLocks noChangeAspect="1"/>
          </p:cNvPicPr>
          <p:nvPr/>
        </p:nvPicPr>
        <p:blipFill>
          <a:blip r:embed="rId4"/>
          <a:srcRect/>
          <a:stretch/>
        </p:blipFill>
        <p:spPr>
          <a:xfrm>
            <a:off x="960120" y="1691640"/>
            <a:ext cx="3200400" cy="3200400"/>
          </a:xfrm>
          <a:prstGeom prst="rect">
            <a:avLst/>
          </a:prstGeom>
        </p:spPr>
      </p:pic>
      <p:sp>
        <p:nvSpPr>
          <p:cNvPr id="68" name="Text 5">
            <a:extLst>
              <a:ext uri="{FF2B5EF4-FFF2-40B4-BE49-F238E27FC236}">
                <a16:creationId xmlns:a16="http://schemas.microsoft.com/office/drawing/2014/main" id="{B717477E-33FD-4818-B590-97FECF50FB96}"/>
              </a:ext>
            </a:extLst>
          </p:cNvPr>
          <p:cNvSpPr txBox="1"/>
          <p:nvPr/>
        </p:nvSpPr>
        <p:spPr>
          <a:xfrm>
            <a:off x="731520" y="5029200"/>
            <a:ext cx="3657600" cy="292608"/>
          </a:xfrm>
          <a:prstGeom prst="rect">
            <a:avLst/>
          </a:prstGeom>
          <a:noFill/>
          <a:ln/>
        </p:spPr>
        <p:txBody>
          <a:bodyPr wrap="square" lIns="0" tIns="0" rIns="0" bIns="0" rtlCol="0" anchor="t"/>
          <a:lstStyle/>
          <a:p>
            <a:pPr marL="0" indent="0" algn="ctr">
              <a:buNone/>
            </a:pPr>
            <a:r>
              <a:rPr lang="en-US" sz="1400" b="1" dirty="0">
                <a:solidFill>
                  <a:srgbClr val="0E3B43"/>
                </a:solidFill>
              </a:rPr>
              <a:t>Scan to open the repository</a:t>
            </a:r>
            <a:endParaRPr lang="en-US" sz="1400" dirty="0"/>
          </a:p>
        </p:txBody>
      </p:sp>
      <p:sp>
        <p:nvSpPr>
          <p:cNvPr id="69" name="Text 6">
            <a:extLst>
              <a:ext uri="{FF2B5EF4-FFF2-40B4-BE49-F238E27FC236}">
                <a16:creationId xmlns:a16="http://schemas.microsoft.com/office/drawing/2014/main" id="{31BF327C-F229-4B99-8B6F-3FEE90A2F1E1}"/>
              </a:ext>
            </a:extLst>
          </p:cNvPr>
          <p:cNvSpPr txBox="1"/>
          <p:nvPr/>
        </p:nvSpPr>
        <p:spPr>
          <a:xfrm>
            <a:off x="731520" y="5349240"/>
            <a:ext cx="3657600" cy="640080"/>
          </a:xfrm>
          <a:prstGeom prst="rect">
            <a:avLst/>
          </a:prstGeom>
          <a:noFill/>
          <a:ln/>
        </p:spPr>
        <p:txBody>
          <a:bodyPr wrap="square" lIns="0" tIns="0" rIns="0" bIns="0" rtlCol="0" anchor="t"/>
          <a:lstStyle/>
          <a:p>
            <a:pPr marL="0" indent="0" algn="ctr">
              <a:buNone/>
            </a:pPr>
            <a:r>
              <a:rPr lang="en-US" sz="1400" u="sng" dirty="0">
                <a:solidFill>
                  <a:srgbClr val="132226"/>
                </a:solidFill>
                <a:latin typeface="Courier New" pitchFamily="34" charset="0"/>
                <a:ea typeface="Courier New" pitchFamily="34" charset="-122"/>
                <a:cs typeface="Courier New" pitchFamily="34" charset="-120"/>
                <a:hlinkClick r:id="rId3" tooltip="Open the GitHub repository">
                  <a:extLst>
                    <a:ext uri="{A12FA001-AC4F-418D-AE19-62706E023703}">
                      <ahyp:hlinkClr xmlns:ahyp="http://schemas.microsoft.com/office/drawing/2018/hyperlinkcolor" val="tx"/>
                    </a:ext>
                  </a:extLst>
                </a:hlinkClick>
              </a:rPr>
              <a:t>github.com/sheikhseraj/</a:t>
            </a:r>
            <a:endParaRPr lang="en-US" sz="1400" dirty="0"/>
          </a:p>
          <a:p>
            <a:pPr marL="0" indent="0" algn="ctr">
              <a:buNone/>
            </a:pPr>
            <a:r>
              <a:rPr lang="en-US" sz="1400" u="sng" dirty="0">
                <a:solidFill>
                  <a:srgbClr val="132226"/>
                </a:solidFill>
                <a:latin typeface="Courier New" pitchFamily="34" charset="0"/>
                <a:ea typeface="Courier New" pitchFamily="34" charset="-122"/>
                <a:cs typeface="Courier New" pitchFamily="34" charset="-120"/>
                <a:hlinkClick r:id="rId3" tooltip="Open the GitHub repository">
                  <a:extLst>
                    <a:ext uri="{A12FA001-AC4F-418D-AE19-62706E023703}">
                      <ahyp:hlinkClr xmlns:ahyp="http://schemas.microsoft.com/office/drawing/2018/hyperlinkcolor" val="tx"/>
                    </a:ext>
                  </a:extLst>
                </a:hlinkClick>
              </a:rPr>
              <a:t>langnation-cloud-platform</a:t>
            </a:r>
            <a:endParaRPr lang="en-US" sz="1400" dirty="0"/>
          </a:p>
        </p:txBody>
      </p:sp>
      <p:sp>
        <p:nvSpPr>
          <p:cNvPr id="70" name="card">
            <a:extLst>
              <a:ext uri="{FF2B5EF4-FFF2-40B4-BE49-F238E27FC236}">
                <a16:creationId xmlns:a16="http://schemas.microsoft.com/office/drawing/2014/main" id="{A5C70282-0D1A-48FB-A4CC-04D5C485D236}"/>
              </a:ext>
            </a:extLst>
          </p:cNvPr>
          <p:cNvSpPr/>
          <p:nvPr/>
        </p:nvSpPr>
        <p:spPr>
          <a:xfrm>
            <a:off x="4846320" y="1463040"/>
            <a:ext cx="6793992" cy="1051560"/>
          </a:xfrm>
          <a:prstGeom prst="roundRect">
            <a:avLst>
              <a:gd name="adj" fmla="val 8696"/>
            </a:avLst>
          </a:prstGeom>
          <a:solidFill>
            <a:srgbClr val="FFFFFF"/>
          </a:solidFill>
          <a:ln/>
          <a:effectLst>
            <a:outerShdw blurRad="114300" dist="25400" dir="5400000" algn="bl" rotWithShape="0">
              <a:srgbClr val="0E3B43">
                <a:alpha val="13000"/>
              </a:srgbClr>
            </a:outerShdw>
          </a:effectLst>
        </p:spPr>
      </p:sp>
      <p:sp>
        <p:nvSpPr>
          <p:cNvPr id="71" name="Terraform infrastructure circle">
            <a:extLst>
              <a:ext uri="{FF2B5EF4-FFF2-40B4-BE49-F238E27FC236}">
                <a16:creationId xmlns:a16="http://schemas.microsoft.com/office/drawing/2014/main" id="{7C3F160F-D5C0-49FA-ABD0-E03601746EB0}"/>
              </a:ext>
            </a:extLst>
          </p:cNvPr>
          <p:cNvSpPr/>
          <p:nvPr/>
        </p:nvSpPr>
        <p:spPr>
          <a:xfrm>
            <a:off x="5047488" y="1719072"/>
            <a:ext cx="530352" cy="530352"/>
          </a:xfrm>
          <a:prstGeom prst="ellipse">
            <a:avLst/>
          </a:prstGeom>
          <a:solidFill>
            <a:schemeClr val="accent5"/>
          </a:solidFill>
          <a:ln/>
        </p:spPr>
      </p:sp>
      <p:pic>
        <p:nvPicPr>
          <p:cNvPr id="72" name="Terraform infrastructure" descr="preencoded.png">
            <a:extLst>
              <a:ext uri="{FF2B5EF4-FFF2-40B4-BE49-F238E27FC236}">
                <a16:creationId xmlns:a16="http://schemas.microsoft.com/office/drawing/2014/main" id="{1D528394-DC4D-4E37-AF90-D0DADC5E5646}"/>
              </a:ext>
            </a:extLst>
          </p:cNvPr>
          <p:cNvPicPr>
            <a:picLocks noChangeAspect="1"/>
          </p:cNvPicPr>
          <p:nvPr/>
        </p:nvPicPr>
        <p:blipFill>
          <a:blip r:embed="rId5"/>
          <a:stretch>
            <a:fillRect/>
          </a:stretch>
        </p:blipFill>
        <p:spPr>
          <a:xfrm>
            <a:off x="5174772" y="1846356"/>
            <a:ext cx="275783" cy="275783"/>
          </a:xfrm>
          <a:prstGeom prst="rect">
            <a:avLst/>
          </a:prstGeom>
        </p:spPr>
      </p:pic>
      <p:sp>
        <p:nvSpPr>
          <p:cNvPr id="73" name="Text 9">
            <a:extLst>
              <a:ext uri="{FF2B5EF4-FFF2-40B4-BE49-F238E27FC236}">
                <a16:creationId xmlns:a16="http://schemas.microsoft.com/office/drawing/2014/main" id="{C29BCDEB-BB9A-4C22-9B0F-8006BE71BEB7}"/>
              </a:ext>
            </a:extLst>
          </p:cNvPr>
          <p:cNvSpPr txBox="1"/>
          <p:nvPr/>
        </p:nvSpPr>
        <p:spPr>
          <a:xfrm>
            <a:off x="5760720" y="1591056"/>
            <a:ext cx="5696712" cy="292608"/>
          </a:xfrm>
          <a:prstGeom prst="rect">
            <a:avLst/>
          </a:prstGeom>
          <a:noFill/>
          <a:ln/>
        </p:spPr>
        <p:txBody>
          <a:bodyPr wrap="square" lIns="0" tIns="0" rIns="0" bIns="0" rtlCol="0" anchor="t"/>
          <a:lstStyle/>
          <a:p>
            <a:pPr marL="0" indent="0">
              <a:buNone/>
            </a:pPr>
            <a:r>
              <a:rPr lang="en-US" sz="1600" b="1" dirty="0">
                <a:solidFill>
                  <a:srgbClr val="132226"/>
                </a:solidFill>
              </a:rPr>
              <a:t>Terraform infrastructure</a:t>
            </a:r>
            <a:endParaRPr lang="en-US" sz="1600" dirty="0"/>
          </a:p>
        </p:txBody>
      </p:sp>
      <p:sp>
        <p:nvSpPr>
          <p:cNvPr id="74" name="Text 10">
            <a:extLst>
              <a:ext uri="{FF2B5EF4-FFF2-40B4-BE49-F238E27FC236}">
                <a16:creationId xmlns:a16="http://schemas.microsoft.com/office/drawing/2014/main" id="{DA9E583E-A88B-41ED-AD59-A34FA998BF51}"/>
              </a:ext>
            </a:extLst>
          </p:cNvPr>
          <p:cNvSpPr txBox="1"/>
          <p:nvPr/>
        </p:nvSpPr>
        <p:spPr>
          <a:xfrm>
            <a:off x="5760720" y="1901952"/>
            <a:ext cx="5696712" cy="566928"/>
          </a:xfrm>
          <a:prstGeom prst="rect">
            <a:avLst/>
          </a:prstGeom>
          <a:noFill/>
          <a:ln/>
        </p:spPr>
        <p:txBody>
          <a:bodyPr wrap="square" lIns="0" tIns="0" rIns="0" bIns="0" rtlCol="0" anchor="t"/>
          <a:lstStyle/>
          <a:p>
            <a:pPr marL="0" indent="0">
              <a:buNone/>
            </a:pPr>
            <a:r>
              <a:rPr lang="en-US" sz="1400" dirty="0">
                <a:solidFill>
                  <a:srgbClr val="4A5B5E"/>
                </a:solidFill>
              </a:rPr>
              <a:t>environments/dev plus reusable modules: networking, security, container, load balancing, CI/CD, database, storage, edge, authentication</a:t>
            </a:r>
            <a:endParaRPr lang="en-US" sz="1400" dirty="0"/>
          </a:p>
        </p:txBody>
      </p:sp>
      <p:sp>
        <p:nvSpPr>
          <p:cNvPr id="75" name="card">
            <a:extLst>
              <a:ext uri="{FF2B5EF4-FFF2-40B4-BE49-F238E27FC236}">
                <a16:creationId xmlns:a16="http://schemas.microsoft.com/office/drawing/2014/main" id="{D2FE5CBB-D9AB-41AC-9A52-C315A0331E2E}"/>
              </a:ext>
            </a:extLst>
          </p:cNvPr>
          <p:cNvSpPr/>
          <p:nvPr/>
        </p:nvSpPr>
        <p:spPr>
          <a:xfrm>
            <a:off x="4846320" y="2660904"/>
            <a:ext cx="6793992" cy="1051560"/>
          </a:xfrm>
          <a:prstGeom prst="roundRect">
            <a:avLst>
              <a:gd name="adj" fmla="val 8696"/>
            </a:avLst>
          </a:prstGeom>
          <a:solidFill>
            <a:srgbClr val="FFFFFF"/>
          </a:solidFill>
          <a:ln/>
          <a:effectLst>
            <a:outerShdw blurRad="114300" dist="25400" dir="5400000" algn="bl" rotWithShape="0">
              <a:srgbClr val="0E3B43">
                <a:alpha val="13000"/>
              </a:srgbClr>
            </a:outerShdw>
          </a:effectLst>
        </p:spPr>
      </p:sp>
      <p:sp>
        <p:nvSpPr>
          <p:cNvPr id="76" name="GitHub Actions workflows circle">
            <a:extLst>
              <a:ext uri="{FF2B5EF4-FFF2-40B4-BE49-F238E27FC236}">
                <a16:creationId xmlns:a16="http://schemas.microsoft.com/office/drawing/2014/main" id="{48932CAF-580A-40ED-AD4F-DCD4F9BCEC97}"/>
              </a:ext>
            </a:extLst>
          </p:cNvPr>
          <p:cNvSpPr/>
          <p:nvPr/>
        </p:nvSpPr>
        <p:spPr>
          <a:xfrm>
            <a:off x="5047488" y="2916936"/>
            <a:ext cx="530352" cy="530352"/>
          </a:xfrm>
          <a:prstGeom prst="ellipse">
            <a:avLst/>
          </a:prstGeom>
          <a:solidFill>
            <a:schemeClr val="tx2"/>
          </a:solidFill>
          <a:ln/>
        </p:spPr>
      </p:sp>
      <p:pic>
        <p:nvPicPr>
          <p:cNvPr id="77" name="GitHub Actions workflows" descr="preencoded.png">
            <a:extLst>
              <a:ext uri="{FF2B5EF4-FFF2-40B4-BE49-F238E27FC236}">
                <a16:creationId xmlns:a16="http://schemas.microsoft.com/office/drawing/2014/main" id="{4B8D2FA1-F02F-44B8-8CD4-CD062C9F3F48}"/>
              </a:ext>
            </a:extLst>
          </p:cNvPr>
          <p:cNvPicPr>
            <a:picLocks noChangeAspect="1"/>
          </p:cNvPicPr>
          <p:nvPr/>
        </p:nvPicPr>
        <p:blipFill>
          <a:blip r:embed="rId6"/>
          <a:stretch>
            <a:fillRect/>
          </a:stretch>
        </p:blipFill>
        <p:spPr>
          <a:xfrm>
            <a:off x="5174772" y="3044220"/>
            <a:ext cx="275783" cy="275783"/>
          </a:xfrm>
          <a:prstGeom prst="rect">
            <a:avLst/>
          </a:prstGeom>
        </p:spPr>
      </p:pic>
      <p:sp>
        <p:nvSpPr>
          <p:cNvPr id="78" name="Text 13">
            <a:extLst>
              <a:ext uri="{FF2B5EF4-FFF2-40B4-BE49-F238E27FC236}">
                <a16:creationId xmlns:a16="http://schemas.microsoft.com/office/drawing/2014/main" id="{10997786-9BB3-4B99-99C5-E32ABC9CCDC2}"/>
              </a:ext>
            </a:extLst>
          </p:cNvPr>
          <p:cNvSpPr txBox="1"/>
          <p:nvPr/>
        </p:nvSpPr>
        <p:spPr>
          <a:xfrm>
            <a:off x="5760720" y="2788920"/>
            <a:ext cx="5696712" cy="292608"/>
          </a:xfrm>
          <a:prstGeom prst="rect">
            <a:avLst/>
          </a:prstGeom>
          <a:noFill/>
          <a:ln/>
        </p:spPr>
        <p:txBody>
          <a:bodyPr wrap="square" lIns="0" tIns="0" rIns="0" bIns="0" rtlCol="0" anchor="t"/>
          <a:lstStyle/>
          <a:p>
            <a:pPr marL="0" indent="0">
              <a:buNone/>
            </a:pPr>
            <a:r>
              <a:rPr lang="en-US" sz="1600" b="1" dirty="0">
                <a:solidFill>
                  <a:srgbClr val="132226"/>
                </a:solidFill>
              </a:rPr>
              <a:t>GitHub Actions workflows</a:t>
            </a:r>
            <a:endParaRPr lang="en-US" sz="1600" dirty="0"/>
          </a:p>
        </p:txBody>
      </p:sp>
      <p:sp>
        <p:nvSpPr>
          <p:cNvPr id="79" name="Text 14">
            <a:extLst>
              <a:ext uri="{FF2B5EF4-FFF2-40B4-BE49-F238E27FC236}">
                <a16:creationId xmlns:a16="http://schemas.microsoft.com/office/drawing/2014/main" id="{CB7E72D0-B1EB-42AA-9ADB-BB2641C71BD6}"/>
              </a:ext>
            </a:extLst>
          </p:cNvPr>
          <p:cNvSpPr txBox="1"/>
          <p:nvPr/>
        </p:nvSpPr>
        <p:spPr>
          <a:xfrm>
            <a:off x="5760720" y="3099816"/>
            <a:ext cx="5696712" cy="566928"/>
          </a:xfrm>
          <a:prstGeom prst="rect">
            <a:avLst/>
          </a:prstGeom>
          <a:noFill/>
          <a:ln/>
        </p:spPr>
        <p:txBody>
          <a:bodyPr wrap="square" lIns="0" tIns="0" rIns="0" bIns="0" rtlCol="0" anchor="t"/>
          <a:lstStyle/>
          <a:p>
            <a:pPr marL="0" indent="0">
              <a:buNone/>
            </a:pPr>
            <a:r>
              <a:rPr lang="en-US" sz="1400" dirty="0">
                <a:solidFill>
                  <a:srgbClr val="4A5B5E"/>
                </a:solidFill>
              </a:rPr>
              <a:t>deploy.yml builds, pushes and deploys the app; morning-rebuild.yml restores the sandbox and syncs DNS</a:t>
            </a:r>
            <a:endParaRPr lang="en-US" sz="1400" dirty="0"/>
          </a:p>
        </p:txBody>
      </p:sp>
      <p:sp>
        <p:nvSpPr>
          <p:cNvPr id="80" name="card">
            <a:extLst>
              <a:ext uri="{FF2B5EF4-FFF2-40B4-BE49-F238E27FC236}">
                <a16:creationId xmlns:a16="http://schemas.microsoft.com/office/drawing/2014/main" id="{68C95A72-8AD4-4A3D-8331-33A9DA2C1E12}"/>
              </a:ext>
            </a:extLst>
          </p:cNvPr>
          <p:cNvSpPr/>
          <p:nvPr/>
        </p:nvSpPr>
        <p:spPr>
          <a:xfrm>
            <a:off x="4846320" y="3858768"/>
            <a:ext cx="6793992" cy="1051560"/>
          </a:xfrm>
          <a:prstGeom prst="roundRect">
            <a:avLst>
              <a:gd name="adj" fmla="val 8696"/>
            </a:avLst>
          </a:prstGeom>
          <a:solidFill>
            <a:srgbClr val="FFFFFF"/>
          </a:solidFill>
          <a:ln/>
          <a:effectLst>
            <a:outerShdw blurRad="114300" dist="25400" dir="5400000" algn="bl" rotWithShape="0">
              <a:srgbClr val="0E3B43">
                <a:alpha val="13000"/>
              </a:srgbClr>
            </a:outerShdw>
          </a:effectLst>
        </p:spPr>
      </p:sp>
      <p:sp>
        <p:nvSpPr>
          <p:cNvPr id="81" name="Application circle">
            <a:extLst>
              <a:ext uri="{FF2B5EF4-FFF2-40B4-BE49-F238E27FC236}">
                <a16:creationId xmlns:a16="http://schemas.microsoft.com/office/drawing/2014/main" id="{83C24AA3-5FDA-4673-AE79-4CCB7AD352F0}"/>
              </a:ext>
            </a:extLst>
          </p:cNvPr>
          <p:cNvSpPr/>
          <p:nvPr/>
        </p:nvSpPr>
        <p:spPr>
          <a:xfrm>
            <a:off x="5047488" y="4114800"/>
            <a:ext cx="530352" cy="530352"/>
          </a:xfrm>
          <a:prstGeom prst="ellipse">
            <a:avLst/>
          </a:prstGeom>
          <a:solidFill>
            <a:schemeClr val="accent1"/>
          </a:solidFill>
          <a:ln/>
        </p:spPr>
      </p:sp>
      <p:pic>
        <p:nvPicPr>
          <p:cNvPr id="82" name="Application" descr="preencoded.png">
            <a:extLst>
              <a:ext uri="{FF2B5EF4-FFF2-40B4-BE49-F238E27FC236}">
                <a16:creationId xmlns:a16="http://schemas.microsoft.com/office/drawing/2014/main" id="{A685BC1A-DC34-45FF-A1C5-4BE3A13053D9}"/>
              </a:ext>
            </a:extLst>
          </p:cNvPr>
          <p:cNvPicPr>
            <a:picLocks noChangeAspect="1"/>
          </p:cNvPicPr>
          <p:nvPr/>
        </p:nvPicPr>
        <p:blipFill>
          <a:blip r:embed="rId7"/>
          <a:stretch>
            <a:fillRect/>
          </a:stretch>
        </p:blipFill>
        <p:spPr>
          <a:xfrm>
            <a:off x="5174772" y="4242084"/>
            <a:ext cx="275783" cy="275783"/>
          </a:xfrm>
          <a:prstGeom prst="rect">
            <a:avLst/>
          </a:prstGeom>
        </p:spPr>
      </p:pic>
      <p:sp>
        <p:nvSpPr>
          <p:cNvPr id="83" name="Text 17">
            <a:extLst>
              <a:ext uri="{FF2B5EF4-FFF2-40B4-BE49-F238E27FC236}">
                <a16:creationId xmlns:a16="http://schemas.microsoft.com/office/drawing/2014/main" id="{07DCB439-3C0F-49F9-BAA5-FE536D5AFD96}"/>
              </a:ext>
            </a:extLst>
          </p:cNvPr>
          <p:cNvSpPr txBox="1"/>
          <p:nvPr/>
        </p:nvSpPr>
        <p:spPr>
          <a:xfrm>
            <a:off x="5760720" y="3986784"/>
            <a:ext cx="5696712" cy="292608"/>
          </a:xfrm>
          <a:prstGeom prst="rect">
            <a:avLst/>
          </a:prstGeom>
          <a:noFill/>
          <a:ln/>
        </p:spPr>
        <p:txBody>
          <a:bodyPr wrap="square" lIns="0" tIns="0" rIns="0" bIns="0" rtlCol="0" anchor="t"/>
          <a:lstStyle/>
          <a:p>
            <a:pPr marL="0" indent="0">
              <a:buNone/>
            </a:pPr>
            <a:r>
              <a:rPr lang="en-US" sz="1600" b="1" dirty="0">
                <a:solidFill>
                  <a:srgbClr val="132226"/>
                </a:solidFill>
              </a:rPr>
              <a:t>Application</a:t>
            </a:r>
            <a:endParaRPr lang="en-US" sz="1600" dirty="0"/>
          </a:p>
        </p:txBody>
      </p:sp>
      <p:sp>
        <p:nvSpPr>
          <p:cNvPr id="84" name="Text 18">
            <a:extLst>
              <a:ext uri="{FF2B5EF4-FFF2-40B4-BE49-F238E27FC236}">
                <a16:creationId xmlns:a16="http://schemas.microsoft.com/office/drawing/2014/main" id="{61BE3159-8DF9-4884-97B0-938A465C14BE}"/>
              </a:ext>
            </a:extLst>
          </p:cNvPr>
          <p:cNvSpPr txBox="1"/>
          <p:nvPr/>
        </p:nvSpPr>
        <p:spPr>
          <a:xfrm>
            <a:off x="5760720" y="4297680"/>
            <a:ext cx="5696712" cy="566928"/>
          </a:xfrm>
          <a:prstGeom prst="rect">
            <a:avLst/>
          </a:prstGeom>
          <a:noFill/>
          <a:ln/>
        </p:spPr>
        <p:txBody>
          <a:bodyPr wrap="square" lIns="0" tIns="0" rIns="0" bIns="0" rtlCol="0" anchor="t"/>
          <a:lstStyle/>
          <a:p>
            <a:pPr marL="0" indent="0">
              <a:buNone/>
            </a:pPr>
            <a:r>
              <a:rPr lang="en-US" sz="1400" dirty="0">
                <a:solidFill>
                  <a:srgbClr val="4A5B5E"/>
                </a:solidFill>
              </a:rPr>
              <a:t>Node.js / Express API with /health and the Cognito-protected /protected route, plus its Dockerfile</a:t>
            </a:r>
            <a:endParaRPr lang="en-US" sz="1400" dirty="0"/>
          </a:p>
        </p:txBody>
      </p:sp>
      <p:sp>
        <p:nvSpPr>
          <p:cNvPr id="85" name="card">
            <a:extLst>
              <a:ext uri="{FF2B5EF4-FFF2-40B4-BE49-F238E27FC236}">
                <a16:creationId xmlns:a16="http://schemas.microsoft.com/office/drawing/2014/main" id="{1B371D80-8B20-47E3-8069-3103431609FA}"/>
              </a:ext>
            </a:extLst>
          </p:cNvPr>
          <p:cNvSpPr/>
          <p:nvPr/>
        </p:nvSpPr>
        <p:spPr>
          <a:xfrm>
            <a:off x="4846320" y="5056632"/>
            <a:ext cx="6793992" cy="1051560"/>
          </a:xfrm>
          <a:prstGeom prst="roundRect">
            <a:avLst>
              <a:gd name="adj" fmla="val 8696"/>
            </a:avLst>
          </a:prstGeom>
          <a:solidFill>
            <a:srgbClr val="FFFFFF"/>
          </a:solidFill>
          <a:ln/>
          <a:effectLst>
            <a:outerShdw blurRad="114300" dist="25400" dir="5400000" algn="bl" rotWithShape="0">
              <a:srgbClr val="0E3B43">
                <a:alpha val="13000"/>
              </a:srgbClr>
            </a:outerShdw>
          </a:effectLst>
        </p:spPr>
      </p:sp>
      <p:sp>
        <p:nvSpPr>
          <p:cNvPr id="86" name="Architecture &amp; documentation circle">
            <a:extLst>
              <a:ext uri="{FF2B5EF4-FFF2-40B4-BE49-F238E27FC236}">
                <a16:creationId xmlns:a16="http://schemas.microsoft.com/office/drawing/2014/main" id="{76F54E3E-4EBA-48D9-B891-05CD0F02D28F}"/>
              </a:ext>
            </a:extLst>
          </p:cNvPr>
          <p:cNvSpPr/>
          <p:nvPr/>
        </p:nvSpPr>
        <p:spPr>
          <a:xfrm>
            <a:off x="5047488" y="5312664"/>
            <a:ext cx="530352" cy="530352"/>
          </a:xfrm>
          <a:prstGeom prst="ellipse">
            <a:avLst/>
          </a:prstGeom>
          <a:solidFill>
            <a:schemeClr val="accent2"/>
          </a:solidFill>
          <a:ln/>
        </p:spPr>
      </p:sp>
      <p:pic>
        <p:nvPicPr>
          <p:cNvPr id="87" name="Architecture &amp; documentation" descr="preencoded.png">
            <a:extLst>
              <a:ext uri="{FF2B5EF4-FFF2-40B4-BE49-F238E27FC236}">
                <a16:creationId xmlns:a16="http://schemas.microsoft.com/office/drawing/2014/main" id="{F1246E8F-EE1F-494E-B306-E06092EB3289}"/>
              </a:ext>
            </a:extLst>
          </p:cNvPr>
          <p:cNvPicPr>
            <a:picLocks noChangeAspect="1"/>
          </p:cNvPicPr>
          <p:nvPr/>
        </p:nvPicPr>
        <p:blipFill>
          <a:blip r:embed="rId8"/>
          <a:stretch>
            <a:fillRect/>
          </a:stretch>
        </p:blipFill>
        <p:spPr>
          <a:xfrm>
            <a:off x="5174772" y="5439948"/>
            <a:ext cx="275783" cy="275783"/>
          </a:xfrm>
          <a:prstGeom prst="rect">
            <a:avLst/>
          </a:prstGeom>
        </p:spPr>
      </p:pic>
      <p:sp>
        <p:nvSpPr>
          <p:cNvPr id="88" name="Text 21">
            <a:extLst>
              <a:ext uri="{FF2B5EF4-FFF2-40B4-BE49-F238E27FC236}">
                <a16:creationId xmlns:a16="http://schemas.microsoft.com/office/drawing/2014/main" id="{B3B2133C-796A-488F-98BE-A32BB0F097A7}"/>
              </a:ext>
            </a:extLst>
          </p:cNvPr>
          <p:cNvSpPr txBox="1"/>
          <p:nvPr/>
        </p:nvSpPr>
        <p:spPr>
          <a:xfrm>
            <a:off x="5760720" y="5184648"/>
            <a:ext cx="5696712" cy="292608"/>
          </a:xfrm>
          <a:prstGeom prst="rect">
            <a:avLst/>
          </a:prstGeom>
          <a:noFill/>
          <a:ln/>
        </p:spPr>
        <p:txBody>
          <a:bodyPr wrap="square" lIns="0" tIns="0" rIns="0" bIns="0" rtlCol="0" anchor="t"/>
          <a:lstStyle/>
          <a:p>
            <a:pPr marL="0" indent="0">
              <a:buNone/>
            </a:pPr>
            <a:r>
              <a:rPr lang="en-US" sz="1600" b="1" dirty="0">
                <a:solidFill>
                  <a:srgbClr val="132226"/>
                </a:solidFill>
              </a:rPr>
              <a:t>Architecture &amp; documentation</a:t>
            </a:r>
            <a:endParaRPr lang="en-US" sz="1600" dirty="0"/>
          </a:p>
        </p:txBody>
      </p:sp>
      <p:sp>
        <p:nvSpPr>
          <p:cNvPr id="89" name="Text 22">
            <a:extLst>
              <a:ext uri="{FF2B5EF4-FFF2-40B4-BE49-F238E27FC236}">
                <a16:creationId xmlns:a16="http://schemas.microsoft.com/office/drawing/2014/main" id="{00E4D296-2142-4CC9-A2F3-D287D622E384}"/>
              </a:ext>
            </a:extLst>
          </p:cNvPr>
          <p:cNvSpPr txBox="1"/>
          <p:nvPr/>
        </p:nvSpPr>
        <p:spPr>
          <a:xfrm>
            <a:off x="5760720" y="5495544"/>
            <a:ext cx="5696712" cy="566928"/>
          </a:xfrm>
          <a:prstGeom prst="rect">
            <a:avLst/>
          </a:prstGeom>
          <a:noFill/>
          <a:ln/>
        </p:spPr>
        <p:txBody>
          <a:bodyPr wrap="square" lIns="0" tIns="0" rIns="0" bIns="0" rtlCol="0" anchor="t"/>
          <a:lstStyle/>
          <a:p>
            <a:pPr marL="0" indent="0">
              <a:buNone/>
            </a:pPr>
            <a:r>
              <a:rPr lang="en-US" sz="1400" dirty="0">
                <a:solidFill>
                  <a:srgbClr val="4A5B5E"/>
                </a:solidFill>
              </a:rPr>
              <a:t>Milestone diagrams and the interactive M1–M6 walkthrough</a:t>
            </a:r>
            <a:endParaRPr lang="en-US" sz="1400" dirty="0"/>
          </a:p>
        </p:txBody>
      </p:sp>
      <p:sp>
        <p:nvSpPr>
          <p:cNvPr id="90" name="Slide Number Placeholder 0">
            <a:extLst>
              <a:ext uri="{FF2B5EF4-FFF2-40B4-BE49-F238E27FC236}">
                <a16:creationId xmlns:a16="http://schemas.microsoft.com/office/drawing/2014/main" id="{0742A932-3662-40B5-A966-85B6805D8E99}"/>
              </a:ext>
            </a:extLst>
          </p:cNvPr>
          <p:cNvSpPr>
            <a:spLocks noGrp="1"/>
          </p:cNvSpPr>
          <p:nvPr>
            <p:ph type="sldNum" sz="quarter" idx="4294967295"/>
          </p:nvPr>
        </p:nvSpPr>
        <p:spPr>
          <a:xfrm>
            <a:off x="11091672"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C7F"/>
                </a:solidFill>
              </a:defRPr>
            </a:lvl1pPr>
          </a:lstStyle>
          <a:p>
            <a:pPr algn="r"/>
            <a:fld id="{F7021451-1387-4CA6-816F-3879F97B5CBC}" type="slidenum">
              <a:rPr lang="en-US" b="0"/>
              <a:t>22</a:t>
            </a:fld>
            <a:endParaRPr lang="en-US"/>
          </a:p>
        </p:txBody>
      </p:sp>
    </p:spTree>
    <p:extLst>
      <p:ext uri="{BB962C8B-B14F-4D97-AF65-F5344CB8AC3E}">
        <p14:creationId xmlns:p14="http://schemas.microsoft.com/office/powerpoint/2010/main" val="270547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Acknowledgements &amp; support</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AWS Cloud Computing with AI Bootcamp  ·  guidance, feedback and peer support behind this capstone.</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Thanks</a:t>
            </a:r>
            <a:endParaRPr lang="en-US" sz="1200" dirty="0"/>
          </a:p>
        </p:txBody>
      </p:sp>
      <p:sp>
        <p:nvSpPr>
          <p:cNvPr id="6" name="card"/>
          <p:cNvSpPr/>
          <p:nvPr/>
        </p:nvSpPr>
        <p:spPr>
          <a:xfrm>
            <a:off x="548640" y="1463040"/>
            <a:ext cx="6858000"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7" name="Instruction &amp; leadership circle"/>
          <p:cNvSpPr/>
          <p:nvPr/>
        </p:nvSpPr>
        <p:spPr>
          <a:xfrm>
            <a:off x="777240" y="1847088"/>
            <a:ext cx="640080" cy="640080"/>
          </a:xfrm>
          <a:prstGeom prst="ellipse">
            <a:avLst/>
          </a:prstGeom>
          <a:solidFill>
            <a:schemeClr val="accent1"/>
          </a:solidFill>
          <a:ln/>
        </p:spPr>
      </p:sp>
      <p:pic>
        <p:nvPicPr>
          <p:cNvPr id="8" name="Instruction &amp; leadership" descr="preencoded.png"/>
          <p:cNvPicPr>
            <a:picLocks noChangeAspect="1"/>
          </p:cNvPicPr>
          <p:nvPr/>
        </p:nvPicPr>
        <p:blipFill>
          <a:blip r:embed="rId3"/>
          <a:stretch>
            <a:fillRect/>
          </a:stretch>
        </p:blipFill>
        <p:spPr>
          <a:xfrm>
            <a:off x="930859" y="2000707"/>
            <a:ext cx="332842" cy="332842"/>
          </a:xfrm>
          <a:prstGeom prst="rect">
            <a:avLst/>
          </a:prstGeom>
        </p:spPr>
      </p:pic>
      <p:sp>
        <p:nvSpPr>
          <p:cNvPr id="9" name="Text 6"/>
          <p:cNvSpPr txBox="1"/>
          <p:nvPr/>
        </p:nvSpPr>
        <p:spPr>
          <a:xfrm>
            <a:off x="1691640" y="1600200"/>
            <a:ext cx="5486400" cy="320040"/>
          </a:xfrm>
          <a:prstGeom prst="rect">
            <a:avLst/>
          </a:prstGeom>
          <a:noFill/>
          <a:ln/>
        </p:spPr>
        <p:txBody>
          <a:bodyPr wrap="square" lIns="0" tIns="0" rIns="0" bIns="0" rtlCol="0" anchor="t"/>
          <a:lstStyle/>
          <a:p>
            <a:pPr marL="0" indent="0">
              <a:buNone/>
            </a:pPr>
            <a:r>
              <a:rPr lang="en-US" sz="1600" b="1" dirty="0">
                <a:solidFill>
                  <a:srgbClr val="132226"/>
                </a:solidFill>
              </a:rPr>
              <a:t>Instruction &amp; leadership</a:t>
            </a:r>
            <a:endParaRPr lang="en-US" sz="1600" dirty="0"/>
          </a:p>
        </p:txBody>
      </p:sp>
      <p:sp>
        <p:nvSpPr>
          <p:cNvPr id="10" name="Text 7"/>
          <p:cNvSpPr txBox="1"/>
          <p:nvPr/>
        </p:nvSpPr>
        <p:spPr>
          <a:xfrm>
            <a:off x="1691640" y="1938528"/>
            <a:ext cx="5486400" cy="868680"/>
          </a:xfrm>
          <a:prstGeom prst="rect">
            <a:avLst/>
          </a:prstGeom>
          <a:noFill/>
          <a:ln/>
        </p:spPr>
        <p:txBody>
          <a:bodyPr wrap="square" lIns="0" tIns="0" rIns="0" bIns="0" rtlCol="0" anchor="t"/>
          <a:lstStyle/>
          <a:p>
            <a:pPr marL="0" indent="0">
              <a:buNone/>
            </a:pPr>
            <a:r>
              <a:rPr lang="en-US" sz="1400" dirty="0">
                <a:solidFill>
                  <a:srgbClr val="4A5B5E"/>
                </a:solidFill>
              </a:rPr>
              <a:t>Micheal — Theory Teacher</a:t>
            </a:r>
            <a:endParaRPr lang="en-US" sz="1400" dirty="0"/>
          </a:p>
          <a:p>
            <a:pPr marL="0" indent="0">
              <a:buNone/>
            </a:pPr>
            <a:r>
              <a:rPr lang="en-US" sz="1400" dirty="0">
                <a:solidFill>
                  <a:srgbClr val="4A5B5E"/>
                </a:solidFill>
              </a:rPr>
              <a:t>Rahul Patel— Practical Teacher</a:t>
            </a:r>
            <a:endParaRPr lang="en-US" sz="1400" dirty="0"/>
          </a:p>
          <a:p>
            <a:pPr marL="0" indent="0">
              <a:buNone/>
            </a:pPr>
            <a:r>
              <a:rPr lang="en-US" sz="1400" dirty="0">
                <a:solidFill>
                  <a:srgbClr val="4A5B5E"/>
                </a:solidFill>
              </a:rPr>
              <a:t>Dominic </a:t>
            </a:r>
            <a:r>
              <a:rPr lang="en-US" sz="1400" dirty="0" err="1">
                <a:solidFill>
                  <a:srgbClr val="4A5B5E"/>
                </a:solidFill>
              </a:rPr>
              <a:t>Singaraj</a:t>
            </a:r>
            <a:r>
              <a:rPr lang="en-US" sz="1400" dirty="0">
                <a:solidFill>
                  <a:srgbClr val="4A5B5E"/>
                </a:solidFill>
              </a:rPr>
              <a:t>— Head of Department</a:t>
            </a:r>
            <a:endParaRPr lang="en-US" sz="1400" dirty="0"/>
          </a:p>
        </p:txBody>
      </p:sp>
      <p:sp>
        <p:nvSpPr>
          <p:cNvPr id="11" name="card"/>
          <p:cNvSpPr/>
          <p:nvPr/>
        </p:nvSpPr>
        <p:spPr>
          <a:xfrm>
            <a:off x="548640" y="3063240"/>
            <a:ext cx="6858000"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12" name="Supporting teachers circle"/>
          <p:cNvSpPr/>
          <p:nvPr/>
        </p:nvSpPr>
        <p:spPr>
          <a:xfrm>
            <a:off x="777240" y="3447288"/>
            <a:ext cx="640080" cy="640080"/>
          </a:xfrm>
          <a:prstGeom prst="ellipse">
            <a:avLst/>
          </a:prstGeom>
          <a:solidFill>
            <a:schemeClr val="accent5"/>
          </a:solidFill>
          <a:ln/>
        </p:spPr>
      </p:sp>
      <p:pic>
        <p:nvPicPr>
          <p:cNvPr id="13" name="Supporting teachers" descr="preencoded.png"/>
          <p:cNvPicPr>
            <a:picLocks noChangeAspect="1"/>
          </p:cNvPicPr>
          <p:nvPr/>
        </p:nvPicPr>
        <p:blipFill>
          <a:blip r:embed="rId4"/>
          <a:stretch>
            <a:fillRect/>
          </a:stretch>
        </p:blipFill>
        <p:spPr>
          <a:xfrm>
            <a:off x="930859" y="3600907"/>
            <a:ext cx="332842" cy="332842"/>
          </a:xfrm>
          <a:prstGeom prst="rect">
            <a:avLst/>
          </a:prstGeom>
        </p:spPr>
      </p:pic>
      <p:sp>
        <p:nvSpPr>
          <p:cNvPr id="14" name="Text 10"/>
          <p:cNvSpPr txBox="1"/>
          <p:nvPr/>
        </p:nvSpPr>
        <p:spPr>
          <a:xfrm>
            <a:off x="1691640" y="3200400"/>
            <a:ext cx="5486400" cy="320040"/>
          </a:xfrm>
          <a:prstGeom prst="rect">
            <a:avLst/>
          </a:prstGeom>
          <a:noFill/>
          <a:ln/>
        </p:spPr>
        <p:txBody>
          <a:bodyPr wrap="square" lIns="0" tIns="0" rIns="0" bIns="0" rtlCol="0" anchor="t"/>
          <a:lstStyle/>
          <a:p>
            <a:pPr marL="0" indent="0">
              <a:buNone/>
            </a:pPr>
            <a:r>
              <a:rPr lang="en-US" sz="1600" b="1" dirty="0">
                <a:solidFill>
                  <a:srgbClr val="132226"/>
                </a:solidFill>
              </a:rPr>
              <a:t>Supporting teachers</a:t>
            </a:r>
            <a:endParaRPr lang="en-US" sz="1600" dirty="0"/>
          </a:p>
        </p:txBody>
      </p:sp>
      <p:sp>
        <p:nvSpPr>
          <p:cNvPr id="15" name="Text 11"/>
          <p:cNvSpPr txBox="1"/>
          <p:nvPr/>
        </p:nvSpPr>
        <p:spPr>
          <a:xfrm>
            <a:off x="1691640" y="3538728"/>
            <a:ext cx="5486400" cy="868680"/>
          </a:xfrm>
          <a:prstGeom prst="rect">
            <a:avLst/>
          </a:prstGeom>
          <a:noFill/>
          <a:ln/>
        </p:spPr>
        <p:txBody>
          <a:bodyPr wrap="square" lIns="0" tIns="0" rIns="0" bIns="0" rtlCol="0" anchor="t"/>
          <a:lstStyle/>
          <a:p>
            <a:pPr marL="0" indent="0">
              <a:buNone/>
            </a:pPr>
            <a:r>
              <a:rPr lang="en-US" sz="1400" dirty="0">
                <a:solidFill>
                  <a:srgbClr val="4A5B5E"/>
                </a:solidFill>
              </a:rPr>
              <a:t>Shahabuddin  ·  </a:t>
            </a:r>
            <a:r>
              <a:rPr lang="en-US" sz="1400" dirty="0" err="1">
                <a:solidFill>
                  <a:srgbClr val="4A5B5E"/>
                </a:solidFill>
              </a:rPr>
              <a:t>Charisima</a:t>
            </a:r>
            <a:r>
              <a:rPr lang="en-US" sz="1400" dirty="0">
                <a:solidFill>
                  <a:srgbClr val="4A5B5E"/>
                </a:solidFill>
              </a:rPr>
              <a:t> · </a:t>
            </a:r>
            <a:r>
              <a:rPr lang="en-US" sz="1400" dirty="0" err="1">
                <a:solidFill>
                  <a:srgbClr val="4A5B5E"/>
                </a:solidFill>
              </a:rPr>
              <a:t>Pushpajit</a:t>
            </a:r>
            <a:r>
              <a:rPr lang="en-US" sz="1400" dirty="0">
                <a:solidFill>
                  <a:srgbClr val="4A5B5E"/>
                </a:solidFill>
              </a:rPr>
              <a:t> ·  </a:t>
            </a:r>
            <a:r>
              <a:rPr lang="en-US" sz="1400" dirty="0" err="1">
                <a:solidFill>
                  <a:srgbClr val="4A5B5E"/>
                </a:solidFill>
              </a:rPr>
              <a:t>Siranach</a:t>
            </a:r>
            <a:endParaRPr lang="en-US" sz="1400" dirty="0"/>
          </a:p>
          <a:p>
            <a:pPr marL="0" indent="0">
              <a:buNone/>
            </a:pPr>
            <a:r>
              <a:rPr lang="en-US" sz="1400" dirty="0">
                <a:solidFill>
                  <a:srgbClr val="4A5B5E"/>
                </a:solidFill>
              </a:rPr>
              <a:t>and the wider teaching team</a:t>
            </a:r>
            <a:endParaRPr lang="en-US" sz="1400" dirty="0"/>
          </a:p>
        </p:txBody>
      </p:sp>
      <p:sp>
        <p:nvSpPr>
          <p:cNvPr id="16" name="card"/>
          <p:cNvSpPr/>
          <p:nvPr/>
        </p:nvSpPr>
        <p:spPr>
          <a:xfrm>
            <a:off x="548640" y="4663440"/>
            <a:ext cx="6858000"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17" name="Peer &amp; student support circle"/>
          <p:cNvSpPr/>
          <p:nvPr/>
        </p:nvSpPr>
        <p:spPr>
          <a:xfrm>
            <a:off x="777240" y="5047488"/>
            <a:ext cx="640080" cy="640080"/>
          </a:xfrm>
          <a:prstGeom prst="ellipse">
            <a:avLst/>
          </a:prstGeom>
          <a:solidFill>
            <a:schemeClr val="accent3"/>
          </a:solidFill>
          <a:ln/>
        </p:spPr>
      </p:sp>
      <p:pic>
        <p:nvPicPr>
          <p:cNvPr id="18" name="Peer &amp; student support" descr="preencoded.png"/>
          <p:cNvPicPr>
            <a:picLocks noChangeAspect="1"/>
          </p:cNvPicPr>
          <p:nvPr/>
        </p:nvPicPr>
        <p:blipFill>
          <a:blip r:embed="rId5"/>
          <a:stretch>
            <a:fillRect/>
          </a:stretch>
        </p:blipFill>
        <p:spPr>
          <a:xfrm>
            <a:off x="930859" y="5201107"/>
            <a:ext cx="332842" cy="332842"/>
          </a:xfrm>
          <a:prstGeom prst="rect">
            <a:avLst/>
          </a:prstGeom>
        </p:spPr>
      </p:pic>
      <p:sp>
        <p:nvSpPr>
          <p:cNvPr id="19" name="Text 14"/>
          <p:cNvSpPr txBox="1"/>
          <p:nvPr/>
        </p:nvSpPr>
        <p:spPr>
          <a:xfrm>
            <a:off x="1691640" y="4800600"/>
            <a:ext cx="5486400" cy="320040"/>
          </a:xfrm>
          <a:prstGeom prst="rect">
            <a:avLst/>
          </a:prstGeom>
          <a:noFill/>
          <a:ln/>
        </p:spPr>
        <p:txBody>
          <a:bodyPr wrap="square" lIns="0" tIns="0" rIns="0" bIns="0" rtlCol="0" anchor="t"/>
          <a:lstStyle/>
          <a:p>
            <a:pPr marL="0" indent="0">
              <a:buNone/>
            </a:pPr>
            <a:r>
              <a:rPr lang="en-US" sz="1600" b="1" dirty="0">
                <a:solidFill>
                  <a:srgbClr val="132226"/>
                </a:solidFill>
              </a:rPr>
              <a:t>Peer &amp; student support</a:t>
            </a:r>
            <a:endParaRPr lang="en-US" sz="1600" dirty="0"/>
          </a:p>
        </p:txBody>
      </p:sp>
      <p:sp>
        <p:nvSpPr>
          <p:cNvPr id="20" name="Text 15"/>
          <p:cNvSpPr txBox="1"/>
          <p:nvPr/>
        </p:nvSpPr>
        <p:spPr>
          <a:xfrm>
            <a:off x="1691640" y="5138928"/>
            <a:ext cx="5486400" cy="868680"/>
          </a:xfrm>
          <a:prstGeom prst="rect">
            <a:avLst/>
          </a:prstGeom>
          <a:noFill/>
          <a:ln/>
        </p:spPr>
        <p:txBody>
          <a:bodyPr wrap="square" lIns="0" tIns="0" rIns="0" bIns="0" rtlCol="0" anchor="t"/>
          <a:lstStyle/>
          <a:p>
            <a:pPr marL="0" indent="0">
              <a:buNone/>
            </a:pPr>
            <a:r>
              <a:rPr lang="en-US" sz="1400" dirty="0">
                <a:solidFill>
                  <a:srgbClr val="4A5B5E"/>
                </a:solidFill>
              </a:rPr>
              <a:t>All of my classmates — discussions, feedback, testing and motivation throughout the capstone</a:t>
            </a:r>
            <a:endParaRPr lang="en-US" sz="1400" dirty="0"/>
          </a:p>
        </p:txBody>
      </p:sp>
      <p:sp>
        <p:nvSpPr>
          <p:cNvPr id="21" name="questions panel"/>
          <p:cNvSpPr/>
          <p:nvPr/>
        </p:nvSpPr>
        <p:spPr>
          <a:xfrm>
            <a:off x="7680960" y="1463040"/>
            <a:ext cx="3959352" cy="4663440"/>
          </a:xfrm>
          <a:prstGeom prst="roundRect">
            <a:avLst>
              <a:gd name="adj" fmla="val 2309"/>
            </a:avLst>
          </a:prstGeom>
          <a:solidFill>
            <a:schemeClr val="tx2"/>
          </a:solidFill>
          <a:ln/>
          <a:effectLst>
            <a:outerShdw blurRad="114300" dist="25400" dir="5400000" algn="bl" rotWithShape="0">
              <a:srgbClr val="0E3B43">
                <a:alpha val="13000"/>
              </a:srgbClr>
            </a:outerShdw>
          </a:effectLst>
        </p:spPr>
      </p:sp>
      <p:sp>
        <p:nvSpPr>
          <p:cNvPr id="22" name="questions circle"/>
          <p:cNvSpPr/>
          <p:nvPr/>
        </p:nvSpPr>
        <p:spPr>
          <a:xfrm>
            <a:off x="8001000" y="1828800"/>
            <a:ext cx="822960" cy="822960"/>
          </a:xfrm>
          <a:prstGeom prst="ellipse">
            <a:avLst/>
          </a:prstGeom>
          <a:solidFill>
            <a:schemeClr val="accent2"/>
          </a:solidFill>
          <a:ln/>
        </p:spPr>
      </p:sp>
      <p:pic>
        <p:nvPicPr>
          <p:cNvPr id="23" name="questions" descr="preencoded.png"/>
          <p:cNvPicPr>
            <a:picLocks noChangeAspect="1"/>
          </p:cNvPicPr>
          <p:nvPr/>
        </p:nvPicPr>
        <p:blipFill>
          <a:blip r:embed="rId6"/>
          <a:stretch>
            <a:fillRect/>
          </a:stretch>
        </p:blipFill>
        <p:spPr>
          <a:xfrm>
            <a:off x="8198510" y="2026310"/>
            <a:ext cx="427939" cy="427939"/>
          </a:xfrm>
          <a:prstGeom prst="rect">
            <a:avLst/>
          </a:prstGeom>
        </p:spPr>
      </p:pic>
      <p:sp>
        <p:nvSpPr>
          <p:cNvPr id="24" name="Text 18"/>
          <p:cNvSpPr txBox="1"/>
          <p:nvPr/>
        </p:nvSpPr>
        <p:spPr>
          <a:xfrm>
            <a:off x="8001000" y="2880360"/>
            <a:ext cx="3383280" cy="731520"/>
          </a:xfrm>
          <a:prstGeom prst="rect">
            <a:avLst/>
          </a:prstGeom>
          <a:noFill/>
          <a:ln/>
        </p:spPr>
        <p:txBody>
          <a:bodyPr wrap="square" lIns="0" tIns="0" rIns="0" bIns="0" rtlCol="0" anchor="ctr"/>
          <a:lstStyle/>
          <a:p>
            <a:pPr marL="0" indent="0">
              <a:buNone/>
            </a:pPr>
            <a:r>
              <a:rPr lang="en-US" sz="4000" b="1" dirty="0">
                <a:solidFill>
                  <a:srgbClr val="FFFFFF"/>
                </a:solidFill>
                <a:latin typeface="+mj-lt" pitchFamily="34" charset="0"/>
                <a:ea typeface="+mj-lt" pitchFamily="34" charset="-122"/>
                <a:cs typeface="+mj-lt" pitchFamily="34" charset="-120"/>
              </a:rPr>
              <a:t>Questions?</a:t>
            </a:r>
            <a:endParaRPr lang="en-US" sz="4000" dirty="0"/>
          </a:p>
        </p:txBody>
      </p:sp>
      <p:sp>
        <p:nvSpPr>
          <p:cNvPr id="25" name="Text 19"/>
          <p:cNvSpPr txBox="1"/>
          <p:nvPr/>
        </p:nvSpPr>
        <p:spPr>
          <a:xfrm>
            <a:off x="8001000" y="3703320"/>
            <a:ext cx="3383280" cy="1005840"/>
          </a:xfrm>
          <a:prstGeom prst="rect">
            <a:avLst/>
          </a:prstGeom>
          <a:noFill/>
          <a:ln/>
        </p:spPr>
        <p:txBody>
          <a:bodyPr wrap="square" lIns="0" tIns="0" rIns="0" bIns="0" rtlCol="0" anchor="t"/>
          <a:lstStyle/>
          <a:p>
            <a:pPr marL="0" indent="0">
              <a:buNone/>
            </a:pPr>
            <a:r>
              <a:rPr lang="en-US" sz="1500" dirty="0">
                <a:solidFill>
                  <a:srgbClr val="9AD1D4"/>
                </a:solidFill>
              </a:rPr>
              <a:t>Thank you for the guidance, questions and support that helped me improve the project.</a:t>
            </a:r>
            <a:endParaRPr lang="en-US" sz="1500" dirty="0"/>
          </a:p>
        </p:txBody>
      </p:sp>
      <p:sp>
        <p:nvSpPr>
          <p:cNvPr id="26" name="Text 20"/>
          <p:cNvSpPr txBox="1"/>
          <p:nvPr/>
        </p:nvSpPr>
        <p:spPr>
          <a:xfrm>
            <a:off x="8001000" y="5440680"/>
            <a:ext cx="3383280" cy="365760"/>
          </a:xfrm>
          <a:prstGeom prst="rect">
            <a:avLst/>
          </a:prstGeom>
          <a:noFill/>
          <a:ln/>
        </p:spPr>
        <p:txBody>
          <a:bodyPr wrap="square" lIns="0" tIns="0" rIns="0" bIns="0" rtlCol="0" anchor="t"/>
          <a:lstStyle/>
          <a:p>
            <a:pPr marL="0" indent="0">
              <a:buNone/>
            </a:pPr>
            <a:r>
              <a:rPr lang="en-US" sz="1500" b="1" dirty="0">
                <a:solidFill>
                  <a:srgbClr val="F2A541"/>
                </a:solidFill>
              </a:rPr>
              <a:t>cloud.namienterprises.in</a:t>
            </a:r>
            <a:endParaRPr lang="en-US" sz="1500" dirty="0"/>
          </a:p>
        </p:txBody>
      </p:sp>
      <p:sp>
        <p:nvSpPr>
          <p:cNvPr id="27"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dirty="0"/>
              <a:t>K</a:t>
            </a:r>
            <a:r>
              <a:rPr lang="en-US" sz="3000" b="1" dirty="0">
                <a:solidFill>
                  <a:schemeClr val="tx1"/>
                </a:solidFill>
              </a:rPr>
              <a:t>ey technical configuration</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Keep this slide for Q&amp;A — do not present unless asked.</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F2A541"/>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132226"/>
                </a:solidFill>
              </a:rPr>
              <a:t>BACKUP</a:t>
            </a:r>
            <a:endParaRPr lang="en-US" sz="1200" dirty="0"/>
          </a:p>
        </p:txBody>
      </p:sp>
      <p:sp>
        <p:nvSpPr>
          <p:cNvPr id="6" name="card"/>
          <p:cNvSpPr/>
          <p:nvPr/>
        </p:nvSpPr>
        <p:spPr>
          <a:xfrm>
            <a:off x="548640" y="1463040"/>
            <a:ext cx="5454396" cy="658368"/>
          </a:xfrm>
          <a:prstGeom prst="roundRect">
            <a:avLst>
              <a:gd name="adj" fmla="val 13889"/>
            </a:avLst>
          </a:prstGeom>
          <a:solidFill>
            <a:srgbClr val="FFFFFF"/>
          </a:solidFill>
          <a:ln w="9525">
            <a:solidFill>
              <a:srgbClr val="D3E2E0"/>
            </a:solidFill>
            <a:prstDash val="solid"/>
          </a:ln>
        </p:spPr>
      </p:sp>
      <p:sp>
        <p:nvSpPr>
          <p:cNvPr id="7" name="Text 5"/>
          <p:cNvSpPr txBox="1"/>
          <p:nvPr/>
        </p:nvSpPr>
        <p:spPr>
          <a:xfrm>
            <a:off x="777240" y="1463040"/>
            <a:ext cx="1234440" cy="658368"/>
          </a:xfrm>
          <a:prstGeom prst="rect">
            <a:avLst/>
          </a:prstGeom>
          <a:noFill/>
          <a:ln/>
        </p:spPr>
        <p:txBody>
          <a:bodyPr wrap="square" lIns="0" tIns="0" rIns="0" bIns="0" rtlCol="0" anchor="ctr"/>
          <a:lstStyle/>
          <a:p>
            <a:pPr marL="0" indent="0">
              <a:buNone/>
            </a:pPr>
            <a:r>
              <a:rPr lang="en-US" sz="1400" b="1" dirty="0">
                <a:solidFill>
                  <a:srgbClr val="0E7C7B"/>
                </a:solidFill>
              </a:rPr>
              <a:t>VPC</a:t>
            </a:r>
            <a:endParaRPr lang="en-US" sz="1400" dirty="0"/>
          </a:p>
        </p:txBody>
      </p:sp>
      <p:sp>
        <p:nvSpPr>
          <p:cNvPr id="8" name="Text 6"/>
          <p:cNvSpPr txBox="1"/>
          <p:nvPr/>
        </p:nvSpPr>
        <p:spPr>
          <a:xfrm>
            <a:off x="2057400" y="1463040"/>
            <a:ext cx="3794760" cy="658368"/>
          </a:xfrm>
          <a:prstGeom prst="rect">
            <a:avLst/>
          </a:prstGeom>
          <a:noFill/>
          <a:ln/>
        </p:spPr>
        <p:txBody>
          <a:bodyPr wrap="square" lIns="0" tIns="0" rIns="0" bIns="0" rtlCol="0" anchor="ctr"/>
          <a:lstStyle/>
          <a:p>
            <a:pPr marL="0" indent="0">
              <a:buNone/>
            </a:pPr>
            <a:r>
              <a:rPr lang="en-US" sz="1400" dirty="0">
                <a:solidFill>
                  <a:srgbClr val="132226"/>
                </a:solidFill>
              </a:rPr>
              <a:t>10.0.0.0/16</a:t>
            </a:r>
            <a:endParaRPr lang="en-US" sz="1400" dirty="0"/>
          </a:p>
        </p:txBody>
      </p:sp>
      <p:sp>
        <p:nvSpPr>
          <p:cNvPr id="9" name="card"/>
          <p:cNvSpPr/>
          <p:nvPr/>
        </p:nvSpPr>
        <p:spPr>
          <a:xfrm>
            <a:off x="6185916" y="1463040"/>
            <a:ext cx="5454396" cy="658368"/>
          </a:xfrm>
          <a:prstGeom prst="roundRect">
            <a:avLst>
              <a:gd name="adj" fmla="val 13889"/>
            </a:avLst>
          </a:prstGeom>
          <a:solidFill>
            <a:srgbClr val="FFFFFF"/>
          </a:solidFill>
          <a:ln w="9525">
            <a:solidFill>
              <a:srgbClr val="D3E2E0"/>
            </a:solidFill>
            <a:prstDash val="solid"/>
          </a:ln>
        </p:spPr>
      </p:sp>
      <p:sp>
        <p:nvSpPr>
          <p:cNvPr id="10" name="Text 8"/>
          <p:cNvSpPr txBox="1"/>
          <p:nvPr/>
        </p:nvSpPr>
        <p:spPr>
          <a:xfrm>
            <a:off x="6414516" y="1463040"/>
            <a:ext cx="1234440" cy="658368"/>
          </a:xfrm>
          <a:prstGeom prst="rect">
            <a:avLst/>
          </a:prstGeom>
          <a:noFill/>
          <a:ln/>
        </p:spPr>
        <p:txBody>
          <a:bodyPr wrap="square" lIns="0" tIns="0" rIns="0" bIns="0" rtlCol="0" anchor="ctr"/>
          <a:lstStyle/>
          <a:p>
            <a:pPr marL="0" indent="0">
              <a:buNone/>
            </a:pPr>
            <a:r>
              <a:rPr lang="en-US" sz="1400" b="1" dirty="0">
                <a:solidFill>
                  <a:srgbClr val="0E7C7B"/>
                </a:solidFill>
              </a:rPr>
              <a:t>RDS</a:t>
            </a:r>
            <a:endParaRPr lang="en-US" sz="1400" dirty="0"/>
          </a:p>
        </p:txBody>
      </p:sp>
      <p:sp>
        <p:nvSpPr>
          <p:cNvPr id="11" name="Text 9"/>
          <p:cNvSpPr txBox="1"/>
          <p:nvPr/>
        </p:nvSpPr>
        <p:spPr>
          <a:xfrm>
            <a:off x="7694676" y="1463040"/>
            <a:ext cx="3794760" cy="658368"/>
          </a:xfrm>
          <a:prstGeom prst="rect">
            <a:avLst/>
          </a:prstGeom>
          <a:noFill/>
          <a:ln/>
        </p:spPr>
        <p:txBody>
          <a:bodyPr wrap="square" lIns="0" tIns="0" rIns="0" bIns="0" rtlCol="0" anchor="ctr"/>
          <a:lstStyle/>
          <a:p>
            <a:pPr marL="0" indent="0">
              <a:buNone/>
            </a:pPr>
            <a:r>
              <a:rPr lang="en-US" sz="1400" dirty="0">
                <a:solidFill>
                  <a:srgbClr val="132226"/>
                </a:solidFill>
              </a:rPr>
              <a:t>MySQL 8.4.11 · db.t3.micro · Multi-AZ · 20 GiB gp3</a:t>
            </a:r>
            <a:endParaRPr lang="en-US" sz="1400" dirty="0"/>
          </a:p>
        </p:txBody>
      </p:sp>
      <p:sp>
        <p:nvSpPr>
          <p:cNvPr id="12" name="card"/>
          <p:cNvSpPr/>
          <p:nvPr/>
        </p:nvSpPr>
        <p:spPr>
          <a:xfrm>
            <a:off x="548640" y="2249424"/>
            <a:ext cx="5454396" cy="658368"/>
          </a:xfrm>
          <a:prstGeom prst="roundRect">
            <a:avLst>
              <a:gd name="adj" fmla="val 13889"/>
            </a:avLst>
          </a:prstGeom>
          <a:solidFill>
            <a:srgbClr val="FFFFFF"/>
          </a:solidFill>
          <a:ln w="9525">
            <a:solidFill>
              <a:srgbClr val="D3E2E0"/>
            </a:solidFill>
            <a:prstDash val="solid"/>
          </a:ln>
        </p:spPr>
      </p:sp>
      <p:sp>
        <p:nvSpPr>
          <p:cNvPr id="13" name="Text 11"/>
          <p:cNvSpPr txBox="1"/>
          <p:nvPr/>
        </p:nvSpPr>
        <p:spPr>
          <a:xfrm>
            <a:off x="777240" y="2249424"/>
            <a:ext cx="1234440" cy="658368"/>
          </a:xfrm>
          <a:prstGeom prst="rect">
            <a:avLst/>
          </a:prstGeom>
          <a:noFill/>
          <a:ln/>
        </p:spPr>
        <p:txBody>
          <a:bodyPr wrap="square" lIns="0" tIns="0" rIns="0" bIns="0" rtlCol="0" anchor="ctr"/>
          <a:lstStyle/>
          <a:p>
            <a:pPr marL="0" indent="0">
              <a:buNone/>
            </a:pPr>
            <a:r>
              <a:rPr lang="en-US" sz="1400" b="1" dirty="0">
                <a:solidFill>
                  <a:srgbClr val="0E7C7B"/>
                </a:solidFill>
              </a:rPr>
              <a:t>Public subnets</a:t>
            </a:r>
            <a:endParaRPr lang="en-US" sz="1400" dirty="0"/>
          </a:p>
        </p:txBody>
      </p:sp>
      <p:sp>
        <p:nvSpPr>
          <p:cNvPr id="14" name="Text 12"/>
          <p:cNvSpPr txBox="1"/>
          <p:nvPr/>
        </p:nvSpPr>
        <p:spPr>
          <a:xfrm>
            <a:off x="2057400" y="2249424"/>
            <a:ext cx="3794760" cy="658368"/>
          </a:xfrm>
          <a:prstGeom prst="rect">
            <a:avLst/>
          </a:prstGeom>
          <a:noFill/>
          <a:ln/>
        </p:spPr>
        <p:txBody>
          <a:bodyPr wrap="square" lIns="0" tIns="0" rIns="0" bIns="0" rtlCol="0" anchor="ctr"/>
          <a:lstStyle/>
          <a:p>
            <a:pPr marL="0" indent="0">
              <a:buNone/>
            </a:pPr>
            <a:r>
              <a:rPr lang="en-US" sz="1400" dirty="0">
                <a:solidFill>
                  <a:srgbClr val="132226"/>
                </a:solidFill>
              </a:rPr>
              <a:t>10.0.1.0/24 · 10.0.2.0/24</a:t>
            </a:r>
            <a:endParaRPr lang="en-US" sz="1400" dirty="0"/>
          </a:p>
        </p:txBody>
      </p:sp>
      <p:sp>
        <p:nvSpPr>
          <p:cNvPr id="15" name="card"/>
          <p:cNvSpPr/>
          <p:nvPr/>
        </p:nvSpPr>
        <p:spPr>
          <a:xfrm>
            <a:off x="6185916" y="2249424"/>
            <a:ext cx="5454396" cy="658368"/>
          </a:xfrm>
          <a:prstGeom prst="roundRect">
            <a:avLst>
              <a:gd name="adj" fmla="val 13889"/>
            </a:avLst>
          </a:prstGeom>
          <a:solidFill>
            <a:srgbClr val="FFFFFF"/>
          </a:solidFill>
          <a:ln w="9525">
            <a:solidFill>
              <a:srgbClr val="D3E2E0"/>
            </a:solidFill>
            <a:prstDash val="solid"/>
          </a:ln>
        </p:spPr>
      </p:sp>
      <p:sp>
        <p:nvSpPr>
          <p:cNvPr id="16" name="Text 14"/>
          <p:cNvSpPr txBox="1"/>
          <p:nvPr/>
        </p:nvSpPr>
        <p:spPr>
          <a:xfrm>
            <a:off x="6414516" y="2249424"/>
            <a:ext cx="1234440" cy="658368"/>
          </a:xfrm>
          <a:prstGeom prst="rect">
            <a:avLst/>
          </a:prstGeom>
          <a:noFill/>
          <a:ln/>
        </p:spPr>
        <p:txBody>
          <a:bodyPr wrap="square" lIns="0" tIns="0" rIns="0" bIns="0" rtlCol="0" anchor="ctr"/>
          <a:lstStyle/>
          <a:p>
            <a:pPr marL="0" indent="0">
              <a:buNone/>
            </a:pPr>
            <a:r>
              <a:rPr lang="en-US" sz="1400" b="1" dirty="0">
                <a:solidFill>
                  <a:srgbClr val="0E7C7B"/>
                </a:solidFill>
              </a:rPr>
              <a:t>Backups</a:t>
            </a:r>
            <a:endParaRPr lang="en-US" sz="1400" dirty="0"/>
          </a:p>
        </p:txBody>
      </p:sp>
      <p:sp>
        <p:nvSpPr>
          <p:cNvPr id="17" name="Text 15"/>
          <p:cNvSpPr txBox="1"/>
          <p:nvPr/>
        </p:nvSpPr>
        <p:spPr>
          <a:xfrm>
            <a:off x="7694676" y="2249424"/>
            <a:ext cx="3794760" cy="658368"/>
          </a:xfrm>
          <a:prstGeom prst="rect">
            <a:avLst/>
          </a:prstGeom>
          <a:noFill/>
          <a:ln/>
        </p:spPr>
        <p:txBody>
          <a:bodyPr wrap="square" lIns="0" tIns="0" rIns="0" bIns="0" rtlCol="0" anchor="ctr"/>
          <a:lstStyle/>
          <a:p>
            <a:pPr marL="0" indent="0">
              <a:buNone/>
            </a:pPr>
            <a:r>
              <a:rPr lang="en-US" sz="1400" dirty="0">
                <a:solidFill>
                  <a:srgbClr val="132226"/>
                </a:solidFill>
              </a:rPr>
              <a:t>7 days</a:t>
            </a:r>
            <a:endParaRPr lang="en-US" sz="1400" dirty="0"/>
          </a:p>
        </p:txBody>
      </p:sp>
      <p:sp>
        <p:nvSpPr>
          <p:cNvPr id="18" name="card"/>
          <p:cNvSpPr/>
          <p:nvPr/>
        </p:nvSpPr>
        <p:spPr>
          <a:xfrm>
            <a:off x="548640" y="3035808"/>
            <a:ext cx="5454396" cy="658368"/>
          </a:xfrm>
          <a:prstGeom prst="roundRect">
            <a:avLst>
              <a:gd name="adj" fmla="val 13889"/>
            </a:avLst>
          </a:prstGeom>
          <a:solidFill>
            <a:srgbClr val="FFFFFF"/>
          </a:solidFill>
          <a:ln w="9525">
            <a:solidFill>
              <a:srgbClr val="D3E2E0"/>
            </a:solidFill>
            <a:prstDash val="solid"/>
          </a:ln>
        </p:spPr>
      </p:sp>
      <p:sp>
        <p:nvSpPr>
          <p:cNvPr id="19" name="Text 17"/>
          <p:cNvSpPr txBox="1"/>
          <p:nvPr/>
        </p:nvSpPr>
        <p:spPr>
          <a:xfrm>
            <a:off x="777240" y="3035808"/>
            <a:ext cx="1234440" cy="658368"/>
          </a:xfrm>
          <a:prstGeom prst="rect">
            <a:avLst/>
          </a:prstGeom>
          <a:noFill/>
          <a:ln/>
        </p:spPr>
        <p:txBody>
          <a:bodyPr wrap="square" lIns="0" tIns="0" rIns="0" bIns="0" rtlCol="0" anchor="ctr"/>
          <a:lstStyle/>
          <a:p>
            <a:pPr marL="0" indent="0">
              <a:buNone/>
            </a:pPr>
            <a:r>
              <a:rPr lang="en-US" sz="1400" b="1" dirty="0">
                <a:solidFill>
                  <a:srgbClr val="0E7C7B"/>
                </a:solidFill>
              </a:rPr>
              <a:t>Private app</a:t>
            </a:r>
            <a:endParaRPr lang="en-US" sz="1400" dirty="0"/>
          </a:p>
        </p:txBody>
      </p:sp>
      <p:sp>
        <p:nvSpPr>
          <p:cNvPr id="20" name="Text 18"/>
          <p:cNvSpPr txBox="1"/>
          <p:nvPr/>
        </p:nvSpPr>
        <p:spPr>
          <a:xfrm>
            <a:off x="2057400" y="3035808"/>
            <a:ext cx="3794760" cy="658368"/>
          </a:xfrm>
          <a:prstGeom prst="rect">
            <a:avLst/>
          </a:prstGeom>
          <a:noFill/>
          <a:ln/>
        </p:spPr>
        <p:txBody>
          <a:bodyPr wrap="square" lIns="0" tIns="0" rIns="0" bIns="0" rtlCol="0" anchor="ctr"/>
          <a:lstStyle/>
          <a:p>
            <a:pPr marL="0" indent="0">
              <a:buNone/>
            </a:pPr>
            <a:r>
              <a:rPr lang="en-US" sz="1400" dirty="0">
                <a:solidFill>
                  <a:srgbClr val="132226"/>
                </a:solidFill>
              </a:rPr>
              <a:t>10.0.11.0/24 · 10.0.12.0/24</a:t>
            </a:r>
            <a:endParaRPr lang="en-US" sz="1400" dirty="0"/>
          </a:p>
        </p:txBody>
      </p:sp>
      <p:sp>
        <p:nvSpPr>
          <p:cNvPr id="21" name="card"/>
          <p:cNvSpPr/>
          <p:nvPr/>
        </p:nvSpPr>
        <p:spPr>
          <a:xfrm>
            <a:off x="6185916" y="3035808"/>
            <a:ext cx="5454396" cy="658368"/>
          </a:xfrm>
          <a:prstGeom prst="roundRect">
            <a:avLst>
              <a:gd name="adj" fmla="val 13889"/>
            </a:avLst>
          </a:prstGeom>
          <a:solidFill>
            <a:srgbClr val="FFFFFF"/>
          </a:solidFill>
          <a:ln w="9525">
            <a:solidFill>
              <a:srgbClr val="D3E2E0"/>
            </a:solidFill>
            <a:prstDash val="solid"/>
          </a:ln>
        </p:spPr>
      </p:sp>
      <p:sp>
        <p:nvSpPr>
          <p:cNvPr id="22" name="Text 20"/>
          <p:cNvSpPr txBox="1"/>
          <p:nvPr/>
        </p:nvSpPr>
        <p:spPr>
          <a:xfrm>
            <a:off x="6414516" y="3035808"/>
            <a:ext cx="1234440" cy="658368"/>
          </a:xfrm>
          <a:prstGeom prst="rect">
            <a:avLst/>
          </a:prstGeom>
          <a:noFill/>
          <a:ln/>
        </p:spPr>
        <p:txBody>
          <a:bodyPr wrap="square" lIns="0" tIns="0" rIns="0" bIns="0" rtlCol="0" anchor="ctr"/>
          <a:lstStyle/>
          <a:p>
            <a:pPr marL="0" indent="0">
              <a:buNone/>
            </a:pPr>
            <a:r>
              <a:rPr lang="en-US" sz="1400" b="1" dirty="0">
                <a:solidFill>
                  <a:srgbClr val="0E7C7B"/>
                </a:solidFill>
              </a:rPr>
              <a:t>S3</a:t>
            </a:r>
            <a:endParaRPr lang="en-US" sz="1400" dirty="0"/>
          </a:p>
        </p:txBody>
      </p:sp>
      <p:sp>
        <p:nvSpPr>
          <p:cNvPr id="23" name="Text 21"/>
          <p:cNvSpPr txBox="1"/>
          <p:nvPr/>
        </p:nvSpPr>
        <p:spPr>
          <a:xfrm>
            <a:off x="7694676" y="3035808"/>
            <a:ext cx="3794760" cy="658368"/>
          </a:xfrm>
          <a:prstGeom prst="rect">
            <a:avLst/>
          </a:prstGeom>
          <a:noFill/>
          <a:ln/>
        </p:spPr>
        <p:txBody>
          <a:bodyPr wrap="square" lIns="0" tIns="0" rIns="0" bIns="0" rtlCol="0" anchor="ctr"/>
          <a:lstStyle/>
          <a:p>
            <a:pPr marL="0" indent="0">
              <a:buNone/>
            </a:pPr>
            <a:r>
              <a:rPr lang="en-US" sz="1400" dirty="0">
                <a:solidFill>
                  <a:srgbClr val="132226"/>
                </a:solidFill>
              </a:rPr>
              <a:t>versioned · SSE‑S3 · HTTPS-only</a:t>
            </a:r>
            <a:endParaRPr lang="en-US" sz="1400" dirty="0"/>
          </a:p>
        </p:txBody>
      </p:sp>
      <p:sp>
        <p:nvSpPr>
          <p:cNvPr id="24" name="card"/>
          <p:cNvSpPr/>
          <p:nvPr/>
        </p:nvSpPr>
        <p:spPr>
          <a:xfrm>
            <a:off x="548640" y="3822192"/>
            <a:ext cx="5454396" cy="658368"/>
          </a:xfrm>
          <a:prstGeom prst="roundRect">
            <a:avLst>
              <a:gd name="adj" fmla="val 13889"/>
            </a:avLst>
          </a:prstGeom>
          <a:solidFill>
            <a:srgbClr val="FFFFFF"/>
          </a:solidFill>
          <a:ln w="9525">
            <a:solidFill>
              <a:srgbClr val="D3E2E0"/>
            </a:solidFill>
            <a:prstDash val="solid"/>
          </a:ln>
        </p:spPr>
      </p:sp>
      <p:sp>
        <p:nvSpPr>
          <p:cNvPr id="25" name="Text 23"/>
          <p:cNvSpPr txBox="1"/>
          <p:nvPr/>
        </p:nvSpPr>
        <p:spPr>
          <a:xfrm>
            <a:off x="777240" y="3822192"/>
            <a:ext cx="1234440" cy="658368"/>
          </a:xfrm>
          <a:prstGeom prst="rect">
            <a:avLst/>
          </a:prstGeom>
          <a:noFill/>
          <a:ln/>
        </p:spPr>
        <p:txBody>
          <a:bodyPr wrap="square" lIns="0" tIns="0" rIns="0" bIns="0" rtlCol="0" anchor="ctr"/>
          <a:lstStyle/>
          <a:p>
            <a:pPr marL="0" indent="0">
              <a:buNone/>
            </a:pPr>
            <a:r>
              <a:rPr lang="en-US" sz="1400" b="1" dirty="0">
                <a:solidFill>
                  <a:srgbClr val="0E7C7B"/>
                </a:solidFill>
              </a:rPr>
              <a:t>Private DB</a:t>
            </a:r>
            <a:endParaRPr lang="en-US" sz="1400" dirty="0"/>
          </a:p>
        </p:txBody>
      </p:sp>
      <p:sp>
        <p:nvSpPr>
          <p:cNvPr id="26" name="Text 24"/>
          <p:cNvSpPr txBox="1"/>
          <p:nvPr/>
        </p:nvSpPr>
        <p:spPr>
          <a:xfrm>
            <a:off x="2057400" y="3822192"/>
            <a:ext cx="3794760" cy="658368"/>
          </a:xfrm>
          <a:prstGeom prst="rect">
            <a:avLst/>
          </a:prstGeom>
          <a:noFill/>
          <a:ln/>
        </p:spPr>
        <p:txBody>
          <a:bodyPr wrap="square" lIns="0" tIns="0" rIns="0" bIns="0" rtlCol="0" anchor="ctr"/>
          <a:lstStyle/>
          <a:p>
            <a:pPr marL="0" indent="0">
              <a:buNone/>
            </a:pPr>
            <a:r>
              <a:rPr lang="en-US" sz="1400" dirty="0">
                <a:solidFill>
                  <a:srgbClr val="132226"/>
                </a:solidFill>
              </a:rPr>
              <a:t>10.0.21.0/24 · 10.0.22.0/24</a:t>
            </a:r>
            <a:endParaRPr lang="en-US" sz="1400" dirty="0"/>
          </a:p>
        </p:txBody>
      </p:sp>
      <p:sp>
        <p:nvSpPr>
          <p:cNvPr id="27" name="card"/>
          <p:cNvSpPr/>
          <p:nvPr/>
        </p:nvSpPr>
        <p:spPr>
          <a:xfrm>
            <a:off x="6185916" y="3822192"/>
            <a:ext cx="5454396" cy="658368"/>
          </a:xfrm>
          <a:prstGeom prst="roundRect">
            <a:avLst>
              <a:gd name="adj" fmla="val 13889"/>
            </a:avLst>
          </a:prstGeom>
          <a:solidFill>
            <a:srgbClr val="FFFFFF"/>
          </a:solidFill>
          <a:ln w="9525">
            <a:solidFill>
              <a:srgbClr val="D3E2E0"/>
            </a:solidFill>
            <a:prstDash val="solid"/>
          </a:ln>
        </p:spPr>
      </p:sp>
      <p:sp>
        <p:nvSpPr>
          <p:cNvPr id="28" name="Text 26"/>
          <p:cNvSpPr txBox="1"/>
          <p:nvPr/>
        </p:nvSpPr>
        <p:spPr>
          <a:xfrm>
            <a:off x="6414516" y="3822192"/>
            <a:ext cx="1234440" cy="658368"/>
          </a:xfrm>
          <a:prstGeom prst="rect">
            <a:avLst/>
          </a:prstGeom>
          <a:noFill/>
          <a:ln/>
        </p:spPr>
        <p:txBody>
          <a:bodyPr wrap="square" lIns="0" tIns="0" rIns="0" bIns="0" rtlCol="0" anchor="ctr"/>
          <a:lstStyle/>
          <a:p>
            <a:pPr marL="0" indent="0">
              <a:buNone/>
            </a:pPr>
            <a:r>
              <a:rPr lang="en-US" sz="1400" b="1" dirty="0">
                <a:solidFill>
                  <a:srgbClr val="0E7C7B"/>
                </a:solidFill>
              </a:rPr>
              <a:t>WAF</a:t>
            </a:r>
            <a:endParaRPr lang="en-US" sz="1400" dirty="0"/>
          </a:p>
        </p:txBody>
      </p:sp>
      <p:sp>
        <p:nvSpPr>
          <p:cNvPr id="29" name="Text 27"/>
          <p:cNvSpPr txBox="1"/>
          <p:nvPr/>
        </p:nvSpPr>
        <p:spPr>
          <a:xfrm>
            <a:off x="7694676" y="3822192"/>
            <a:ext cx="3794760" cy="658368"/>
          </a:xfrm>
          <a:prstGeom prst="rect">
            <a:avLst/>
          </a:prstGeom>
          <a:noFill/>
          <a:ln/>
        </p:spPr>
        <p:txBody>
          <a:bodyPr wrap="square" lIns="0" tIns="0" rIns="0" bIns="0" rtlCol="0" anchor="ctr"/>
          <a:lstStyle/>
          <a:p>
            <a:pPr marL="0" indent="0">
              <a:buNone/>
            </a:pPr>
            <a:r>
              <a:rPr lang="en-US" sz="1400" dirty="0">
                <a:solidFill>
                  <a:srgbClr val="132226"/>
                </a:solidFill>
              </a:rPr>
              <a:t>AWS Managed Common Rule Set + 1000/IP rate rule</a:t>
            </a:r>
            <a:endParaRPr lang="en-US" sz="1400" dirty="0"/>
          </a:p>
        </p:txBody>
      </p:sp>
      <p:sp>
        <p:nvSpPr>
          <p:cNvPr id="30" name="card"/>
          <p:cNvSpPr/>
          <p:nvPr/>
        </p:nvSpPr>
        <p:spPr>
          <a:xfrm>
            <a:off x="548640" y="4608576"/>
            <a:ext cx="5454396" cy="658368"/>
          </a:xfrm>
          <a:prstGeom prst="roundRect">
            <a:avLst>
              <a:gd name="adj" fmla="val 13889"/>
            </a:avLst>
          </a:prstGeom>
          <a:solidFill>
            <a:srgbClr val="FFFFFF"/>
          </a:solidFill>
          <a:ln w="9525">
            <a:solidFill>
              <a:srgbClr val="D3E2E0"/>
            </a:solidFill>
            <a:prstDash val="solid"/>
          </a:ln>
        </p:spPr>
      </p:sp>
      <p:sp>
        <p:nvSpPr>
          <p:cNvPr id="31" name="Text 29"/>
          <p:cNvSpPr txBox="1"/>
          <p:nvPr/>
        </p:nvSpPr>
        <p:spPr>
          <a:xfrm>
            <a:off x="777240" y="4608576"/>
            <a:ext cx="1234440" cy="658368"/>
          </a:xfrm>
          <a:prstGeom prst="rect">
            <a:avLst/>
          </a:prstGeom>
          <a:noFill/>
          <a:ln/>
        </p:spPr>
        <p:txBody>
          <a:bodyPr wrap="square" lIns="0" tIns="0" rIns="0" bIns="0" rtlCol="0" anchor="ctr"/>
          <a:lstStyle/>
          <a:p>
            <a:pPr marL="0" indent="0">
              <a:buNone/>
            </a:pPr>
            <a:r>
              <a:rPr lang="en-US" sz="1400" b="1" dirty="0">
                <a:solidFill>
                  <a:srgbClr val="0E7C7B"/>
                </a:solidFill>
              </a:rPr>
              <a:t>ECS</a:t>
            </a:r>
            <a:endParaRPr lang="en-US" sz="1400" dirty="0"/>
          </a:p>
        </p:txBody>
      </p:sp>
      <p:sp>
        <p:nvSpPr>
          <p:cNvPr id="32" name="Text 30"/>
          <p:cNvSpPr txBox="1"/>
          <p:nvPr/>
        </p:nvSpPr>
        <p:spPr>
          <a:xfrm>
            <a:off x="2057400" y="4608576"/>
            <a:ext cx="3794760" cy="658368"/>
          </a:xfrm>
          <a:prstGeom prst="rect">
            <a:avLst/>
          </a:prstGeom>
          <a:noFill/>
          <a:ln/>
        </p:spPr>
        <p:txBody>
          <a:bodyPr wrap="square" lIns="0" tIns="0" rIns="0" bIns="0" rtlCol="0" anchor="ctr"/>
          <a:lstStyle/>
          <a:p>
            <a:pPr marL="0" indent="0">
              <a:buNone/>
            </a:pPr>
            <a:r>
              <a:rPr lang="en-US" sz="1400" dirty="0">
                <a:solidFill>
                  <a:srgbClr val="132226"/>
                </a:solidFill>
              </a:rPr>
              <a:t>Fargate · 256 CPU · 512 MiB · port 3000</a:t>
            </a:r>
            <a:endParaRPr lang="en-US" sz="1400" dirty="0"/>
          </a:p>
        </p:txBody>
      </p:sp>
      <p:sp>
        <p:nvSpPr>
          <p:cNvPr id="33" name="card"/>
          <p:cNvSpPr/>
          <p:nvPr/>
        </p:nvSpPr>
        <p:spPr>
          <a:xfrm>
            <a:off x="6185916" y="4608576"/>
            <a:ext cx="5454396" cy="658368"/>
          </a:xfrm>
          <a:prstGeom prst="roundRect">
            <a:avLst>
              <a:gd name="adj" fmla="val 13889"/>
            </a:avLst>
          </a:prstGeom>
          <a:solidFill>
            <a:srgbClr val="FFFFFF"/>
          </a:solidFill>
          <a:ln w="9525">
            <a:solidFill>
              <a:srgbClr val="D3E2E0"/>
            </a:solidFill>
            <a:prstDash val="solid"/>
          </a:ln>
        </p:spPr>
      </p:sp>
      <p:sp>
        <p:nvSpPr>
          <p:cNvPr id="34" name="Text 32"/>
          <p:cNvSpPr txBox="1"/>
          <p:nvPr/>
        </p:nvSpPr>
        <p:spPr>
          <a:xfrm>
            <a:off x="6414516" y="4608576"/>
            <a:ext cx="1234440" cy="658368"/>
          </a:xfrm>
          <a:prstGeom prst="rect">
            <a:avLst/>
          </a:prstGeom>
          <a:noFill/>
          <a:ln/>
        </p:spPr>
        <p:txBody>
          <a:bodyPr wrap="square" lIns="0" tIns="0" rIns="0" bIns="0" rtlCol="0" anchor="ctr"/>
          <a:lstStyle/>
          <a:p>
            <a:pPr marL="0" indent="0">
              <a:buNone/>
            </a:pPr>
            <a:r>
              <a:rPr lang="en-US" sz="1400" b="1" dirty="0">
                <a:solidFill>
                  <a:srgbClr val="0E7C7B"/>
                </a:solidFill>
              </a:rPr>
              <a:t>Auth</a:t>
            </a:r>
            <a:endParaRPr lang="en-US" sz="1400" dirty="0"/>
          </a:p>
        </p:txBody>
      </p:sp>
      <p:sp>
        <p:nvSpPr>
          <p:cNvPr id="35" name="Text 33"/>
          <p:cNvSpPr txBox="1"/>
          <p:nvPr/>
        </p:nvSpPr>
        <p:spPr>
          <a:xfrm>
            <a:off x="7694676" y="4608576"/>
            <a:ext cx="3794760" cy="658368"/>
          </a:xfrm>
          <a:prstGeom prst="rect">
            <a:avLst/>
          </a:prstGeom>
          <a:noFill/>
          <a:ln/>
        </p:spPr>
        <p:txBody>
          <a:bodyPr wrap="square" lIns="0" tIns="0" rIns="0" bIns="0" rtlCol="0" anchor="ctr"/>
          <a:lstStyle/>
          <a:p>
            <a:pPr marL="0" indent="0">
              <a:buNone/>
            </a:pPr>
            <a:r>
              <a:rPr lang="en-US" sz="1400" dirty="0">
                <a:solidFill>
                  <a:srgbClr val="132226"/>
                </a:solidFill>
              </a:rPr>
              <a:t>Cognito User Pool + public app client (no secret)</a:t>
            </a:r>
            <a:endParaRPr lang="en-US" sz="1400" dirty="0"/>
          </a:p>
        </p:txBody>
      </p:sp>
      <p:sp>
        <p:nvSpPr>
          <p:cNvPr id="36" name="card"/>
          <p:cNvSpPr/>
          <p:nvPr/>
        </p:nvSpPr>
        <p:spPr>
          <a:xfrm>
            <a:off x="548640" y="5394960"/>
            <a:ext cx="5454396" cy="658368"/>
          </a:xfrm>
          <a:prstGeom prst="roundRect">
            <a:avLst>
              <a:gd name="adj" fmla="val 13889"/>
            </a:avLst>
          </a:prstGeom>
          <a:solidFill>
            <a:srgbClr val="FFFFFF"/>
          </a:solidFill>
          <a:ln w="9525">
            <a:solidFill>
              <a:srgbClr val="D3E2E0"/>
            </a:solidFill>
            <a:prstDash val="solid"/>
          </a:ln>
        </p:spPr>
      </p:sp>
      <p:sp>
        <p:nvSpPr>
          <p:cNvPr id="37" name="Text 35"/>
          <p:cNvSpPr txBox="1"/>
          <p:nvPr/>
        </p:nvSpPr>
        <p:spPr>
          <a:xfrm>
            <a:off x="777240" y="5394960"/>
            <a:ext cx="1234440" cy="658368"/>
          </a:xfrm>
          <a:prstGeom prst="rect">
            <a:avLst/>
          </a:prstGeom>
          <a:noFill/>
          <a:ln/>
        </p:spPr>
        <p:txBody>
          <a:bodyPr wrap="square" lIns="0" tIns="0" rIns="0" bIns="0" rtlCol="0" anchor="ctr"/>
          <a:lstStyle/>
          <a:p>
            <a:pPr marL="0" indent="0">
              <a:buNone/>
            </a:pPr>
            <a:r>
              <a:rPr lang="en-US" sz="1400" b="1" dirty="0">
                <a:solidFill>
                  <a:srgbClr val="0E7C7B"/>
                </a:solidFill>
              </a:rPr>
              <a:t>Scaling</a:t>
            </a:r>
            <a:endParaRPr lang="en-US" sz="1400" dirty="0"/>
          </a:p>
        </p:txBody>
      </p:sp>
      <p:sp>
        <p:nvSpPr>
          <p:cNvPr id="38" name="Text 36"/>
          <p:cNvSpPr txBox="1"/>
          <p:nvPr/>
        </p:nvSpPr>
        <p:spPr>
          <a:xfrm>
            <a:off x="2057400" y="5394960"/>
            <a:ext cx="3794760" cy="658368"/>
          </a:xfrm>
          <a:prstGeom prst="rect">
            <a:avLst/>
          </a:prstGeom>
          <a:noFill/>
          <a:ln/>
        </p:spPr>
        <p:txBody>
          <a:bodyPr wrap="square" lIns="0" tIns="0" rIns="0" bIns="0" rtlCol="0" anchor="ctr"/>
          <a:lstStyle/>
          <a:p>
            <a:pPr marL="0" indent="0">
              <a:buNone/>
            </a:pPr>
            <a:r>
              <a:rPr lang="en-US" sz="1400" dirty="0">
                <a:solidFill>
                  <a:srgbClr val="132226"/>
                </a:solidFill>
              </a:rPr>
              <a:t>min 2 · max 4 · CPU target 50%</a:t>
            </a:r>
            <a:endParaRPr lang="en-US" sz="1400" dirty="0"/>
          </a:p>
        </p:txBody>
      </p:sp>
      <p:sp>
        <p:nvSpPr>
          <p:cNvPr id="39" name="card"/>
          <p:cNvSpPr/>
          <p:nvPr/>
        </p:nvSpPr>
        <p:spPr>
          <a:xfrm>
            <a:off x="6185916" y="5394960"/>
            <a:ext cx="5454396" cy="658368"/>
          </a:xfrm>
          <a:prstGeom prst="roundRect">
            <a:avLst>
              <a:gd name="adj" fmla="val 13889"/>
            </a:avLst>
          </a:prstGeom>
          <a:solidFill>
            <a:srgbClr val="FFFFFF"/>
          </a:solidFill>
          <a:ln w="9525">
            <a:solidFill>
              <a:srgbClr val="D3E2E0"/>
            </a:solidFill>
            <a:prstDash val="solid"/>
          </a:ln>
        </p:spPr>
      </p:sp>
      <p:sp>
        <p:nvSpPr>
          <p:cNvPr id="40" name="Text 38"/>
          <p:cNvSpPr txBox="1"/>
          <p:nvPr/>
        </p:nvSpPr>
        <p:spPr>
          <a:xfrm>
            <a:off x="6414516" y="5394960"/>
            <a:ext cx="1234440" cy="658368"/>
          </a:xfrm>
          <a:prstGeom prst="rect">
            <a:avLst/>
          </a:prstGeom>
          <a:noFill/>
          <a:ln/>
        </p:spPr>
        <p:txBody>
          <a:bodyPr wrap="square" lIns="0" tIns="0" rIns="0" bIns="0" rtlCol="0" anchor="ctr"/>
          <a:lstStyle/>
          <a:p>
            <a:pPr marL="0" indent="0">
              <a:buNone/>
            </a:pPr>
            <a:r>
              <a:rPr lang="en-US" sz="1400" b="1" dirty="0">
                <a:solidFill>
                  <a:srgbClr val="0E7C7B"/>
                </a:solidFill>
              </a:rPr>
              <a:t>Domain</a:t>
            </a:r>
            <a:endParaRPr lang="en-US" sz="1400" dirty="0"/>
          </a:p>
        </p:txBody>
      </p:sp>
      <p:sp>
        <p:nvSpPr>
          <p:cNvPr id="41" name="Text 39"/>
          <p:cNvSpPr txBox="1"/>
          <p:nvPr/>
        </p:nvSpPr>
        <p:spPr>
          <a:xfrm>
            <a:off x="7694676" y="5394960"/>
            <a:ext cx="3794760" cy="658368"/>
          </a:xfrm>
          <a:prstGeom prst="rect">
            <a:avLst/>
          </a:prstGeom>
          <a:noFill/>
          <a:ln/>
        </p:spPr>
        <p:txBody>
          <a:bodyPr wrap="square" lIns="0" tIns="0" rIns="0" bIns="0" rtlCol="0" anchor="ctr"/>
          <a:lstStyle/>
          <a:p>
            <a:pPr marL="0" indent="0">
              <a:buNone/>
            </a:pPr>
            <a:r>
              <a:rPr lang="en-US" sz="1400" dirty="0">
                <a:solidFill>
                  <a:srgbClr val="132226"/>
                </a:solidFill>
              </a:rPr>
              <a:t>cloud.namienterprises.in · Route 53 in personal AWS</a:t>
            </a:r>
            <a:endParaRPr lang="en-US" sz="1400" dirty="0"/>
          </a:p>
        </p:txBody>
      </p:sp>
      <p:sp>
        <p:nvSpPr>
          <p:cNvPr id="42"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FAQs — likely questions &amp; short answers</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Use this as your mental checklist during Q&amp;A.</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F2A541"/>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132226"/>
                </a:solidFill>
              </a:rPr>
              <a:t>BACKUP</a:t>
            </a:r>
            <a:endParaRPr lang="en-US" sz="1200" dirty="0"/>
          </a:p>
        </p:txBody>
      </p:sp>
      <p:sp>
        <p:nvSpPr>
          <p:cNvPr id="6" name="card"/>
          <p:cNvSpPr/>
          <p:nvPr/>
        </p:nvSpPr>
        <p:spPr>
          <a:xfrm>
            <a:off x="548640" y="1463040"/>
            <a:ext cx="5454396"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7" name="question circle"/>
          <p:cNvSpPr/>
          <p:nvPr/>
        </p:nvSpPr>
        <p:spPr>
          <a:xfrm>
            <a:off x="749808" y="1645920"/>
            <a:ext cx="420624" cy="420624"/>
          </a:xfrm>
          <a:prstGeom prst="ellipse">
            <a:avLst/>
          </a:prstGeom>
          <a:solidFill>
            <a:schemeClr val="accent1"/>
          </a:solidFill>
          <a:ln/>
        </p:spPr>
      </p:sp>
      <p:pic>
        <p:nvPicPr>
          <p:cNvPr id="8" name="question" descr="preencoded.png"/>
          <p:cNvPicPr>
            <a:picLocks noChangeAspect="1"/>
          </p:cNvPicPr>
          <p:nvPr/>
        </p:nvPicPr>
        <p:blipFill>
          <a:blip r:embed="rId3"/>
          <a:stretch>
            <a:fillRect/>
          </a:stretch>
        </p:blipFill>
        <p:spPr>
          <a:xfrm>
            <a:off x="850758" y="1746870"/>
            <a:ext cx="218724" cy="218724"/>
          </a:xfrm>
          <a:prstGeom prst="rect">
            <a:avLst/>
          </a:prstGeom>
        </p:spPr>
      </p:pic>
      <p:sp>
        <p:nvSpPr>
          <p:cNvPr id="9" name="Text 6"/>
          <p:cNvSpPr txBox="1"/>
          <p:nvPr/>
        </p:nvSpPr>
        <p:spPr>
          <a:xfrm>
            <a:off x="1325880" y="1645920"/>
            <a:ext cx="4480560" cy="420624"/>
          </a:xfrm>
          <a:prstGeom prst="rect">
            <a:avLst/>
          </a:prstGeom>
          <a:noFill/>
          <a:ln/>
        </p:spPr>
        <p:txBody>
          <a:bodyPr wrap="square" lIns="0" tIns="0" rIns="0" bIns="0" rtlCol="0" anchor="ctr"/>
          <a:lstStyle/>
          <a:p>
            <a:pPr marL="0" indent="0">
              <a:buNone/>
            </a:pPr>
            <a:r>
              <a:rPr lang="en-US" sz="1600" b="1" dirty="0">
                <a:solidFill>
                  <a:srgbClr val="132226"/>
                </a:solidFill>
              </a:rPr>
              <a:t>Why personal Route 53?</a:t>
            </a:r>
            <a:endParaRPr lang="en-US" sz="1600" dirty="0"/>
          </a:p>
        </p:txBody>
      </p:sp>
      <p:sp>
        <p:nvSpPr>
          <p:cNvPr id="10" name="Text 7"/>
          <p:cNvSpPr txBox="1"/>
          <p:nvPr/>
        </p:nvSpPr>
        <p:spPr>
          <a:xfrm>
            <a:off x="1325880" y="2121408"/>
            <a:ext cx="4480560" cy="713232"/>
          </a:xfrm>
          <a:prstGeom prst="rect">
            <a:avLst/>
          </a:prstGeom>
          <a:noFill/>
          <a:ln/>
        </p:spPr>
        <p:txBody>
          <a:bodyPr wrap="square" lIns="0" tIns="0" rIns="0" bIns="0" rtlCol="0" anchor="t"/>
          <a:lstStyle/>
          <a:p>
            <a:pPr marL="0" indent="0">
              <a:buNone/>
            </a:pPr>
            <a:r>
              <a:rPr lang="en-US" sz="1400" dirty="0">
                <a:solidFill>
                  <a:srgbClr val="4A5B5E"/>
                </a:solidFill>
              </a:rPr>
              <a:t>The sandbox is disposable. Route 53 stays in personal AWS so DNS, mail records and ACM validation remain stable across nightly cleanup.</a:t>
            </a:r>
            <a:endParaRPr lang="en-US" sz="1400" dirty="0"/>
          </a:p>
        </p:txBody>
      </p:sp>
      <p:sp>
        <p:nvSpPr>
          <p:cNvPr id="11" name="card"/>
          <p:cNvSpPr/>
          <p:nvPr/>
        </p:nvSpPr>
        <p:spPr>
          <a:xfrm>
            <a:off x="6185916" y="1463040"/>
            <a:ext cx="5454396"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12" name="question circle"/>
          <p:cNvSpPr/>
          <p:nvPr/>
        </p:nvSpPr>
        <p:spPr>
          <a:xfrm>
            <a:off x="6387084" y="1645920"/>
            <a:ext cx="420624" cy="420624"/>
          </a:xfrm>
          <a:prstGeom prst="ellipse">
            <a:avLst/>
          </a:prstGeom>
          <a:solidFill>
            <a:schemeClr val="accent1"/>
          </a:solidFill>
          <a:ln/>
        </p:spPr>
      </p:sp>
      <p:pic>
        <p:nvPicPr>
          <p:cNvPr id="13" name="question" descr="preencoded.png"/>
          <p:cNvPicPr>
            <a:picLocks noChangeAspect="1"/>
          </p:cNvPicPr>
          <p:nvPr/>
        </p:nvPicPr>
        <p:blipFill>
          <a:blip r:embed="rId3"/>
          <a:stretch>
            <a:fillRect/>
          </a:stretch>
        </p:blipFill>
        <p:spPr>
          <a:xfrm>
            <a:off x="6488034" y="1746870"/>
            <a:ext cx="218724" cy="218724"/>
          </a:xfrm>
          <a:prstGeom prst="rect">
            <a:avLst/>
          </a:prstGeom>
        </p:spPr>
      </p:pic>
      <p:sp>
        <p:nvSpPr>
          <p:cNvPr id="14" name="Text 10"/>
          <p:cNvSpPr txBox="1"/>
          <p:nvPr/>
        </p:nvSpPr>
        <p:spPr>
          <a:xfrm>
            <a:off x="6963156" y="1645920"/>
            <a:ext cx="4480560" cy="420624"/>
          </a:xfrm>
          <a:prstGeom prst="rect">
            <a:avLst/>
          </a:prstGeom>
          <a:noFill/>
          <a:ln/>
        </p:spPr>
        <p:txBody>
          <a:bodyPr wrap="square" lIns="0" tIns="0" rIns="0" bIns="0" rtlCol="0" anchor="ctr"/>
          <a:lstStyle/>
          <a:p>
            <a:pPr marL="0" indent="0">
              <a:buNone/>
            </a:pPr>
            <a:r>
              <a:rPr lang="en-US" sz="1600" b="1" dirty="0">
                <a:solidFill>
                  <a:srgbClr val="132226"/>
                </a:solidFill>
              </a:rPr>
              <a:t>Why two NAT gateways?</a:t>
            </a:r>
            <a:endParaRPr lang="en-US" sz="1600" dirty="0"/>
          </a:p>
        </p:txBody>
      </p:sp>
      <p:sp>
        <p:nvSpPr>
          <p:cNvPr id="15" name="Text 11"/>
          <p:cNvSpPr txBox="1"/>
          <p:nvPr/>
        </p:nvSpPr>
        <p:spPr>
          <a:xfrm>
            <a:off x="6963156" y="2121408"/>
            <a:ext cx="4480560" cy="713232"/>
          </a:xfrm>
          <a:prstGeom prst="rect">
            <a:avLst/>
          </a:prstGeom>
          <a:noFill/>
          <a:ln/>
        </p:spPr>
        <p:txBody>
          <a:bodyPr wrap="square" lIns="0" tIns="0" rIns="0" bIns="0" rtlCol="0" anchor="t"/>
          <a:lstStyle/>
          <a:p>
            <a:pPr marL="0" indent="0">
              <a:buNone/>
            </a:pPr>
            <a:r>
              <a:rPr lang="en-US" sz="1400" dirty="0">
                <a:solidFill>
                  <a:srgbClr val="4A5B5E"/>
                </a:solidFill>
              </a:rPr>
              <a:t>Each private app subnet has same-AZ egress, reducing an AZ dependency.</a:t>
            </a:r>
            <a:endParaRPr lang="en-US" sz="1400" dirty="0"/>
          </a:p>
        </p:txBody>
      </p:sp>
      <p:sp>
        <p:nvSpPr>
          <p:cNvPr id="16" name="card"/>
          <p:cNvSpPr/>
          <p:nvPr/>
        </p:nvSpPr>
        <p:spPr>
          <a:xfrm>
            <a:off x="548640" y="3063240"/>
            <a:ext cx="5454396"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17" name="question circle"/>
          <p:cNvSpPr/>
          <p:nvPr/>
        </p:nvSpPr>
        <p:spPr>
          <a:xfrm>
            <a:off x="749808" y="3246120"/>
            <a:ext cx="420624" cy="420624"/>
          </a:xfrm>
          <a:prstGeom prst="ellipse">
            <a:avLst/>
          </a:prstGeom>
          <a:solidFill>
            <a:schemeClr val="accent1"/>
          </a:solidFill>
          <a:ln/>
        </p:spPr>
      </p:sp>
      <p:pic>
        <p:nvPicPr>
          <p:cNvPr id="18" name="question" descr="preencoded.png"/>
          <p:cNvPicPr>
            <a:picLocks noChangeAspect="1"/>
          </p:cNvPicPr>
          <p:nvPr/>
        </p:nvPicPr>
        <p:blipFill>
          <a:blip r:embed="rId3"/>
          <a:stretch>
            <a:fillRect/>
          </a:stretch>
        </p:blipFill>
        <p:spPr>
          <a:xfrm>
            <a:off x="850758" y="3347070"/>
            <a:ext cx="218724" cy="218724"/>
          </a:xfrm>
          <a:prstGeom prst="rect">
            <a:avLst/>
          </a:prstGeom>
        </p:spPr>
      </p:pic>
      <p:sp>
        <p:nvSpPr>
          <p:cNvPr id="19" name="Text 14"/>
          <p:cNvSpPr txBox="1"/>
          <p:nvPr/>
        </p:nvSpPr>
        <p:spPr>
          <a:xfrm>
            <a:off x="1325880" y="3246120"/>
            <a:ext cx="4480560" cy="420624"/>
          </a:xfrm>
          <a:prstGeom prst="rect">
            <a:avLst/>
          </a:prstGeom>
          <a:noFill/>
          <a:ln/>
        </p:spPr>
        <p:txBody>
          <a:bodyPr wrap="square" lIns="0" tIns="0" rIns="0" bIns="0" rtlCol="0" anchor="ctr"/>
          <a:lstStyle/>
          <a:p>
            <a:pPr marL="0" indent="0">
              <a:buNone/>
            </a:pPr>
            <a:r>
              <a:rPr lang="en-US" sz="1600" b="1" dirty="0">
                <a:solidFill>
                  <a:srgbClr val="132226"/>
                </a:solidFill>
              </a:rPr>
              <a:t>Why OIDC instead of AWS keys?</a:t>
            </a:r>
            <a:endParaRPr lang="en-US" sz="1600" dirty="0"/>
          </a:p>
        </p:txBody>
      </p:sp>
      <p:sp>
        <p:nvSpPr>
          <p:cNvPr id="20" name="Text 15"/>
          <p:cNvSpPr txBox="1"/>
          <p:nvPr/>
        </p:nvSpPr>
        <p:spPr>
          <a:xfrm>
            <a:off x="1325880" y="3721608"/>
            <a:ext cx="4480560" cy="713232"/>
          </a:xfrm>
          <a:prstGeom prst="rect">
            <a:avLst/>
          </a:prstGeom>
          <a:noFill/>
          <a:ln/>
        </p:spPr>
        <p:txBody>
          <a:bodyPr wrap="square" lIns="0" tIns="0" rIns="0" bIns="0" rtlCol="0" anchor="t"/>
          <a:lstStyle/>
          <a:p>
            <a:pPr marL="0" indent="0">
              <a:buNone/>
            </a:pPr>
            <a:r>
              <a:rPr lang="en-US" sz="1400" dirty="0">
                <a:solidFill>
                  <a:srgbClr val="4A5B5E"/>
                </a:solidFill>
              </a:rPr>
              <a:t>Short-lived federated credentials; no long-lived GitHub AWS secrets.</a:t>
            </a:r>
            <a:endParaRPr lang="en-US" sz="1400" dirty="0"/>
          </a:p>
        </p:txBody>
      </p:sp>
      <p:sp>
        <p:nvSpPr>
          <p:cNvPr id="21" name="card"/>
          <p:cNvSpPr/>
          <p:nvPr/>
        </p:nvSpPr>
        <p:spPr>
          <a:xfrm>
            <a:off x="6185916" y="3063240"/>
            <a:ext cx="5454396"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22" name="question circle"/>
          <p:cNvSpPr/>
          <p:nvPr/>
        </p:nvSpPr>
        <p:spPr>
          <a:xfrm>
            <a:off x="6387084" y="3246120"/>
            <a:ext cx="420624" cy="420624"/>
          </a:xfrm>
          <a:prstGeom prst="ellipse">
            <a:avLst/>
          </a:prstGeom>
          <a:solidFill>
            <a:schemeClr val="accent1"/>
          </a:solidFill>
          <a:ln/>
        </p:spPr>
      </p:sp>
      <p:pic>
        <p:nvPicPr>
          <p:cNvPr id="23" name="question" descr="preencoded.png"/>
          <p:cNvPicPr>
            <a:picLocks noChangeAspect="1"/>
          </p:cNvPicPr>
          <p:nvPr/>
        </p:nvPicPr>
        <p:blipFill>
          <a:blip r:embed="rId3"/>
          <a:stretch>
            <a:fillRect/>
          </a:stretch>
        </p:blipFill>
        <p:spPr>
          <a:xfrm>
            <a:off x="6488034" y="3347070"/>
            <a:ext cx="218724" cy="218724"/>
          </a:xfrm>
          <a:prstGeom prst="rect">
            <a:avLst/>
          </a:prstGeom>
        </p:spPr>
      </p:pic>
      <p:sp>
        <p:nvSpPr>
          <p:cNvPr id="24" name="Text 18"/>
          <p:cNvSpPr txBox="1"/>
          <p:nvPr/>
        </p:nvSpPr>
        <p:spPr>
          <a:xfrm>
            <a:off x="6963156" y="3246120"/>
            <a:ext cx="4480560" cy="420624"/>
          </a:xfrm>
          <a:prstGeom prst="rect">
            <a:avLst/>
          </a:prstGeom>
          <a:noFill/>
          <a:ln/>
        </p:spPr>
        <p:txBody>
          <a:bodyPr wrap="square" lIns="0" tIns="0" rIns="0" bIns="0" rtlCol="0" anchor="ctr"/>
          <a:lstStyle/>
          <a:p>
            <a:pPr marL="0" indent="0">
              <a:buNone/>
            </a:pPr>
            <a:r>
              <a:rPr lang="en-US" sz="1600" b="1" dirty="0">
                <a:solidFill>
                  <a:srgbClr val="132226"/>
                </a:solidFill>
              </a:rPr>
              <a:t>Why restrict the ALB?</a:t>
            </a:r>
            <a:endParaRPr lang="en-US" sz="1600" dirty="0"/>
          </a:p>
        </p:txBody>
      </p:sp>
      <p:sp>
        <p:nvSpPr>
          <p:cNvPr id="25" name="Text 19"/>
          <p:cNvSpPr txBox="1"/>
          <p:nvPr/>
        </p:nvSpPr>
        <p:spPr>
          <a:xfrm>
            <a:off x="6963156" y="3721608"/>
            <a:ext cx="4480560" cy="713232"/>
          </a:xfrm>
          <a:prstGeom prst="rect">
            <a:avLst/>
          </a:prstGeom>
          <a:noFill/>
          <a:ln/>
        </p:spPr>
        <p:txBody>
          <a:bodyPr wrap="square" lIns="0" tIns="0" rIns="0" bIns="0" rtlCol="0" anchor="t"/>
          <a:lstStyle/>
          <a:p>
            <a:pPr marL="0" indent="0">
              <a:buNone/>
            </a:pPr>
            <a:r>
              <a:rPr lang="en-US" sz="1400" dirty="0">
                <a:solidFill>
                  <a:srgbClr val="4A5B5E"/>
                </a:solidFill>
              </a:rPr>
              <a:t>Otherwise users could bypass CloudFront and WAF using the ALB DNS name.</a:t>
            </a:r>
            <a:endParaRPr lang="en-US" sz="1400" dirty="0"/>
          </a:p>
        </p:txBody>
      </p:sp>
      <p:sp>
        <p:nvSpPr>
          <p:cNvPr id="26" name="card"/>
          <p:cNvSpPr/>
          <p:nvPr/>
        </p:nvSpPr>
        <p:spPr>
          <a:xfrm>
            <a:off x="548640" y="4663440"/>
            <a:ext cx="5454396"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27" name="question circle"/>
          <p:cNvSpPr/>
          <p:nvPr/>
        </p:nvSpPr>
        <p:spPr>
          <a:xfrm>
            <a:off x="749808" y="4846320"/>
            <a:ext cx="420624" cy="420624"/>
          </a:xfrm>
          <a:prstGeom prst="ellipse">
            <a:avLst/>
          </a:prstGeom>
          <a:solidFill>
            <a:schemeClr val="accent1"/>
          </a:solidFill>
          <a:ln/>
        </p:spPr>
      </p:sp>
      <p:pic>
        <p:nvPicPr>
          <p:cNvPr id="28" name="question" descr="preencoded.png"/>
          <p:cNvPicPr>
            <a:picLocks noChangeAspect="1"/>
          </p:cNvPicPr>
          <p:nvPr/>
        </p:nvPicPr>
        <p:blipFill>
          <a:blip r:embed="rId3"/>
          <a:stretch>
            <a:fillRect/>
          </a:stretch>
        </p:blipFill>
        <p:spPr>
          <a:xfrm>
            <a:off x="850758" y="4947270"/>
            <a:ext cx="218724" cy="218724"/>
          </a:xfrm>
          <a:prstGeom prst="rect">
            <a:avLst/>
          </a:prstGeom>
        </p:spPr>
      </p:pic>
      <p:sp>
        <p:nvSpPr>
          <p:cNvPr id="29" name="Text 22"/>
          <p:cNvSpPr txBox="1"/>
          <p:nvPr/>
        </p:nvSpPr>
        <p:spPr>
          <a:xfrm>
            <a:off x="1325880" y="4846320"/>
            <a:ext cx="4480560" cy="420624"/>
          </a:xfrm>
          <a:prstGeom prst="rect">
            <a:avLst/>
          </a:prstGeom>
          <a:noFill/>
          <a:ln/>
        </p:spPr>
        <p:txBody>
          <a:bodyPr wrap="square" lIns="0" tIns="0" rIns="0" bIns="0" rtlCol="0" anchor="ctr"/>
          <a:lstStyle/>
          <a:p>
            <a:pPr marL="0" indent="0">
              <a:buNone/>
            </a:pPr>
            <a:r>
              <a:rPr lang="en-US" sz="1600" b="1" dirty="0">
                <a:solidFill>
                  <a:srgbClr val="132226"/>
                </a:solidFill>
              </a:rPr>
              <a:t>Why HCP Terraform?</a:t>
            </a:r>
            <a:endParaRPr lang="en-US" sz="1600" dirty="0"/>
          </a:p>
        </p:txBody>
      </p:sp>
      <p:sp>
        <p:nvSpPr>
          <p:cNvPr id="30" name="Text 23"/>
          <p:cNvSpPr txBox="1"/>
          <p:nvPr/>
        </p:nvSpPr>
        <p:spPr>
          <a:xfrm>
            <a:off x="1325880" y="5321808"/>
            <a:ext cx="4480560" cy="713232"/>
          </a:xfrm>
          <a:prstGeom prst="rect">
            <a:avLst/>
          </a:prstGeom>
          <a:noFill/>
          <a:ln/>
        </p:spPr>
        <p:txBody>
          <a:bodyPr wrap="square" lIns="0" tIns="0" rIns="0" bIns="0" rtlCol="0" anchor="t"/>
          <a:lstStyle/>
          <a:p>
            <a:pPr marL="0" indent="0">
              <a:buNone/>
            </a:pPr>
            <a:r>
              <a:rPr lang="en-US" sz="1400" dirty="0">
                <a:solidFill>
                  <a:srgbClr val="4A5B5E"/>
                </a:solidFill>
              </a:rPr>
              <a:t>Remote state, controlled plan/apply, and reproducible rebuilds.</a:t>
            </a:r>
            <a:endParaRPr lang="en-US" sz="1400" dirty="0"/>
          </a:p>
        </p:txBody>
      </p:sp>
      <p:sp>
        <p:nvSpPr>
          <p:cNvPr id="31" name="card"/>
          <p:cNvSpPr/>
          <p:nvPr/>
        </p:nvSpPr>
        <p:spPr>
          <a:xfrm>
            <a:off x="6185916" y="4663440"/>
            <a:ext cx="5454396"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32" name="question circle"/>
          <p:cNvSpPr/>
          <p:nvPr/>
        </p:nvSpPr>
        <p:spPr>
          <a:xfrm>
            <a:off x="6387084" y="4846320"/>
            <a:ext cx="420624" cy="420624"/>
          </a:xfrm>
          <a:prstGeom prst="ellipse">
            <a:avLst/>
          </a:prstGeom>
          <a:solidFill>
            <a:schemeClr val="accent1"/>
          </a:solidFill>
          <a:ln/>
        </p:spPr>
      </p:sp>
      <p:pic>
        <p:nvPicPr>
          <p:cNvPr id="33" name="question" descr="preencoded.png"/>
          <p:cNvPicPr>
            <a:picLocks noChangeAspect="1"/>
          </p:cNvPicPr>
          <p:nvPr/>
        </p:nvPicPr>
        <p:blipFill>
          <a:blip r:embed="rId3"/>
          <a:stretch>
            <a:fillRect/>
          </a:stretch>
        </p:blipFill>
        <p:spPr>
          <a:xfrm>
            <a:off x="6488034" y="4947270"/>
            <a:ext cx="218724" cy="218724"/>
          </a:xfrm>
          <a:prstGeom prst="rect">
            <a:avLst/>
          </a:prstGeom>
        </p:spPr>
      </p:pic>
      <p:sp>
        <p:nvSpPr>
          <p:cNvPr id="34" name="Text 26"/>
          <p:cNvSpPr txBox="1"/>
          <p:nvPr/>
        </p:nvSpPr>
        <p:spPr>
          <a:xfrm>
            <a:off x="6963156" y="4846320"/>
            <a:ext cx="4480560" cy="420624"/>
          </a:xfrm>
          <a:prstGeom prst="rect">
            <a:avLst/>
          </a:prstGeom>
          <a:noFill/>
          <a:ln/>
        </p:spPr>
        <p:txBody>
          <a:bodyPr wrap="square" lIns="0" tIns="0" rIns="0" bIns="0" rtlCol="0" anchor="ctr"/>
          <a:lstStyle/>
          <a:p>
            <a:pPr marL="0" indent="0">
              <a:buNone/>
            </a:pPr>
            <a:r>
              <a:rPr lang="en-US" sz="1600" b="1" dirty="0">
                <a:solidFill>
                  <a:srgbClr val="132226"/>
                </a:solidFill>
              </a:rPr>
              <a:t>Why Cognito?</a:t>
            </a:r>
            <a:endParaRPr lang="en-US" sz="1600" dirty="0"/>
          </a:p>
        </p:txBody>
      </p:sp>
      <p:sp>
        <p:nvSpPr>
          <p:cNvPr id="35" name="Text 27"/>
          <p:cNvSpPr txBox="1"/>
          <p:nvPr/>
        </p:nvSpPr>
        <p:spPr>
          <a:xfrm>
            <a:off x="6963156" y="5321808"/>
            <a:ext cx="4480560" cy="713232"/>
          </a:xfrm>
          <a:prstGeom prst="rect">
            <a:avLst/>
          </a:prstGeom>
          <a:noFill/>
          <a:ln/>
        </p:spPr>
        <p:txBody>
          <a:bodyPr wrap="square" lIns="0" tIns="0" rIns="0" bIns="0" rtlCol="0" anchor="t"/>
          <a:lstStyle/>
          <a:p>
            <a:pPr marL="0" indent="0">
              <a:buNone/>
            </a:pPr>
            <a:r>
              <a:rPr lang="en-US" sz="1400" dirty="0">
                <a:solidFill>
                  <a:srgbClr val="4A5B5E"/>
                </a:solidFill>
              </a:rPr>
              <a:t>Managed identity service; the API validates signed access JWTs instead of implementing identity storage itself.</a:t>
            </a:r>
            <a:endParaRPr lang="en-US" sz="1400" dirty="0"/>
          </a:p>
        </p:txBody>
      </p:sp>
      <p:sp>
        <p:nvSpPr>
          <p:cNvPr id="36"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25</a:t>
            </a:fld>
            <a:endParaRPr lang="en-US"/>
          </a:p>
        </p:txBody>
      </p:sp>
    </p:spTree>
  </p:cSld>
  <p:clrMapOvr>
    <a:masterClrMapping/>
  </p:clrMapOvr>
</p:sld>
</file>

<file path=ppt/theme/theme1.xml><?xml version="1.0" encoding="utf-8"?>
<a:theme xmlns:a="http://schemas.openxmlformats.org/drawingml/2006/main" name="LangNation Signal">
  <a:themeElements>
    <a:clrScheme name="LangNation Signal">
      <a:dk1>
        <a:srgbClr val="132226"/>
      </a:dk1>
      <a:lt1>
        <a:srgbClr val="FFFFFF"/>
      </a:lt1>
      <a:dk2>
        <a:srgbClr val="0E3B43"/>
      </a:dk2>
      <a:lt2>
        <a:srgbClr val="EEF4F3"/>
      </a:lt2>
      <a:accent1>
        <a:srgbClr val="0E7C7B"/>
      </a:accent1>
      <a:accent2>
        <a:srgbClr val="F2A541"/>
      </a:accent2>
      <a:accent3>
        <a:srgbClr val="1F9A82"/>
      </a:accent3>
      <a:accent4>
        <a:srgbClr val="D9482B"/>
      </a:accent4>
      <a:accent5>
        <a:srgbClr val="5B6C8F"/>
      </a:accent5>
      <a:accent6>
        <a:srgbClr val="9AD1D4"/>
      </a:accent6>
      <a:hlink>
        <a:srgbClr val="132226"/>
      </a:hlink>
      <a:folHlink>
        <a:srgbClr val="5B6C8F"/>
      </a:folHlink>
    </a:clrScheme>
    <a:fontScheme name="LangNation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4358</Words>
  <Application>Microsoft Office PowerPoint</Application>
  <PresentationFormat>Widescreen</PresentationFormat>
  <Paragraphs>622</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Cambria</vt:lpstr>
      <vt:lpstr>Courier New</vt:lpstr>
      <vt:lpstr>LangNation Signal</vt:lpstr>
      <vt:lpstr>LangNation Cloud Platform</vt:lpstr>
      <vt:lpstr>The challenge and the design goal</vt:lpstr>
      <vt:lpstr>Master architecture — Milestones 1–6</vt:lpstr>
      <vt:lpstr>Why I chose these AWS resources</vt:lpstr>
      <vt:lpstr>Master architecture</vt:lpstr>
      <vt:lpstr>Master architecture — full detail</vt:lpstr>
      <vt:lpstr>Live interactive walkthrough</vt:lpstr>
      <vt:lpstr>Foundation &amp; networking</vt:lpstr>
      <vt:lpstr>Foundation &amp; networking — as built</vt:lpstr>
      <vt:lpstr>Containers, load balancing &amp; auto scaling</vt:lpstr>
      <vt:lpstr>CI/CD and Infrastructure as Code</vt:lpstr>
      <vt:lpstr>CI/CD pipeline — end to end</vt:lpstr>
      <vt:lpstr>Checkpoint — Milestones 1–4 complete</vt:lpstr>
      <vt:lpstr>Database &amp; storage</vt:lpstr>
      <vt:lpstr>Edge security, DNS &amp; authentication</vt:lpstr>
      <vt:lpstr>Automated morning recovery</vt:lpstr>
      <vt:lpstr>Evidence: tested, not just configured</vt:lpstr>
      <vt:lpstr>Engineering challenges I solved</vt:lpstr>
      <vt:lpstr>Where the project stands now</vt:lpstr>
      <vt:lpstr>Cost estimate — running the platform</vt:lpstr>
      <vt:lpstr>Key takeaway</vt:lpstr>
      <vt:lpstr>Source code on GitHub</vt:lpstr>
      <vt:lpstr>Acknowledgements &amp; support</vt:lpstr>
      <vt:lpstr>Key technical configuration</vt:lpstr>
      <vt:lpstr>FAQs — likely questions &amp; short answers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LangNation Cloud Platform — M1–M6 Progress</dc:title>
  <dc:subject>PptxGenJS Presentation</dc:subject>
  <dc:creator>Seraj Ahmad Siddiqui</dc:creator>
  <cp:lastModifiedBy>Sheikh</cp:lastModifiedBy>
  <cp:revision>16</cp:revision>
  <dcterms:created xsi:type="dcterms:W3CDTF">2026-10-18T15:49:01Z</dcterms:created>
  <dcterms:modified xsi:type="dcterms:W3CDTF">2026-10-19T16:16:59Z</dcterms:modified>
</cp:coreProperties>
</file>