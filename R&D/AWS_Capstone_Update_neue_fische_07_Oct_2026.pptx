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70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1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3956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3796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Capstone | LangNation Cloud Platform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281160" y="65379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neue fische • 07 Oct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B4D"/>
                </a:solidFill>
              </a:rPr>
              <a:t>AWS Capstone Project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29844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101828"/>
                </a:solidFill>
              </a:rPr>
              <a:t>LangNation Cloud Platform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67512" y="205740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7085"/>
                </a:solidFill>
              </a:rPr>
              <a:t>Secure • Highly Available • Containerized • AI/RAG-powered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67512" y="2679192"/>
            <a:ext cx="1280160" cy="310896"/>
          </a:xfrm>
          <a:prstGeom prst="roundRect">
            <a:avLst>
              <a:gd name="adj" fmla="val 3529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7249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Terraform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57400" y="2679192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272491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Docker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2679192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27249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Fargate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679192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7249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96128" y="2679192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41848" y="27249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Bedrock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26680" y="685800"/>
            <a:ext cx="3794760" cy="5212080"/>
          </a:xfrm>
          <a:prstGeom prst="roundRect">
            <a:avLst>
              <a:gd name="adj" fmla="val 1928"/>
            </a:avLst>
          </a:prstGeom>
          <a:solidFill>
            <a:srgbClr val="172B4D"/>
          </a:solidFill>
          <a:ln w="12700">
            <a:solidFill>
              <a:srgbClr val="172B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9872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E0FF"/>
                </a:solidFill>
              </a:rPr>
              <a:t>Submission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19872" y="141732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23 October 2026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8119872" y="2267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E0FF"/>
                </a:solidFill>
              </a:rPr>
              <a:t>My Personal Goal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19872" y="2633472"/>
            <a:ext cx="2788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Build a real, reproducible AWS platform that I can explain and demonstrate in cloud/DevOps interviews.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19872" y="4133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D8A8"/>
                </a:solidFill>
              </a:rPr>
              <a:t>Challenges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19872" y="4498848"/>
            <a:ext cx="27889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</a:rPr>
              <a:t>Environment is cleaned at midnight → infrastructure must be recreated with Terraform every day.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67512" y="51663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9900"/>
                </a:solidFill>
              </a:rPr>
              <a:t>Capstone proposal / project update for neue fische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B4D"/>
                </a:solidFill>
              </a:rPr>
              <a:t>What I am building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A cloud-native learning platform based on a real LangNation use case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D0D5D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73152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63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Business use case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929384"/>
            <a:ext cx="320040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Students access courses, homework, reading material and an AI tutor. Teachers upload content and manage learning material. Admins monitor the platform.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D0D5DD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417320"/>
            <a:ext cx="73152" cy="15087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563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Cloud engineering goal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44568" y="1929384"/>
            <a:ext cx="320040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Show networking, containers, security, scaling, databases, serverless workflows, monitoring and infrastructure automation in one coherent system.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D0D5DD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417320"/>
            <a:ext cx="73152" cy="1508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563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Portfolio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47888" y="1929384"/>
            <a:ext cx="320040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One project that connects my </a:t>
            </a:r>
            <a:r>
              <a:rPr lang="en-US" sz="1150" b="1" dirty="0">
                <a:solidFill>
                  <a:srgbClr val="667085"/>
                </a:solidFill>
              </a:rPr>
              <a:t>QA/Test Automation </a:t>
            </a:r>
            <a:r>
              <a:rPr lang="en-US" sz="1150" dirty="0">
                <a:solidFill>
                  <a:srgbClr val="667085"/>
                </a:solidFill>
              </a:rPr>
              <a:t>background</a:t>
            </a:r>
            <a:r>
              <a:rPr lang="en-US" sz="1150" b="1" dirty="0">
                <a:solidFill>
                  <a:srgbClr val="667085"/>
                </a:solidFill>
              </a:rPr>
              <a:t> </a:t>
            </a:r>
            <a:r>
              <a:rPr lang="en-US" sz="1150" dirty="0">
                <a:solidFill>
                  <a:srgbClr val="667085"/>
                </a:solidFill>
              </a:rPr>
              <a:t>with </a:t>
            </a:r>
            <a:r>
              <a:rPr lang="en-US" sz="1150" b="1" dirty="0">
                <a:solidFill>
                  <a:srgbClr val="667085"/>
                </a:solidFill>
              </a:rPr>
              <a:t>AWS Cloud</a:t>
            </a:r>
            <a:r>
              <a:rPr lang="en-US" sz="1150" dirty="0">
                <a:solidFill>
                  <a:srgbClr val="667085"/>
                </a:solidFill>
              </a:rPr>
              <a:t>, </a:t>
            </a:r>
            <a:r>
              <a:rPr lang="en-US" sz="1150" b="1" dirty="0">
                <a:solidFill>
                  <a:srgbClr val="667085"/>
                </a:solidFill>
              </a:rPr>
              <a:t>DevOps</a:t>
            </a:r>
            <a:r>
              <a:rPr lang="en-US" sz="1150" dirty="0">
                <a:solidFill>
                  <a:srgbClr val="667085"/>
                </a:solidFill>
              </a:rPr>
              <a:t>, Terraform, Docker, ECS Fargate and Generative AI.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" y="3310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B4D"/>
                </a:solidFill>
              </a:rPr>
              <a:t>Core architecture principle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3840480"/>
            <a:ext cx="16002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406908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766E"/>
                </a:solidFill>
              </a:rPr>
              <a:t>Users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377440" y="4215384"/>
            <a:ext cx="246888" cy="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651760" y="3840480"/>
            <a:ext cx="16002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24912" y="406908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3AED"/>
                </a:solidFill>
              </a:rPr>
              <a:t>CloudFront + WAF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51960" y="4215384"/>
            <a:ext cx="246888" cy="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526280" y="3840480"/>
            <a:ext cx="16002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406908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3AED"/>
                </a:solidFill>
              </a:rPr>
              <a:t>ALB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0" y="4215384"/>
            <a:ext cx="246888" cy="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00800" y="3840480"/>
            <a:ext cx="16002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406908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9900"/>
                </a:solidFill>
              </a:rPr>
              <a:t>ECS Fargate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01000" y="4215384"/>
            <a:ext cx="246888" cy="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275320" y="3840480"/>
            <a:ext cx="16002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48472" y="406908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</a:rPr>
              <a:t>Data + Events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875520" y="4215384"/>
            <a:ext cx="246888" cy="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149840" y="3840480"/>
            <a:ext cx="16002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22992" y="406908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A34A"/>
                </a:solidFill>
              </a:rPr>
              <a:t>Bedrock RAG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77240" y="4983480"/>
            <a:ext cx="10652760" cy="914400"/>
          </a:xfrm>
          <a:prstGeom prst="roundRect">
            <a:avLst>
              <a:gd name="adj" fmla="val 6000"/>
            </a:avLst>
          </a:prstGeom>
          <a:solidFill>
            <a:srgbClr val="FFF5E8"/>
          </a:solidFill>
          <a:ln w="15240">
            <a:solidFill>
              <a:srgbClr val="FFD6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5285232"/>
            <a:ext cx="10012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76A00"/>
                </a:solidFill>
              </a:rPr>
              <a:t>Everything is provisioned as code. The target is: empty sandbox → Terraform + pipeline → working environment again.</a:t>
            </a:r>
            <a:endParaRPr lang="en-US" sz="18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89546AE-72BE-43B9-A3EF-8BA528226EB8}"/>
              </a:ext>
            </a:extLst>
          </p:cNvPr>
          <p:cNvSpPr/>
          <p:nvPr/>
        </p:nvSpPr>
        <p:spPr>
          <a:xfrm>
            <a:off x="4599432" y="4329684"/>
            <a:ext cx="158191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050" dirty="0">
                <a:solidFill>
                  <a:srgbClr val="667085"/>
                </a:solidFill>
              </a:rPr>
              <a:t>Application Load Balancer</a:t>
            </a:r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1495B310-8603-4729-AF52-27A9D6E5CC48}"/>
              </a:ext>
            </a:extLst>
          </p:cNvPr>
          <p:cNvSpPr/>
          <p:nvPr/>
        </p:nvSpPr>
        <p:spPr>
          <a:xfrm>
            <a:off x="2793492" y="4361688"/>
            <a:ext cx="158191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IN" sz="1050" dirty="0">
                <a:solidFill>
                  <a:srgbClr val="667085"/>
                </a:solidFill>
              </a:rPr>
              <a:t>web application firewall</a:t>
            </a:r>
            <a:endParaRPr lang="en-US" sz="1050" dirty="0">
              <a:solidFill>
                <a:srgbClr val="66708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B4D"/>
                </a:solidFill>
              </a:rPr>
              <a:t>Target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The full architecture is intentionally large, so I will build it milestone by milestone</a:t>
            </a:r>
            <a:endParaRPr lang="en-US" sz="1250" dirty="0"/>
          </a:p>
        </p:txBody>
      </p:sp>
      <p:pic>
        <p:nvPicPr>
          <p:cNvPr id="4" name="Image 0" descr="/mnt/data/langnation_capstone_milestones/10_final_integrated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61872"/>
            <a:ext cx="10927080" cy="50109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5230368"/>
            <a:ext cx="2468880" cy="777240"/>
          </a:xfrm>
          <a:prstGeom prst="roundRect">
            <a:avLst>
              <a:gd name="adj" fmla="val 4706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97112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76A00"/>
                </a:solidFill>
              </a:rPr>
              <a:t>Final state after all milestones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B4D"/>
                </a:solidFill>
              </a:rPr>
              <a:t>10 implementation milestones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Each milestone produces a working architecture increment, Terraform code and evidence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5349240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50876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184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49961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01828"/>
                </a:solidFill>
              </a:rPr>
              <a:t>Foundation &amp; Networking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1463040" y="1792224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VPC • 2 AZ • 6 subnets • IGW/NAT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37960" y="1353312"/>
            <a:ext cx="5349240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84264" y="1508760"/>
            <a:ext cx="502920" cy="5029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16184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42632" y="149961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01828"/>
                </a:solidFill>
              </a:rPr>
              <a:t>Docker + ECR + Fargate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7342632" y="1792224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Containerize and deploy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2331720"/>
            <a:ext cx="5349240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248716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59689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247802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01828"/>
                </a:solidFill>
              </a:rPr>
              <a:t>ALB + Auto Scaling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1463040" y="277063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Multi-AZ + health checks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37960" y="2331720"/>
            <a:ext cx="5349240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84264" y="2487168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84264" y="259689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42632" y="247802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01828"/>
                </a:solidFill>
              </a:rPr>
              <a:t>Automated Deployment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7342632" y="277063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Daily rebuild after sandbox cleanup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3310128"/>
            <a:ext cx="5349240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3465576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5753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63040" y="345643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01828"/>
                </a:solidFill>
              </a:rPr>
              <a:t>Database &amp; Storage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1463040" y="37490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Aurora/RDS • Redis • S3 • EFS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37960" y="3310128"/>
            <a:ext cx="5349240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84264" y="3465576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84264" y="35753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42632" y="345643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01828"/>
                </a:solidFill>
              </a:rPr>
              <a:t>Edge + Auth</a:t>
            </a:r>
            <a:endParaRPr lang="en-US" sz="1420" dirty="0"/>
          </a:p>
        </p:txBody>
      </p:sp>
      <p:sp>
        <p:nvSpPr>
          <p:cNvPr id="33" name="Text 31"/>
          <p:cNvSpPr/>
          <p:nvPr/>
        </p:nvSpPr>
        <p:spPr>
          <a:xfrm>
            <a:off x="7342632" y="37490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Route 53 • CloudFront • WAF • Cognito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58368" y="4288536"/>
            <a:ext cx="5349240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" y="4443984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" y="45537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463040" y="443484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01828"/>
                </a:solidFill>
              </a:rPr>
              <a:t>Event-Driven</a:t>
            </a:r>
            <a:endParaRPr lang="en-US" sz="1420" dirty="0"/>
          </a:p>
        </p:txBody>
      </p:sp>
      <p:sp>
        <p:nvSpPr>
          <p:cNvPr id="38" name="Text 36"/>
          <p:cNvSpPr/>
          <p:nvPr/>
        </p:nvSpPr>
        <p:spPr>
          <a:xfrm>
            <a:off x="1463040" y="472744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Lambda • SQS • SNS • EventBridge • SFN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537960" y="4288536"/>
            <a:ext cx="5349240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84264" y="4443984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84264" y="45537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342632" y="443484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01828"/>
                </a:solidFill>
              </a:rPr>
              <a:t>RAG Knowledge Pipeline</a:t>
            </a:r>
            <a:endParaRPr lang="en-US" sz="1420" dirty="0"/>
          </a:p>
        </p:txBody>
      </p:sp>
      <p:sp>
        <p:nvSpPr>
          <p:cNvPr id="43" name="Text 41"/>
          <p:cNvSpPr/>
          <p:nvPr/>
        </p:nvSpPr>
        <p:spPr>
          <a:xfrm>
            <a:off x="7342632" y="472744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S3 → processing → Bedrock KB → vector store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58368" y="5266944"/>
            <a:ext cx="5349240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4672" y="5422392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4672" y="55321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463040" y="54132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01828"/>
                </a:solidFill>
              </a:rPr>
              <a:t>Lina AI Tutor</a:t>
            </a:r>
            <a:endParaRPr lang="en-US" sz="1420" dirty="0"/>
          </a:p>
        </p:txBody>
      </p:sp>
      <p:sp>
        <p:nvSpPr>
          <p:cNvPr id="48" name="Text 46"/>
          <p:cNvSpPr/>
          <p:nvPr/>
        </p:nvSpPr>
        <p:spPr>
          <a:xfrm>
            <a:off x="1463040" y="5705856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Fargate API → RAG → Bedrock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537960" y="5266944"/>
            <a:ext cx="5349240" cy="832104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84264" y="5422392"/>
            <a:ext cx="502920" cy="5029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84264" y="55321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342632" y="54132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01828"/>
                </a:solidFill>
              </a:rPr>
              <a:t>Production Readiness</a:t>
            </a:r>
            <a:endParaRPr lang="en-US" sz="1420" dirty="0"/>
          </a:p>
        </p:txBody>
      </p:sp>
      <p:sp>
        <p:nvSpPr>
          <p:cNvPr id="53" name="Text 51"/>
          <p:cNvSpPr/>
          <p:nvPr/>
        </p:nvSpPr>
        <p:spPr>
          <a:xfrm>
            <a:off x="7342632" y="5705856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Security • monitoring • testing • cost</a:t>
            </a:r>
            <a:endParaRPr lang="en-US" sz="105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B4D"/>
                </a:solidFill>
              </a:rPr>
              <a:t>Plan to 23 October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Build by 20 Oct, then keep 21–22 Oct for validation, documentation and buffer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68680" y="1719072"/>
            <a:ext cx="0" cy="320040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35608" y="1417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435608" y="1719072"/>
            <a:ext cx="0" cy="320040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02536" y="1417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02536" y="1719072"/>
            <a:ext cx="0" cy="320040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9464" y="1417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9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9464" y="1719072"/>
            <a:ext cx="0" cy="320040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1417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10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36392" y="1719072"/>
            <a:ext cx="0" cy="320040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1417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11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03320" y="1719072"/>
            <a:ext cx="0" cy="320040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0248" y="1417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12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70248" y="1719072"/>
            <a:ext cx="0" cy="320040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1417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13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37176" y="1719072"/>
            <a:ext cx="0" cy="320040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04104" y="1417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14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04104" y="1719072"/>
            <a:ext cx="0" cy="320040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71032" y="1417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15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71032" y="1719072"/>
            <a:ext cx="0" cy="320040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1417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16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37960" y="1719072"/>
            <a:ext cx="0" cy="320040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04888" y="1417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17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04888" y="1719072"/>
            <a:ext cx="0" cy="320040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71816" y="1417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18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671816" y="1719072"/>
            <a:ext cx="0" cy="320040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38744" y="1417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19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38744" y="1719072"/>
            <a:ext cx="0" cy="320040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05672" y="1417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20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805672" y="1719072"/>
            <a:ext cx="0" cy="320040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72600" y="1417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21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372600" y="1719072"/>
            <a:ext cx="0" cy="320040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39528" y="1417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22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939528" y="1719072"/>
            <a:ext cx="0" cy="320040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06456" y="14173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23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506456" y="1719072"/>
            <a:ext cx="0" cy="320040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8680" y="1874520"/>
            <a:ext cx="2240280" cy="502920"/>
          </a:xfrm>
          <a:prstGeom prst="roundRect">
            <a:avLst>
              <a:gd name="adj" fmla="val 727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3544" y="1947672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Cloud foundation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201400" y="20025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63EB"/>
                </a:solidFill>
              </a:rPr>
              <a:t>M1–M4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136392" y="2578608"/>
            <a:ext cx="2807208" cy="502920"/>
          </a:xfrm>
          <a:prstGeom prst="roundRect">
            <a:avLst>
              <a:gd name="adj" fmla="val 7273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91256" y="265176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Application platform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1201400" y="270662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9900"/>
                </a:solidFill>
              </a:rPr>
              <a:t>M5–M7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971032" y="3282696"/>
            <a:ext cx="2240280" cy="502920"/>
          </a:xfrm>
          <a:prstGeom prst="roundRect">
            <a:avLst>
              <a:gd name="adj" fmla="val 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25896" y="33558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AI / RAG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201400" y="34107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6A34A"/>
                </a:solidFill>
              </a:rPr>
              <a:t>M8–M9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238744" y="3986784"/>
            <a:ext cx="1106424" cy="502920"/>
          </a:xfrm>
          <a:prstGeom prst="roundRect">
            <a:avLst>
              <a:gd name="adj" fmla="val 727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93608" y="4059936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4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Production readiness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1201400" y="41148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C3AED"/>
                </a:solidFill>
              </a:rPr>
              <a:t>M10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372600" y="4690872"/>
            <a:ext cx="1106424" cy="502920"/>
          </a:xfrm>
          <a:prstGeom prst="roundRect">
            <a:avLst>
              <a:gd name="adj" fmla="val 727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27464" y="4764024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Test + Docs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1201400" y="4818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C2626"/>
                </a:solidFill>
              </a:rPr>
              <a:t>Buffer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0506456" y="5394960"/>
            <a:ext cx="539496" cy="502920"/>
          </a:xfrm>
          <a:prstGeom prst="roundRect">
            <a:avLst>
              <a:gd name="adj" fmla="val 7273"/>
            </a:avLst>
          </a:prstGeom>
          <a:solidFill>
            <a:srgbClr val="172B4D"/>
          </a:solidFill>
          <a:ln w="12700">
            <a:solidFill>
              <a:srgbClr val="172B4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561320" y="5468112"/>
            <a:ext cx="429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Submit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1201400" y="55229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2B4D"/>
                </a:solidFill>
              </a:rPr>
              <a:t>Final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39759" y="11109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B4D"/>
                </a:solidFill>
              </a:rPr>
              <a:t>Oct 2026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68680" y="6062472"/>
            <a:ext cx="10332720" cy="320040"/>
          </a:xfrm>
          <a:prstGeom prst="roundRect">
            <a:avLst>
              <a:gd name="adj" fmla="val 8571"/>
            </a:avLst>
          </a:prstGeom>
          <a:solidFill>
            <a:srgbClr val="ECFDF3"/>
          </a:solidFill>
          <a:ln w="12700">
            <a:solidFill>
              <a:srgbClr val="ABEFC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97280" y="6144768"/>
            <a:ext cx="9875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7647"/>
                </a:solidFill>
              </a:rPr>
              <a:t>Target: after 20 Oct, no new services — only fix, test, document and prepare the demo.</a:t>
            </a:r>
            <a:endParaRPr lang="en-US" sz="1150" dirty="0"/>
          </a:p>
        </p:txBody>
      </p:sp>
      <p:sp>
        <p:nvSpPr>
          <p:cNvPr id="6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B4D"/>
                </a:solidFill>
              </a:rPr>
              <a:t>Daily sandbox strategy /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The nightly cleanup becomes part of the architecture challenge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161848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2121408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21284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25296" y="2121408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1828"/>
                </a:solidFill>
              </a:rPr>
              <a:t>Sandbox starts empty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76856" y="2432304"/>
            <a:ext cx="182880" cy="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32888" y="1965960"/>
            <a:ext cx="161848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42616" y="212140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42616" y="221284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99816" y="2121408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1828"/>
                </a:solidFill>
              </a:rPr>
              <a:t>terraform apply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51376" y="2432304"/>
            <a:ext cx="182880" cy="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07408" y="1965960"/>
            <a:ext cx="161848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7136" y="2121408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7136" y="221284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74336" y="2121408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1828"/>
                </a:solidFill>
              </a:rPr>
              <a:t>Docker build + push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25896" y="2432304"/>
            <a:ext cx="182880" cy="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81928" y="1965960"/>
            <a:ext cx="161848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1656" y="2121408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656" y="221284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48856" y="2121408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1828"/>
                </a:solidFill>
              </a:rPr>
              <a:t>Deploy ECS Fargate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900416" y="2432304"/>
            <a:ext cx="182880" cy="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156448" y="1965960"/>
            <a:ext cx="161848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66176" y="2121408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6176" y="221284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23376" y="2121408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1828"/>
                </a:solidFill>
              </a:rPr>
              <a:t>Run tests + work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774936" y="2432304"/>
            <a:ext cx="182880" cy="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030968" y="1965960"/>
            <a:ext cx="161848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40696" y="2121408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0696" y="221284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597896" y="2121408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1828"/>
                </a:solidFill>
              </a:rPr>
              <a:t>Midnight auto-cleanup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14400" y="3703320"/>
            <a:ext cx="4800600" cy="1417320"/>
          </a:xfrm>
          <a:prstGeom prst="roundRect">
            <a:avLst>
              <a:gd name="adj" fmla="val 3871"/>
            </a:avLst>
          </a:prstGeom>
          <a:solidFill>
            <a:srgbClr val="EEF4FF"/>
          </a:solidFill>
          <a:ln w="12700">
            <a:solidFill>
              <a:srgbClr val="B2CC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4300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Success criterion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43000" y="4370832"/>
            <a:ext cx="4297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828"/>
                </a:solidFill>
              </a:rPr>
              <a:t>From an empty AWS sandbox, recreate the working platform with Terraform and the deployment pipeline — without manual console setup.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400800" y="3703320"/>
            <a:ext cx="4800600" cy="1417320"/>
          </a:xfrm>
          <a:prstGeom prst="roundRect">
            <a:avLst>
              <a:gd name="adj" fmla="val 3871"/>
            </a:avLst>
          </a:prstGeom>
          <a:solidFill>
            <a:srgbClr val="FFF5E8"/>
          </a:solidFill>
          <a:ln w="12700">
            <a:solidFill>
              <a:srgbClr val="FFD6A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6A00"/>
                </a:solidFill>
              </a:rPr>
              <a:t>Why this matters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629400" y="4370832"/>
            <a:ext cx="4297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828"/>
                </a:solidFill>
              </a:rPr>
              <a:t>It demonstrates reproducibility, infrastructure as code, immutable deployments and recovery from a completely clean environment.</a:t>
            </a:r>
            <a:endParaRPr lang="en-US" sz="15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B4D"/>
                </a:solidFill>
              </a:rPr>
              <a:t>AI differentiator: RAG-based Lina Tutor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The model should answer from LangNation learning material, not only from general LLM knowledge</a:t>
            </a:r>
            <a:endParaRPr lang="en-US" sz="1250" dirty="0"/>
          </a:p>
        </p:txBody>
      </p:sp>
      <p:pic>
        <p:nvPicPr>
          <p:cNvPr id="4" name="Image 0" descr="/mnt/data/langnation_capstone_milestones/08_rag_lina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8448"/>
            <a:ext cx="736092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66760" y="1481328"/>
            <a:ext cx="3108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524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D0D5DD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366760" y="1481328"/>
            <a:ext cx="73152" cy="12984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67928" y="16276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Knowledge ingestion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67928" y="1993392"/>
            <a:ext cx="27889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Course PDFs / homework / vocabulary → S3 → preprocessing → Bedrock Knowledge Base → OpenSearch vector store.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366760" y="3035808"/>
            <a:ext cx="3108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524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D0D5DD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366760" y="3035808"/>
            <a:ext cx="73152" cy="12984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7928" y="31821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Runtime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567928" y="3547872"/>
            <a:ext cx="27889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Student question → Fargate API → retrieve relevant context → Amazon Bedrock → grounded answer.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366760" y="4590288"/>
            <a:ext cx="3108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524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D0D5DD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366760" y="4590288"/>
            <a:ext cx="73152" cy="12984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67928" y="47365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Optional extension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67928" y="5102352"/>
            <a:ext cx="27889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Amazon Transcribe for speech-to-text and Polly for spoken responses if the core RAG flow is stable on time.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B4D"/>
                </a:solidFill>
              </a:rPr>
              <a:t>What I want to demonstrate at submission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Not just “many AWS services” — a platform I can deploy, test, explain and defend technically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D0D5D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81328"/>
            <a:ext cx="73152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627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Cloud 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1993392"/>
            <a:ext cx="310896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Multi-AZ VPC, private subnets, ALB, RDS/Aurora, edge services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53128" y="1481328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D0D5DD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53128" y="1481328"/>
            <a:ext cx="73152" cy="15087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4296" y="1627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Containers &amp; DevOps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54296" y="1993392"/>
            <a:ext cx="310896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Docker, ECR, ECS Fargate, Terraform and automated CI/CD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47888" y="1481328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D0D5DD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47888" y="1481328"/>
            <a:ext cx="73152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49056" y="1627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Event-Driven AWS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49056" y="1993392"/>
            <a:ext cx="310896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Lambda, SQS, SNS, EventBridge and Step Functions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3447288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D0D5DD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447288"/>
            <a:ext cx="73152" cy="1508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593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AI / RAG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9536" y="3959352"/>
            <a:ext cx="310896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Bedrock Knowledge Base, vector search and Lina Tutor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53128" y="3447288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D0D5DD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53128" y="3447288"/>
            <a:ext cx="73152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593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Security &amp; Operations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54296" y="3959352"/>
            <a:ext cx="310896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IAM, KMS, Secrets Manager, CloudWatch, CloudTrail, security checks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47888" y="3447288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E4E7EC"/>
            </a:solidFill>
            <a:prstDash val="solid"/>
          </a:ln>
          <a:effectLst>
            <a:outerShdw blurRad="19050" dist="50800" dir="2700000" algn="bl" rotWithShape="0">
              <a:srgbClr val="D0D5DD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47888" y="3447288"/>
            <a:ext cx="73152" cy="1508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49056" y="3593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Quality Engineering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49056" y="3959352"/>
            <a:ext cx="310896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Unit/API/E2E tests and deployment quality gates with Playwright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143000" y="5577840"/>
            <a:ext cx="9921240" cy="502920"/>
          </a:xfrm>
          <a:prstGeom prst="roundRect">
            <a:avLst>
              <a:gd name="adj" fmla="val 7273"/>
            </a:avLst>
          </a:prstGeom>
          <a:solidFill>
            <a:srgbClr val="172B4D"/>
          </a:solidFill>
          <a:ln w="12700">
            <a:solidFill>
              <a:srgbClr val="172B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25880" y="5733288"/>
            <a:ext cx="955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</a:rPr>
              <a:t>Final Goal: a strong GitHub portfolio project for AWS Cloud Engineer / DevOps / Platform Engineer roles.</a:t>
            </a:r>
            <a:endParaRPr lang="en-US" sz="15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762</Words>
  <Application>Microsoft Office PowerPoint</Application>
  <PresentationFormat>Widescreen</PresentationFormat>
  <Paragraphs>163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neue fische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Capstone Project – LangNation Cloud Platform</dc:title>
  <dc:subject>neue fische AWS Capstone project update</dc:subject>
  <dc:creator>Ahmad</dc:creator>
  <cp:lastModifiedBy>Sheikh</cp:lastModifiedBy>
  <cp:revision>3</cp:revision>
  <dcterms:created xsi:type="dcterms:W3CDTF">2026-10-06T09:11:17Z</dcterms:created>
  <dcterms:modified xsi:type="dcterms:W3CDTF">2026-10-06T09:35:30Z</dcterms:modified>
</cp:coreProperties>
</file>